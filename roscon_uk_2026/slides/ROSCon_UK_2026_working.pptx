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9.jpeg" ContentType="image/jpeg"/>
  <Override PartName="/ppt/media/image4.png" ContentType="image/png"/>
  <Override PartName="/ppt/media/image5.jpeg" ContentType="image/jpeg"/>
  <Override PartName="/ppt/media/media6.mp4" ContentType="video/mp4"/>
  <Override PartName="/ppt/media/image7.jpeg" ContentType="image/jpeg"/>
  <Override PartName="/ppt/media/media8.mp4" ContentType="video/mp4"/>
  <Override PartName="/ppt/media/media10.mp4" ContentType="video/mp4"/>
  <Override PartName="/ppt/media/image11.jpeg" ContentType="image/jpe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3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2.xml.rels" ContentType="application/vnd.openxmlformats-package.relationships+xml"/>
  <Override PartName="/ppt/slides/slide38.xml" ContentType="application/vnd.openxmlformats-officedocument.presentationml.slide+xml"/>
  <Override PartName="/ppt/slides/slide39.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notesSlides/_rels/notesSlide33.xml.rels" ContentType="application/vnd.openxmlformats-package.relationships+xml"/>
  <Override PartName="/ppt/notesSlides/_rels/notesSlide37.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20.xml.rels" ContentType="application/vnd.openxmlformats-package.relationships+xml"/>
  <Override PartName="/ppt/notesSlides/_rels/notesSlide15.xml.rels" ContentType="application/vnd.openxmlformats-package.relationships+xml"/>
  <Override PartName="/ppt/notesSlides/_rels/notesSlide14.xml.rels" ContentType="application/vnd.openxmlformats-package.relationships+xml"/>
  <Override PartName="/ppt/notesSlides/_rels/notesSlide12.xml.rels" ContentType="application/vnd.openxmlformats-package.relationships+xml"/>
  <Override PartName="/ppt/notesSlides/_rels/notesSlide35.xml.rels" ContentType="application/vnd.openxmlformats-package.relationships+xml"/>
  <Override PartName="/ppt/notesSlides/_rels/notesSlide11.xml.rels" ContentType="application/vnd.openxmlformats-package.relationships+xml"/>
  <Override PartName="/ppt/notesSlides/_rels/notesSlide22.xml.rels" ContentType="application/vnd.openxmlformats-package.relationships+xml"/>
  <Override PartName="/ppt/notesSlides/_rels/notesSlide10.xml.rels" ContentType="application/vnd.openxmlformats-package.relationships+xml"/>
  <Override PartName="/ppt/notesSlides/_rels/notesSlide3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24.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notesSlide34.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3.xml" ContentType="application/vnd.openxmlformats-officedocument.presentationml.notesSlide+xml"/>
  <Override PartName="/ppt/notesSlides/notesSlide37.xml" ContentType="application/vnd.openxmlformats-officedocument.presentationml.notesSlide+xml"/>
  <Override PartName="/ppt/notesSlides/notesSlide35.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24.xml" ContentType="application/vnd.openxmlformats-officedocument.presentationml.notesSlide+xml"/>
  <Override PartName="/ppt/notesSlides/notesSlide8.xml" ContentType="application/vnd.openxmlformats-officedocument.presentationml.notesSlide+xml"/>
  <Override PartName="/ppt/notesSlides/notesSlide25.xml" ContentType="application/vnd.openxmlformats-officedocument.presentationml.notesSlide+xml"/>
  <Override PartName="/ppt/notesSlides/notesSlide9.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slides/slide40.xml" ContentType="application/vnd.openxmlformats-officedocument.presentationml.slide+xml"/>
  <Override PartName="/ppt/notesSlides/notesSlide3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95" r:id="rId54"/>
    <p:sldId id="284" r:id="rId42"/>
    <p:sldId id="285" r:id="rId43"/>
    <p:sldId id="286" r:id="rId44"/>
    <p:sldId id="287" r:id="rId45"/>
    <p:sldId id="288" r:id="rId46"/>
    <p:sldId id="289" r:id="rId47"/>
    <p:sldId id="290" r:id="rId48"/>
    <p:sldId id="291" r:id="rId49"/>
    <p:sldId id="292" r:id="rId50"/>
    <p:sldId id="293" r:id="rId51"/>
    <p:sldId id="294" r:id="rId52"/>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presProps" Target="presProps.xml"/>
<Relationship Id="rId54" Type="http://schemas.openxmlformats.org/officeDocument/2006/relationships/slide" Target="slides/slide40.xml"/></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2"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3"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4"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6F34C62D-2F23-4CBA-8965-3C1DCBD3A81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1143000" y="685800"/>
            <a:ext cx="4569480" cy="3426480"/>
          </a:xfrm>
          <a:prstGeom prst="rect">
            <a:avLst/>
          </a:prstGeom>
          <a:ln w="0">
            <a:noFill/>
          </a:ln>
        </p:spPr>
      </p:sp>
      <p:sp>
        <p:nvSpPr>
          <p:cNvPr id="497" name="PlaceHolder 2"/>
          <p:cNvSpPr>
            <a:spLocks noGrp="1"/>
          </p:cNvSpPr>
          <p:nvPr>
            <p:ph type="body"/>
          </p:nvPr>
        </p:nvSpPr>
        <p:spPr>
          <a:xfrm>
            <a:off x="685800" y="4343400"/>
            <a:ext cx="5483880" cy="4112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cppyy_kit is a toolkit built around cppyy to make using C++ from Python easier in practice. There are two main things I want to do with it: use a C++ library that already exists, and write a small C++ operation inside a Python application when that is useful.</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There is also practical support for coding assistants: packaged task guides, kit API references and environment diagnostics give an agent context it can inspect. In our webcam experiment, we combined those tools with a persistent marimo session and Viser, so the agent could revise processing while the camera, models and viewer stayed alive. That session is a repository example built around the kit.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cppyy provides the underlying access to C++. The kit adds reusable setup, compiled-function caching, and helpers for arrays, callbacks and keeping native objects alive. The individual kits apply those pieces to libraries such as PCL, OpenCV and robotics frameworks.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idea is that I can keep Python as the language where I describe and change the application, and use C++ for the libraries or operations I need. To understand why this works, let's first look at cppyy itself.</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Source: repository README.md. This is a description of the toolkit, not a promise that every C++ API works without adaptation.</a:t>
            </a:r>
            <a:endParaRPr b="0" lang="en-US" sz="2000" spc="-1" strike="noStrike">
              <a:solidFill>
                <a:srgbClr val="000000"/>
              </a:solidFill>
              <a:latin typeface="Arial"/>
            </a:endParaRPr>
          </a:p>
        </p:txBody>
      </p:sp>
      <p:sp>
        <p:nvSpPr>
          <p:cNvPr id="498" name="PlaceHolder 3"/>
          <p:cNvSpPr>
            <a:spLocks noGrp="1"/>
          </p:cNvSpPr>
          <p:nvPr>
            <p:ph type="sldNum" idx="37"/>
          </p:nvPr>
        </p:nvSpPr>
        <p:spPr>
          <a:xfrm>
            <a:off x="3884760" y="8685360"/>
            <a:ext cx="2969280" cy="4546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6CD66DC-BFEC-405B-91E8-587F5CBBC4E0}" type="slidenum">
              <a:rPr b="0" lang="en-US" sz="1200" spc="-1" strike="noStrike">
                <a:solidFill>
                  <a:srgbClr val="000000"/>
                </a:solidFill>
                <a:latin typeface="Times New Roman"/>
              </a:rPr>
              <a:t>39</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Img"/>
          </p:nvPr>
        </p:nvSpPr>
        <p:spPr>
          <a:xfrm>
            <a:off x="1143000" y="685800"/>
            <a:ext cx="4569480" cy="3426480"/>
          </a:xfrm>
          <a:prstGeom prst="rect">
            <a:avLst/>
          </a:prstGeom>
          <a:ln w="0">
            <a:noFill/>
          </a:ln>
        </p:spPr>
      </p:sp>
      <p:sp>
        <p:nvSpPr>
          <p:cNvPr id="500" name="PlaceHolder 2"/>
          <p:cNvSpPr>
            <a:spLocks noGrp="1"/>
          </p:cNvSpPr>
          <p:nvPr>
            <p:ph type="body"/>
          </p:nvPr>
        </p:nvSpPr>
        <p:spPr>
          <a:xfrm>
            <a:off x="685800" y="4343400"/>
            <a:ext cx="5483880" cy="4112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The official documentation describes cppyy as a generator that creates Python–C++ bindings at runtime. It lets Python call C++, and it also lets C++ call back into Python.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What I like is the interactive part. I can load a library and its declarations, use its classes, or define some C++ and call it from the same Python session. Templates can be instantiated as needed, rather than deciding every binding in advance. Python callbacks and overrides also let us supply behaviour to a C++ framework.</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Underneath, cppyy uses Cling, a C++ interpreter built on Clang/LLVM. The native code is compiled; the Python interface is created dynamically. We still have to manage dependencies and object lifetimes, and compilation has a cost. cppyy_kit builds on this mechanism to make recurring integration work easier.</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Definition paraphrased from the official documentation: https://cppyy.readthedocs.io/en/latest/</a:t>
            </a:r>
            <a:endParaRPr b="0" lang="en-US" sz="2000" spc="-1" strike="noStrike">
              <a:solidFill>
                <a:srgbClr val="000000"/>
              </a:solidFill>
              <a:latin typeface="Arial"/>
            </a:endParaRPr>
          </a:p>
        </p:txBody>
      </p:sp>
      <p:sp>
        <p:nvSpPr>
          <p:cNvPr id="501" name="PlaceHolder 3"/>
          <p:cNvSpPr>
            <a:spLocks noGrp="1"/>
          </p:cNvSpPr>
          <p:nvPr>
            <p:ph type="sldNum" idx="38"/>
          </p:nvPr>
        </p:nvSpPr>
        <p:spPr>
          <a:xfrm>
            <a:off x="3884760" y="8685360"/>
            <a:ext cx="2969280" cy="4546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9639818-E62D-427E-B1C4-C6CF4337DD98}" type="slidenum">
              <a:rPr b="0" lang="en-US" sz="1200" spc="-1" strike="noStrike">
                <a:solidFill>
                  <a:srgbClr val="000000"/>
                </a:solidFill>
                <a:latin typeface="Times New Roman"/>
              </a:rPr>
              <a:t>39</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Img"/>
          </p:nvPr>
        </p:nvSpPr>
        <p:spPr>
          <a:xfrm>
            <a:off x="216000" y="812520"/>
            <a:ext cx="7125120" cy="4006800"/>
          </a:xfrm>
          <a:prstGeom prst="rect">
            <a:avLst/>
          </a:prstGeom>
          <a:ln w="0">
            <a:noFill/>
          </a:ln>
        </p:spPr>
      </p:sp>
      <p:sp>
        <p:nvSpPr>
          <p:cNvPr id="503" name="PlaceHolder 2"/>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Say I already have a C++ function and want to call it from Python. One familiar route is a small extension project. Here is the build description, the function, the binding, and the Python code that uses it. The binding exposes our function and accepts a contiguous NumPy array. The optional Python wrapper converts convenient input, like a list, into that array. Then we build, make the module importable, and run the application.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These are one possible file layout, not six mandatory files. We can merge the header and implementation, omit the convenience wrapper, or use nanobind instead. For distribution we could package and install the extension instead of setting PYTHONPATH. Changes to the C++ require rebuilding the extension.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code is intentionally the same sum-of-squares operation as before. Focus on the surrounding setup. Both approaches still need their dependencies and a compatible compiler environment.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Verified in this checkout: pixi run cmake -S roscon_uk_2026/slides/examples/extension_project -B build/slide_extension -DCMAKE_BUILD_TYPE=Release; pixi run cmake --build build/slide_extension -j2; pixi run env PYTHONPATH="$PWD/build/slide_extension" python roscon_uk_2026/slides/examples/extension_project/demo.py. Output: 14.0. The shorter commands on the slide assume an activated environment and the example folder as the current directory.</a:t>
            </a:r>
            <a:endParaRPr b="0" lang="en-US" sz="2000" spc="-1" strike="noStrike">
              <a:solidFill>
                <a:srgbClr val="000000"/>
              </a:solidFill>
              <a:latin typeface="Arial"/>
            </a:endParaRPr>
          </a:p>
        </p:txBody>
      </p:sp>
      <p:sp>
        <p:nvSpPr>
          <p:cNvPr id="504" name="PlaceHolder 3"/>
          <p:cNvSpPr>
            <a:spLocks noGrp="1"/>
          </p:cNvSpPr>
          <p:nvPr>
            <p:ph type="sldNum" idx="39"/>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6C148EE7-0FEB-44D8-9989-67FB48CCD36F}"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Img"/>
          </p:nvPr>
        </p:nvSpPr>
        <p:spPr>
          <a:xfrm>
            <a:off x="216000" y="812520"/>
            <a:ext cx="7125120" cy="4006800"/>
          </a:xfrm>
          <a:prstGeom prst="rect">
            <a:avLst/>
          </a:prstGeom>
          <a:ln w="0">
            <a:noFill/>
          </a:ln>
        </p:spPr>
      </p:sp>
      <p:sp>
        <p:nvSpPr>
          <p:cNvPr id="506" name="PlaceHolder 2"/>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Here is one small function: sum the squares of an array. Both examples receive the same three doubles and print fourteen.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On the left, cppyy compiles the C++ declaration. We call the function through cppyy.gbl and pass the buffer and its length explicitly.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On the right, the C++ computation is the same. The @cpp decorator uses the array annotation to build the entry point and supplies x_size. We call sum_sq(x) directly. The kit also manages the compiled-function cache for later runs.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docstring contains C++ source; the decorator is not translating Python into C++. For this particular arithmetic operation NumPy already has native operations. This example shows the interface, not a speed comparison or a reason to replace NumPy. We will use a larger library example to discuss cache savings.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Both complete snippets are saved under roscon_uk_2026/slides/examples/. Body text uses Roboto; code uses DejaVu Sans Mono to preserve alignment.</a:t>
            </a:r>
            <a:endParaRPr b="0" lang="en-US" sz="2000" spc="-1" strike="noStrike">
              <a:solidFill>
                <a:srgbClr val="000000"/>
              </a:solidFill>
              <a:latin typeface="Arial"/>
            </a:endParaRPr>
          </a:p>
        </p:txBody>
      </p:sp>
      <p:sp>
        <p:nvSpPr>
          <p:cNvPr id="507" name="PlaceHolder 3"/>
          <p:cNvSpPr>
            <a:spLocks noGrp="1"/>
          </p:cNvSpPr>
          <p:nvPr>
            <p:ph type="sldNum" idx="40"/>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A808809E-A9A2-47D9-AF23-448AF80BD96B}"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Img"/>
          </p:nvPr>
        </p:nvSpPr>
        <p:spPr>
          <a:xfrm>
            <a:off x="216000" y="812520"/>
            <a:ext cx="7125120" cy="4006800"/>
          </a:xfrm>
          <a:prstGeom prst="rect">
            <a:avLst/>
          </a:prstGeom>
          <a:ln w="0">
            <a:noFill/>
          </a:ln>
        </p:spPr>
      </p:sp>
      <p:sp>
        <p:nvSpPr>
          <p:cNvPr id="509" name="PlaceHolder 2"/>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Same operation, now with cppyy_kit. The C++ body stays beside the Python function. The annotation describes the array, and the kit exposes the pointer and its size to the C++ body. I call sum_sq like a Python function.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This reduces project and binding setup for this kind of experiment. Compilation still happens and the runtime still needs its compiler infrastructure. The decorator does not remove dependency installation. The native extension remains a useful deployment choice.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contracts differ slightly in these examples: the extension convenience API accepts lists and converts them; the decorated example explicitly supplies a contiguous float64 NumPy array. Both compute 14.0 for the shown values. Do not imply that the decorator adds the optional list conversion.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Full sources are in slides/examples/extension_project and slides/examples/with_cppyy_kit.py.</a:t>
            </a:r>
            <a:endParaRPr b="0" lang="en-US" sz="2000" spc="-1" strike="noStrike">
              <a:solidFill>
                <a:srgbClr val="000000"/>
              </a:solidFill>
              <a:latin typeface="Arial"/>
            </a:endParaRPr>
          </a:p>
        </p:txBody>
      </p:sp>
      <p:sp>
        <p:nvSpPr>
          <p:cNvPr id="510" name="PlaceHolder 3"/>
          <p:cNvSpPr>
            <a:spLocks noGrp="1"/>
          </p:cNvSpPr>
          <p:nvPr>
            <p:ph type="sldNum" idx="41"/>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A25B1EFC-3EA8-476A-A9B6-6A662AFDC349}"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Img"/>
          </p:nvPr>
        </p:nvSpPr>
        <p:spPr>
          <a:xfrm>
            <a:off x="216000" y="812520"/>
            <a:ext cx="7125120" cy="4006800"/>
          </a:xfrm>
          <a:prstGeom prst="rect">
            <a:avLst/>
          </a:prstGeom>
          <a:ln w="0">
            <a:noFill/>
          </a:ln>
        </p:spPr>
      </p:sp>
      <p:sp>
        <p:nvSpPr>
          <p:cNvPr id="512" name="PlaceHolder 2"/>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This slide shows the complete executable function, including imports, Eigen include path, array annotations and input-length checks. The next slide repeats exactly the same code and adds callouts. Pause on this first slide so the audience can read the full example.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We know some landmark XY positions and have measured the distance from the robot to each landmark. The candidate robot positions are called particles. The function scores how well each candidate explains those measurements.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slide contains imports, the decorator, the function signature, validation, and the complete C++ body. Array aliases NDArray[np.float64]. Each input contains contiguous double-precision values. positions and landmarks contain XY pairs, ranges has one measurement per landmark, and scores has one output per particle. The kit passes array pointers and element counts such as positions_size. Inputs must remain unchanged during the call, and scores must not overlap them.</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headers brings in Eigen and stdexcept. sys.prefix locates Eigen's include directory in the active Pixi environment. link_args=['-fopenmp'] tells GCC to enable OpenMP compilation and linking. The kit uses the compiled library from the first call for these explicit build options. Later processes reuse its cache. nogil=True releases the Python interpreter lock only during the native body; argument conversion still holds it. Warm up before interactive use because first use initializes and compiles.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C++ using declaration names Eigen::Vector2d as Vec. Eigen::Map creates a vector view over two existing coordinates without copying them. positions + 2*i points to candidate i. For each landmark, subtract the vectors and take norm() to predict the distance. Subtract the measured range to get a residual. Square each residual and add it to error. Return the negative total in scores[i], so higher scores mean a better fit. With equal Gaussian range noise this is proportional to log likelihood, up to a scale and additive constant.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pragma distributes candidates across native workers; the threads argument defaults to four. schedule(static) assigns fixed chunks. Each worker writes different output elements and reads shared inputs. The inner accumulation is serial. OpenMP worker parallelism and GIL release are separate: native workers compute while other Python threads can continue.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code checks input lengths and a positive thread count before entering the parallel region. Empty particle input performs no work. A candidate has score zero when there are no measurements. The example computes the range-scoring step, with XY candidates; the larger localisation pipeline supplies and updates those candidates.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compact display version is executable at roscon_uk_2026/slide_assets/particle_scores/slide_example.py. It was verified against numpy_scores with rtol 1e-12 and atol 1e-10 using demo.inputs(). Call score(positions, landmarks, ranges, scores) for four workers, or supply threads explicitly. The benchmark uses the same arithmetic and options in demo.py. There, a separate OpenMP preprocessor guard verifies compiler configuration as well.</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benchmark verified actual worker counts and Python-thread progress. A larger single-worker call with nogil enabled allowed 41 heartbeat ticks in about 46 ms; the comparable call holding the GIL allowed zero. The following timing slide compares Python, NumPy and native implementations. Reproduction commands and measurement conditions are in roscon_uk_2026/slide_assets/particle_scores/README.md.</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p:txBody>
      </p:sp>
      <p:sp>
        <p:nvSpPr>
          <p:cNvPr id="513" name="PlaceHolder 3"/>
          <p:cNvSpPr>
            <a:spLocks noGrp="1"/>
          </p:cNvSpPr>
          <p:nvPr>
            <p:ph type="sldNum" idx="42"/>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5403BAB9-2E15-4981-898A-CD19804D6002}"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216000" y="812520"/>
            <a:ext cx="7125120" cy="4006800"/>
          </a:xfrm>
          <a:prstGeom prst="rect">
            <a:avLst/>
          </a:prstGeom>
          <a:ln w="0">
            <a:noFill/>
          </a:ln>
        </p:spPr>
      </p:sp>
      <p:sp>
        <p:nvSpPr>
          <p:cNvPr id="515" name="PlaceHolder 2"/>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The code is identical to the previous slide. Only the four callouts have appeared. First point to nogil=True: Python threads can run during the native body. Then point to the OpenMP pragma: it distributes candidates among the requested workers, four by default. These are separate mechanisms. Next explain Eigen::Map as a view over the input coordinates. Finally explain predicted distance minus measured range, squaring and accumulation, and the negative error score.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We know some landmark XY positions and have measured the distance from the robot to each landmark. The candidate robot positions are called particles. The function scores how well each candidate explains those measurements.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slide contains imports, the decorator, the function signature, validation, and the complete C++ body. Array aliases NDArray[np.float64]. Each input contains contiguous double-precision values. positions and landmarks contain XY pairs, ranges has one measurement per landmark, and scores has one output per particle. The kit passes array pointers and element counts such as positions_size. Inputs must remain unchanged during the call, and scores must not overlap them.</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headers brings in Eigen and stdexcept. sys.prefix locates Eigen's include directory in the active Pixi environment. link_args=['-fopenmp'] tells GCC to enable OpenMP compilation and linking. The kit uses the compiled library from the first call for these explicit build options. Later processes reuse its cache. nogil=True releases the Python interpreter lock only during the native body; argument conversion still holds it. Warm up before interactive use because first use initializes and compiles.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C++ using declaration names Eigen::Vector2d as Vec. Eigen::Map creates a vector view over two existing coordinates without copying them. positions + 2*i points to candidate i. For each landmark, subtract the vectors and take norm() to predict the distance. Subtract the measured range to get a residual. Square each residual and add it to error. Return the negative total in scores[i], so higher scores mean a better fit. With equal Gaussian range noise this is proportional to log likelihood, up to a scale and additive constant.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pragma distributes candidates across native workers; the threads argument defaults to four. schedule(static) assigns fixed chunks. Each worker writes different output elements and reads shared inputs. The inner accumulation is serial. OpenMP worker parallelism and GIL release are separate: native workers compute while other Python threads can continue.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code checks input lengths and a positive thread count before entering the parallel region. Empty particle input performs no work. A candidate has score zero when there are no measurements. The example computes the range-scoring step, with XY candidates; the larger localisation pipeline supplies and updates those candidates.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compact display version is executable at roscon_uk_2026/slide_assets/particle_scores/slide_example.py. It was verified against numpy_scores with rtol 1e-12 and atol 1e-10 using demo.inputs(). Call score(positions, landmarks, ranges, scores) for four workers, or supply threads explicitly. The benchmark uses the same arithmetic and options in demo.py. There, a separate OpenMP preprocessor guard verifies compiler configuration as well.</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benchmark verified actual worker counts and Python-thread progress. A larger single-worker call with nogil enabled allowed 41 heartbeat ticks in about 46 ms; the comparable call holding the GIL allowed zero. The following timing slide compares Python, NumPy and native implementations. Reproduction commands and measurement conditions are in roscon_uk_2026/slide_assets/particle_scores/README.md.</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p:txBody>
      </p:sp>
      <p:sp>
        <p:nvSpPr>
          <p:cNvPr id="516" name="PlaceHolder 3"/>
          <p:cNvSpPr>
            <a:spLocks noGrp="1"/>
          </p:cNvSpPr>
          <p:nvPr>
            <p:ph type="sldNum" idx="43"/>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6E816AAB-A3C8-4F91-BF52-C7B2668B7502}"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Img"/>
          </p:nvPr>
        </p:nvSpPr>
        <p:spPr>
          <a:xfrm>
            <a:off x="216000" y="812520"/>
            <a:ext cx="7125120" cy="4006800"/>
          </a:xfrm>
          <a:prstGeom prst="rect">
            <a:avLst/>
          </a:prstGeom>
          <a:ln w="0">
            <a:noFill/>
          </a:ln>
        </p:spPr>
      </p:sp>
      <p:sp>
        <p:nvSpPr>
          <p:cNvPr id="518" name="PlaceHolder 2"/>
          <p:cNvSpPr>
            <a:spLocks noGrp="1"/>
          </p:cNvSpPr>
          <p:nvPr>
            <p:ph type="body"/>
          </p:nvPr>
        </p:nvSpPr>
        <p:spPr>
          <a:xfrm>
            <a:off x="756000" y="5078520"/>
            <a:ext cx="6045480" cy="480888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Yes, the same calculation works without NumPy. The Python version uses lists of XY pairs, Python floats, two loops and math.hypot from the standard library. For each candidate it computes the range residual for each landmark, squares it, accumulates the error and returns its negative. math.hypot is itself implemented in native code; the repeated iteration, arithmetic and object handling around it remain Python operations. This version requires no NumPy. Its source is plain_python.py.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All implementations use the same 20,000 positions and 32 landmarks. Input creation and conversion to lists happen before timing. We compare the returned scores against the NumPy reference using rtol 1e-12 and atol 1e-10. Python floats and the NumPy/C++ buffers use double precision here. hypot uses a more robust distance algorithm than a direct square-root of summed squares, so this is equivalent scoring within the checked tolerance, not a claim of identical instructions.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Median per call means the middle of 60 measured complete Python calls, after five warmups per method. The order of the methods is shuffled in each round. The speedup column divides the Python median by each implementation's median, so the slowest measured method is 1×. It measures throughput of this scoring operation, not startup time or whole-application speed.</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Python takes about 39 ms, broadcast NumPy about 5 ms, streamed NumPy about 1.34 ms, one native worker about 0.90 ms, and four native workers about 0.45 ms in this run. Plain Python could be enough for an occasional query, but this workload alone exceeds a 33.3 ms frame budget for 30 Hz processing. NumPy already makes a large difference; the native loop and parallel workers reduce the time further. These are measurements of the shown implementations on this laptop, not maximum possible performance for each language.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broadcast NumPy version uses in-place ufuncs to limit allocation. The streamed version processes one landmark at a time and avoids the full candidate-by-landmark matrix. Native code reuses a preallocated output array; Python and NumPy allocate their results and temporaries. The native version also releases the GIL. OpenMP runs with explicit thread counts, OMP_DYNAMIC=FALSE and OMP_WAIT_POLICY=PASSIVE; OPENBLAS_NUM_THREADS=1. CPU frequency, core assignment and other system activity are uncontrolled. These are fresh measurements, so do not combine them with the previous fixed-order benchmark numbers. Raw p95 values remain in the data file; the slide shows only medians and speedup.</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Previously verified: OpenMP creates the requested workers; a Python heartbeat continues during the nogil call. A separate scaling run up to 16 workers showed that four workers fit this small demo well. Sixteen helped the larger 500,000-particle case. Those measurements remain in thread_scaling.json.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Startup and memory are separate. Previous startup measurements with an existing Cling PCH gave about 937 ms for a first cache-building process and 272 ms median for cached processes, with peak process RSS around 233 MiB. They are in startup.json and the README, not included in this timing table.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Reproduce from the repository checkout: pixi run env OMP_DYNAMIC=FALSE OMP_WAIT_POLICY=PASSIVE OPENBLAS_NUM_THREADS=1 python roscon_uk_2026/slide_assets/particle_scores/comparison.py</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Sources and every measured sample: roscon_uk_2026/slide_assets/particle_scores/plain_python.py, comparison.py and comparison.json. Full notes: that directory's README.md.</a:t>
            </a:r>
            <a:endParaRPr b="0" lang="en-US" sz="2000" spc="-1" strike="noStrike">
              <a:solidFill>
                <a:srgbClr val="000000"/>
              </a:solidFill>
              <a:latin typeface="Arial"/>
            </a:endParaRPr>
          </a:p>
        </p:txBody>
      </p:sp>
      <p:sp>
        <p:nvSpPr>
          <p:cNvPr id="519" name="PlaceHolder 3"/>
          <p:cNvSpPr>
            <a:spLocks noGrp="1"/>
          </p:cNvSpPr>
          <p:nvPr>
            <p:ph type="sldNum" idx="44"/>
          </p:nvPr>
        </p:nvSpPr>
        <p:spPr>
          <a:xfrm>
            <a:off x="4278960" y="10157400"/>
            <a:ext cx="3278520" cy="5320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6CC27BF4-7D59-4A2D-8336-5A548386169D}"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sldImg"/>
          </p:nvPr>
        </p:nvSpPr>
        <p:spPr>
          <a:xfrm>
            <a:off x="216000" y="812520"/>
            <a:ext cx="7125480" cy="4007160"/>
          </a:xfrm>
          <a:prstGeom prst="rect">
            <a:avLst/>
          </a:prstGeom>
          <a:ln w="0">
            <a:noFill/>
          </a:ln>
        </p:spPr>
      </p:sp>
      <p:sp>
        <p:nvSpPr>
          <p:cNvPr id="521" name="PlaceHolder 2"/>
          <p:cNvSpPr>
            <a:spLocks noGrp="1"/>
          </p:cNvSpPr>
          <p:nvPr>
            <p:ph type="body"/>
          </p:nvPr>
        </p:nvSpPr>
        <p:spPr>
          <a:xfrm>
            <a:off x="756000" y="5078520"/>
            <a:ext cx="6045840" cy="480924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These are helpers provided by cppyy_kit. The library kits use them to handle common integration tasks.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keep_alive(owner, obj) stores a reference on owner. Use it when C++ needs an object or its backing buffer to remain alive. callback(fn, owner=owner) creates a native function wrapper and retains the Python callable and wrapper. The caller still chooses the owner and must ensure it outlives native use. These functions do not track arbitrary C++ pointer ownership or prevent buffer resizing.</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NDArray[T] and ConstNDArray[T] describe typed array arguments to @cpp. They check dtype, byte order, alignment and contiguous layout. NDArray requires writable storage; ConstNDArray can accept read-only storage. Compatible arrays are borrowed for the call. The function still checks its required dimensions and output size. Typed Python sequences are copied.</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@cpp(nogil=True) releases the GIL during the compiled function body. nogil(fn) does the same for a supported nullary native callable. await run_async(fn) runs that callable in an executor thread with the GIL released. Python callbacks reacquire the GIL. None of these creates parallel computation workers; the OpenMP pragma in our earlier example does that.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cppdef_cached caches a compiled implementation. @cpp uses the function cache as well. warmup calls selected operations during initialization to pay their first-use costs there. Precompiled headers reuse header parsing. New signatures and templates may still require JIT compilation. The API ellipses on this slide indicate additional required arguments; they are not complete runnable calls.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probe_cppdef compiles supplied code in a subprocess and returns success or diagnostics. A failed Cling parsing transaction can crash its process, so this can protect a live interpreter while checking a declaration. Passing the probe does not validate every future native operation.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register_teardown(cleanup) registers a cleanup function. shutdown runs registered functions at most once, in reverse registration order, before Python and Cling teardown. These hooks are used for native resources such as ROS contexts.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Other helpers include load_libraries for shared libraries, require for installed or pinned downloaded headers, pretty_cpp_error for exception text, unwrap_expected for supported optional values, HandleRegistry for Python state referenced through integer handles, and environment/capability reports. See cppyy_kit/__init__.py, cppyy_kit/nogil.py, cppyy_kit/_cpp.py and docs/COMMON_PATTERNS.md. The next slide lists the library kits.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When to use probe_cppdef: before compiling unfamiliar headers or glue in a persistent notebook or live process, call probe_cppdef(code, headers=..., include_paths=..., libraries=...). It starts a separate Python interpreter, sets up the supplied paths/libraries, calls cppyy.cppdef, and returns (ok, message). A crash or timeout becomes a failed probe with diagnostics. The default timeout is 60 seconds. It is callable by ordinary developer code or by an agent; it is not agent-specific and is not automatically applied to every @cpp function. Passing the probe checks that declaration in the subprocess, not future executions, data validity, or compatibility with all state in the main interpreter. It is process isolation for this check, not a security sandbox.</a:t>
            </a:r>
            <a:endParaRPr b="0" lang="en-US" sz="2000" spc="-1" strike="noStrike">
              <a:solidFill>
                <a:srgbClr val="000000"/>
              </a:solidFill>
              <a:latin typeface="Arial"/>
            </a:endParaRPr>
          </a:p>
        </p:txBody>
      </p:sp>
      <p:sp>
        <p:nvSpPr>
          <p:cNvPr id="522" name="PlaceHolder 3"/>
          <p:cNvSpPr>
            <a:spLocks noGrp="1"/>
          </p:cNvSpPr>
          <p:nvPr>
            <p:ph type="sldNum" idx="45"/>
          </p:nvPr>
        </p:nvSpPr>
        <p:spPr>
          <a:xfrm>
            <a:off x="4278960" y="10157400"/>
            <a:ext cx="3278880" cy="5324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9A56C6E7-69BE-41B3-959E-B5A321F37FA0}"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sldImg"/>
          </p:nvPr>
        </p:nvSpPr>
        <p:spPr>
          <a:xfrm>
            <a:off x="216000" y="812520"/>
            <a:ext cx="7125480" cy="4007160"/>
          </a:xfrm>
          <a:prstGeom prst="rect">
            <a:avLst/>
          </a:prstGeom>
          <a:ln w="0">
            <a:noFill/>
          </a:ln>
        </p:spPr>
      </p:sp>
      <p:sp>
        <p:nvSpPr>
          <p:cNvPr id="524" name="PlaceHolder 2"/>
          <p:cNvSpPr>
            <a:spLocks noGrp="1"/>
          </p:cNvSpPr>
          <p:nvPr>
            <p:ph type="body"/>
          </p:nvPr>
        </p:nvSpPr>
        <p:spPr>
          <a:xfrm>
            <a:off x="756000" y="5078520"/>
            <a:ext cx="6045840" cy="480924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We have seen one function. Now what if I want to use a library I already know? That is where the kits come in. I do not want to rediscover the include paths, shared libraries, pointer conversions and callback glue for every experiment.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This list is the ten library kits in this repository. PCL handles point clouds. OpenCV handles images. DBoW2 supports visual place recognition. BehaviorTree.CPP gives us task trees with Python actions. OMPL exposes planning with Python validity checks. MoveIt covers robot models, kinematics and planning. nav2_kit supports navigation plugins with behavior implemented in Python, including our face-first controller plugin. control_kit supports loadable ros2_control controllers with behavior implemented in Python, including our controller examples. wbc_kit is specifically the Crocoddyl integration for custom action models. rclcpp_kit supplies ROS C++ objects, nodes, TF and rosbag2 helpers. rclcppyy is a related library offering an rclpy-style interface over rclcpp; it is distinct from rclcpp_kit, and we can discuss it next.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 would scan the list, rather than read every description aloud. The point is that the pattern repeats across different robotics libraries: Python drives the experiment and C++ does the library work. Each kit has its own API and supported operations. These are specific integrations, not a claim to wrap every feature of every upstream project.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catalog and package links are in README.md, Choose a library. The WHY.md, REPORT.md and API guides in each kit describe the supported operations. In particular wbc_kit refers to Crocoddyl; our separate whole-body-controller demos should not be confused with that package's entire API.</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For both plugin integrations, the kit supplies a small native C++ adapter inside the host process. It implements the C++ plugin interface and forwards lifecycle and control calls to the Python implementation. This connection adds no bridge node, extra process or message transport. Python implements the controller or navigation behavior. The adapter is small, but that does not make Python execution hard real-time: GIL contention, allocations and garbage collection can affect timing.</a:t>
            </a:r>
            <a:endParaRPr b="0" lang="en-US" sz="2000" spc="-1" strike="noStrike">
              <a:solidFill>
                <a:srgbClr val="000000"/>
              </a:solidFill>
              <a:latin typeface="Arial"/>
            </a:endParaRPr>
          </a:p>
        </p:txBody>
      </p:sp>
      <p:sp>
        <p:nvSpPr>
          <p:cNvPr id="525" name="PlaceHolder 3"/>
          <p:cNvSpPr>
            <a:spLocks noGrp="1"/>
          </p:cNvSpPr>
          <p:nvPr>
            <p:ph type="sldNum" idx="46"/>
          </p:nvPr>
        </p:nvSpPr>
        <p:spPr>
          <a:xfrm>
            <a:off x="4278960" y="10157400"/>
            <a:ext cx="3278880" cy="5324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32733FE4-8BB9-4AC5-B16C-BF22F9A81476}"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sldImg"/>
          </p:nvPr>
        </p:nvSpPr>
        <p:spPr>
          <a:xfrm>
            <a:off x="216000" y="812520"/>
            <a:ext cx="7125480" cy="4007160"/>
          </a:xfrm>
          <a:prstGeom prst="rect">
            <a:avLst/>
          </a:prstGeom>
          <a:ln w="0">
            <a:noFill/>
          </a:ln>
        </p:spPr>
      </p:sp>
      <p:sp>
        <p:nvSpPr>
          <p:cNvPr id="527" name="PlaceHolder 2"/>
          <p:cNvSpPr>
            <a:spLocks noGrp="1"/>
          </p:cNvSpPr>
          <p:nvPr>
            <p:ph type="body"/>
          </p:nvPr>
        </p:nvSpPr>
        <p:spPr>
          <a:xfrm>
            <a:off x="756000" y="5078520"/>
            <a:ext cx="6045840" cy="480924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A quick reminder of rclcppyy, because it connects the Python experiments to the ROS system. It is built on cppyy and cppyy_kit and provides explicit ways to use rclcpp from Python, including an rclpy-style API for supported operations.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important part for these examples is object representation. With a native execution path, a ROS message is an actual generated C++ message object. Python can pass that object to compatible C++ functions without rebuilding its fields as a separate Python message. We can keep data and intermediate results in C++ across a pipeline. A library requiring a different layout or type still needs its conversion. This is not a blanket zero-copy claim.</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Native sessions also expose rclcpp facilities such as intra-process communication, standard rclcpp_components and selected callbacks implemented in C++. That lets us compose native processing while Python configures and inspects it. Intra-process ownership transfer depends on topology, QoS and ownership; middleware loan support depends on RMW and message type. Ordinary rclpy already supports services, actions, lifecycle nodes, QoS and callback groups, so those are not the distinction here.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Be explicit about the selected mode. The current default compatible activation retains stock rclpy entities and publishing. It does not automatically turn every Python node into a C++ node or promise a speedup. The direct C++ mode provides a bounded supported API with native entities and messages; the managed native session exposes native composition and raw access. The diagram illustrates these native routes.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If discussing performance verbally: the recorded local Jazzy/CycloneDDS UInt64 relay comparison reported about 2.925 times closed-loop throughput and 0.228 times relay CPU versus stock rclpy. These are historical measurements for that specific protocol, not image throughput or a general speed promise. They were not rerun for this slide. Other cases differ: actions primarily reduced CPU with little completion-throughput change, and a service-server p99 latency measurement was worse. Keep any public numerical claim tied to its protocol and original evidence. For this reminder slide, the main point is access to native objects and facilities.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rclcpp_kit is the kit supplying low-level ROS C++ helpers; rclcppyy is the related higher-level ROS Python-facing library. Our control_kit and nav2_kit plugins also use in-process native adapters, but those adapters are not bridge nodes.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Sources: ../rclcppyy/README.md; ../rclcppyy/docs/backend-selection.md; ../rclcppyy/docs/RCLCPPYY_RESTART_HANDOFF.md; roscon_uk_2026/RCLCPPYY_TALK_SUMMARY.md. The summary records the benchmark provenance and qualifications. This is a short lead-in to using the native message representation in perception and composed pipelines.</a:t>
            </a:r>
            <a:endParaRPr b="0" lang="en-US" sz="2000" spc="-1" strike="noStrike">
              <a:solidFill>
                <a:srgbClr val="000000"/>
              </a:solidFill>
              <a:latin typeface="Arial"/>
            </a:endParaRPr>
          </a:p>
        </p:txBody>
      </p:sp>
      <p:sp>
        <p:nvSpPr>
          <p:cNvPr id="528" name="PlaceHolder 3"/>
          <p:cNvSpPr>
            <a:spLocks noGrp="1"/>
          </p:cNvSpPr>
          <p:nvPr>
            <p:ph type="sldNum" idx="47"/>
          </p:nvPr>
        </p:nvSpPr>
        <p:spPr>
          <a:xfrm>
            <a:off x="4278960" y="10157400"/>
            <a:ext cx="3278880" cy="5324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8E2D4582-B3A1-483D-AD39-6CD284B6F5CB}"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sldImg"/>
          </p:nvPr>
        </p:nvSpPr>
        <p:spPr>
          <a:xfrm>
            <a:off x="216000" y="812520"/>
            <a:ext cx="7125840" cy="4007520"/>
          </a:xfrm>
          <a:prstGeom prst="rect">
            <a:avLst/>
          </a:prstGeom>
          <a:ln w="0">
            <a:noFill/>
          </a:ln>
        </p:spPr>
      </p:sp>
      <p:sp>
        <p:nvSpPr>
          <p:cNvPr id="530" name="PlaceHolder 2"/>
          <p:cNvSpPr>
            <a:spLocks noGrp="1"/>
          </p:cNvSpPr>
          <p:nvPr>
            <p:ph type="body"/>
          </p:nvPr>
        </p:nvSpPr>
        <p:spPr>
          <a:xfrm>
            <a:off x="756000" y="5078520"/>
            <a:ext cx="6046200" cy="480960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The broad result is lower CPU cost across several types of ROS work, not just one pub/sub relay. Throughput improves substantially for pub/sub, services and remote parameter operations. Actions use less CPU but complete at almost the same rate. That is still useful: lower overhead leaves CPU available for the rest of the robot.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Spend only a few seconds on the table. Say: Pub/sub is around three times the throughput with roughly eighty percent less relay CPU. Services also improve. Actions mainly save CPU. Remote parameter calls show the largest throughput ratios in this set. These are measurements for the individual benchmark workloads, not a single average or a promise for every node.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Each range combines distinct operations in that row; it is not a confidence interval. CPU savings are (1 - direct/stock CPU ratio) times 100. Throughput is direct/stock, with stock equal to one. A dash means no throughput ratio is reported in the source summary, rather than zero throughput. CPU is accumulated time in the measured window, not instantaneous utilisation.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Exact measurements from Current CPU Evidence: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Pub/sub relay: CPU ratio 0.228, throughput 2.925. With MessageInfo: CPU 0.190, throughput 2.981. Slide savings 77–81%. These CPU numbers cover the relay. Including the driver, CPU ratios are 0.329 and 0.288, corresponding to 67–71% savings. The relay protocol is one outstanding UInt64 message, a fixed transform, identical two-process topology and QoS.</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Service client: CPU 0.218, throughput 2.634. Service server callback: CPU 0.319, throughput 1.443. Rounded savings 68–78%. Server p99 latency ratio 1.096 means about 10% worse tail latency, despite the CPU benefit.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Action client: CPU 0.2606, result throughput 1.0160. Action server: CPU 0.6475, result throughput 1.0107. Savings round to 35–74%; completion throughput is effectively unchanged for this quick summary. The action server remains above conventional AOT C++ CPU, so beating stock rclpy does not imply matching compiled C++.</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Remote parameter get: CPU 0.1583, throughput 6.3175. Remote atomic parameter set: CPU 0.2492, throughput 4.0148. Savings round to 75–84%.</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Local parameter declare/get/set CPU ratios: 0.6943 / 0.6090 / 0.5148, giving 31–49% savings. Accessing local parameter .value instead has CPU ratio 1.1073, about 11% more CPU than stock; it is an explicitly listed exception.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 Public timer/executor CPU ratio: 0.260 versus stock, about 74% saved. Its deadline p99 ratio is 1.104 against the raw control, a different baseline. Scheduling-phase issues make that latency unsuitable for a simple speed headline. No timer throughput claim is made here.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These are recorded local x86-64 Jazzy/CycloneDDS characterizations from different benchmark workloads and revisions. They are not rerun for this slide, and raw relay/service results have not been independently reconstructed here. The project keeps broad release-level performance claims gated pending dedicated-runner and other evidence. Default compatible activation retains stock rclpy behavior; these numbers concern explicitly selected native/direct paths. Do not average the ratios across workloads or present the ranges as universal savings.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serialized message-facade experiment was slower and remains frozen; it is not credited as direct-path acceleration. Historical fusion data is also separate. The table summarizes the current operation-level CPU evidence, with the main measured exceptions visible on the slide.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Sources: ../rclcppyy/docs/RCLCPPYY_RESTART_HANDOFF.md, Current CPU Evidence; ../rclcppyy/docs/relay-boundary-benchmark.md; service-client-benchmark.md; service-callback-benchmark.md; action-client-benchmark.md; action-server-benchmark.md; timer-executor-benchmark.md. The handoff lists raw action and parameter artifacts with hashes. roscon_uk_2026/RCLCPPYY_TALK_SUMMARY.md contains the talk-specific overview and interpretation.</a:t>
            </a:r>
            <a:endParaRPr b="0" lang="en-US" sz="2000" spc="-1" strike="noStrike">
              <a:solidFill>
                <a:srgbClr val="000000"/>
              </a:solidFill>
              <a:latin typeface="Arial"/>
            </a:endParaRPr>
          </a:p>
        </p:txBody>
      </p:sp>
      <p:sp>
        <p:nvSpPr>
          <p:cNvPr id="531" name="PlaceHolder 3"/>
          <p:cNvSpPr>
            <a:spLocks noGrp="1"/>
          </p:cNvSpPr>
          <p:nvPr>
            <p:ph type="sldNum" idx="48"/>
          </p:nvPr>
        </p:nvSpPr>
        <p:spPr>
          <a:xfrm>
            <a:off x="4278960" y="10157400"/>
            <a:ext cx="3279240" cy="53280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DEADCBCB-E2CF-4C06-B845-8C7699C57040}"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type="sldImg"/>
          </p:nvPr>
        </p:nvSpPr>
        <p:spPr>
          <a:xfrm>
            <a:off x="216000" y="812520"/>
            <a:ext cx="7125480" cy="4007160"/>
          </a:xfrm>
          <a:prstGeom prst="rect">
            <a:avLst/>
          </a:prstGeom>
          <a:ln w="0">
            <a:noFill/>
          </a:ln>
        </p:spPr>
      </p:sp>
      <p:sp>
        <p:nvSpPr>
          <p:cNvPr id="533" name="PlaceHolder 2"/>
          <p:cNvSpPr>
            <a:spLocks noGrp="1"/>
          </p:cNvSpPr>
          <p:nvPr>
            <p:ph type="body"/>
          </p:nvPr>
        </p:nvSpPr>
        <p:spPr>
          <a:xfrm>
            <a:off x="756000" y="5078520"/>
            <a:ext cx="6045840" cy="480924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I want this to be easy for a coding agent to use as well as for me. That does not mean putting a chatbot inside the package. It means giving an external assistant a small interface, enough accurate context, and a short path to a result it can check.</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First, less scaffolding. We just saw that a C++ operation can sit in a Python function, and that a kit prepares the common library setup and useful bridges. An agent can start from those interfaces instead of generating a new binding project for each experiment. That reduces the amount of code it needs to create and maintain. We have not measured a general reduction in tokens or tool calls, so present that as a design advantage, not a quantified benchmark.</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Second, the context is discoverable. The package includes task guides for accelerating Python, bringing in a library, and working with existing C++ software. Installed kits expose their overview and API reference. These explain actual supported calls, dependencies, data conversion and lifetime rules. The agent can read that local context rather than guess an API from the library name. Environment inspection helps diagnose the compiler and headers. The guide and status CLI commands are ways an agent retrieves this information; the commands themselves are not the point of this slide.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Third, give it examples that run. A useful example includes input data or a way to create it, the library operation and an expected result. The agent can adapt that small example and retain its checks. The repository also provides an acceleration skill that describes profiling, choosing work to move into C++, and comparing outputs and performance. These instructions work with external coding assistants; they do not depend on a particular model.</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Fourth, close the loop. Let the agent run the operation on the data we actually care about, show the result, compare against a reference and measure the cost. For instance: use PCL to downsample this cloud, show before and after, and report the point count and processing time. We can inspect that together and change the request. Matching output is separate from speed, and startup is separate from a warmed call.</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This leads into the later interactive-session demonstration. In our repository's marimo and live-viewer examples, the agent can revise processing while keeping the data, models and viewer alive. That preserves useful state between iterations. The installed package provides the interfaces and guidance; the persistent webcam/notebook arrangements are concrete demos built with those pieces. The goal is to collect useful code, example inputs, observed outputs and checks that a later implementation can reuse.</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Suggested spoken transition: An LLM can already write a binding project. What I want here is to give it fewer moving parts and a faster feedback loop with the real data. It can read how the kit works, try a small operation, and show me whether it did the right thing.</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Evidence and implementation: CPPYY_KIT_WITH_AI.md; docs/GUIDES.md; cppyy_kit/agent_guides/; per-kit WHY.md and API guides; skills/cppyy-accelerate/SKILL.md; roscon_uk_2026/next_steps/agent_session/NOTEBOOK.md. Guides and examples support the workflow; their presence is not a guarantee that generated code is correct.</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The previous slide gives concrete runtime support behind this claim: keep_alive and callback(owner=...) retain required objects, typed array arguments validate the buffer boundary, compiled caches reuse work, and shutdown hooks order resource release. These helpers are useful to humans and coding agents alike. They handle documented cases and do not infer every C++ ownership contract automatically.</a:t>
            </a:r>
            <a:endParaRPr b="0" lang="en-US" sz="2000" spc="-1" strike="noStrike">
              <a:solidFill>
                <a:srgbClr val="000000"/>
              </a:solidFill>
              <a:latin typeface="Arial"/>
            </a:endParaRPr>
          </a:p>
        </p:txBody>
      </p:sp>
      <p:sp>
        <p:nvSpPr>
          <p:cNvPr id="534" name="PlaceHolder 3"/>
          <p:cNvSpPr>
            <a:spLocks noGrp="1"/>
          </p:cNvSpPr>
          <p:nvPr>
            <p:ph type="sldNum" idx="49"/>
          </p:nvPr>
        </p:nvSpPr>
        <p:spPr>
          <a:xfrm>
            <a:off x="4278960" y="10157400"/>
            <a:ext cx="3278880" cy="5324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D0BBBDA1-792C-405C-9509-ACABF90C2AD9}"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sldImg"/>
          </p:nvPr>
        </p:nvSpPr>
        <p:spPr>
          <a:xfrm>
            <a:off x="216000" y="812520"/>
            <a:ext cx="7126560" cy="4008240"/>
          </a:xfrm>
          <a:prstGeom prst="rect">
            <a:avLst/>
          </a:prstGeom>
          <a:ln w="0">
            <a:noFill/>
          </a:ln>
        </p:spPr>
      </p:sp>
      <p:sp>
        <p:nvSpPr>
          <p:cNvPr id="536"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These are the two demo profiles on one reference diagram. Navigation runs Nav2; the admittance profile runs the force UI and swaps the left-arm controller. The Gazebo server, bridge, robot_state_publisher, RViz and Gazebo GUI are shared infrastructure. In the navigation profile, the new Python policy is hosted inside controller_server by the nav2_kit DWB adapter. In the arm profile, the Python law is hosted inside Gazebo by the control_kit ControllerInterface adapter. The base is driven by Gazebo VelocityControl via ros_gz_bridge, not a ros2_control base controller. Joint states reach robot_state_publisher directly over ROS. Simulation-truth localization supplies map to odom. Source: next_steps/tiago_pro_jazzy/playground.launch.py, native_model.py, navigation/nav.launch.py and next_steps/robot_demos/run.py.</a:t>
            </a:r>
            <a:endParaRPr b="0" lang="en-US" sz="2000" spc="-1" strike="noStrike">
              <a:solidFill>
                <a:srgbClr val="000000"/>
              </a:solidFill>
              <a:latin typeface="Arial"/>
            </a:endParaRPr>
          </a:p>
        </p:txBody>
      </p:sp>
      <p:sp>
        <p:nvSpPr>
          <p:cNvPr id="537" name="PlaceHolder 3"/>
          <p:cNvSpPr>
            <a:spLocks noGrp="1"/>
          </p:cNvSpPr>
          <p:nvPr>
            <p:ph type="sldNum" idx="50"/>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C9B1323C-B778-446E-8B8C-973614DA0364}"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type="sldImg"/>
          </p:nvPr>
        </p:nvSpPr>
        <p:spPr>
          <a:xfrm>
            <a:off x="216000" y="812520"/>
            <a:ext cx="7126560" cy="4008240"/>
          </a:xfrm>
          <a:prstGeom prst="rect">
            <a:avLst/>
          </a:prstGeom>
          <a:ln w="0">
            <a:noFill/>
          </a:ln>
        </p:spPr>
      </p:sp>
      <p:sp>
        <p:nvSpPr>
          <p:cNvPr id="539"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The base is </a:t>
            </a:r>
            <a:r>
              <a:rPr b="0" lang="en-US" sz="2000" spc="-1" strike="noStrike">
                <a:solidFill>
                  <a:srgbClr val="000000"/>
                </a:solidFill>
                <a:latin typeface="Arial"/>
              </a:rPr>
              <a:t>holonomic. The </a:t>
            </a:r>
            <a:r>
              <a:rPr b="0" lang="en-US" sz="2000" spc="-1" strike="noStrike">
                <a:solidFill>
                  <a:srgbClr val="000000"/>
                </a:solidFill>
                <a:latin typeface="Arial"/>
              </a:rPr>
              <a:t>original DWB profile </a:t>
            </a:r>
            <a:r>
              <a:rPr b="0" lang="en-US" sz="2000" spc="-1" strike="noStrike">
                <a:solidFill>
                  <a:srgbClr val="000000"/>
                </a:solidFill>
                <a:latin typeface="Arial"/>
              </a:rPr>
              <a:t>can move sideways </a:t>
            </a:r>
            <a:r>
              <a:rPr b="0" lang="en-US" sz="2000" spc="-1" strike="noStrike">
                <a:solidFill>
                  <a:srgbClr val="000000"/>
                </a:solidFill>
                <a:latin typeface="Arial"/>
              </a:rPr>
              <a:t>to reach this goal. </a:t>
            </a:r>
            <a:r>
              <a:rPr b="0" lang="en-US" sz="2000" spc="-1" strike="noStrike">
                <a:solidFill>
                  <a:srgbClr val="000000"/>
                </a:solidFill>
                <a:latin typeface="Arial"/>
              </a:rPr>
              <a:t>That is valid motion, </a:t>
            </a:r>
            <a:r>
              <a:rPr b="0" lang="en-US" sz="2000" spc="-1" strike="noStrike">
                <a:solidFill>
                  <a:srgbClr val="000000"/>
                </a:solidFill>
                <a:latin typeface="Arial"/>
              </a:rPr>
              <a:t>but it is not what I </a:t>
            </a:r>
            <a:r>
              <a:rPr b="0" lang="en-US" sz="2000" spc="-1" strike="noStrike">
                <a:solidFill>
                  <a:srgbClr val="000000"/>
                </a:solidFill>
                <a:latin typeface="Arial"/>
              </a:rPr>
              <a:t>want with a forward-</a:t>
            </a:r>
            <a:r>
              <a:rPr b="0" lang="en-US" sz="2000" spc="-1" strike="noStrike">
                <a:solidFill>
                  <a:srgbClr val="000000"/>
                </a:solidFill>
                <a:latin typeface="Arial"/>
              </a:rPr>
              <a:t>facing depth </a:t>
            </a:r>
            <a:r>
              <a:rPr b="0" lang="en-US" sz="2000" spc="-1" strike="noStrike">
                <a:solidFill>
                  <a:srgbClr val="000000"/>
                </a:solidFill>
                <a:latin typeface="Arial"/>
              </a:rPr>
              <a:t>camera.</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Record the robot </a:t>
            </a:r>
            <a:r>
              <a:rPr b="0" lang="en-US" sz="2000" spc="-1" strike="noStrike">
                <a:solidFill>
                  <a:srgbClr val="000000"/>
                </a:solidFill>
                <a:latin typeface="Arial"/>
              </a:rPr>
              <a:t>initially facing north, </a:t>
            </a:r>
            <a:r>
              <a:rPr b="0" lang="en-US" sz="2000" spc="-1" strike="noStrike">
                <a:solidFill>
                  <a:srgbClr val="000000"/>
                </a:solidFill>
                <a:latin typeface="Arial"/>
              </a:rPr>
              <a:t>then an RViz Nav2 </a:t>
            </a:r>
            <a:r>
              <a:rPr b="0" lang="en-US" sz="2000" spc="-1" strike="noStrike">
                <a:solidFill>
                  <a:srgbClr val="000000"/>
                </a:solidFill>
                <a:latin typeface="Arial"/>
              </a:rPr>
              <a:t>Goal at </a:t>
            </a:r>
            <a:r>
              <a:rPr b="0" lang="en-US" sz="2000" spc="-1" strike="noStrike">
                <a:solidFill>
                  <a:srgbClr val="000000"/>
                </a:solidFill>
                <a:latin typeface="Arial"/>
              </a:rPr>
              <a:t>approximately map </a:t>
            </a:r>
            <a:r>
              <a:rPr b="0" lang="en-US" sz="2000" spc="-1" strike="noStrike">
                <a:solidFill>
                  <a:srgbClr val="000000"/>
                </a:solidFill>
                <a:latin typeface="Arial"/>
              </a:rPr>
              <a:t>x=-1.85, y=1.35, </a:t>
            </a:r>
            <a:r>
              <a:rPr b="0" lang="en-US" sz="2000" spc="-1" strike="noStrike">
                <a:solidFill>
                  <a:srgbClr val="000000"/>
                </a:solidFill>
                <a:latin typeface="Arial"/>
              </a:rPr>
              <a:t>yaw=0. Wait for </a:t>
            </a:r>
            <a:r>
              <a:rPr b="0" lang="en-US" sz="2000" spc="-1" strike="noStrike">
                <a:solidFill>
                  <a:srgbClr val="000000"/>
                </a:solidFill>
                <a:latin typeface="Arial"/>
              </a:rPr>
              <a:t>Navigation to show </a:t>
            </a:r>
            <a:r>
              <a:rPr b="0" lang="en-US" sz="2000" spc="-1" strike="noStrike">
                <a:solidFill>
                  <a:srgbClr val="000000"/>
                </a:solidFill>
                <a:latin typeface="Arial"/>
              </a:rPr>
              <a:t>active before </a:t>
            </a:r>
            <a:r>
              <a:rPr b="0" lang="en-US" sz="2000" spc="-1" strike="noStrike">
                <a:solidFill>
                  <a:srgbClr val="000000"/>
                </a:solidFill>
                <a:latin typeface="Arial"/>
              </a:rPr>
              <a:t>clicking. Keep the </a:t>
            </a:r>
            <a:r>
              <a:rPr b="0" lang="en-US" sz="2000" spc="-1" strike="noStrike">
                <a:solidFill>
                  <a:srgbClr val="000000"/>
                </a:solidFill>
                <a:latin typeface="Arial"/>
              </a:rPr>
              <a:t>same view and goal </a:t>
            </a:r>
            <a:r>
              <a:rPr b="0" lang="en-US" sz="2000" spc="-1" strike="noStrike">
                <a:solidFill>
                  <a:srgbClr val="000000"/>
                </a:solidFill>
                <a:latin typeface="Arial"/>
              </a:rPr>
              <a:t>for the next clip.</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Latest local baseline </a:t>
            </a:r>
            <a:r>
              <a:rPr b="0" lang="en-US" sz="2000" spc="-1" strike="noStrike">
                <a:solidFill>
                  <a:srgbClr val="000000"/>
                </a:solidFill>
                <a:latin typeface="Arial"/>
              </a:rPr>
              <a:t>verification: 0.722 m </a:t>
            </a:r>
            <a:r>
              <a:rPr b="0" lang="en-US" sz="2000" spc="-1" strike="noStrike">
                <a:solidFill>
                  <a:srgbClr val="000000"/>
                </a:solidFill>
                <a:latin typeface="Arial"/>
              </a:rPr>
              <a:t>travelled, of which </a:t>
            </a:r>
            <a:r>
              <a:rPr b="0" lang="en-US" sz="2000" spc="-1" strike="noStrike">
                <a:solidFill>
                  <a:srgbClr val="000000"/>
                </a:solidFill>
                <a:latin typeface="Arial"/>
              </a:rPr>
              <a:t>0.561 m had </a:t>
            </a:r>
            <a:r>
              <a:rPr b="0" lang="en-US" sz="2000" spc="-1" strike="noStrike">
                <a:solidFill>
                  <a:srgbClr val="000000"/>
                </a:solidFill>
                <a:latin typeface="Arial"/>
              </a:rPr>
              <a:t>measured motion </a:t>
            </a:r>
            <a:r>
              <a:rPr b="0" lang="en-US" sz="2000" spc="-1" strike="noStrike">
                <a:solidFill>
                  <a:srgbClr val="000000"/>
                </a:solidFill>
                <a:latin typeface="Arial"/>
              </a:rPr>
              <a:t>outside a 30-degree </a:t>
            </a:r>
            <a:r>
              <a:rPr b="0" lang="en-US" sz="2000" spc="-1" strike="noStrike">
                <a:solidFill>
                  <a:srgbClr val="000000"/>
                </a:solidFill>
                <a:latin typeface="Arial"/>
              </a:rPr>
              <a:t>forward cone. </a:t>
            </a:r>
            <a:r>
              <a:rPr b="0" lang="en-US" sz="2000" spc="-1" strike="noStrike">
                <a:solidFill>
                  <a:srgbClr val="000000"/>
                </a:solidFill>
                <a:latin typeface="Arial"/>
              </a:rPr>
              <a:t>Evidence: </a:t>
            </a:r>
            <a:r>
              <a:rPr b="0" lang="en-US" sz="2000" spc="-1" strike="noStrike">
                <a:solidFill>
                  <a:srgbClr val="000000"/>
                </a:solidFill>
                <a:latin typeface="Arial"/>
              </a:rPr>
              <a:t>next_steps/robot_de</a:t>
            </a:r>
            <a:r>
              <a:rPr b="0" lang="en-US" sz="2000" spc="-1" strike="noStrike">
                <a:solidFill>
                  <a:srgbClr val="000000"/>
                </a:solidFill>
                <a:latin typeface="Arial"/>
              </a:rPr>
              <a:t>mos/evidence/baseli</a:t>
            </a:r>
            <a:r>
              <a:rPr b="0" lang="en-US" sz="2000" spc="-1" strike="noStrike">
                <a:solidFill>
                  <a:srgbClr val="000000"/>
                </a:solidFill>
                <a:latin typeface="Arial"/>
              </a:rPr>
              <a:t>ne.json. Both </a:t>
            </a:r>
            <a:r>
              <a:rPr b="0" lang="en-US" sz="2000" spc="-1" strike="noStrike">
                <a:solidFill>
                  <a:srgbClr val="000000"/>
                </a:solidFill>
                <a:latin typeface="Arial"/>
              </a:rPr>
              <a:t>profiles enable the </a:t>
            </a:r>
            <a:r>
              <a:rPr b="0" lang="en-US" sz="2000" spc="-1" strike="noStrike">
                <a:solidFill>
                  <a:srgbClr val="000000"/>
                </a:solidFill>
                <a:latin typeface="Arial"/>
              </a:rPr>
              <a:t>same depth </a:t>
            </a:r>
            <a:r>
              <a:rPr b="0" lang="en-US" sz="2000" spc="-1" strike="noStrike">
                <a:solidFill>
                  <a:srgbClr val="000000"/>
                </a:solidFill>
                <a:latin typeface="Arial"/>
              </a:rPr>
              <a:t>observation source. </a:t>
            </a:r>
            <a:r>
              <a:rPr b="0" lang="en-US" sz="2000" spc="-1" strike="noStrike">
                <a:solidFill>
                  <a:srgbClr val="000000"/>
                </a:solidFill>
                <a:latin typeface="Arial"/>
              </a:rPr>
              <a:t>The forward profile </a:t>
            </a:r>
            <a:r>
              <a:rPr b="0" lang="en-US" sz="2000" spc="-1" strike="noStrike">
                <a:solidFill>
                  <a:srgbClr val="000000"/>
                </a:solidFill>
                <a:latin typeface="Arial"/>
              </a:rPr>
              <a:t>also enables </a:t>
            </a:r>
            <a:r>
              <a:rPr b="0" lang="en-US" sz="2000" spc="-1" strike="noStrike">
                <a:solidFill>
                  <a:srgbClr val="000000"/>
                </a:solidFill>
                <a:latin typeface="Arial"/>
              </a:rPr>
              <a:t>footprint scoring and </a:t>
            </a:r>
            <a:r>
              <a:rPr b="0" lang="en-US" sz="2000" spc="-1" strike="noStrike">
                <a:solidFill>
                  <a:srgbClr val="000000"/>
                </a:solidFill>
                <a:latin typeface="Arial"/>
              </a:rPr>
              <a:t>adjusts velocity </a:t>
            </a:r>
            <a:r>
              <a:rPr b="0" lang="en-US" sz="2000" spc="-1" strike="noStrike">
                <a:solidFill>
                  <a:srgbClr val="000000"/>
                </a:solidFill>
                <a:latin typeface="Arial"/>
              </a:rPr>
              <a:t>sampling, so this is </a:t>
            </a:r>
            <a:r>
              <a:rPr b="0" lang="en-US" sz="2000" spc="-1" strike="noStrike">
                <a:solidFill>
                  <a:srgbClr val="000000"/>
                </a:solidFill>
                <a:latin typeface="Arial"/>
              </a:rPr>
              <a:t>a behavior </a:t>
            </a:r>
            <a:r>
              <a:rPr b="0" lang="en-US" sz="2000" spc="-1" strike="noStrike">
                <a:solidFill>
                  <a:srgbClr val="000000"/>
                </a:solidFill>
                <a:latin typeface="Arial"/>
              </a:rPr>
              <a:t>comparison, not an </a:t>
            </a:r>
            <a:r>
              <a:rPr b="0" lang="en-US" sz="2000" spc="-1" strike="noStrike">
                <a:solidFill>
                  <a:srgbClr val="000000"/>
                </a:solidFill>
                <a:latin typeface="Arial"/>
              </a:rPr>
              <a:t>isolated plugin </a:t>
            </a:r>
            <a:r>
              <a:rPr b="0" lang="en-US" sz="2000" spc="-1" strike="noStrike">
                <a:solidFill>
                  <a:srgbClr val="000000"/>
                </a:solidFill>
                <a:latin typeface="Arial"/>
              </a:rPr>
              <a:t>benchmark.</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Run from the </a:t>
            </a:r>
            <a:r>
              <a:rPr b="0" lang="en-US" sz="2000" spc="-1" strike="noStrike">
                <a:solidFill>
                  <a:srgbClr val="000000"/>
                </a:solidFill>
                <a:latin typeface="Arial"/>
              </a:rPr>
              <a:t>repository root: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./roscon_uk_2026/</a:t>
            </a:r>
            <a:r>
              <a:rPr b="0" lang="en-US" sz="2000" spc="-1" strike="noStrike">
                <a:solidFill>
                  <a:srgbClr val="000000"/>
                </a:solidFill>
                <a:latin typeface="Arial"/>
              </a:rPr>
              <a:t>run_robot_demo.sh </a:t>
            </a:r>
            <a:r>
              <a:rPr b="0" lang="en-US" sz="2000" spc="-1" strike="noStrike">
                <a:solidFill>
                  <a:srgbClr val="000000"/>
                </a:solidFill>
                <a:latin typeface="Arial"/>
              </a:rPr>
              <a:t>baseline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Stop with Ctrl-C and </a:t>
            </a:r>
            <a:r>
              <a:rPr b="0" lang="en-US" sz="2000" spc="-1" strike="noStrike">
                <a:solidFill>
                  <a:srgbClr val="000000"/>
                </a:solidFill>
                <a:latin typeface="Arial"/>
              </a:rPr>
              <a:t>wait for Demo </a:t>
            </a:r>
            <a:r>
              <a:rPr b="0" lang="en-US" sz="2000" spc="-1" strike="noStrike">
                <a:solidFill>
                  <a:srgbClr val="000000"/>
                </a:solidFill>
                <a:latin typeface="Arial"/>
              </a:rPr>
              <a:t>stopped. before the </a:t>
            </a:r>
            <a:r>
              <a:rPr b="0" lang="en-US" sz="2000" spc="-1" strike="noStrike">
                <a:solidFill>
                  <a:srgbClr val="000000"/>
                </a:solidFill>
                <a:latin typeface="Arial"/>
              </a:rPr>
              <a:t>next launch.</a:t>
            </a:r>
            <a:endParaRPr b="0" lang="en-US" sz="2000" spc="-1" strike="noStrike">
              <a:solidFill>
                <a:srgbClr val="000000"/>
              </a:solidFill>
              <a:latin typeface="Arial"/>
            </a:endParaRPr>
          </a:p>
        </p:txBody>
      </p:sp>
      <p:sp>
        <p:nvSpPr>
          <p:cNvPr id="540" name="PlaceHolder 3"/>
          <p:cNvSpPr>
            <a:spLocks noGrp="1"/>
          </p:cNvSpPr>
          <p:nvPr>
            <p:ph type="sldNum" idx="51"/>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748A8811-13C7-40E2-8F5F-2C78A7196E2F}"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sldImg"/>
          </p:nvPr>
        </p:nvSpPr>
        <p:spPr>
          <a:xfrm>
            <a:off x="216000" y="812520"/>
            <a:ext cx="7126560" cy="4008240"/>
          </a:xfrm>
          <a:prstGeom prst="rect">
            <a:avLst/>
          </a:prstGeom>
          <a:ln w="0">
            <a:noFill/>
          </a:ln>
        </p:spPr>
      </p:sp>
      <p:sp>
        <p:nvSpPr>
          <p:cNvPr id="542"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Run run_robot_demo.sh forward --gazebo-gui. The existing simulator launch handles Gazebo, RViz, sensors, maps and stock navigation. We only show the added kit setup and the Python policy. The setup shown next belongs in the existing nav.launch.py. The policy shown is a fixed-default teaching version of the recorded policy; the repository version also validates configurable options. Source: nav2_kit/demos/forward_camera_policy.py.</a:t>
            </a:r>
            <a:endParaRPr b="0" lang="en-US" sz="2000" spc="-1" strike="noStrike">
              <a:solidFill>
                <a:srgbClr val="000000"/>
              </a:solidFill>
              <a:latin typeface="Arial"/>
            </a:endParaRPr>
          </a:p>
        </p:txBody>
      </p:sp>
      <p:sp>
        <p:nvSpPr>
          <p:cNvPr id="543" name="PlaceHolder 3"/>
          <p:cNvSpPr>
            <a:spLocks noGrp="1"/>
          </p:cNvSpPr>
          <p:nvPr>
            <p:ph type="sldNum" idx="52"/>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4AE0FEB9-424A-4DC6-8963-7891D4766A9C}"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PlaceHolder 1"/>
          <p:cNvSpPr>
            <a:spLocks noGrp="1"/>
          </p:cNvSpPr>
          <p:nvPr>
            <p:ph type="sldImg"/>
          </p:nvPr>
        </p:nvSpPr>
        <p:spPr>
          <a:xfrm>
            <a:off x="216000" y="812520"/>
            <a:ext cx="7126560" cy="4008240"/>
          </a:xfrm>
          <a:prstGeom prst="rect">
            <a:avLst/>
          </a:prstGeom>
          <a:ln w="0">
            <a:noFill/>
          </a:ln>
        </p:spPr>
      </p:sp>
      <p:sp>
        <p:nvSpPr>
          <p:cNvPr id="545"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These are additions to an existing working DWB configuration, not a replacement Nav2 launch. The kit compiles/exports its shared library and pluginlib metadata. Its prefix must be inherited by controller_server. Keep the existing ROS environment in AMENT_PREFIX_PATH. The python_path is the directory containing forward_camera_policy.py. Append ForwardCamera to FollowPath.critics. The source demo also adds ObstacleFootprint and uses holonomic samples that include zero translation. Keep the robot-specific velocity, acceleration, collision, sensor and map settings in the normal Nav2 configuration. Defaults for lookahead and python_options come from the adapter. The next slide uses fixed policy constants so no policy options are needed.</a:t>
            </a:r>
            <a:endParaRPr b="0" lang="en-US" sz="2000" spc="-1" strike="noStrike">
              <a:solidFill>
                <a:srgbClr val="000000"/>
              </a:solidFill>
              <a:latin typeface="Arial"/>
            </a:endParaRPr>
          </a:p>
        </p:txBody>
      </p:sp>
      <p:sp>
        <p:nvSpPr>
          <p:cNvPr id="546" name="PlaceHolder 3"/>
          <p:cNvSpPr>
            <a:spLocks noGrp="1"/>
          </p:cNvSpPr>
          <p:nvPr>
            <p:ph type="sldNum" idx="53"/>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3855AEE9-4888-4D28-B2FC-99CE776867E5}"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PlaceHolder 1"/>
          <p:cNvSpPr>
            <a:spLocks noGrp="1"/>
          </p:cNvSpPr>
          <p:nvPr>
            <p:ph type="sldImg"/>
          </p:nvPr>
        </p:nvSpPr>
        <p:spPr>
          <a:xfrm>
            <a:off x="216000" y="812520"/>
            <a:ext cx="7126560" cy="4008240"/>
          </a:xfrm>
          <a:prstGeom prst="rect">
            <a:avLst/>
          </a:prstGeom>
          <a:ln w="0">
            <a:noFill/>
          </a:ln>
        </p:spPr>
      </p:sp>
      <p:sp>
        <p:nvSpPr>
          <p:cNvPr id="548"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Complete fixed-default teaching policy. Save as forward_camera_policy.py in the configured python_path. It has the same scoring behavior as the recorded demo at default parameters; the repository version adds option parsing and validation. configure runs at setup. prepare runs once per DWB cycle. score runs on candidate trajectories; None rejects one. Velocities are base-frame velocities. The camera cone prevents sideways/backward translation. The path-heading check requires turning first. Near the goal the stock RotateToGoal critic controls final orientation. This Python class runs inside controller_server through the kit adapter.</a:t>
            </a:r>
            <a:endParaRPr b="0" lang="en-US" sz="2000" spc="-1" strike="noStrike">
              <a:solidFill>
                <a:srgbClr val="000000"/>
              </a:solidFill>
              <a:latin typeface="Arial"/>
            </a:endParaRPr>
          </a:p>
        </p:txBody>
      </p:sp>
      <p:sp>
        <p:nvSpPr>
          <p:cNvPr id="549" name="PlaceHolder 3"/>
          <p:cNvSpPr>
            <a:spLocks noGrp="1"/>
          </p:cNvSpPr>
          <p:nvPr>
            <p:ph type="sldNum" idx="54"/>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83A64197-4DCC-4372-AA28-A9FB97E7505A}"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sldImg"/>
          </p:nvPr>
        </p:nvSpPr>
        <p:spPr>
          <a:xfrm>
            <a:off x="216000" y="812520"/>
            <a:ext cx="7126560" cy="4008240"/>
          </a:xfrm>
          <a:prstGeom prst="rect">
            <a:avLst/>
          </a:prstGeom>
          <a:ln w="0">
            <a:noFill/>
          </a:ln>
        </p:spPr>
      </p:sp>
      <p:sp>
        <p:nvSpPr>
          <p:cNvPr id="551"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Now run the forward profile and send the same goal. Point out the turn before translation. The base is still holonomic, with small lateral corrections permitted inside the forward cone.</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Latest local run: goal succeeded; 109 moving commands, zero outside the configured 30-degree cone; 0.708 m measured travel and 0.010 m outside the cone due to simulated motion rather than command direction. Final position error 0.098 m, within the configured 0.1 m tolerance. Evidence: next_steps/robot_demos/evidence/forward.json.</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Keep the head facing forward. Record enough of the final turn to show that goal orientation still works.</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Run from the repository root: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./roscon_uk_2026/run_robot_demo.sh forward</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Stop with Ctrl-C and wait for Demo stopped. before the next launch.</a:t>
            </a:r>
            <a:endParaRPr b="0" lang="en-US" sz="2000" spc="-1" strike="noStrike">
              <a:solidFill>
                <a:srgbClr val="000000"/>
              </a:solidFill>
              <a:latin typeface="Arial"/>
            </a:endParaRPr>
          </a:p>
        </p:txBody>
      </p:sp>
      <p:sp>
        <p:nvSpPr>
          <p:cNvPr id="552" name="PlaceHolder 3"/>
          <p:cNvSpPr>
            <a:spLocks noGrp="1"/>
          </p:cNvSpPr>
          <p:nvPr>
            <p:ph type="sldNum" idx="55"/>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08855B0A-03FC-4E2F-A9B4-C5754D11BBE9}"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216000" y="812520"/>
            <a:ext cx="7126560" cy="4008240"/>
          </a:xfrm>
          <a:prstGeom prst="rect">
            <a:avLst/>
          </a:prstGeom>
          <a:ln w="0">
            <a:noFill/>
          </a:ln>
        </p:spPr>
      </p:sp>
      <p:sp>
        <p:nvSpPr>
          <p:cNvPr id="554"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The next two slides explain the kit integration using a complete minimal position-holding example. It is a different control law from the recorded admittance demo. The same adapter hosts both. The recorded demo selects python_admittance_controller.CartesianAdmittance instead and passes its arm-specific options. The force UI, URDF parsing, Eigen math and measurements are application logic, not code required to make a Python controller loadable. Existing controller-manager or Gazebo startup is assumed. The adapter acquires the GIL and allocates Python objects; this does not provide a hard-real-time guarantee.</a:t>
            </a:r>
            <a:endParaRPr b="0" lang="en-US" sz="2000" spc="-1" strike="noStrike">
              <a:solidFill>
                <a:srgbClr val="000000"/>
              </a:solidFill>
              <a:latin typeface="Arial"/>
            </a:endParaRPr>
          </a:p>
        </p:txBody>
      </p:sp>
      <p:sp>
        <p:nvSpPr>
          <p:cNvPr id="555" name="PlaceHolder 3"/>
          <p:cNvSpPr>
            <a:spLocks noGrp="1"/>
          </p:cNvSpPr>
          <p:nvPr>
            <p:ph type="sldNum" idx="56"/>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2479216D-D034-4CDB-9E7A-DDEF8657575A}"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216000" y="812520"/>
            <a:ext cx="7126560" cy="4008240"/>
          </a:xfrm>
          <a:prstGeom prst="rect">
            <a:avLst/>
          </a:prstGeom>
          <a:ln w="0">
            <a:noFill/>
          </a:ln>
        </p:spPr>
      </p:sp>
      <p:sp>
        <p:nvSpPr>
          <p:cNvPr id="557"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Only the added kit registration and controller parameters are shown. Existing robot bringup provides URDF, hardware, controller manager and its update rate. Save the YAML as hold.yaml and the next Python class as hold_position.py. Replace the joints with the real ordered position interfaces and python_path with its directory. The kit writes pluginlib XML, builds/caches the reusable adapter and exports an ament overlay. Start Gazebo or controller_manager from the environment inheriting that prefix. The next slide gives the standard spawner command. For joints already claimed by another controller, first load this controller inactive and use a strict switch request to deactivate the stock controller and activate this one together. The demo launcher already performs that switch and restoration for admittance.</a:t>
            </a:r>
            <a:endParaRPr b="0" lang="en-US" sz="2000" spc="-1" strike="noStrike">
              <a:solidFill>
                <a:srgbClr val="000000"/>
              </a:solidFill>
              <a:latin typeface="Arial"/>
            </a:endParaRPr>
          </a:p>
        </p:txBody>
      </p:sp>
      <p:sp>
        <p:nvSpPr>
          <p:cNvPr id="558" name="PlaceHolder 3"/>
          <p:cNvSpPr>
            <a:spLocks noGrp="1"/>
          </p:cNvSpPr>
          <p:nvPr>
            <p:ph type="sldNum" idx="57"/>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24FFDD8C-FC42-4367-9FE1-82FC0801CEB6}"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216000" y="812520"/>
            <a:ext cx="7126560" cy="4008240"/>
          </a:xfrm>
          <a:prstGeom prst="rect">
            <a:avLst/>
          </a:prstGeom>
          <a:ln w="0">
            <a:noFill/>
          </a:ln>
        </p:spPr>
      </p:sp>
      <p:sp>
        <p:nvSpPr>
          <p:cNvPr id="560"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This is the complete class in slides/examples/robot_plugins/hold_position.py. configure is required by the adapter; this controller has no configuration. activate captures the current positions. update returns the position commands in the configured joint order. set_target returns False because this example deliberately holds its activation pose. No Python ROS node, executor or custom per-controller CMake project is needed. The spawner configures and activates it when the interfaces are free. Standard controller switching applies when another controller owns them. In the recording that follows, the same adapter loads CartesianAdmittance: its update computes a force-driven hand offset and invokes a cached Eigen kernel for joint commands. That application code remains in control_kit/demos. The recording is not this position-holding law.</a:t>
            </a:r>
            <a:endParaRPr b="0" lang="en-US" sz="2000" spc="-1" strike="noStrike">
              <a:solidFill>
                <a:srgbClr val="000000"/>
              </a:solidFill>
              <a:latin typeface="Arial"/>
            </a:endParaRPr>
          </a:p>
        </p:txBody>
      </p:sp>
      <p:sp>
        <p:nvSpPr>
          <p:cNvPr id="561" name="PlaceHolder 3"/>
          <p:cNvSpPr>
            <a:spLocks noGrp="1"/>
          </p:cNvSpPr>
          <p:nvPr>
            <p:ph type="sldNum" idx="58"/>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EC2BA1C2-5EA0-4527-A000-932E2C860626}"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216000" y="812520"/>
            <a:ext cx="7126560" cy="4008240"/>
          </a:xfrm>
          <a:prstGeom prst="rect">
            <a:avLst/>
          </a:prstGeom>
          <a:ln w="0">
            <a:noFill/>
          </a:ln>
        </p:spPr>
      </p:sp>
      <p:sp>
        <p:nvSpPr>
          <p:cNvPr id="563"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The recorded controller is CartesianAdmittance, an application built on the same control_kit Python interface as the minimal HoldPosition example. The kit supplies the loadable adapter. The demo supplies the force UI, mass-spring-damper law and cached Eigen kinematics. Drag applies virtual force; release zeros it and the spring returns the hand. Source files: control_kit/demos/python_admittance_controller.py, arm_kinematics.py, arm_kinematics.hpp and admittance_rviz.py. Run ./roscon_uk_2026/run_robot_demo.sh admittance --gazebo-gui. Full code remains in the repository rather than source-listing slides.</a:t>
            </a:r>
            <a:endParaRPr b="0" lang="en-US" sz="2000" spc="-1" strike="noStrike">
              <a:solidFill>
                <a:srgbClr val="000000"/>
              </a:solidFill>
              <a:latin typeface="Arial"/>
            </a:endParaRPr>
          </a:p>
        </p:txBody>
      </p:sp>
      <p:sp>
        <p:nvSpPr>
          <p:cNvPr id="564" name="PlaceHolder 3"/>
          <p:cNvSpPr>
            <a:spLocks noGrp="1"/>
          </p:cNvSpPr>
          <p:nvPr>
            <p:ph type="sldNum" idx="59"/>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4580BFA7-AFAE-4251-95A7-3A035B29490C}"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Img"/>
          </p:nvPr>
        </p:nvSpPr>
        <p:spPr>
          <a:xfrm>
            <a:off x="216000" y="812520"/>
            <a:ext cx="7126560" cy="4008240"/>
          </a:xfrm>
          <a:prstGeom prst="rect">
            <a:avLst/>
          </a:prstGeom>
          <a:ln w="0">
            <a:noFill/>
          </a:ln>
        </p:spPr>
      </p:sp>
      <p:sp>
        <p:nvSpPr>
          <p:cNvPr id="566"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Say: So far we have used Python to put our own behavior inside existing ROS components. But an agent can also write a conventional C++ extension and its build files. So where do I still find this useful? I want to try an idea against the data, see the result and change it. Let us keep the camera, models and viewer running and work inside that session. This is my proposed workflow advantage, not a measured comparison with agent-generated bindings. About 40 seconds.</a:t>
            </a:r>
            <a:endParaRPr b="0" lang="en-US" sz="2000" spc="-1" strike="noStrike">
              <a:solidFill>
                <a:srgbClr val="000000"/>
              </a:solidFill>
              <a:latin typeface="Arial"/>
            </a:endParaRPr>
          </a:p>
        </p:txBody>
      </p:sp>
      <p:sp>
        <p:nvSpPr>
          <p:cNvPr id="567" name="PlaceHolder 3"/>
          <p:cNvSpPr>
            <a:spLocks noGrp="1"/>
          </p:cNvSpPr>
          <p:nvPr>
            <p:ph type="sldNum" idx="60"/>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40C033F2-DAC9-481F-8575-643568BA4E50}"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216000" y="812520"/>
            <a:ext cx="7126560" cy="4008240"/>
          </a:xfrm>
          <a:prstGeom prst="rect">
            <a:avLst/>
          </a:prstGeom>
          <a:ln w="0">
            <a:noFill/>
          </a:ln>
        </p:spPr>
      </p:sp>
      <p:sp>
        <p:nvSpPr>
          <p:cNvPr id="569"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Start from live_notebook.py: it owns one webcam, a pass-through processor and a Viser viewer. The perception task is implemented live. The audience sees the agent terminal on the left and the viewer on the right. Keep the marimo tab open in the background. Add models only when the chosen task needs them; retain loaded model objects through processing edits. The agent uses marimo pair/code mode to save accepted cell edits. Do not recreate the camera or viewer to change processing.</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From the repository root: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roscon_uk_2026/next_steps/webcam_session/toolbox/rendering/notebook.sh edit roscon_uk_2026/next_steps/webcam_session/toolbox/rendering/live_notebook.py --host 127.0.0.1 --port 2721 --no-token --no-sandbox</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Open http://127.0.0.1:2721, run the cells, keep that tab open, and display http://127.0.0.1:8768 beside the agent. Check capture and viewer health before the talk. This starting notebook has been syntax-checked, not camera-rehearsed in this editing turn. Use the prepared model environments if models are needed. The model/viewer/interpreter infrastructure is separate from cppyy_kit.</a:t>
            </a:r>
            <a:endParaRPr b="0" lang="en-US" sz="2000" spc="-1" strike="noStrike">
              <a:solidFill>
                <a:srgbClr val="000000"/>
              </a:solidFill>
              <a:latin typeface="Arial"/>
            </a:endParaRPr>
          </a:p>
        </p:txBody>
      </p:sp>
      <p:sp>
        <p:nvSpPr>
          <p:cNvPr id="570" name="PlaceHolder 3"/>
          <p:cNvSpPr>
            <a:spLocks noGrp="1"/>
          </p:cNvSpPr>
          <p:nvPr>
            <p:ph type="sldNum" idx="61"/>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DAFA7CC1-179B-4892-A54E-95921883FD05}"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216000" y="812520"/>
            <a:ext cx="7126560" cy="4008240"/>
          </a:xfrm>
          <a:prstGeom prst="rect">
            <a:avLst/>
          </a:prstGeom>
          <a:ln w="0">
            <a:noFill/>
          </a:ln>
        </p:spPr>
      </p:sp>
      <p:sp>
        <p:nvSpPr>
          <p:cNvPr id="572"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Switch to the real desktop. This is a live-coding task, not a tour of an earlier webcam experiment. Begin with the camera stream and choose one bounded task from the current scene: detect or track an item/person, count a visible gesture, or explore geometry if depth is useful. Let the prompt and visible output drive the next refinement. Use existing model APIs where appropriate and cppyy_kit for an operation where native code is useful. Inspect cell errors and capture/processing counters. Keep the camera, viewer and any loaded model instances alive. Save accepted processing edits in the notebook.</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Do not narrate earlier webcam features, rain or gestures as the planned sequence. There is no prerecorded-video fallback. If webcam delivery or the live setup is not workable, switch to the marimo notebook with the TIAGo MCAP and detect the blocks on the table. That remains an interactive notebook/agent task using recorded input. Use the hidden MCAP slide for the command and data context. Aim for about six minutes, choosing the task and refinement to fit the available time.</a:t>
            </a:r>
            <a:endParaRPr b="0" lang="en-US" sz="2000" spc="-1" strike="noStrike">
              <a:solidFill>
                <a:srgbClr val="000000"/>
              </a:solidFill>
              <a:latin typeface="Arial"/>
            </a:endParaRPr>
          </a:p>
        </p:txBody>
      </p:sp>
      <p:sp>
        <p:nvSpPr>
          <p:cNvPr id="573" name="PlaceHolder 3"/>
          <p:cNvSpPr>
            <a:spLocks noGrp="1"/>
          </p:cNvSpPr>
          <p:nvPr>
            <p:ph type="sldNum" idx="62"/>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E9C8D641-FDA7-4232-B568-DBA5F449FA3D}"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216000" y="812520"/>
            <a:ext cx="7126560" cy="4008240"/>
          </a:xfrm>
          <a:prstGeom prst="rect">
            <a:avLst/>
          </a:prstGeom>
          <a:ln w="0">
            <a:noFill/>
          </a:ln>
        </p:spPr>
      </p:sp>
      <p:sp>
        <p:nvSpPr>
          <p:cNvPr id="575"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Use this as a compact illustration of the sort of native step cppyy_kit can provide, not as a claim that the chosen webcam task will use depth. The snippet is the C++ loop from next_steps/webcam_session/geometry.py, inside @cpp(nogil=True). It selects valid masked depth pixels, computes XYZ using camera intrinsics, and retains source pixel indices for colors. If the live task uses a different operation, show that actual code instead. The model libraries, marimo and Viser are separate tools. Buffer shape/type contracts, ownership and GIL handling still matter. A monocular relative-depth model does not produce metric geometry merely because the camera is calibrated.</a:t>
            </a:r>
            <a:endParaRPr b="0" lang="en-US" sz="2000" spc="-1" strike="noStrike">
              <a:solidFill>
                <a:srgbClr val="000000"/>
              </a:solidFill>
              <a:latin typeface="Arial"/>
            </a:endParaRPr>
          </a:p>
        </p:txBody>
      </p:sp>
      <p:sp>
        <p:nvSpPr>
          <p:cNvPr id="576" name="PlaceHolder 3"/>
          <p:cNvSpPr>
            <a:spLocks noGrp="1"/>
          </p:cNvSpPr>
          <p:nvPr>
            <p:ph type="sldNum" idx="63"/>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F98C2F1A-5578-4803-BA71-0BE3F1A720CB}"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216000" y="812520"/>
            <a:ext cx="7126560" cy="4008240"/>
          </a:xfrm>
          <a:prstGeom prst="rect">
            <a:avLst/>
          </a:prstGeom>
          <a:ln w="0">
            <a:noFill/>
          </a:ln>
        </p:spPr>
      </p:sp>
      <p:sp>
        <p:nvSpPr>
          <p:cNvPr id="578"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Do not pretend interactive native execution is free. These are the median process RSS values after first call from three runs on this machine in the separate Eigen harness, measured 20 October 2026. They are not webcam memory figures or a universal compiler overhead. The original results are 367.1 MiB vanilla cppyy, 203.4 MiB prepared kit cache, 36.9 MiB pybind11, 36.7 MiB nanobind and 37.0 MiB Rust/PyO3. Importing cppyy added about 164 MiB in that harness. Cache preparation reduces repeated compilation but does not remove Cling. Further types or call paths can cause deferred work. Python callback/GIL behavior, buffer ownership and native crashes also matter. The notebook is a useful way to discover and check an idea; deployment requirements should decide what runs afterward. Source: slide_assets/runtime_costs/README.md and its raw measurements. About 35 seconds.</a:t>
            </a:r>
            <a:endParaRPr b="0" lang="en-US" sz="2000" spc="-1" strike="noStrike">
              <a:solidFill>
                <a:srgbClr val="000000"/>
              </a:solidFill>
              <a:latin typeface="Arial"/>
            </a:endParaRPr>
          </a:p>
        </p:txBody>
      </p:sp>
      <p:sp>
        <p:nvSpPr>
          <p:cNvPr id="579" name="PlaceHolder 3"/>
          <p:cNvSpPr>
            <a:spLocks noGrp="1"/>
          </p:cNvSpPr>
          <p:nvPr>
            <p:ph type="sldNum" idx="64"/>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FD577936-7D9B-4279-A6CF-525A9C0ED2E2}" type="slidenum">
              <a:rPr b="0" lang="en-US" sz="1400" spc="-1" strike="noStrike">
                <a:solidFill>
                  <a:srgbClr val="000000"/>
                </a:solidFill>
                <a:latin typeface="Times New Roman"/>
              </a:rPr>
              <a:t>39</a:t>
            </a:fld>
            <a:endParaRPr b="0" lang="en-US" sz="14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216000" y="812520"/>
            <a:ext cx="7126560" cy="4008240"/>
          </a:xfrm>
          <a:prstGeom prst="rect">
            <a:avLst/>
          </a:prstGeom>
          <a:ln w="0">
            <a:noFill/>
          </a:ln>
        </p:spPr>
      </p:sp>
      <p:sp>
        <p:nvSpPr>
          <p:cNvPr id="581"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The interactive work gives us a reference implementation, example inputs, reviewed outputs, failure cases and a clearer contract. Those are useful inputs to a dedicated implementation agent or team. Ask it to implement for the target hardware and evaluate against the reference and held-out cases. Review outputs before using them as expected answers or training labels. The implementation may use a conventional C++ library, Rust or another suitable tool; we are not demonstrating automatic whole-notebook translation. The useful link is the shared behavior and evaluation data. For the webcam, preserve appropriate samples from the task; for the fallback MCAP, retain selected frames/clouds and the detection settings.</a:t>
            </a:r>
            <a:endParaRPr b="0" lang="en-US" sz="2000" spc="-1" strike="noStrike">
              <a:solidFill>
                <a:srgbClr val="000000"/>
              </a:solidFill>
              <a:latin typeface="Arial"/>
            </a:endParaRPr>
          </a:p>
        </p:txBody>
      </p:sp>
      <p:sp>
        <p:nvSpPr>
          <p:cNvPr id="582" name="PlaceHolder 3"/>
          <p:cNvSpPr>
            <a:spLocks noGrp="1"/>
          </p:cNvSpPr>
          <p:nvPr>
            <p:ph type="sldNum" idx="65"/>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E0F7C2D0-1FAB-432A-A8F4-59A1A4EB597E}"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216000" y="812520"/>
            <a:ext cx="7126560" cy="4008240"/>
          </a:xfrm>
          <a:prstGeom prst="rect">
            <a:avLst/>
          </a:prstGeom>
          <a:ln w="0">
            <a:noFill/>
          </a:ln>
        </p:spPr>
      </p:sp>
      <p:sp>
        <p:nvSpPr>
          <p:cNvPr id="584"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en-US" sz="2000" spc="-1" strike="noStrike">
                <a:solidFill>
                  <a:srgbClr val="000000"/>
                </a:solidFill>
                <a:latin typeface="Arial"/>
              </a:rPr>
              <a:t>Hidden fallback slide: show only if switching away from the webcam. This is interactive analysis of recorded robot sensor data, not a prerecorded demonstration video.</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From the repository root:</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roscon_uk_2026/next_steps/agent_session/notebook.sh edit roscon_uk_2026/next_steps/agent_session/notebook.py --host 127.0.0.1 --port 2718 --no-token --no-sandbox</a:t>
            </a: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Open http://127.0.0.1:2718 and run cells. Source: next_steps/agent_session/NOTEBOOK.md. The notebook reads data/table_scene, including table_scene_0.mcap. It retains RGB and the transformed point array while analysis and presentation rerun. There are red and yellow cubes and a blue cylinder. Use color and shape language appropriate to that scene; do not call the cylinder a block.</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a:p>
            <a:pPr marL="216000" indent="0">
              <a:lnSpc>
                <a:spcPct val="100000"/>
              </a:lnSpc>
              <a:buNone/>
              <a:tabLst>
                <a:tab algn="l" pos="0"/>
              </a:tabLst>
            </a:pPr>
            <a:r>
              <a:rPr b="0" lang="en-US" sz="2000" spc="-1" strike="noStrike">
                <a:solidFill>
                  <a:srgbClr val="000000"/>
                </a:solidFill>
                <a:latin typeface="Arial"/>
              </a:rPr>
              <a:t>Ask the agent to inspect the recorded scene, identify the blocks, select a requested color, show its image region and corresponding 3D cluster, and refine the selection. The saved notebook opens with a refined red-object selection. State that starting state honestly; broaden the region/selection if needed, then make a visible change. The known refined ROI is [0.75, 0.10, 0.90] to [1.02, 0.30, 1.08] in base_link metres, voxel size 0.004 m and minimum cluster size 20. These are recording-specific parameters. Have the agent inspect current controls and code, not blindly assume those settings generalize. Keep the notebook browser open and discover its session through pair notebook list on port 2718. Check this fallback before the talk, and leave it available in a separate tab.</a:t>
            </a:r>
            <a:endParaRPr b="0" lang="en-US" sz="2000" spc="-1" strike="noStrike">
              <a:solidFill>
                <a:srgbClr val="000000"/>
              </a:solidFill>
              <a:latin typeface="Arial"/>
            </a:endParaRPr>
          </a:p>
        </p:txBody>
      </p:sp>
      <p:sp>
        <p:nvSpPr>
          <p:cNvPr id="585" name="PlaceHolder 3"/>
          <p:cNvSpPr>
            <a:spLocks noGrp="1"/>
          </p:cNvSpPr>
          <p:nvPr>
            <p:ph type="sldNum" idx="66"/>
          </p:nvPr>
        </p:nvSpPr>
        <p:spPr>
          <a:xfrm>
            <a:off x="4278960" y="10157400"/>
            <a:ext cx="3279960" cy="53352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2F23B8F9-AA94-464F-8C5A-42EFF0A0B46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Img"/>
          </p:nvPr>
        </p:nvSpPr>
        <p:spPr>
          <a:xfrm>
            <a:off x="1143000" y="685800"/>
            <a:ext cx="4569480" cy="3426480"/>
          </a:xfrm>
          <a:prstGeom prst="rect">
            <a:avLst/>
          </a:prstGeom>
          <a:ln w="0">
            <a:noFill/>
          </a:ln>
        </p:spPr>
      </p:sp>
      <p:sp>
        <p:nvSpPr>
          <p:cNvPr id="497" name="PlaceHolder 2"/>
          <p:cNvSpPr>
            <a:spLocks noGrp="1"/>
          </p:cNvSpPr>
          <p:nvPr>
            <p:ph type="body"/>
          </p:nvPr>
        </p:nvSpPr>
        <p:spPr>
          <a:xfrm>
            <a:off x="685800" y="4343400"/>
            <a:ext cx="5483880" cy="4112280"/>
          </a:xfrm>
          <a:prstGeom prst="rect">
            <a:avLst/>
          </a:prstGeom>
          <a:noFill/>
          <a:ln w="0">
            <a:noFill/>
          </a:ln>
        </p:spPr>
        <p:txBody>
          <a:bodyPr lIns="91440" rIns="91440" tIns="45720" bIns="45720" anchor="t">
            <a:noAutofit/>
          </a:bodyPr>
          <a:p>
            <a:r>
              <a:t>This is the complete source of control_kit/demos/python_admittance_controller.py. Only blank lines are removed to fit one slide; read the left column then the right. It uses the same PythonController adapter shown on the previous slide. configure creates the example-local Chain and validates limits. activate captures the hand pose. set_target receives virtual force [Fx,Fy,Fz] in newtons from the RViz handle. update integrates M*x_ddot + D*x_dot + K*x = F in bounded substeps, expires old force requests, and bounds velocity and displacement. The target retains the initial hand orientation. Chain.step calls the cppyy_kit-cached C++ Eigen implementation in control_kit/demos/arm_kinematics.hpp: forward kinematics, geometric Jacobian and damped least-squares IK produce limited joint-position commands. Chain belongs to this example, not a kit-supplied admittance algorithm. The final counters and deactivate block record demo evidence. This is admittance (force to motion), rather than a torque-output impedance controller. Python runs inside the controller manager and uses the GIL; this demo does not establish hard-real-time scheduling.</a:t>
            </a:r>
          </a:p>
        </p:txBody>
      </p:sp>
      <p:sp>
        <p:nvSpPr>
          <p:cNvPr id="498" name="PlaceHolder 3"/>
          <p:cNvSpPr>
            <a:spLocks noGrp="1"/>
          </p:cNvSpPr>
          <p:nvPr>
            <p:ph type="sldNum" idx="37"/>
          </p:nvPr>
        </p:nvSpPr>
        <p:spPr>
          <a:xfrm>
            <a:off x="3884760" y="8685360"/>
            <a:ext cx="2969280" cy="45468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56CD66DC-BFEC-405B-91E8-587F5CBBC4E0}" type="slidenum">
              <a:rPr b="0" lang="en-US" sz="1200" spc="-1" strike="noStrike">
                <a:solidFill>
                  <a:srgbClr val="000000"/>
                </a:solidFill>
                <a:latin typeface="Times New Roman"/>
              </a:rPr>
              <a:t>39</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3080" cy="13230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838080" y="1825560"/>
            <a:ext cx="10513080" cy="43488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6FC2D9D5-37CD-45B8-8E6F-D90D5AC59412}"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BD534793-68B8-4A5F-A695-52104D4A7C05}"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2C456617-FA74-4E18-B3DF-75160A7BC931}"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3080" cy="13230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838080" y="1825560"/>
            <a:ext cx="10513080" cy="434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2CDF3E1-1709-4C4B-A758-1C9167F4A8CE}"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033EB42F-C124-4816-B61A-D22ECC219943}"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3080" cy="13230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 name="PlaceHolder 2"/>
          <p:cNvSpPr>
            <a:spLocks noGrp="1"/>
          </p:cNvSpPr>
          <p:nvPr>
            <p:ph/>
          </p:nvPr>
        </p:nvSpPr>
        <p:spPr>
          <a:xfrm>
            <a:off x="838080" y="1825560"/>
            <a:ext cx="5130360" cy="434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1" name="PlaceHolder 3"/>
          <p:cNvSpPr>
            <a:spLocks noGrp="1"/>
          </p:cNvSpPr>
          <p:nvPr>
            <p:ph/>
          </p:nvPr>
        </p:nvSpPr>
        <p:spPr>
          <a:xfrm>
            <a:off x="6225480" y="1825560"/>
            <a:ext cx="5130360" cy="434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03D94019-9F7F-4B9D-9249-80AC30E0245B}"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A390C0A2-4A4D-4346-AC1C-05AE580F9D9F}"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3080" cy="13230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562CBC74-535E-44EA-A3DE-10905CE682B3}"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451D01C4-7648-4411-B19C-39AD97DCF79E}"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0DF92733-A166-4198-9A30-5017B958A3C1}"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033D28F8-2F25-441B-915B-C4293425D72B}"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3080" cy="13230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2A8C190C-B657-48AB-AD9E-BC7D512A8A29}"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2"/>
          <p:cNvSpPr>
            <a:spLocks noGrp="1"/>
          </p:cNvSpPr>
          <p:nvPr>
            <p:ph type="sldNum" idx="5"/>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E2321C57-0CD3-4D6A-92F5-C1875AFD6E15}"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9" name="PlaceHolder 3"/>
          <p:cNvSpPr>
            <a:spLocks noGrp="1"/>
          </p:cNvSpPr>
          <p:nvPr>
            <p:ph type="dt" idx="6"/>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2"/>
          <p:cNvSpPr>
            <a:spLocks noGrp="1"/>
          </p:cNvSpPr>
          <p:nvPr>
            <p:ph type="sldNum" idx="8"/>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71DBB215-BBDA-4E2D-A458-2EE3694E05E2}"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12" name="PlaceHolder 3"/>
          <p:cNvSpPr>
            <a:spLocks noGrp="1"/>
          </p:cNvSpPr>
          <p:nvPr>
            <p:ph type="dt" idx="9"/>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3080" cy="13230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838080" y="1825560"/>
            <a:ext cx="10513080" cy="434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ftr" idx="10"/>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 name="PlaceHolder 4"/>
          <p:cNvSpPr>
            <a:spLocks noGrp="1"/>
          </p:cNvSpPr>
          <p:nvPr>
            <p:ph type="sldNum" idx="11"/>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83CF3AB1-27D6-4CAB-9F7A-5663A198E044}"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17" name="PlaceHolder 5"/>
          <p:cNvSpPr>
            <a:spLocks noGrp="1"/>
          </p:cNvSpPr>
          <p:nvPr>
            <p:ph type="dt" idx="12"/>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2"/>
          <p:cNvSpPr>
            <a:spLocks noGrp="1"/>
          </p:cNvSpPr>
          <p:nvPr>
            <p:ph type="sldNum" idx="14"/>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179B1983-2932-4641-9324-A5D44E159B23}"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22" name="PlaceHolder 3"/>
          <p:cNvSpPr>
            <a:spLocks noGrp="1"/>
          </p:cNvSpPr>
          <p:nvPr>
            <p:ph type="dt" idx="15"/>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3080" cy="13230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 name="PlaceHolder 2"/>
          <p:cNvSpPr>
            <a:spLocks noGrp="1"/>
          </p:cNvSpPr>
          <p:nvPr>
            <p:ph type="body"/>
          </p:nvPr>
        </p:nvSpPr>
        <p:spPr>
          <a:xfrm>
            <a:off x="838080" y="1825560"/>
            <a:ext cx="5130000" cy="434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3"/>
          <p:cNvSpPr>
            <a:spLocks noGrp="1"/>
          </p:cNvSpPr>
          <p:nvPr>
            <p:ph type="body"/>
          </p:nvPr>
        </p:nvSpPr>
        <p:spPr>
          <a:xfrm>
            <a:off x="6225480" y="1825560"/>
            <a:ext cx="5130000" cy="434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6" name="PlaceHolder 4"/>
          <p:cNvSpPr>
            <a:spLocks noGrp="1"/>
          </p:cNvSpPr>
          <p:nvPr>
            <p:ph type="ftr" idx="16"/>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7"/>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9F080801-298A-4B32-9438-0E975F04B24D}"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28" name="PlaceHolder 6"/>
          <p:cNvSpPr>
            <a:spLocks noGrp="1"/>
          </p:cNvSpPr>
          <p:nvPr>
            <p:ph type="dt" idx="18"/>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2"/>
          <p:cNvSpPr>
            <a:spLocks noGrp="1"/>
          </p:cNvSpPr>
          <p:nvPr>
            <p:ph type="sldNum" idx="20"/>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2E4948CF-246C-4C84-A54C-A90CD342D5C2}"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34" name="PlaceHolder 3"/>
          <p:cNvSpPr>
            <a:spLocks noGrp="1"/>
          </p:cNvSpPr>
          <p:nvPr>
            <p:ph type="dt" idx="21"/>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3080" cy="13230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ftr" idx="22"/>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7" name="PlaceHolder 3"/>
          <p:cNvSpPr>
            <a:spLocks noGrp="1"/>
          </p:cNvSpPr>
          <p:nvPr>
            <p:ph type="sldNum" idx="23"/>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08801E15-5657-49E9-8EF0-160330C60B91}"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38" name="PlaceHolder 4"/>
          <p:cNvSpPr>
            <a:spLocks noGrp="1"/>
          </p:cNvSpPr>
          <p:nvPr>
            <p:ph type="dt" idx="24"/>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ftr" idx="25"/>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 name="PlaceHolder 2"/>
          <p:cNvSpPr>
            <a:spLocks noGrp="1"/>
          </p:cNvSpPr>
          <p:nvPr>
            <p:ph type="sldNum" idx="26"/>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35EAB52E-3421-4085-9969-4D9631FBEFDD}"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42" name="PlaceHolder 3"/>
          <p:cNvSpPr>
            <a:spLocks noGrp="1"/>
          </p:cNvSpPr>
          <p:nvPr>
            <p:ph type="dt" idx="27"/>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ftr" idx="28"/>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2"/>
          <p:cNvSpPr>
            <a:spLocks noGrp="1"/>
          </p:cNvSpPr>
          <p:nvPr>
            <p:ph type="sldNum" idx="29"/>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E3C6F7AF-D888-46EB-8551-69A508325C14}"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45" name="PlaceHolder 3"/>
          <p:cNvSpPr>
            <a:spLocks noGrp="1"/>
          </p:cNvSpPr>
          <p:nvPr>
            <p:ph type="dt" idx="30"/>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ftr" idx="31"/>
          </p:nvPr>
        </p:nvSpPr>
        <p:spPr>
          <a:xfrm>
            <a:off x="4038480" y="6356520"/>
            <a:ext cx="411228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 name="PlaceHolder 2"/>
          <p:cNvSpPr>
            <a:spLocks noGrp="1"/>
          </p:cNvSpPr>
          <p:nvPr>
            <p:ph type="sldNum" idx="32"/>
          </p:nvPr>
        </p:nvSpPr>
        <p:spPr>
          <a:xfrm>
            <a:off x="8610480" y="6356520"/>
            <a:ext cx="27406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82000"/>
                  </a:schemeClr>
                </a:solidFill>
                <a:latin typeface="Aptos"/>
              </a:defRPr>
            </a:lvl1pPr>
          </a:lstStyle>
          <a:p>
            <a:pPr indent="0" algn="r" defTabSz="914400">
              <a:lnSpc>
                <a:spcPct val="100000"/>
              </a:lnSpc>
              <a:buNone/>
              <a:tabLst>
                <a:tab algn="l" pos="0"/>
              </a:tabLst>
            </a:pPr>
            <a:fld id="{299BF0BA-5AC2-44C5-9DFF-73F578173E23}" type="slidenum">
              <a:rPr b="0" lang="en-US" sz="1200" spc="-1" strike="noStrike">
                <a:solidFill>
                  <a:schemeClr val="dk1">
                    <a:tint val="82000"/>
                  </a:schemeClr>
                </a:solidFill>
                <a:latin typeface="Aptos"/>
              </a:rPr>
              <a:t>&lt;number&gt;</a:t>
            </a:fld>
            <a:endParaRPr b="0" lang="en-US" sz="1200" spc="-1" strike="noStrike">
              <a:solidFill>
                <a:srgbClr val="000000"/>
              </a:solidFill>
              <a:latin typeface="Times New Roman"/>
            </a:endParaRPr>
          </a:p>
        </p:txBody>
      </p:sp>
      <p:sp>
        <p:nvSpPr>
          <p:cNvPr id="48" name="PlaceHolder 3"/>
          <p:cNvSpPr>
            <a:spLocks noGrp="1"/>
          </p:cNvSpPr>
          <p:nvPr>
            <p:ph type="dt" idx="33"/>
          </p:nvPr>
        </p:nvSpPr>
        <p:spPr>
          <a:xfrm>
            <a:off x="838080" y="6356520"/>
            <a:ext cx="27406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png"/><Relationship Id="rId3"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video" Target="../media/media6.mp4"/><Relationship Id="rId3" Type="http://schemas.microsoft.com/office/2007/relationships/media" Target="../media/media6.mp4"/><Relationship Id="rId4" Type="http://schemas.openxmlformats.org/officeDocument/2006/relationships/image" Target="../media/image7.jpeg"/><Relationship Id="rId5" Type="http://schemas.openxmlformats.org/officeDocument/2006/relationships/slideLayout" Target="../slideLayouts/slideLayout4.xml"/><Relationship Id="rId6"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video" Target="../media/media8.mp4"/><Relationship Id="rId3" Type="http://schemas.microsoft.com/office/2007/relationships/media" Target="../media/media8.mp4"/><Relationship Id="rId4" Type="http://schemas.openxmlformats.org/officeDocument/2006/relationships/image" Target="../media/image9.jpeg"/><Relationship Id="rId5" Type="http://schemas.openxmlformats.org/officeDocument/2006/relationships/slideLayout" Target="../slideLayouts/slideLayout4.xml"/><Relationship Id="rId6"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video" Target="../media/media10.mp4"/><Relationship Id="rId3" Type="http://schemas.microsoft.com/office/2007/relationships/media" Target="../media/media10.mp4"/><Relationship Id="rId4" Type="http://schemas.openxmlformats.org/officeDocument/2006/relationships/image" Target="../media/image11.jpeg"/><Relationship Id="rId5" Type="http://schemas.openxmlformats.org/officeDocument/2006/relationships/slideLayout" Target="../slideLayouts/slideLayout4.xml"/><Relationship Id="rId6"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3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gradFill rotWithShape="0">
          <a:gsLst>
            <a:gs pos="0">
              <a:srgbClr val="0070c0"/>
            </a:gs>
            <a:gs pos="43000">
              <a:srgbClr val="0c5692"/>
            </a:gs>
            <a:gs pos="100000">
              <a:srgbClr val="031424"/>
            </a:gs>
          </a:gsLst>
          <a:path path="rect">
            <a:fillToRect l="100000" t="100000" r="0" b="0"/>
          </a:path>
        </a:gradFill>
      </p:bgPr>
    </p:bg>
    <p:spTree>
      <p:nvGrpSpPr>
        <p:cNvPr id="1" name=""/>
        <p:cNvGrpSpPr/>
        <p:nvPr/>
      </p:nvGrpSpPr>
      <p:grpSpPr>
        <a:xfrm>
          <a:off x="0" y="0"/>
          <a:ext cx="0" cy="0"/>
          <a:chOff x="0" y="0"/>
          <a:chExt cx="0" cy="0"/>
        </a:xfrm>
      </p:grpSpPr>
      <p:sp>
        <p:nvSpPr>
          <p:cNvPr id="55" name="TextBox 1"/>
          <p:cNvSpPr/>
          <p:nvPr/>
        </p:nvSpPr>
        <p:spPr>
          <a:xfrm>
            <a:off x="1473840" y="3236760"/>
            <a:ext cx="2363040" cy="11869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50000"/>
              </a:lnSpc>
            </a:pPr>
            <a:r>
              <a:rPr b="0" lang="en-GB" sz="1800" spc="-1" strike="noStrike">
                <a:solidFill>
                  <a:schemeClr val="lt1"/>
                </a:solidFill>
                <a:latin typeface="Roboto"/>
                <a:ea typeface="Roboto"/>
              </a:rPr>
              <a:t>TITLE</a:t>
            </a:r>
            <a:endParaRPr b="0" lang="en-US" sz="1800" spc="-1" strike="noStrike">
              <a:solidFill>
                <a:srgbClr val="ffffff"/>
              </a:solidFill>
              <a:latin typeface="Arial"/>
            </a:endParaRPr>
          </a:p>
          <a:p>
            <a:pPr defTabSz="914400">
              <a:lnSpc>
                <a:spcPct val="150000"/>
              </a:lnSpc>
            </a:pPr>
            <a:r>
              <a:rPr b="0" lang="en-GB" sz="1200" spc="-1" strike="noStrike">
                <a:solidFill>
                  <a:schemeClr val="lt1"/>
                </a:solidFill>
                <a:latin typeface="Roboto"/>
                <a:ea typeface="Roboto"/>
              </a:rPr>
              <a:t>SAM PFEIFFER | OCTOBER 2026</a:t>
            </a:r>
            <a:endParaRPr b="0" lang="en-US" sz="1200" spc="-1" strike="noStrike">
              <a:solidFill>
                <a:srgbClr val="ffffff"/>
              </a:solidFill>
              <a:latin typeface="Arial"/>
            </a:endParaRPr>
          </a:p>
          <a:p>
            <a:pPr defTabSz="914400">
              <a:lnSpc>
                <a:spcPct val="150000"/>
              </a:lnSpc>
            </a:pPr>
            <a:endParaRPr b="0" lang="en-US" sz="1800" spc="-1" strike="noStrike">
              <a:solidFill>
                <a:srgbClr val="ffffff"/>
              </a:solidFill>
              <a:latin typeface="Arial"/>
            </a:endParaRPr>
          </a:p>
        </p:txBody>
      </p:sp>
      <p:pic>
        <p:nvPicPr>
          <p:cNvPr id="56" name="Picture 3" descr=""/>
          <p:cNvPicPr/>
          <p:nvPr/>
        </p:nvPicPr>
        <p:blipFill>
          <a:blip r:embed="rId1"/>
          <a:stretch/>
        </p:blipFill>
        <p:spPr>
          <a:xfrm>
            <a:off x="5595840" y="847800"/>
            <a:ext cx="5929560" cy="5929560"/>
          </a:xfrm>
          <a:prstGeom prst="rect">
            <a:avLst/>
          </a:prstGeom>
          <a:ln w="0">
            <a:noFill/>
          </a:ln>
        </p:spPr>
      </p:pic>
    </p:spTree>
  </p:cSld>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70c0"/>
            </a:gs>
            <a:gs pos="43000">
              <a:srgbClr val="0c5692"/>
            </a:gs>
            <a:gs pos="100000">
              <a:srgbClr val="031424"/>
            </a:gs>
          </a:gsLst>
          <a:path path="rect">
            <a:fillToRect l="100000" t="100000" r="0" b="0"/>
          </a:path>
        </a:gradFill>
      </p:bgPr>
    </p:bg>
    <p:spTree>
      <p:nvGrpSpPr>
        <p:cNvPr id="1" name=""/>
        <p:cNvGrpSpPr/>
        <p:nvPr/>
      </p:nvGrpSpPr>
      <p:grpSpPr>
        <a:xfrm>
          <a:off x="0" y="0"/>
          <a:ext cx="0" cy="0"/>
          <a:chOff x="0" y="0"/>
          <a:chExt cx="0" cy="0"/>
        </a:xfrm>
      </p:grpSpPr>
      <p:sp>
        <p:nvSpPr>
          <p:cNvPr id="57" name="TextBox 5"/>
          <p:cNvSpPr/>
          <p:nvPr/>
        </p:nvSpPr>
        <p:spPr>
          <a:xfrm>
            <a:off x="7213320" y="4585320"/>
            <a:ext cx="4216320" cy="158616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spcBef>
                <a:spcPts val="1191"/>
              </a:spcBef>
              <a:spcAft>
                <a:spcPts val="992"/>
              </a:spcAft>
            </a:pPr>
            <a:r>
              <a:rPr b="1" lang="en-GB" sz="1600" spc="-1" strike="noStrike">
                <a:solidFill>
                  <a:schemeClr val="lt1"/>
                </a:solidFill>
                <a:latin typeface="Roboto"/>
                <a:ea typeface="Roboto"/>
              </a:rPr>
              <a:t>cppyy_kit</a:t>
            </a:r>
            <a:r>
              <a:rPr b="0" lang="en-GB" sz="1600" spc="-1" strike="noStrike">
                <a:solidFill>
                  <a:schemeClr val="lt1"/>
                </a:solidFill>
                <a:latin typeface="Roboto"/>
                <a:ea typeface="Roboto"/>
              </a:rPr>
              <a:t> - accelerating robotics python code beyond rclcppyy</a:t>
            </a:r>
            <a:endParaRPr b="0" lang="en-US" sz="1600" spc="-1" strike="noStrike">
              <a:solidFill>
                <a:srgbClr val="ffffff"/>
              </a:solidFill>
              <a:latin typeface="Arial"/>
            </a:endParaRPr>
          </a:p>
          <a:p>
            <a:pPr defTabSz="914400">
              <a:lnSpc>
                <a:spcPct val="150000"/>
              </a:lnSpc>
            </a:pPr>
            <a:r>
              <a:rPr b="0" lang="en-GB" sz="1200" spc="-1" strike="noStrike">
                <a:solidFill>
                  <a:schemeClr val="lt1"/>
                </a:solidFill>
                <a:latin typeface="Roboto"/>
                <a:ea typeface="Roboto"/>
              </a:rPr>
              <a:t>SAM PFEIFFER | ROSCON UK 2026</a:t>
            </a:r>
            <a:endParaRPr b="0" lang="en-US" sz="1200" spc="-1" strike="noStrike">
              <a:solidFill>
                <a:srgbClr val="ffffff"/>
              </a:solidFill>
              <a:latin typeface="Arial"/>
            </a:endParaRPr>
          </a:p>
          <a:p>
            <a:pPr defTabSz="914400">
              <a:lnSpc>
                <a:spcPct val="150000"/>
              </a:lnSpc>
            </a:pPr>
            <a:endParaRPr b="0" lang="en-US" sz="1600" spc="-1" strike="noStrike">
              <a:solidFill>
                <a:srgbClr val="ffffff"/>
              </a:solidFill>
              <a:latin typeface="Arial"/>
            </a:endParaRPr>
          </a:p>
        </p:txBody>
      </p:sp>
      <p:pic>
        <p:nvPicPr>
          <p:cNvPr id="58" name="" descr=""/>
          <p:cNvPicPr/>
          <p:nvPr/>
        </p:nvPicPr>
        <p:blipFill>
          <a:blip r:embed="rId1"/>
          <a:stretch/>
        </p:blipFill>
        <p:spPr>
          <a:xfrm>
            <a:off x="0" y="0"/>
            <a:ext cx="5475600" cy="6857280"/>
          </a:xfrm>
          <a:prstGeom prst="rect">
            <a:avLst/>
          </a:prstGeom>
          <a:ln w="0">
            <a:noFill/>
          </a:ln>
        </p:spPr>
      </p:pic>
      <p:pic>
        <p:nvPicPr>
          <p:cNvPr id="59" name="Picture 4" descr=""/>
          <p:cNvPicPr/>
          <p:nvPr/>
        </p:nvPicPr>
        <p:blipFill>
          <a:blip r:embed="rId2"/>
          <a:stretch/>
        </p:blipFill>
        <p:spPr>
          <a:xfrm>
            <a:off x="6629400" y="0"/>
            <a:ext cx="4800240" cy="48002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70c0"/>
            </a:gs>
            <a:gs pos="43000">
              <a:srgbClr val="0c5692"/>
            </a:gs>
            <a:gs pos="100000">
              <a:srgbClr val="031424"/>
            </a:gs>
          </a:gsLst>
          <a:path path="rect">
            <a:fillToRect l="100000" t="100000" r="0" b="0"/>
          </a:path>
        </a:gradFill>
      </p:bgPr>
    </p:bg>
    <p:spTree>
      <p:nvGrpSpPr>
        <p:cNvPr id="1" name=""/>
        <p:cNvGrpSpPr/>
        <p:nvPr/>
      </p:nvGrpSpPr>
      <p:grpSpPr>
        <a:xfrm>
          <a:off x="0" y="0"/>
          <a:ext cx="0" cy="0"/>
          <a:chOff x="0" y="0"/>
          <a:chExt cx="0" cy="0"/>
        </a:xfrm>
      </p:grpSpPr>
      <p:pic>
        <p:nvPicPr>
          <p:cNvPr id="60" name="Picture 25" descr="Humanoid.ai HMND 01 Alpha Specs &amp; Price | Humanoid.guide"/>
          <p:cNvPicPr/>
          <p:nvPr/>
        </p:nvPicPr>
        <p:blipFill>
          <a:blip r:embed="rId1"/>
          <a:stretch/>
        </p:blipFill>
        <p:spPr>
          <a:xfrm>
            <a:off x="1402560" y="4393080"/>
            <a:ext cx="1913400" cy="572400"/>
          </a:xfrm>
          <a:prstGeom prst="rect">
            <a:avLst/>
          </a:prstGeom>
          <a:ln w="0">
            <a:noFill/>
          </a:ln>
        </p:spPr>
      </p:pic>
      <p:sp>
        <p:nvSpPr>
          <p:cNvPr id="61" name="TextBox 8"/>
          <p:cNvSpPr/>
          <p:nvPr/>
        </p:nvSpPr>
        <p:spPr>
          <a:xfrm>
            <a:off x="-32760" y="1890000"/>
            <a:ext cx="5738760" cy="3046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GB" sz="3200" spc="-1" strike="noStrike">
                <a:solidFill>
                  <a:schemeClr val="dk1"/>
                </a:solidFill>
                <a:latin typeface="Roboto"/>
                <a:ea typeface="Roboto"/>
              </a:rPr>
              <a:t>SAM PFEIFFER</a:t>
            </a:r>
            <a:endParaRPr b="0" lang="en-US" sz="3200" spc="-1" strike="noStrike">
              <a:solidFill>
                <a:srgbClr val="ffffff"/>
              </a:solidFill>
              <a:latin typeface="Arial"/>
            </a:endParaRPr>
          </a:p>
          <a:p>
            <a:pPr defTabSz="914400">
              <a:lnSpc>
                <a:spcPct val="100000"/>
              </a:lnSpc>
            </a:pPr>
            <a:endParaRPr b="0" lang="en-US" sz="1800" spc="-1" strike="noStrike">
              <a:solidFill>
                <a:srgbClr val="ffffff"/>
              </a:solidFill>
              <a:latin typeface="Arial"/>
            </a:endParaRPr>
          </a:p>
          <a:p>
            <a:pPr defTabSz="914400">
              <a:lnSpc>
                <a:spcPct val="100000"/>
              </a:lnSpc>
            </a:pPr>
            <a:r>
              <a:rPr b="0" lang="en-GB" sz="1800" spc="-1" strike="noStrike">
                <a:solidFill>
                  <a:schemeClr val="dk1"/>
                </a:solidFill>
                <a:latin typeface="Roboto"/>
                <a:ea typeface="Roboto"/>
              </a:rPr>
              <a:t>PhD in arranging </a:t>
            </a:r>
            <a:r>
              <a:rPr b="0" lang="en-GB" sz="1800" spc="-1" strike="noStrike">
                <a:solidFill>
                  <a:schemeClr val="dk1"/>
                </a:solidFill>
                <a:latin typeface="Aptos"/>
                <a:ea typeface="Roboto"/>
              </a:rPr>
              <a:t>1️⃣</a:t>
            </a:r>
            <a:r>
              <a:rPr b="0" lang="en-GB" sz="1800" spc="-1" strike="noStrike">
                <a:solidFill>
                  <a:schemeClr val="dk1"/>
                </a:solidFill>
                <a:latin typeface="Roboto"/>
                <a:ea typeface="Roboto"/>
              </a:rPr>
              <a:t>'s and </a:t>
            </a:r>
            <a:r>
              <a:rPr b="0" lang="en-GB" sz="1800" spc="-1" strike="noStrike">
                <a:solidFill>
                  <a:schemeClr val="dk1"/>
                </a:solidFill>
                <a:latin typeface="Aptos"/>
                <a:ea typeface="Roboto"/>
              </a:rPr>
              <a:t>0️⃣</a:t>
            </a:r>
            <a:r>
              <a:rPr b="0" lang="en-GB" sz="1800" spc="-1" strike="noStrike">
                <a:solidFill>
                  <a:schemeClr val="dk1"/>
                </a:solidFill>
                <a:latin typeface="Roboto"/>
                <a:ea typeface="Roboto"/>
              </a:rPr>
              <a:t>'s in robots </a:t>
            </a:r>
            <a:endParaRPr b="0" lang="en-US" sz="1800" spc="-1" strike="noStrike">
              <a:solidFill>
                <a:srgbClr val="ffffff"/>
              </a:solidFill>
              <a:latin typeface="Arial"/>
            </a:endParaRPr>
          </a:p>
          <a:p>
            <a:pPr defTabSz="914400">
              <a:lnSpc>
                <a:spcPct val="100000"/>
              </a:lnSpc>
            </a:pPr>
            <a:endParaRPr b="0" lang="en-US" sz="1800" spc="-1" strike="noStrike">
              <a:solidFill>
                <a:srgbClr val="ffffff"/>
              </a:solidFill>
              <a:latin typeface="Arial"/>
            </a:endParaRPr>
          </a:p>
          <a:p>
            <a:pPr defTabSz="914400">
              <a:lnSpc>
                <a:spcPct val="100000"/>
              </a:lnSpc>
            </a:pPr>
            <a:r>
              <a:rPr b="0" lang="en-GB" sz="1800" spc="-1" strike="noStrike">
                <a:solidFill>
                  <a:schemeClr val="dk1"/>
                </a:solidFill>
                <a:latin typeface="Roboto"/>
                <a:ea typeface="Roboto"/>
              </a:rPr>
              <a:t>🤖 </a:t>
            </a:r>
            <a:r>
              <a:rPr b="0" lang="en-GB" sz="1800" spc="-1" strike="noStrike">
                <a:solidFill>
                  <a:schemeClr val="dk1"/>
                </a:solidFill>
                <a:latin typeface="Roboto"/>
                <a:ea typeface="Roboto"/>
              </a:rPr>
              <a:t>I've worked with plenty of robots and ROSes 🌹 </a:t>
            </a:r>
            <a:endParaRPr b="0" lang="en-US" sz="1800" spc="-1" strike="noStrike">
              <a:solidFill>
                <a:srgbClr val="ffffff"/>
              </a:solidFill>
              <a:latin typeface="Arial"/>
            </a:endParaRPr>
          </a:p>
          <a:p>
            <a:pPr defTabSz="914400">
              <a:lnSpc>
                <a:spcPct val="100000"/>
              </a:lnSpc>
            </a:pPr>
            <a:endParaRPr b="0" lang="en-US" sz="1800" spc="-1" strike="noStrike">
              <a:solidFill>
                <a:srgbClr val="ffffff"/>
              </a:solidFill>
              <a:latin typeface="Arial"/>
            </a:endParaRPr>
          </a:p>
          <a:p>
            <a:pPr defTabSz="914400">
              <a:lnSpc>
                <a:spcPct val="100000"/>
              </a:lnSpc>
            </a:pPr>
            <a:r>
              <a:rPr b="0" lang="en-GB" sz="1800" spc="-1" strike="noStrike">
                <a:solidFill>
                  <a:schemeClr val="dk1"/>
                </a:solidFill>
                <a:latin typeface="Roboto"/>
                <a:ea typeface="Roboto"/>
              </a:rPr>
              <a:t>🐍  </a:t>
            </a:r>
            <a:r>
              <a:rPr b="0" lang="en-GB" sz="1800" spc="-1" strike="noStrike">
                <a:solidFill>
                  <a:schemeClr val="dk1"/>
                </a:solidFill>
                <a:latin typeface="Roboto"/>
                <a:ea typeface="Roboto"/>
              </a:rPr>
              <a:t>I love Python due to how easy is to get anything up and running with it. </a:t>
            </a:r>
            <a:endParaRPr b="0" lang="en-US" sz="1800" spc="-1" strike="noStrike">
              <a:solidFill>
                <a:srgbClr val="ffffff"/>
              </a:solidFill>
              <a:latin typeface="Arial"/>
            </a:endParaRPr>
          </a:p>
          <a:p>
            <a:pPr defTabSz="914400">
              <a:lnSpc>
                <a:spcPct val="100000"/>
              </a:lnSpc>
            </a:pPr>
            <a:endParaRPr b="0" lang="en-US" sz="1800" spc="-1" strike="noStrike">
              <a:solidFill>
                <a:srgbClr val="ffffff"/>
              </a:solidFill>
              <a:latin typeface="Arial"/>
            </a:endParaRPr>
          </a:p>
          <a:p>
            <a:pPr defTabSz="914400">
              <a:lnSpc>
                <a:spcPct val="100000"/>
              </a:lnSpc>
            </a:pPr>
            <a:r>
              <a:rPr b="0" lang="en-GB" sz="1800" spc="-1" strike="noStrike">
                <a:solidFill>
                  <a:schemeClr val="dk1"/>
                </a:solidFill>
                <a:latin typeface="Roboto"/>
                <a:ea typeface="Roboto"/>
              </a:rPr>
              <a:t>I work at </a:t>
            </a:r>
            <a:endParaRPr b="0" lang="en-US" sz="1800" spc="-1" strike="noStrike">
              <a:solidFill>
                <a:srgbClr val="ffffff"/>
              </a:solidFill>
              <a:latin typeface="Arial"/>
            </a:endParaRPr>
          </a:p>
        </p:txBody>
      </p:sp>
      <p:sp>
        <p:nvSpPr>
          <p:cNvPr id="62" name="Rectangle 28"/>
          <p:cNvSpPr/>
          <p:nvPr/>
        </p:nvSpPr>
        <p:spPr>
          <a:xfrm>
            <a:off x="0" y="0"/>
            <a:ext cx="12189600" cy="6855480"/>
          </a:xfrm>
          <a:prstGeom prst="rect">
            <a:avLst/>
          </a:prstGeom>
          <a:gradFill rotWithShape="0">
            <a:gsLst>
              <a:gs pos="0">
                <a:srgbClr val="0070c0"/>
              </a:gs>
              <a:gs pos="43000">
                <a:srgbClr val="0c5692"/>
              </a:gs>
              <a:gs pos="100000">
                <a:srgbClr val="031424"/>
              </a:gs>
            </a:gsLst>
            <a:path path="rect">
              <a:fillToRect l="100000" t="100000" r="0" b="0"/>
            </a:path>
          </a:gra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3" name="Rounded Rectangle 7"/>
          <p:cNvSpPr/>
          <p:nvPr/>
        </p:nvSpPr>
        <p:spPr>
          <a:xfrm>
            <a:off x="1446120" y="1291680"/>
            <a:ext cx="4293720" cy="4271760"/>
          </a:xfrm>
          <a:prstGeom prst="roundRect">
            <a:avLst>
              <a:gd name="adj" fmla="val 50000"/>
            </a:avLst>
          </a:prstGeom>
          <a:solidFill>
            <a:schemeClr val="bg1"/>
          </a:solidFill>
          <a:ln w="3810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4" name="Picture 30"/>
          <p:cNvSpPr/>
          <p:nvPr/>
        </p:nvSpPr>
        <p:spPr>
          <a:xfrm>
            <a:off x="914760" y="1291680"/>
            <a:ext cx="4271760" cy="4271760"/>
          </a:xfrm>
          <a:prstGeom prst="ellipse">
            <a:avLst/>
          </a:prstGeom>
          <a:blipFill rotWithShape="0">
            <a:blip r:embed="rId2"/>
            <a:srcRect/>
            <a:stretch/>
          </a:blipFill>
          <a:ln w="190500">
            <a:noFill/>
          </a:ln>
          <a:scene3d>
            <a:camera fov="5400000" prst="perspectiveFront"/>
            <a:lightRig dir="t" rig="threePt">
              <a:rot lat="0" lon="0" rev="19200000"/>
            </a:lightRig>
          </a:scene3d>
          <a:sp3d extrusionH="25400">
            <a:extrusionClr>
              <a:srgbClr val="000000"/>
            </a:extrusionClr>
          </a:sp3d>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70c0"/>
            </a:gs>
            <a:gs pos="43000">
              <a:srgbClr val="0c5692"/>
            </a:gs>
            <a:gs pos="100000">
              <a:srgbClr val="031424"/>
            </a:gs>
          </a:gsLst>
          <a:path path="rect">
            <a:fillToRect l="100000" t="100000" r="0" b="0"/>
          </a:path>
        </a:gradFill>
      </p:bgPr>
    </p:bg>
    <p:spTree>
      <p:nvGrpSpPr>
        <p:cNvPr id="1" name=""/>
        <p:cNvGrpSpPr/>
        <p:nvPr/>
      </p:nvGrpSpPr>
      <p:grpSpPr>
        <a:xfrm>
          <a:off x="0" y="0"/>
          <a:ext cx="0" cy="0"/>
          <a:chOff x="0" y="0"/>
          <a:chExt cx="0" cy="0"/>
        </a:xfrm>
      </p:grpSpPr>
      <p:sp>
        <p:nvSpPr>
          <p:cNvPr id="65" name="Rectangle 1"/>
          <p:cNvSpPr/>
          <p:nvPr/>
        </p:nvSpPr>
        <p:spPr>
          <a:xfrm>
            <a:off x="0" y="0"/>
            <a:ext cx="12189600" cy="6855480"/>
          </a:xfrm>
          <a:prstGeom prst="rect">
            <a:avLst/>
          </a:prstGeom>
          <a:gradFill rotWithShape="0">
            <a:gsLst>
              <a:gs pos="0">
                <a:srgbClr val="0070c0"/>
              </a:gs>
              <a:gs pos="43000">
                <a:srgbClr val="0c5692"/>
              </a:gs>
              <a:gs pos="100000">
                <a:srgbClr val="031424"/>
              </a:gs>
            </a:gsLst>
            <a:path path="rect">
              <a:fillToRect l="100000" t="100000" r="0" b="0"/>
            </a:path>
          </a:gra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ptos"/>
            </a:endParaRPr>
          </a:p>
        </p:txBody>
      </p:sp>
      <p:sp>
        <p:nvSpPr>
          <p:cNvPr id="66" name="Rounded Rectangle 7"/>
          <p:cNvSpPr/>
          <p:nvPr/>
        </p:nvSpPr>
        <p:spPr>
          <a:xfrm>
            <a:off x="1446120" y="1291680"/>
            <a:ext cx="10011240" cy="4271760"/>
          </a:xfrm>
          <a:prstGeom prst="roundRect">
            <a:avLst>
              <a:gd name="adj" fmla="val 50000"/>
            </a:avLst>
          </a:prstGeom>
          <a:solidFill>
            <a:schemeClr val="bg1"/>
          </a:solidFill>
          <a:ln w="3810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tabLst>
                <a:tab algn="l" pos="0"/>
              </a:tabLst>
            </a:pPr>
            <a:endParaRPr b="0" lang="en-US" sz="1800" spc="-1" strike="noStrike">
              <a:solidFill>
                <a:srgbClr val="ffffff"/>
              </a:solidFill>
              <a:latin typeface="Aptos"/>
            </a:endParaRPr>
          </a:p>
        </p:txBody>
      </p:sp>
      <p:sp>
        <p:nvSpPr>
          <p:cNvPr id="67" name="Picture 9"/>
          <p:cNvSpPr/>
          <p:nvPr/>
        </p:nvSpPr>
        <p:spPr>
          <a:xfrm>
            <a:off x="914760" y="1291680"/>
            <a:ext cx="4271760" cy="4271760"/>
          </a:xfrm>
          <a:prstGeom prst="ellipse">
            <a:avLst/>
          </a:prstGeom>
          <a:blipFill rotWithShape="0">
            <a:blip r:embed="rId1"/>
            <a:srcRect/>
            <a:stretch/>
          </a:blipFill>
          <a:ln w="190500">
            <a:noFill/>
          </a:ln>
          <a:scene3d>
            <a:camera fov="5400000" prst="perspectiveFront"/>
            <a:lightRig dir="t" rig="threePt">
              <a:rot lat="0" lon="0" rev="19200000"/>
            </a:lightRig>
          </a:scene3d>
          <a:sp3d extrusionH="25400">
            <a:extrusionClr>
              <a:srgbClr val="000000"/>
            </a:extrusionClr>
          </a:sp3d>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8" name="TextBox 8"/>
          <p:cNvSpPr/>
          <p:nvPr/>
        </p:nvSpPr>
        <p:spPr>
          <a:xfrm>
            <a:off x="5416920" y="1847520"/>
            <a:ext cx="5738760" cy="3046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0" lang="en-GB" sz="3200" spc="-1" strike="noStrike">
                <a:solidFill>
                  <a:srgbClr val="000000"/>
                </a:solidFill>
                <a:latin typeface="Roboto"/>
                <a:ea typeface="Roboto"/>
              </a:rPr>
              <a:t>SAM PFEIFFER</a:t>
            </a:r>
            <a:endParaRPr b="0" lang="en-US" sz="3200" spc="-1" strike="noStrike">
              <a:solidFill>
                <a:srgbClr val="ffffff"/>
              </a:solidFill>
              <a:latin typeface="Arial"/>
            </a:endParaRPr>
          </a:p>
          <a:p>
            <a:pPr defTabSz="914400">
              <a:lnSpc>
                <a:spcPct val="100000"/>
              </a:lnSpc>
              <a:tabLst>
                <a:tab algn="l" pos="0"/>
              </a:tabLst>
            </a:pPr>
            <a:endParaRPr b="0" lang="en-US" sz="1800" spc="-1" strike="noStrike">
              <a:solidFill>
                <a:srgbClr val="ffffff"/>
              </a:solidFill>
              <a:latin typeface="Arial"/>
            </a:endParaRPr>
          </a:p>
          <a:p>
            <a:pPr defTabSz="914400">
              <a:lnSpc>
                <a:spcPct val="100000"/>
              </a:lnSpc>
              <a:tabLst>
                <a:tab algn="l" pos="0"/>
              </a:tabLst>
            </a:pPr>
            <a:r>
              <a:rPr b="0" lang="en-GB" sz="1800" spc="-1" strike="noStrike">
                <a:solidFill>
                  <a:srgbClr val="000000"/>
                </a:solidFill>
                <a:latin typeface="Roboto"/>
                <a:ea typeface="Roboto"/>
              </a:rPr>
              <a:t>PhD in arranging </a:t>
            </a:r>
            <a:r>
              <a:rPr b="0" lang="en-GB" sz="1800" spc="-1" strike="noStrike">
                <a:solidFill>
                  <a:srgbClr val="000000"/>
                </a:solidFill>
                <a:latin typeface="Aptos"/>
                <a:ea typeface="Roboto"/>
              </a:rPr>
              <a:t>1️⃣</a:t>
            </a:r>
            <a:r>
              <a:rPr b="0" lang="en-GB" sz="1800" spc="-1" strike="noStrike">
                <a:solidFill>
                  <a:srgbClr val="000000"/>
                </a:solidFill>
                <a:latin typeface="Roboto"/>
                <a:ea typeface="Roboto"/>
              </a:rPr>
              <a:t>'s and </a:t>
            </a:r>
            <a:r>
              <a:rPr b="0" lang="en-GB" sz="1800" spc="-1" strike="noStrike">
                <a:solidFill>
                  <a:srgbClr val="000000"/>
                </a:solidFill>
                <a:latin typeface="Aptos"/>
                <a:ea typeface="Roboto"/>
              </a:rPr>
              <a:t>0️⃣</a:t>
            </a:r>
            <a:r>
              <a:rPr b="0" lang="en-GB" sz="1800" spc="-1" strike="noStrike">
                <a:solidFill>
                  <a:srgbClr val="000000"/>
                </a:solidFill>
                <a:latin typeface="Roboto"/>
                <a:ea typeface="Roboto"/>
              </a:rPr>
              <a:t>'s in robots </a:t>
            </a:r>
            <a:endParaRPr b="0" lang="en-US" sz="1800" spc="-1" strike="noStrike">
              <a:solidFill>
                <a:srgbClr val="ffffff"/>
              </a:solidFill>
              <a:latin typeface="Arial"/>
            </a:endParaRPr>
          </a:p>
          <a:p>
            <a:pPr defTabSz="914400">
              <a:lnSpc>
                <a:spcPct val="100000"/>
              </a:lnSpc>
              <a:tabLst>
                <a:tab algn="l" pos="0"/>
              </a:tabLst>
            </a:pPr>
            <a:endParaRPr b="0" lang="en-US" sz="1800" spc="-1" strike="noStrike">
              <a:solidFill>
                <a:srgbClr val="ffffff"/>
              </a:solidFill>
              <a:latin typeface="Arial"/>
            </a:endParaRPr>
          </a:p>
          <a:p>
            <a:pPr defTabSz="914400">
              <a:lnSpc>
                <a:spcPct val="100000"/>
              </a:lnSpc>
              <a:tabLst>
                <a:tab algn="l" pos="0"/>
              </a:tabLst>
            </a:pPr>
            <a:r>
              <a:rPr b="0" lang="en-GB" sz="1800" spc="-1" strike="noStrike">
                <a:solidFill>
                  <a:srgbClr val="000000"/>
                </a:solidFill>
                <a:latin typeface="Roboto"/>
                <a:ea typeface="Roboto"/>
              </a:rPr>
              <a:t>🤖 </a:t>
            </a:r>
            <a:r>
              <a:rPr b="0" lang="en-GB" sz="1800" spc="-1" strike="noStrike">
                <a:solidFill>
                  <a:srgbClr val="000000"/>
                </a:solidFill>
                <a:latin typeface="Roboto"/>
                <a:ea typeface="Roboto"/>
              </a:rPr>
              <a:t>I've worked with plenty of robots and ROSes 🌹 </a:t>
            </a:r>
            <a:endParaRPr b="0" lang="en-US" sz="1800" spc="-1" strike="noStrike">
              <a:solidFill>
                <a:srgbClr val="ffffff"/>
              </a:solidFill>
              <a:latin typeface="Arial"/>
            </a:endParaRPr>
          </a:p>
          <a:p>
            <a:pPr defTabSz="914400">
              <a:lnSpc>
                <a:spcPct val="100000"/>
              </a:lnSpc>
              <a:tabLst>
                <a:tab algn="l" pos="0"/>
              </a:tabLst>
            </a:pPr>
            <a:endParaRPr b="0" lang="en-US" sz="1800" spc="-1" strike="noStrike">
              <a:solidFill>
                <a:srgbClr val="ffffff"/>
              </a:solidFill>
              <a:latin typeface="Arial"/>
            </a:endParaRPr>
          </a:p>
          <a:p>
            <a:pPr defTabSz="914400">
              <a:lnSpc>
                <a:spcPct val="100000"/>
              </a:lnSpc>
              <a:tabLst>
                <a:tab algn="l" pos="0"/>
              </a:tabLst>
            </a:pPr>
            <a:r>
              <a:rPr b="0" lang="en-GB" sz="1800" spc="-1" strike="noStrike">
                <a:solidFill>
                  <a:srgbClr val="000000"/>
                </a:solidFill>
                <a:latin typeface="Roboto"/>
                <a:ea typeface="Roboto"/>
              </a:rPr>
              <a:t>🐍  </a:t>
            </a:r>
            <a:r>
              <a:rPr b="0" lang="en-GB" sz="1800" spc="-1" strike="noStrike">
                <a:solidFill>
                  <a:srgbClr val="000000"/>
                </a:solidFill>
                <a:latin typeface="Roboto"/>
                <a:ea typeface="Roboto"/>
              </a:rPr>
              <a:t>I love Python due to how easy is to get anything up and running with it. </a:t>
            </a:r>
            <a:endParaRPr b="0" lang="en-US" sz="1800" spc="-1" strike="noStrike">
              <a:solidFill>
                <a:srgbClr val="ffffff"/>
              </a:solidFill>
              <a:latin typeface="Arial"/>
            </a:endParaRPr>
          </a:p>
          <a:p>
            <a:pPr defTabSz="914400">
              <a:lnSpc>
                <a:spcPct val="100000"/>
              </a:lnSpc>
              <a:tabLst>
                <a:tab algn="l" pos="0"/>
              </a:tabLst>
            </a:pPr>
            <a:endParaRPr b="0" lang="en-US" sz="1800" spc="-1" strike="noStrike">
              <a:solidFill>
                <a:srgbClr val="ffffff"/>
              </a:solidFill>
              <a:latin typeface="Arial"/>
            </a:endParaRPr>
          </a:p>
          <a:p>
            <a:pPr defTabSz="914400">
              <a:lnSpc>
                <a:spcPct val="100000"/>
              </a:lnSpc>
              <a:tabLst>
                <a:tab algn="l" pos="0"/>
              </a:tabLst>
            </a:pPr>
            <a:r>
              <a:rPr b="0" lang="en-GB" sz="1800" spc="-1" strike="noStrike">
                <a:solidFill>
                  <a:srgbClr val="000000"/>
                </a:solidFill>
                <a:latin typeface="Roboto"/>
                <a:ea typeface="Roboto"/>
              </a:rPr>
              <a:t>I work at </a:t>
            </a:r>
            <a:endParaRPr b="0" lang="en-US" sz="1800" spc="-1" strike="noStrike">
              <a:solidFill>
                <a:srgbClr val="ffffff"/>
              </a:solidFill>
              <a:latin typeface="Arial"/>
            </a:endParaRPr>
          </a:p>
        </p:txBody>
      </p:sp>
      <p:pic>
        <p:nvPicPr>
          <p:cNvPr id="69" name="Picture 25" descr="Humanoid.ai HMND 01 Alpha Specs &amp; Price | Humanoid.guide"/>
          <p:cNvPicPr/>
          <p:nvPr/>
        </p:nvPicPr>
        <p:blipFill>
          <a:blip r:embed="rId2"/>
          <a:stretch/>
        </p:blipFill>
        <p:spPr>
          <a:xfrm>
            <a:off x="6517800" y="4435560"/>
            <a:ext cx="1913400" cy="572400"/>
          </a:xfrm>
          <a:prstGeom prst="rect">
            <a:avLst/>
          </a:prstGeom>
          <a:ln w="0">
            <a:noFill/>
          </a:ln>
        </p:spPr>
      </p:pic>
    </p:spTree>
  </p:cSld>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70" name="Picture 10" descr="U.K.-based startup Humanoid unveils HMND 01 Alpha mobile manipulator - The  Robot Report"/>
          <p:cNvPicPr/>
          <p:nvPr/>
        </p:nvPicPr>
        <p:blipFill>
          <a:blip r:embed="rId1"/>
          <a:srcRect l="97706" t="0" r="0" b="0"/>
          <a:stretch/>
        </p:blipFill>
        <p:spPr>
          <a:xfrm>
            <a:off x="7296840" y="0"/>
            <a:ext cx="5011920" cy="6855480"/>
          </a:xfrm>
          <a:prstGeom prst="rect">
            <a:avLst/>
          </a:prstGeom>
          <a:ln w="0">
            <a:noFill/>
          </a:ln>
        </p:spPr>
      </p:pic>
      <p:pic>
        <p:nvPicPr>
          <p:cNvPr id="71" name="Picture 4" descr="U.K.-based startup Humanoid unveils HMND 01 Alpha mobile manipulator - The  Robot Report"/>
          <p:cNvPicPr/>
          <p:nvPr/>
        </p:nvPicPr>
        <p:blipFill>
          <a:blip r:embed="rId2"/>
          <a:srcRect l="18551" t="0" r="0" b="0"/>
          <a:stretch/>
        </p:blipFill>
        <p:spPr>
          <a:xfrm>
            <a:off x="0" y="0"/>
            <a:ext cx="8589240" cy="6855480"/>
          </a:xfrm>
          <a:prstGeom prst="rect">
            <a:avLst/>
          </a:prstGeom>
          <a:ln w="0">
            <a:noFill/>
          </a:ln>
        </p:spPr>
      </p:pic>
      <p:sp>
        <p:nvSpPr>
          <p:cNvPr id="72" name="Rectangle 5"/>
          <p:cNvSpPr/>
          <p:nvPr/>
        </p:nvSpPr>
        <p:spPr>
          <a:xfrm>
            <a:off x="0" y="0"/>
            <a:ext cx="12308760" cy="6855480"/>
          </a:xfrm>
          <a:prstGeom prst="rect">
            <a:avLst/>
          </a:prstGeom>
          <a:gradFill rotWithShape="0">
            <a:gsLst>
              <a:gs pos="27000">
                <a:srgbClr val="183964"/>
              </a:gs>
              <a:gs pos="100000">
                <a:srgbClr val="031424">
                  <a:alpha val="56000"/>
                </a:srgbClr>
              </a:gs>
            </a:gsLst>
            <a:path path="rect">
              <a:fillToRect l="100000" t="100000" r="0" b="0"/>
            </a:path>
          </a:gra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ptos"/>
            </a:endParaRPr>
          </a:p>
        </p:txBody>
      </p:sp>
      <p:pic>
        <p:nvPicPr>
          <p:cNvPr id="73" name="Picture 13" descr=""/>
          <p:cNvPicPr/>
          <p:nvPr/>
        </p:nvPicPr>
        <p:blipFill>
          <a:blip r:embed="rId3"/>
          <a:stretch/>
        </p:blipFill>
        <p:spPr>
          <a:xfrm>
            <a:off x="10413720" y="5175360"/>
            <a:ext cx="1515240" cy="15152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507600" y="345600"/>
            <a:ext cx="10513080" cy="786600"/>
          </a:xfrm>
          <a:prstGeom prst="rect">
            <a:avLst/>
          </a:prstGeom>
          <a:noFill/>
          <a:ln w="0">
            <a:noFill/>
          </a:ln>
        </p:spPr>
        <p:txBody>
          <a:bodyPr lIns="91440" rIns="91440" tIns="45720" bIns="45720" anchor="ctr">
            <a:normAutofit/>
          </a:bodyPr>
          <a:p>
            <a:pPr indent="0" defTabSz="914400">
              <a:lnSpc>
                <a:spcPct val="90000"/>
              </a:lnSpc>
              <a:spcAft>
                <a:spcPts val="2001"/>
              </a:spcAft>
              <a:buNone/>
              <a:tabLst>
                <a:tab algn="l" pos="0"/>
              </a:tabLst>
            </a:pPr>
            <a:r>
              <a:rPr b="0" lang="en-US" sz="2800" spc="-1" strike="noStrike">
                <a:solidFill>
                  <a:srgbClr val="031424"/>
                </a:solidFill>
                <a:latin typeface="Roboto"/>
              </a:rPr>
              <a:t>Talk outline</a:t>
            </a:r>
            <a:endParaRPr b="0" lang="en-US" sz="2800" spc="-1" strike="noStrike">
              <a:solidFill>
                <a:srgbClr val="000000"/>
              </a:solidFill>
              <a:latin typeface="Arial"/>
            </a:endParaRPr>
          </a:p>
        </p:txBody>
      </p:sp>
      <p:sp>
        <p:nvSpPr>
          <p:cNvPr id="75" name="PlaceHolder 2"/>
          <p:cNvSpPr>
            <a:spLocks noGrp="1"/>
          </p:cNvSpPr>
          <p:nvPr>
            <p:ph/>
          </p:nvPr>
        </p:nvSpPr>
        <p:spPr>
          <a:xfrm>
            <a:off x="507600" y="1825560"/>
            <a:ext cx="11238480" cy="4348800"/>
          </a:xfrm>
          <a:prstGeom prst="rect">
            <a:avLst/>
          </a:prstGeom>
          <a:noFill/>
          <a:ln w="0">
            <a:noFill/>
          </a:ln>
        </p:spPr>
        <p:txBody>
          <a:bodyPr lIns="91440" rIns="91440" tIns="45720" bIns="45720" anchor="t">
            <a:normAutofit/>
          </a:bodyPr>
          <a:p>
            <a:pPr indent="0" defTabSz="914400">
              <a:lnSpc>
                <a:spcPct val="90000"/>
              </a:lnSpc>
              <a:spcBef>
                <a:spcPts val="1001"/>
              </a:spcBef>
              <a:spcAft>
                <a:spcPts val="2001"/>
              </a:spcAft>
              <a:buNone/>
              <a:tabLst>
                <a:tab algn="l" pos="0"/>
              </a:tabLst>
            </a:pPr>
            <a:r>
              <a:rPr b="0" lang="en-US" sz="2600" spc="-1" strike="noStrike">
                <a:solidFill>
                  <a:srgbClr val="031424"/>
                </a:solidFill>
                <a:latin typeface="Roboto"/>
              </a:rPr>
              <a:t>1. cppyy and cppyy_kit</a:t>
            </a:r>
            <a:endParaRPr b="0" lang="en-US" sz="2600" spc="-1" strike="noStrike">
              <a:solidFill>
                <a:srgbClr val="000000"/>
              </a:solidFill>
              <a:latin typeface="Arial"/>
            </a:endParaRPr>
          </a:p>
          <a:p>
            <a:pPr indent="0" defTabSz="914400">
              <a:lnSpc>
                <a:spcPct val="90000"/>
              </a:lnSpc>
              <a:spcBef>
                <a:spcPts val="1001"/>
              </a:spcBef>
              <a:spcAft>
                <a:spcPts val="2001"/>
              </a:spcAft>
              <a:buNone/>
              <a:tabLst>
                <a:tab algn="l" pos="0"/>
              </a:tabLst>
            </a:pPr>
            <a:r>
              <a:rPr b="0" lang="en-US" sz="2600" spc="-1" strike="noStrike">
                <a:solidFill>
                  <a:srgbClr val="031424"/>
                </a:solidFill>
                <a:latin typeface="Roboto"/>
              </a:rPr>
              <a:t>2. C++ libraries and ROS from Python</a:t>
            </a:r>
            <a:endParaRPr b="0" lang="en-US" sz="2600" spc="-1" strike="noStrike">
              <a:solidFill>
                <a:srgbClr val="000000"/>
              </a:solidFill>
              <a:latin typeface="Arial"/>
            </a:endParaRPr>
          </a:p>
          <a:p>
            <a:pPr indent="0" defTabSz="914400">
              <a:lnSpc>
                <a:spcPct val="90000"/>
              </a:lnSpc>
              <a:spcBef>
                <a:spcPts val="1001"/>
              </a:spcBef>
              <a:spcAft>
                <a:spcPts val="2001"/>
              </a:spcAft>
              <a:buNone/>
              <a:tabLst>
                <a:tab algn="l" pos="0"/>
              </a:tabLst>
            </a:pPr>
            <a:r>
              <a:rPr b="0" lang="en-US" sz="2600" spc="-1" strike="noStrike">
                <a:solidFill>
                  <a:srgbClr val="031424"/>
                </a:solidFill>
                <a:latin typeface="Roboto"/>
              </a:rPr>
              <a:t>3. Nav2 and ros2_control demos</a:t>
            </a:r>
            <a:endParaRPr b="0" lang="en-US" sz="2600" spc="-1" strike="noStrike">
              <a:solidFill>
                <a:srgbClr val="000000"/>
              </a:solidFill>
              <a:latin typeface="Arial"/>
            </a:endParaRPr>
          </a:p>
          <a:p>
            <a:pPr indent="0" defTabSz="914400">
              <a:lnSpc>
                <a:spcPct val="90000"/>
              </a:lnSpc>
              <a:spcBef>
                <a:spcPts val="1001"/>
              </a:spcBef>
              <a:spcAft>
                <a:spcPts val="2001"/>
              </a:spcAft>
              <a:buNone/>
              <a:tabLst>
                <a:tab algn="l" pos="0"/>
              </a:tabLst>
            </a:pPr>
            <a:r>
              <a:rPr b="0" lang="en-US" sz="2600" spc="-1" strike="noStrike">
                <a:solidFill>
                  <a:srgbClr val="031424"/>
                </a:solidFill>
                <a:latin typeface="Roboto"/>
              </a:rPr>
              <a:t>4. Live coding with an agent</a:t>
            </a:r>
            <a:endParaRPr b="0" lang="en-US" sz="2600" spc="-1" strike="noStrike">
              <a:solidFill>
                <a:srgbClr val="000000"/>
              </a:solidFill>
              <a:latin typeface="Arial"/>
            </a:endParaRPr>
          </a:p>
          <a:p>
            <a:pPr indent="0" defTabSz="914400">
              <a:lnSpc>
                <a:spcPct val="90000"/>
              </a:lnSpc>
              <a:spcBef>
                <a:spcPts val="1001"/>
              </a:spcBef>
              <a:spcAft>
                <a:spcPts val="2001"/>
              </a:spcAft>
              <a:buNone/>
              <a:tabLst>
                <a:tab algn="l" pos="0"/>
              </a:tabLst>
            </a:pPr>
            <a:r>
              <a:rPr b="0" lang="en-US" sz="2600" spc="-1" strike="noStrike">
                <a:solidFill>
                  <a:srgbClr val="031424"/>
                </a:solidFill>
                <a:latin typeface="Roboto"/>
              </a:rPr>
              <a:t>5. From working experiment to compiled application</a:t>
            </a:r>
            <a:endParaRPr b="0" lang="en-US" sz="2600" spc="-1" strike="noStrike">
              <a:solidFill>
                <a:srgbClr val="000000"/>
              </a:solidFill>
              <a:latin typeface="Arial"/>
            </a:endParaRPr>
          </a:p>
        </p:txBody>
      </p:sp>
      <p:pic>
        <p:nvPicPr>
          <p:cNvPr id="76" name="Picture 5" descr=""/>
          <p:cNvPicPr/>
          <p:nvPr/>
        </p:nvPicPr>
        <p:blipFill>
          <a:blip r:embed="rId1"/>
          <a:stretch/>
        </p:blipFill>
        <p:spPr>
          <a:xfrm>
            <a:off x="10623600" y="345600"/>
            <a:ext cx="1058400" cy="1058400"/>
          </a:xfrm>
          <a:prstGeom prst="rect">
            <a:avLst/>
          </a:prstGeom>
          <a:ln w="0">
            <a:noFill/>
          </a:ln>
        </p:spPr>
      </p:pic>
      <p:cxnSp>
        <p:nvCxnSpPr>
          <p:cNvPr id="77" name="Straight Connector 7"/>
          <p:cNvCxnSpPr/>
          <p:nvPr/>
        </p:nvCxnSpPr>
        <p:spPr>
          <a:xfrm>
            <a:off x="0" y="1134720"/>
            <a:ext cx="4366080" cy="2520"/>
          </a:xfrm>
          <a:prstGeom prst="straightConnector1">
            <a:avLst/>
          </a:prstGeom>
          <a:ln w="38100">
            <a:solidFill>
              <a:srgbClr val="fed021"/>
            </a:solidFill>
            <a:round/>
          </a:ln>
        </p:spPr>
      </p:cxn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507600" y="345600"/>
            <a:ext cx="10513080" cy="786600"/>
          </a:xfrm>
          <a:prstGeom prst="rect">
            <a:avLst/>
          </a:prstGeom>
          <a:noFill/>
          <a:ln w="0">
            <a:noFill/>
          </a:ln>
        </p:spPr>
        <p:txBody>
          <a:bodyPr lIns="91440" rIns="91440" tIns="45720" bIns="45720" anchor="ctr">
            <a:normAutofit/>
          </a:bodyPr>
          <a:p>
            <a:pPr indent="0" defTabSz="914400">
              <a:lnSpc>
                <a:spcPct val="90000"/>
              </a:lnSpc>
              <a:spcAft>
                <a:spcPts val="2001"/>
              </a:spcAft>
              <a:buNone/>
              <a:tabLst>
                <a:tab algn="l" pos="0"/>
              </a:tabLst>
            </a:pPr>
            <a:r>
              <a:rPr b="0" lang="en-US" sz="2800" spc="-1" strike="noStrike">
                <a:solidFill>
                  <a:srgbClr val="031424"/>
                </a:solidFill>
                <a:latin typeface="Roboto"/>
              </a:rPr>
              <a:t>What is </a:t>
            </a:r>
            <a:r>
              <a:rPr b="0" lang="en-US" sz="2800" spc="-1" strike="noStrike">
                <a:solidFill>
                  <a:srgbClr val="031424"/>
                </a:solidFill>
                <a:latin typeface="Roboto"/>
              </a:rPr>
              <a:t>cppyy_k</a:t>
            </a:r>
            <a:r>
              <a:rPr b="0" lang="en-US" sz="2800" spc="-1" strike="noStrike">
                <a:solidFill>
                  <a:srgbClr val="031424"/>
                </a:solidFill>
                <a:latin typeface="Roboto"/>
              </a:rPr>
              <a:t>it?</a:t>
            </a:r>
            <a:endParaRPr b="0" lang="en-US" sz="2800" spc="-1" strike="noStrike">
              <a:solidFill>
                <a:srgbClr val="000000"/>
              </a:solidFill>
              <a:latin typeface="Arial"/>
            </a:endParaRPr>
          </a:p>
        </p:txBody>
      </p:sp>
      <p:sp>
        <p:nvSpPr>
          <p:cNvPr id="79" name="PlaceHolder 2"/>
          <p:cNvSpPr>
            <a:spLocks noGrp="1"/>
          </p:cNvSpPr>
          <p:nvPr>
            <p:ph/>
          </p:nvPr>
        </p:nvSpPr>
        <p:spPr>
          <a:xfrm>
            <a:off x="507600" y="1825560"/>
            <a:ext cx="11238480" cy="4348800"/>
          </a:xfrm>
          <a:prstGeom prst="rect">
            <a:avLst/>
          </a:prstGeom>
          <a:noFill/>
          <a:ln w="0">
            <a:noFill/>
          </a:ln>
        </p:spPr>
        <p:txBody>
          <a:bodyPr lIns="91440" rIns="91440" tIns="45720" bIns="45720" anchor="t">
            <a:normAutofit/>
          </a:bodyPr>
          <a:p>
            <a:pPr indent="0" defTabSz="914400">
              <a:lnSpc>
                <a:spcPct val="90000"/>
              </a:lnSpc>
              <a:spcBef>
                <a:spcPts val="1001"/>
              </a:spcBef>
              <a:spcAft>
                <a:spcPts val="2001"/>
              </a:spcAft>
              <a:buNone/>
              <a:tabLst>
                <a:tab algn="l" pos="0"/>
              </a:tabLst>
            </a:pPr>
            <a:r>
              <a:rPr b="1" lang="en-US" sz="2600" spc="-1" strike="noStrike">
                <a:solidFill>
                  <a:srgbClr val="031424"/>
                </a:solidFill>
                <a:latin typeface="Roboto"/>
              </a:rPr>
              <a:t>A toolkit for using C++ from Python, with reusable setup and integration helpers.</a:t>
            </a:r>
            <a:endParaRPr b="0" lang="en-US" sz="2600" spc="-1" strike="noStrike">
              <a:solidFill>
                <a:srgbClr val="000000"/>
              </a:solidFill>
              <a:latin typeface="Arial"/>
            </a:endParaRPr>
          </a:p>
          <a:p>
            <a:pPr marL="228600" indent="-228600" defTabSz="914400">
              <a:lnSpc>
                <a:spcPct val="90000"/>
              </a:lnSpc>
              <a:spcBef>
                <a:spcPts val="1001"/>
              </a:spcBef>
              <a:spcAft>
                <a:spcPts val="2001"/>
              </a:spcAft>
              <a:buClr>
                <a:srgbClr val="031424"/>
              </a:buClr>
              <a:buFont typeface="Arial"/>
              <a:buChar char="•"/>
              <a:tabLst>
                <a:tab algn="l" pos="0"/>
              </a:tabLst>
            </a:pPr>
            <a:r>
              <a:rPr b="0" lang="en-US" sz="2300" spc="-1" strike="noStrike">
                <a:solidFill>
                  <a:srgbClr val="031424"/>
                </a:solidFill>
                <a:latin typeface="Roboto"/>
              </a:rPr>
              <a:t>Call existing C++ libraries from Python.</a:t>
            </a:r>
            <a:endParaRPr b="0" lang="en-US" sz="2300" spc="-1" strike="noStrike">
              <a:solidFill>
                <a:srgbClr val="000000"/>
              </a:solidFill>
              <a:latin typeface="Arial"/>
            </a:endParaRPr>
          </a:p>
          <a:p>
            <a:pPr marL="228600" indent="-228600" defTabSz="914400">
              <a:lnSpc>
                <a:spcPct val="90000"/>
              </a:lnSpc>
              <a:spcBef>
                <a:spcPts val="1001"/>
              </a:spcBef>
              <a:spcAft>
                <a:spcPts val="2001"/>
              </a:spcAft>
              <a:buClr>
                <a:srgbClr val="031424"/>
              </a:buClr>
              <a:buFont typeface="Arial"/>
              <a:buChar char="•"/>
              <a:tabLst>
                <a:tab algn="l" pos="0"/>
              </a:tabLst>
            </a:pPr>
            <a:r>
              <a:rPr b="0" lang="en-US" sz="2300" spc="-1" strike="noStrike">
                <a:solidFill>
                  <a:srgbClr val="031424"/>
                </a:solidFill>
                <a:latin typeface="Roboto"/>
              </a:rPr>
              <a:t>Write C++ functions alongside your Python code.</a:t>
            </a:r>
            <a:endParaRPr b="0" lang="en-US" sz="2300" spc="-1" strike="noStrike">
              <a:solidFill>
                <a:srgbClr val="000000"/>
              </a:solidFill>
              <a:latin typeface="Arial"/>
            </a:endParaRPr>
          </a:p>
          <a:p>
            <a:pPr marL="228600" indent="-228600" defTabSz="914400">
              <a:lnSpc>
                <a:spcPct val="90000"/>
              </a:lnSpc>
              <a:spcBef>
                <a:spcPts val="1001"/>
              </a:spcBef>
              <a:spcAft>
                <a:spcPts val="2001"/>
              </a:spcAft>
              <a:buClr>
                <a:srgbClr val="031424"/>
              </a:buClr>
              <a:buFont typeface="Arial"/>
              <a:buChar char="•"/>
              <a:tabLst>
                <a:tab algn="l" pos="0"/>
              </a:tabLst>
            </a:pPr>
            <a:r>
              <a:rPr b="0" lang="en-US" sz="2300" spc="-1" strike="noStrike">
                <a:solidFill>
                  <a:srgbClr val="031424"/>
                </a:solidFill>
                <a:latin typeface="Roboto"/>
              </a:rPr>
              <a:t>Reuse compiled functions and common integration helpers.</a:t>
            </a:r>
            <a:endParaRPr b="0" lang="en-US" sz="2300" spc="-1" strike="noStrike">
              <a:solidFill>
                <a:srgbClr val="000000"/>
              </a:solidFill>
              <a:latin typeface="Arial"/>
            </a:endParaRPr>
          </a:p>
          <a:p>
            <a:pPr marL="228600" indent="-228600" defTabSz="914400">
              <a:lnSpc>
                <a:spcPct val="90000"/>
              </a:lnSpc>
              <a:spcBef>
                <a:spcPts val="1001"/>
              </a:spcBef>
              <a:spcAft>
                <a:spcPts val="2001"/>
              </a:spcAft>
              <a:buClr>
                <a:srgbClr val="031424"/>
              </a:buClr>
              <a:buFont typeface="Arial"/>
              <a:buChar char="•"/>
              <a:tabLst>
                <a:tab algn="l" pos="0"/>
              </a:tabLst>
            </a:pPr>
            <a:r>
              <a:rPr b="0" lang="en-US" sz="2300" spc="-1" strike="noStrike">
                <a:solidFill>
                  <a:srgbClr val="031424"/>
                </a:solidFill>
                <a:latin typeface="Roboto"/>
              </a:rPr>
              <a:t>AI coding assistant friendly.</a:t>
            </a:r>
            <a:endParaRPr b="0" lang="en-US" sz="2300" spc="-1" strike="noStrike">
              <a:solidFill>
                <a:srgbClr val="000000"/>
              </a:solidFill>
              <a:latin typeface="Arial"/>
            </a:endParaRPr>
          </a:p>
        </p:txBody>
      </p:sp>
      <p:pic>
        <p:nvPicPr>
          <p:cNvPr id="80" name="Picture 5" descr=""/>
          <p:cNvPicPr/>
          <p:nvPr/>
        </p:nvPicPr>
        <p:blipFill>
          <a:blip r:embed="rId1"/>
          <a:stretch/>
        </p:blipFill>
        <p:spPr>
          <a:xfrm>
            <a:off x="10623600" y="345600"/>
            <a:ext cx="1058400" cy="1058400"/>
          </a:xfrm>
          <a:prstGeom prst="rect">
            <a:avLst/>
          </a:prstGeom>
          <a:ln w="0">
            <a:noFill/>
          </a:ln>
        </p:spPr>
      </p:pic>
      <p:cxnSp>
        <p:nvCxnSpPr>
          <p:cNvPr id="81" name="Straight Connector 7"/>
          <p:cNvCxnSpPr/>
          <p:nvPr/>
        </p:nvCxnSpPr>
        <p:spPr>
          <a:xfrm>
            <a:off x="0" y="1134720"/>
            <a:ext cx="4366080" cy="2520"/>
          </a:xfrm>
          <a:prstGeom prst="straightConnector1">
            <a:avLst/>
          </a:prstGeom>
          <a:ln w="38100">
            <a:solidFill>
              <a:srgbClr val="fed021"/>
            </a:solidFill>
            <a:round/>
          </a:ln>
        </p:spPr>
      </p:cxn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507600" y="345600"/>
            <a:ext cx="10513080" cy="786600"/>
          </a:xfrm>
          <a:prstGeom prst="rect">
            <a:avLst/>
          </a:prstGeom>
          <a:noFill/>
          <a:ln w="0">
            <a:noFill/>
          </a:ln>
        </p:spPr>
        <p:txBody>
          <a:bodyPr lIns="91440" rIns="91440" tIns="45720" bIns="45720" anchor="ctr">
            <a:normAutofit/>
          </a:bodyPr>
          <a:p>
            <a:pPr indent="0" defTabSz="914400">
              <a:lnSpc>
                <a:spcPct val="90000"/>
              </a:lnSpc>
              <a:spcAft>
                <a:spcPts val="2001"/>
              </a:spcAft>
              <a:buNone/>
              <a:tabLst>
                <a:tab algn="l" pos="0"/>
              </a:tabLst>
            </a:pPr>
            <a:r>
              <a:rPr b="0" lang="en-US" sz="2800" spc="-1" strike="noStrike">
                <a:solidFill>
                  <a:srgbClr val="031424"/>
                </a:solidFill>
                <a:latin typeface="Roboto"/>
              </a:rPr>
              <a:t>Let's understand cppyy</a:t>
            </a:r>
            <a:endParaRPr b="0" lang="en-US" sz="2800" spc="-1" strike="noStrike">
              <a:solidFill>
                <a:srgbClr val="000000"/>
              </a:solidFill>
              <a:latin typeface="Arial"/>
            </a:endParaRPr>
          </a:p>
        </p:txBody>
      </p:sp>
      <p:sp>
        <p:nvSpPr>
          <p:cNvPr id="83" name="PlaceHolder 2"/>
          <p:cNvSpPr>
            <a:spLocks noGrp="1"/>
          </p:cNvSpPr>
          <p:nvPr>
            <p:ph/>
          </p:nvPr>
        </p:nvSpPr>
        <p:spPr>
          <a:xfrm>
            <a:off x="507600" y="1825560"/>
            <a:ext cx="11238480" cy="4348800"/>
          </a:xfrm>
          <a:prstGeom prst="rect">
            <a:avLst/>
          </a:prstGeom>
          <a:noFill/>
          <a:ln w="0">
            <a:noFill/>
          </a:ln>
        </p:spPr>
        <p:txBody>
          <a:bodyPr lIns="91440" rIns="91440" tIns="45720" bIns="45720" anchor="t">
            <a:normAutofit/>
          </a:bodyPr>
          <a:p>
            <a:pPr indent="0" defTabSz="914400">
              <a:lnSpc>
                <a:spcPct val="90000"/>
              </a:lnSpc>
              <a:spcBef>
                <a:spcPts val="1001"/>
              </a:spcBef>
              <a:spcAft>
                <a:spcPts val="2001"/>
              </a:spcAft>
              <a:buNone/>
              <a:tabLst>
                <a:tab algn="l" pos="0"/>
              </a:tabLst>
            </a:pPr>
            <a:r>
              <a:rPr b="1" lang="en-US" sz="2600" spc="-1" strike="noStrike">
                <a:solidFill>
                  <a:srgbClr val="031424"/>
                </a:solidFill>
                <a:latin typeface="Roboto"/>
              </a:rPr>
              <a:t>Automatic Python–C++ bindings at runtime, with C++ JIT compilation when needed.</a:t>
            </a:r>
            <a:endParaRPr b="0" lang="en-US" sz="2600" spc="-1" strike="noStrike">
              <a:solidFill>
                <a:srgbClr val="000000"/>
              </a:solidFill>
              <a:latin typeface="Arial"/>
            </a:endParaRPr>
          </a:p>
          <a:p>
            <a:pPr marL="228600" indent="-228600" defTabSz="914400">
              <a:lnSpc>
                <a:spcPct val="90000"/>
              </a:lnSpc>
              <a:spcBef>
                <a:spcPts val="1001"/>
              </a:spcBef>
              <a:spcAft>
                <a:spcPts val="2001"/>
              </a:spcAft>
              <a:buClr>
                <a:srgbClr val="031424"/>
              </a:buClr>
              <a:buFont typeface="Arial"/>
              <a:buChar char="•"/>
              <a:tabLst>
                <a:tab algn="l" pos="0"/>
              </a:tabLst>
            </a:pPr>
            <a:r>
              <a:rPr b="0" lang="en-US" sz="2300" spc="-1" strike="noStrike">
                <a:solidFill>
                  <a:srgbClr val="031424"/>
                </a:solidFill>
                <a:latin typeface="Roboto"/>
              </a:rPr>
              <a:t>Use C++ classes, functions and templates from Python.</a:t>
            </a:r>
            <a:endParaRPr b="0" lang="en-US" sz="2300" spc="-1" strike="noStrike">
              <a:solidFill>
                <a:srgbClr val="000000"/>
              </a:solidFill>
              <a:latin typeface="Arial"/>
            </a:endParaRPr>
          </a:p>
          <a:p>
            <a:pPr marL="228600" indent="-228600" defTabSz="914400">
              <a:lnSpc>
                <a:spcPct val="90000"/>
              </a:lnSpc>
              <a:spcBef>
                <a:spcPts val="1001"/>
              </a:spcBef>
              <a:spcAft>
                <a:spcPts val="2001"/>
              </a:spcAft>
              <a:buClr>
                <a:srgbClr val="031424"/>
              </a:buClr>
              <a:buFont typeface="Arial"/>
              <a:buChar char="•"/>
              <a:tabLst>
                <a:tab algn="l" pos="0"/>
              </a:tabLst>
            </a:pPr>
            <a:r>
              <a:rPr b="0" lang="en-US" sz="2300" spc="-1" strike="noStrike">
                <a:solidFill>
                  <a:srgbClr val="031424"/>
                </a:solidFill>
                <a:latin typeface="Roboto"/>
              </a:rPr>
              <a:t>Load an existing library or compile C++ as you experiment.</a:t>
            </a:r>
            <a:endParaRPr b="0" lang="en-US" sz="2300" spc="-1" strike="noStrike">
              <a:solidFill>
                <a:srgbClr val="000000"/>
              </a:solidFill>
              <a:latin typeface="Arial"/>
            </a:endParaRPr>
          </a:p>
          <a:p>
            <a:pPr marL="228600" indent="-228600" defTabSz="914400">
              <a:lnSpc>
                <a:spcPct val="90000"/>
              </a:lnSpc>
              <a:spcBef>
                <a:spcPts val="1001"/>
              </a:spcBef>
              <a:spcAft>
                <a:spcPts val="2001"/>
              </a:spcAft>
              <a:buClr>
                <a:srgbClr val="031424"/>
              </a:buClr>
              <a:buFont typeface="Arial"/>
              <a:buChar char="•"/>
              <a:tabLst>
                <a:tab algn="l" pos="0"/>
              </a:tabLst>
            </a:pPr>
            <a:r>
              <a:rPr b="0" lang="en-US" sz="2300" spc="-1" strike="noStrike">
                <a:solidFill>
                  <a:srgbClr val="031424"/>
                </a:solidFill>
                <a:latin typeface="Roboto"/>
              </a:rPr>
              <a:t>Let C++ call Python through callbacks and overrides.</a:t>
            </a:r>
            <a:endParaRPr b="0" lang="en-US" sz="2300" spc="-1" strike="noStrike">
              <a:solidFill>
                <a:srgbClr val="000000"/>
              </a:solidFill>
              <a:latin typeface="Arial"/>
            </a:endParaRPr>
          </a:p>
        </p:txBody>
      </p:sp>
      <p:pic>
        <p:nvPicPr>
          <p:cNvPr id="84" name="Picture 5" descr=""/>
          <p:cNvPicPr/>
          <p:nvPr/>
        </p:nvPicPr>
        <p:blipFill>
          <a:blip r:embed="rId1"/>
          <a:stretch/>
        </p:blipFill>
        <p:spPr>
          <a:xfrm>
            <a:off x="10623600" y="345600"/>
            <a:ext cx="1058400" cy="1058400"/>
          </a:xfrm>
          <a:prstGeom prst="rect">
            <a:avLst/>
          </a:prstGeom>
          <a:ln w="0">
            <a:noFill/>
          </a:ln>
        </p:spPr>
      </p:pic>
      <p:cxnSp>
        <p:nvCxnSpPr>
          <p:cNvPr id="85" name="Straight Connector 7"/>
          <p:cNvCxnSpPr/>
          <p:nvPr/>
        </p:nvCxnSpPr>
        <p:spPr>
          <a:xfrm>
            <a:off x="0" y="1134720"/>
            <a:ext cx="4366080" cy="2520"/>
          </a:xfrm>
          <a:prstGeom prst="straightConnector1">
            <a:avLst/>
          </a:prstGeom>
          <a:ln w="38100">
            <a:solidFill>
              <a:srgbClr val="fed021"/>
            </a:solidFill>
            <a:round/>
          </a:ln>
        </p:spPr>
      </p:cxn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Picture 5" descr=""/>
          <p:cNvPicPr/>
          <p:nvPr/>
        </p:nvPicPr>
        <p:blipFill>
          <a:blip r:embed="rId1"/>
          <a:stretch/>
        </p:blipFill>
        <p:spPr>
          <a:xfrm>
            <a:off x="10623600" y="345600"/>
            <a:ext cx="1058400" cy="1058400"/>
          </a:xfrm>
          <a:prstGeom prst="rect">
            <a:avLst/>
          </a:prstGeom>
          <a:ln w="0">
            <a:noFill/>
          </a:ln>
        </p:spPr>
      </p:pic>
      <p:cxnSp>
        <p:nvCxnSpPr>
          <p:cNvPr id="87" name="Straight Connector 7"/>
          <p:cNvCxnSpPr/>
          <p:nvPr/>
        </p:nvCxnSpPr>
        <p:spPr>
          <a:xfrm>
            <a:off x="0" y="1134720"/>
            <a:ext cx="4366080" cy="2520"/>
          </a:xfrm>
          <a:prstGeom prst="straightConnector1">
            <a:avLst/>
          </a:prstGeom>
          <a:ln w="38100">
            <a:solidFill>
              <a:srgbClr val="fed021"/>
            </a:solidFill>
            <a:round/>
          </a:ln>
        </p:spPr>
      </p:cxnSp>
      <p:sp>
        <p:nvSpPr>
          <p:cNvPr id="88" name="TextBox 101"/>
          <p:cNvSpPr/>
          <p:nvPr/>
        </p:nvSpPr>
        <p:spPr>
          <a:xfrm>
            <a:off x="502920" y="320040"/>
            <a:ext cx="10513440" cy="5166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800" spc="-1" strike="noStrike">
                <a:solidFill>
                  <a:srgbClr val="031424"/>
                </a:solidFill>
                <a:latin typeface="Roboto"/>
              </a:rPr>
              <a:t>Calling C++ from Python: a conventional extension</a:t>
            </a:r>
            <a:endParaRPr b="0" lang="en-US" sz="2800" spc="-1" strike="noStrike">
              <a:solidFill>
                <a:srgbClr val="000000"/>
              </a:solidFill>
              <a:latin typeface="Arial"/>
            </a:endParaRPr>
          </a:p>
        </p:txBody>
      </p:sp>
      <p:sp>
        <p:nvSpPr>
          <p:cNvPr id="89" name="TextBox 102"/>
          <p:cNvSpPr/>
          <p:nvPr/>
        </p:nvSpPr>
        <p:spPr>
          <a:xfrm>
            <a:off x="502920" y="1170360"/>
            <a:ext cx="1097064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sum_example/  →  native module  →  Python API  →  application</a:t>
            </a:r>
            <a:endParaRPr b="0" lang="en-US" sz="2000" spc="-1" strike="noStrike">
              <a:solidFill>
                <a:srgbClr val="000000"/>
              </a:solidFill>
              <a:latin typeface="Arial"/>
            </a:endParaRPr>
          </a:p>
        </p:txBody>
      </p:sp>
      <p:sp>
        <p:nvSpPr>
          <p:cNvPr id="90" name="Rounded Rectangle 103"/>
          <p:cNvSpPr/>
          <p:nvPr/>
        </p:nvSpPr>
        <p:spPr>
          <a:xfrm>
            <a:off x="502920" y="1719000"/>
            <a:ext cx="3655440" cy="187236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91" name="TextBox 104"/>
          <p:cNvSpPr/>
          <p:nvPr/>
        </p:nvSpPr>
        <p:spPr>
          <a:xfrm>
            <a:off x="612720" y="1774080"/>
            <a:ext cx="343584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CMakeLists.txt</a:t>
            </a:r>
            <a:endParaRPr b="0" lang="en-US" sz="1500" spc="-1" strike="noStrike">
              <a:solidFill>
                <a:srgbClr val="000000"/>
              </a:solidFill>
              <a:latin typeface="Arial"/>
            </a:endParaRPr>
          </a:p>
        </p:txBody>
      </p:sp>
      <p:sp>
        <p:nvSpPr>
          <p:cNvPr id="92" name="TextBox 105"/>
          <p:cNvSpPr/>
          <p:nvPr/>
        </p:nvSpPr>
        <p:spPr>
          <a:xfrm>
            <a:off x="736200" y="2157840"/>
            <a:ext cx="3188880" cy="13712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0" lang="en-US" sz="1000" spc="-1" strike="noStrike">
                <a:solidFill>
                  <a:srgbClr val="007020"/>
                </a:solidFill>
                <a:latin typeface="DejaVu Sans Mono"/>
              </a:rPr>
              <a:t>cmake_minimum_required</a:t>
            </a:r>
            <a:r>
              <a:rPr b="0" lang="en-US" sz="1000" spc="-1" strike="noStrike">
                <a:solidFill>
                  <a:srgbClr val="031424"/>
                </a:solidFill>
                <a:latin typeface="DejaVu Sans Mono"/>
              </a:rPr>
              <a:t>(</a:t>
            </a:r>
            <a:r>
              <a:rPr b="0" lang="en-US" sz="1000" spc="-1" strike="noStrike">
                <a:solidFill>
                  <a:srgbClr val="4070a0"/>
                </a:solidFill>
                <a:latin typeface="DejaVu Sans Mono"/>
              </a:rPr>
              <a:t>VERSION</a:t>
            </a:r>
            <a:r>
              <a:rPr b="0" lang="en-US" sz="1000" spc="-1" strike="noStrike">
                <a:solidFill>
                  <a:srgbClr val="bbbbbb"/>
                </a:solidFill>
                <a:latin typeface="DejaVu Sans Mono"/>
              </a:rPr>
              <a:t> </a:t>
            </a:r>
            <a:r>
              <a:rPr b="0" lang="en-US" sz="1000" spc="-1" strike="noStrike">
                <a:solidFill>
                  <a:srgbClr val="4070a0"/>
                </a:solidFill>
                <a:latin typeface="DejaVu Sans Mono"/>
              </a:rPr>
              <a:t>3.18</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07020"/>
                </a:solidFill>
                <a:latin typeface="DejaVu Sans Mono"/>
              </a:rPr>
              <a:t>project</a:t>
            </a:r>
            <a:r>
              <a:rPr b="0" lang="en-US" sz="1000" spc="-1" strike="noStrike">
                <a:solidFill>
                  <a:srgbClr val="031424"/>
                </a:solidFill>
                <a:latin typeface="DejaVu Sans Mono"/>
              </a:rPr>
              <a:t>(</a:t>
            </a:r>
            <a:r>
              <a:rPr b="0" lang="en-US" sz="1000" spc="-1" strike="noStrike">
                <a:solidFill>
                  <a:srgbClr val="4070a0"/>
                </a:solidFill>
                <a:latin typeface="DejaVu Sans Mono"/>
              </a:rPr>
              <a:t>sum_example</a:t>
            </a:r>
            <a:r>
              <a:rPr b="0" lang="en-US" sz="1000" spc="-1" strike="noStrike">
                <a:solidFill>
                  <a:srgbClr val="bbbbbb"/>
                </a:solidFill>
                <a:latin typeface="DejaVu Sans Mono"/>
              </a:rPr>
              <a:t> </a:t>
            </a:r>
            <a:r>
              <a:rPr b="0" lang="en-US" sz="1000" spc="-1" strike="noStrike">
                <a:solidFill>
                  <a:srgbClr val="4070a0"/>
                </a:solidFill>
                <a:latin typeface="DejaVu Sans Mono"/>
              </a:rPr>
              <a:t>LANGUAGES</a:t>
            </a:r>
            <a:r>
              <a:rPr b="0" lang="en-US" sz="1000" spc="-1" strike="noStrike">
                <a:solidFill>
                  <a:srgbClr val="bbbbbb"/>
                </a:solidFill>
                <a:latin typeface="DejaVu Sans Mono"/>
              </a:rPr>
              <a:t> </a:t>
            </a:r>
            <a:r>
              <a:rPr b="0" lang="en-US" sz="1000" spc="-1" strike="noStrike">
                <a:solidFill>
                  <a:srgbClr val="4070a0"/>
                </a:solidFill>
                <a:latin typeface="DejaVu Sans Mono"/>
              </a:rPr>
              <a:t>CXX</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07020"/>
                </a:solidFill>
                <a:latin typeface="DejaVu Sans Mono"/>
              </a:rPr>
              <a:t>find_package</a:t>
            </a:r>
            <a:r>
              <a:rPr b="0" lang="en-US" sz="1000" spc="-1" strike="noStrike">
                <a:solidFill>
                  <a:srgbClr val="031424"/>
                </a:solidFill>
                <a:latin typeface="DejaVu Sans Mono"/>
              </a:rPr>
              <a:t>(</a:t>
            </a:r>
            <a:r>
              <a:rPr b="0" lang="en-US" sz="1000" spc="-1" strike="noStrike">
                <a:solidFill>
                  <a:srgbClr val="4070a0"/>
                </a:solidFill>
                <a:latin typeface="DejaVu Sans Mono"/>
              </a:rPr>
              <a:t>Python</a:t>
            </a:r>
            <a:r>
              <a:rPr b="0" lang="en-US" sz="1000" spc="-1" strike="noStrike">
                <a:solidFill>
                  <a:srgbClr val="bbbbbb"/>
                </a:solidFill>
                <a:latin typeface="DejaVu Sans Mono"/>
              </a:rPr>
              <a:t> </a:t>
            </a:r>
            <a:r>
              <a:rPr b="0" lang="en-US" sz="1000" spc="-1" strike="noStrike">
                <a:solidFill>
                  <a:srgbClr val="4070a0"/>
                </a:solidFill>
                <a:latin typeface="DejaVu Sans Mono"/>
              </a:rPr>
              <a:t>COMPONENTS</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0" lang="en-US" sz="1000" spc="-1" strike="noStrike">
                <a:solidFill>
                  <a:srgbClr val="4070a0"/>
                </a:solidFill>
                <a:latin typeface="DejaVu Sans Mono"/>
              </a:rPr>
              <a:t>Interpreter</a:t>
            </a:r>
            <a:r>
              <a:rPr b="0" lang="en-US" sz="1000" spc="-1" strike="noStrike">
                <a:solidFill>
                  <a:srgbClr val="bbbbbb"/>
                </a:solidFill>
                <a:latin typeface="DejaVu Sans Mono"/>
              </a:rPr>
              <a:t> </a:t>
            </a:r>
            <a:r>
              <a:rPr b="0" lang="en-US" sz="1000" spc="-1" strike="noStrike">
                <a:solidFill>
                  <a:srgbClr val="4070a0"/>
                </a:solidFill>
                <a:latin typeface="DejaVu Sans Mono"/>
              </a:rPr>
              <a:t>Development.Module</a:t>
            </a:r>
            <a:r>
              <a:rPr b="0" lang="en-US" sz="1000" spc="-1" strike="noStrike">
                <a:solidFill>
                  <a:srgbClr val="bbbbbb"/>
                </a:solidFill>
                <a:latin typeface="DejaVu Sans Mono"/>
              </a:rPr>
              <a:t> </a:t>
            </a:r>
            <a:r>
              <a:rPr b="0" lang="en-US" sz="1000" spc="-1" strike="noStrike">
                <a:solidFill>
                  <a:srgbClr val="4070a0"/>
                </a:solidFill>
                <a:latin typeface="DejaVu Sans Mono"/>
              </a:rPr>
              <a:t>REQUIRED</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07020"/>
                </a:solidFill>
                <a:latin typeface="DejaVu Sans Mono"/>
              </a:rPr>
              <a:t>find_package</a:t>
            </a:r>
            <a:r>
              <a:rPr b="0" lang="en-US" sz="1000" spc="-1" strike="noStrike">
                <a:solidFill>
                  <a:srgbClr val="031424"/>
                </a:solidFill>
                <a:latin typeface="DejaVu Sans Mono"/>
              </a:rPr>
              <a:t>(</a:t>
            </a:r>
            <a:r>
              <a:rPr b="0" lang="en-US" sz="1000" spc="-1" strike="noStrike">
                <a:solidFill>
                  <a:srgbClr val="4070a0"/>
                </a:solidFill>
                <a:latin typeface="DejaVu Sans Mono"/>
              </a:rPr>
              <a:t>pybind11</a:t>
            </a:r>
            <a:r>
              <a:rPr b="0" lang="en-US" sz="1000" spc="-1" strike="noStrike">
                <a:solidFill>
                  <a:srgbClr val="bbbbbb"/>
                </a:solidFill>
                <a:latin typeface="DejaVu Sans Mono"/>
              </a:rPr>
              <a:t> </a:t>
            </a:r>
            <a:r>
              <a:rPr b="0" lang="en-US" sz="1000" spc="-1" strike="noStrike">
                <a:solidFill>
                  <a:srgbClr val="4070a0"/>
                </a:solidFill>
                <a:latin typeface="DejaVu Sans Mono"/>
              </a:rPr>
              <a:t>CONFIG</a:t>
            </a:r>
            <a:r>
              <a:rPr b="0" lang="en-US" sz="1000" spc="-1" strike="noStrike">
                <a:solidFill>
                  <a:srgbClr val="bbbbbb"/>
                </a:solidFill>
                <a:latin typeface="DejaVu Sans Mono"/>
              </a:rPr>
              <a:t> </a:t>
            </a:r>
            <a:r>
              <a:rPr b="0" lang="en-US" sz="1000" spc="-1" strike="noStrike">
                <a:solidFill>
                  <a:srgbClr val="4070a0"/>
                </a:solidFill>
                <a:latin typeface="DejaVu Sans Mono"/>
              </a:rPr>
              <a:t>REQUIRED</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07020"/>
                </a:solidFill>
                <a:latin typeface="DejaVu Sans Mono"/>
              </a:rPr>
              <a:t>pybind11_add_module</a:t>
            </a:r>
            <a:r>
              <a:rPr b="0" lang="en-US" sz="1000" spc="-1" strike="noStrike">
                <a:solidFill>
                  <a:srgbClr val="031424"/>
                </a:solidFill>
                <a:latin typeface="DejaVu Sans Mono"/>
              </a:rPr>
              <a:t>(</a:t>
            </a:r>
            <a:r>
              <a:rPr b="0" lang="en-US" sz="1000" spc="-1" strike="noStrike">
                <a:solidFill>
                  <a:srgbClr val="4070a0"/>
                </a:solidFill>
                <a:latin typeface="DejaVu Sans Mono"/>
              </a:rPr>
              <a:t>_native</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0" lang="en-US" sz="1000" spc="-1" strike="noStrike">
                <a:solidFill>
                  <a:srgbClr val="4070a0"/>
                </a:solidFill>
                <a:latin typeface="DejaVu Sans Mono"/>
              </a:rPr>
              <a:t>bindings.cpp</a:t>
            </a:r>
            <a:r>
              <a:rPr b="0" lang="en-US" sz="1000" spc="-1" strike="noStrike">
                <a:solidFill>
                  <a:srgbClr val="bbbbbb"/>
                </a:solidFill>
                <a:latin typeface="DejaVu Sans Mono"/>
              </a:rPr>
              <a:t> </a:t>
            </a:r>
            <a:r>
              <a:rPr b="0" lang="en-US" sz="1000" spc="-1" strike="noStrike">
                <a:solidFill>
                  <a:srgbClr val="4070a0"/>
                </a:solidFill>
                <a:latin typeface="DejaVu Sans Mono"/>
              </a:rPr>
              <a:t>kernel.cpp</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endParaRPr b="0" lang="en-US" sz="1000" spc="-1" strike="noStrike">
              <a:solidFill>
                <a:srgbClr val="000000"/>
              </a:solidFill>
              <a:latin typeface="Arial"/>
            </a:endParaRPr>
          </a:p>
        </p:txBody>
      </p:sp>
      <p:sp>
        <p:nvSpPr>
          <p:cNvPr id="93" name="Rounded Rectangle 106"/>
          <p:cNvSpPr/>
          <p:nvPr/>
        </p:nvSpPr>
        <p:spPr>
          <a:xfrm>
            <a:off x="4279320" y="1719000"/>
            <a:ext cx="3609720" cy="187236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94" name="TextBox 107"/>
          <p:cNvSpPr/>
          <p:nvPr/>
        </p:nvSpPr>
        <p:spPr>
          <a:xfrm>
            <a:off x="4389120" y="1774080"/>
            <a:ext cx="339012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kernel.hpp</a:t>
            </a:r>
            <a:endParaRPr b="0" lang="en-US" sz="1500" spc="-1" strike="noStrike">
              <a:solidFill>
                <a:srgbClr val="000000"/>
              </a:solidFill>
              <a:latin typeface="Arial"/>
            </a:endParaRPr>
          </a:p>
        </p:txBody>
      </p:sp>
      <p:sp>
        <p:nvSpPr>
          <p:cNvPr id="95" name="TextBox 108"/>
          <p:cNvSpPr/>
          <p:nvPr/>
        </p:nvSpPr>
        <p:spPr>
          <a:xfrm>
            <a:off x="4345200" y="2157840"/>
            <a:ext cx="3479760" cy="7304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0" lang="en-US" sz="1000" spc="-1" strike="noStrike">
                <a:solidFill>
                  <a:srgbClr val="007020"/>
                </a:solidFill>
                <a:latin typeface="DejaVu Sans Mono"/>
              </a:rPr>
              <a:t>#pragma once</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07020"/>
                </a:solidFill>
                <a:latin typeface="DejaVu Sans Mono"/>
              </a:rPr>
              <a:t>#include</a:t>
            </a:r>
            <a:r>
              <a:rPr b="0" lang="en-US" sz="1000" spc="-1" strike="noStrike">
                <a:solidFill>
                  <a:srgbClr val="bbbbbb"/>
                </a:solidFill>
                <a:latin typeface="DejaVu Sans Mono"/>
              </a:rPr>
              <a:t> </a:t>
            </a:r>
            <a:r>
              <a:rPr b="0" lang="en-US" sz="1000" spc="-1" strike="noStrike">
                <a:solidFill>
                  <a:srgbClr val="60a0b0"/>
                </a:solidFill>
                <a:latin typeface="DejaVu Sans Mono"/>
              </a:rPr>
              <a:t>&lt;cstddef&gt;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902000"/>
                </a:solidFill>
                <a:latin typeface="DejaVu Sans Mono"/>
              </a:rPr>
              <a:t>double</a:t>
            </a:r>
            <a:r>
              <a:rPr b="0" lang="en-US" sz="1000" spc="-1" strike="noStrike">
                <a:solidFill>
                  <a:srgbClr val="bbbbbb"/>
                </a:solidFill>
                <a:latin typeface="DejaVu Sans Mono"/>
              </a:rPr>
              <a:t> </a:t>
            </a:r>
            <a:r>
              <a:rPr b="0" lang="en-US" sz="1000" spc="-1" strike="noStrike">
                <a:solidFill>
                  <a:srgbClr val="06287e"/>
                </a:solidFill>
                <a:latin typeface="DejaVu Sans Mono"/>
              </a:rPr>
              <a:t>sum_sq</a:t>
            </a:r>
            <a:r>
              <a:rPr b="0" lang="en-US" sz="1000" spc="-1" strike="noStrike">
                <a:solidFill>
                  <a:srgbClr val="031424"/>
                </a:solidFill>
                <a:latin typeface="DejaVu Sans Mono"/>
              </a:rPr>
              <a:t>(</a:t>
            </a:r>
            <a:r>
              <a:rPr b="1" lang="en-US" sz="1000" spc="-1" strike="noStrike">
                <a:solidFill>
                  <a:srgbClr val="007020"/>
                </a:solidFill>
                <a:latin typeface="DejaVu Sans Mono"/>
              </a:rPr>
              <a:t>const</a:t>
            </a:r>
            <a:r>
              <a:rPr b="0" lang="en-US" sz="1000" spc="-1" strike="noStrike">
                <a:solidFill>
                  <a:srgbClr val="bbbbbb"/>
                </a:solidFill>
                <a:latin typeface="DejaVu Sans Mono"/>
              </a:rPr>
              <a:t> </a:t>
            </a:r>
            <a:r>
              <a:rPr b="0" lang="en-US" sz="1000" spc="-1" strike="noStrike">
                <a:solidFill>
                  <a:srgbClr val="902000"/>
                </a:solidFill>
                <a:latin typeface="DejaVu Sans Mono"/>
              </a:rPr>
              <a:t>double</a:t>
            </a:r>
            <a:r>
              <a:rPr b="0" lang="en-US" sz="1000" spc="-1" strike="noStrike">
                <a:solidFill>
                  <a:srgbClr val="666666"/>
                </a:solidFill>
                <a:latin typeface="DejaVu Sans Mono"/>
              </a:rPr>
              <a:t>*</a:t>
            </a:r>
            <a:r>
              <a:rPr b="0" lang="en-US" sz="1000" spc="-1" strike="noStrike">
                <a:solidFill>
                  <a:srgbClr val="bbbbbb"/>
                </a:solidFill>
                <a:latin typeface="DejaVu Sans Mono"/>
              </a:rPr>
              <a:t> </a:t>
            </a:r>
            <a:r>
              <a:rPr b="0" lang="en-US" sz="1000" spc="-1" strike="noStrike">
                <a:solidFill>
                  <a:srgbClr val="031424"/>
                </a:solidFill>
                <a:latin typeface="DejaVu Sans Mono"/>
              </a:rPr>
              <a:t>x,</a:t>
            </a:r>
            <a:r>
              <a:rPr b="0" lang="en-US" sz="1000" spc="-1" strike="noStrike">
                <a:solidFill>
                  <a:srgbClr val="bbbbbb"/>
                </a:solidFill>
                <a:latin typeface="DejaVu Sans Mono"/>
              </a:rPr>
              <a:t> </a:t>
            </a:r>
            <a:r>
              <a:rPr b="0" lang="en-US" sz="1000" spc="-1" strike="noStrike">
                <a:solidFill>
                  <a:srgbClr val="031424"/>
                </a:solidFill>
                <a:latin typeface="DejaVu Sans Mono"/>
              </a:rPr>
              <a:t>std</a:t>
            </a:r>
            <a:r>
              <a:rPr b="0" lang="en-US" sz="1000" spc="-1" strike="noStrike">
                <a:solidFill>
                  <a:srgbClr val="666666"/>
                </a:solidFill>
                <a:latin typeface="DejaVu Sans Mono"/>
              </a:rPr>
              <a:t>::</a:t>
            </a:r>
            <a:r>
              <a:rPr b="0" lang="en-US" sz="1000" spc="-1" strike="noStrike">
                <a:solidFill>
                  <a:srgbClr val="902000"/>
                </a:solidFill>
                <a:latin typeface="DejaVu Sans Mono"/>
              </a:rPr>
              <a:t>size_t</a:t>
            </a:r>
            <a:r>
              <a:rPr b="0" lang="en-US" sz="1000" spc="-1" strike="noStrike">
                <a:solidFill>
                  <a:srgbClr val="bbbbbb"/>
                </a:solidFill>
                <a:latin typeface="DejaVu Sans Mono"/>
              </a:rPr>
              <a:t> </a:t>
            </a:r>
            <a:r>
              <a:rPr b="0" lang="en-US" sz="1000" spc="-1" strike="noStrike">
                <a:solidFill>
                  <a:srgbClr val="031424"/>
                </a:solidFill>
                <a:latin typeface="DejaVu Sans Mono"/>
              </a:rPr>
              <a:t>n);</a:t>
            </a:r>
            <a:endParaRPr b="0" lang="en-US" sz="1000" spc="-1" strike="noStrike">
              <a:solidFill>
                <a:srgbClr val="000000"/>
              </a:solidFill>
              <a:latin typeface="Arial"/>
            </a:endParaRPr>
          </a:p>
          <a:p>
            <a:pPr>
              <a:lnSpc>
                <a:spcPct val="105000"/>
              </a:lnSpc>
              <a:tabLst>
                <a:tab algn="l" pos="0"/>
              </a:tabLst>
            </a:pPr>
            <a:endParaRPr b="0" lang="en-US" sz="1000" spc="-1" strike="noStrike">
              <a:solidFill>
                <a:srgbClr val="000000"/>
              </a:solidFill>
              <a:latin typeface="Arial"/>
            </a:endParaRPr>
          </a:p>
        </p:txBody>
      </p:sp>
      <p:sp>
        <p:nvSpPr>
          <p:cNvPr id="96" name="Rounded Rectangle 109"/>
          <p:cNvSpPr/>
          <p:nvPr/>
        </p:nvSpPr>
        <p:spPr>
          <a:xfrm>
            <a:off x="8010000" y="1719000"/>
            <a:ext cx="3655440" cy="187236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97" name="TextBox 110"/>
          <p:cNvSpPr/>
          <p:nvPr/>
        </p:nvSpPr>
        <p:spPr>
          <a:xfrm>
            <a:off x="8119800" y="1774080"/>
            <a:ext cx="343584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kernel.cpp</a:t>
            </a:r>
            <a:endParaRPr b="0" lang="en-US" sz="1500" spc="-1" strike="noStrike">
              <a:solidFill>
                <a:srgbClr val="000000"/>
              </a:solidFill>
              <a:latin typeface="Arial"/>
            </a:endParaRPr>
          </a:p>
        </p:txBody>
      </p:sp>
      <p:sp>
        <p:nvSpPr>
          <p:cNvPr id="98" name="TextBox 111"/>
          <p:cNvSpPr/>
          <p:nvPr/>
        </p:nvSpPr>
        <p:spPr>
          <a:xfrm>
            <a:off x="8370000" y="2157840"/>
            <a:ext cx="2935440" cy="15314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0" lang="en-US" sz="1000" spc="-1" strike="noStrike">
                <a:solidFill>
                  <a:srgbClr val="007020"/>
                </a:solidFill>
                <a:latin typeface="DejaVu Sans Mono"/>
              </a:rPr>
              <a:t>#include</a:t>
            </a:r>
            <a:r>
              <a:rPr b="0" lang="en-US" sz="1000" spc="-1" strike="noStrike">
                <a:solidFill>
                  <a:srgbClr val="bbbbbb"/>
                </a:solidFill>
                <a:latin typeface="DejaVu Sans Mono"/>
              </a:rPr>
              <a:t> </a:t>
            </a:r>
            <a:r>
              <a:rPr b="0" lang="en-US" sz="1000" spc="-1" strike="noStrike">
                <a:solidFill>
                  <a:srgbClr val="60a0b0"/>
                </a:solidFill>
                <a:latin typeface="DejaVu Sans Mono"/>
              </a:rPr>
              <a:t>"kernel.hpp"</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902000"/>
                </a:solidFill>
                <a:latin typeface="DejaVu Sans Mono"/>
              </a:rPr>
              <a:t>double</a:t>
            </a:r>
            <a:r>
              <a:rPr b="0" lang="en-US" sz="1000" spc="-1" strike="noStrike">
                <a:solidFill>
                  <a:srgbClr val="bbbbbb"/>
                </a:solidFill>
                <a:latin typeface="DejaVu Sans Mono"/>
              </a:rPr>
              <a:t> </a:t>
            </a:r>
            <a:r>
              <a:rPr b="0" lang="en-US" sz="1000" spc="-1" strike="noStrike">
                <a:solidFill>
                  <a:srgbClr val="06287e"/>
                </a:solidFill>
                <a:latin typeface="DejaVu Sans Mono"/>
              </a:rPr>
              <a:t>sum_sq</a:t>
            </a:r>
            <a:r>
              <a:rPr b="0" lang="en-US" sz="1000" spc="-1" strike="noStrike">
                <a:solidFill>
                  <a:srgbClr val="031424"/>
                </a:solidFill>
                <a:latin typeface="DejaVu Sans Mono"/>
              </a:rPr>
              <a:t>(</a:t>
            </a:r>
            <a:r>
              <a:rPr b="1" lang="en-US" sz="1000" spc="-1" strike="noStrike">
                <a:solidFill>
                  <a:srgbClr val="007020"/>
                </a:solidFill>
                <a:latin typeface="DejaVu Sans Mono"/>
              </a:rPr>
              <a:t>const</a:t>
            </a:r>
            <a:r>
              <a:rPr b="0" lang="en-US" sz="1000" spc="-1" strike="noStrike">
                <a:solidFill>
                  <a:srgbClr val="bbbbbb"/>
                </a:solidFill>
                <a:latin typeface="DejaVu Sans Mono"/>
              </a:rPr>
              <a:t> </a:t>
            </a:r>
            <a:r>
              <a:rPr b="0" lang="en-US" sz="1000" spc="-1" strike="noStrike">
                <a:solidFill>
                  <a:srgbClr val="902000"/>
                </a:solidFill>
                <a:latin typeface="DejaVu Sans Mono"/>
              </a:rPr>
              <a:t>double</a:t>
            </a:r>
            <a:r>
              <a:rPr b="0" lang="en-US" sz="1000" spc="-1" strike="noStrike">
                <a:solidFill>
                  <a:srgbClr val="666666"/>
                </a:solidFill>
                <a:latin typeface="DejaVu Sans Mono"/>
              </a:rPr>
              <a:t>*</a:t>
            </a:r>
            <a:r>
              <a:rPr b="0" lang="en-US" sz="1000" spc="-1" strike="noStrike">
                <a:solidFill>
                  <a:srgbClr val="bbbbbb"/>
                </a:solidFill>
                <a:latin typeface="DejaVu Sans Mono"/>
              </a:rPr>
              <a:t> </a:t>
            </a:r>
            <a:r>
              <a:rPr b="0" lang="en-US" sz="1000" spc="-1" strike="noStrike">
                <a:solidFill>
                  <a:srgbClr val="031424"/>
                </a:solidFill>
                <a:latin typeface="DejaVu Sans Mono"/>
              </a:rPr>
              <a:t>x,</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0" lang="en-US" sz="1000" spc="-1" strike="noStrike">
                <a:solidFill>
                  <a:srgbClr val="031424"/>
                </a:solidFill>
                <a:latin typeface="DejaVu Sans Mono"/>
              </a:rPr>
              <a:t>std</a:t>
            </a:r>
            <a:r>
              <a:rPr b="0" lang="en-US" sz="1000" spc="-1" strike="noStrike">
                <a:solidFill>
                  <a:srgbClr val="666666"/>
                </a:solidFill>
                <a:latin typeface="DejaVu Sans Mono"/>
              </a:rPr>
              <a:t>::</a:t>
            </a:r>
            <a:r>
              <a:rPr b="0" lang="en-US" sz="1000" spc="-1" strike="noStrike">
                <a:solidFill>
                  <a:srgbClr val="902000"/>
                </a:solidFill>
                <a:latin typeface="DejaVu Sans Mono"/>
              </a:rPr>
              <a:t>size_t</a:t>
            </a:r>
            <a:r>
              <a:rPr b="0" lang="en-US" sz="1000" spc="-1" strike="noStrike">
                <a:solidFill>
                  <a:srgbClr val="bbbbbb"/>
                </a:solidFill>
                <a:latin typeface="DejaVu Sans Mono"/>
              </a:rPr>
              <a:t> </a:t>
            </a:r>
            <a:r>
              <a:rPr b="0" lang="en-US" sz="1000" spc="-1" strike="noStrike">
                <a:solidFill>
                  <a:srgbClr val="031424"/>
                </a:solidFill>
                <a:latin typeface="DejaVu Sans Mono"/>
              </a:rPr>
              <a:t>n)</a:t>
            </a:r>
            <a:r>
              <a:rPr b="0" lang="en-US" sz="1000" spc="-1" strike="noStrike">
                <a:solidFill>
                  <a:srgbClr val="bbbbbb"/>
                </a:solidFill>
                <a:latin typeface="DejaVu Sans Mono"/>
              </a:rPr>
              <a:t> </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0" lang="en-US" sz="1000" spc="-1" strike="noStrike">
                <a:solidFill>
                  <a:srgbClr val="902000"/>
                </a:solidFill>
                <a:latin typeface="DejaVu Sans Mono"/>
              </a:rPr>
              <a:t>double</a:t>
            </a:r>
            <a:r>
              <a:rPr b="0" lang="en-US" sz="1000" spc="-1" strike="noStrike">
                <a:solidFill>
                  <a:srgbClr val="bbbbbb"/>
                </a:solidFill>
                <a:latin typeface="DejaVu Sans Mono"/>
              </a:rPr>
              <a:t> </a:t>
            </a:r>
            <a:r>
              <a:rPr b="0" lang="en-US" sz="1000" spc="-1" strike="noStrike">
                <a:solidFill>
                  <a:srgbClr val="031424"/>
                </a:solidFill>
                <a:latin typeface="DejaVu Sans Mono"/>
              </a:rPr>
              <a:t>total</a:t>
            </a:r>
            <a:r>
              <a:rPr b="0" lang="en-US" sz="1000" spc="-1" strike="noStrike">
                <a:solidFill>
                  <a:srgbClr val="bbbbbb"/>
                </a:solidFill>
                <a:latin typeface="DejaVu Sans Mono"/>
              </a:rPr>
              <a:t> </a:t>
            </a:r>
            <a:r>
              <a:rPr b="0" lang="en-US" sz="1000" spc="-1" strike="noStrike">
                <a:solidFill>
                  <a:srgbClr val="666666"/>
                </a:solidFill>
                <a:latin typeface="DejaVu Sans Mono"/>
              </a:rPr>
              <a:t>=</a:t>
            </a:r>
            <a:r>
              <a:rPr b="0" lang="en-US" sz="1000" spc="-1" strike="noStrike">
                <a:solidFill>
                  <a:srgbClr val="bbbbbb"/>
                </a:solidFill>
                <a:latin typeface="DejaVu Sans Mono"/>
              </a:rPr>
              <a:t> </a:t>
            </a:r>
            <a:r>
              <a:rPr b="0" lang="en-US" sz="1000" spc="-1" strike="noStrike">
                <a:solidFill>
                  <a:srgbClr val="40a070"/>
                </a:solidFill>
                <a:latin typeface="DejaVu Sans Mono"/>
              </a:rPr>
              <a:t>0</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1" lang="en-US" sz="1000" spc="-1" strike="noStrike">
                <a:solidFill>
                  <a:srgbClr val="007020"/>
                </a:solidFill>
                <a:latin typeface="DejaVu Sans Mono"/>
              </a:rPr>
              <a:t>for</a:t>
            </a:r>
            <a:r>
              <a:rPr b="0" lang="en-US" sz="1000" spc="-1" strike="noStrike">
                <a:solidFill>
                  <a:srgbClr val="bbbbbb"/>
                </a:solidFill>
                <a:latin typeface="DejaVu Sans Mono"/>
              </a:rPr>
              <a:t> </a:t>
            </a:r>
            <a:r>
              <a:rPr b="0" lang="en-US" sz="1000" spc="-1" strike="noStrike">
                <a:solidFill>
                  <a:srgbClr val="031424"/>
                </a:solidFill>
                <a:latin typeface="DejaVu Sans Mono"/>
              </a:rPr>
              <a:t>(std</a:t>
            </a:r>
            <a:r>
              <a:rPr b="0" lang="en-US" sz="1000" spc="-1" strike="noStrike">
                <a:solidFill>
                  <a:srgbClr val="666666"/>
                </a:solidFill>
                <a:latin typeface="DejaVu Sans Mono"/>
              </a:rPr>
              <a:t>::</a:t>
            </a:r>
            <a:r>
              <a:rPr b="0" lang="en-US" sz="1000" spc="-1" strike="noStrike">
                <a:solidFill>
                  <a:srgbClr val="902000"/>
                </a:solidFill>
                <a:latin typeface="DejaVu Sans Mono"/>
              </a:rPr>
              <a:t>size_t</a:t>
            </a:r>
            <a:r>
              <a:rPr b="0" lang="en-US" sz="1000" spc="-1" strike="noStrike">
                <a:solidFill>
                  <a:srgbClr val="bbbbbb"/>
                </a:solidFill>
                <a:latin typeface="DejaVu Sans Mono"/>
              </a:rPr>
              <a:t> </a:t>
            </a:r>
            <a:r>
              <a:rPr b="0" lang="en-US" sz="1000" spc="-1" strike="noStrike">
                <a:solidFill>
                  <a:srgbClr val="031424"/>
                </a:solidFill>
                <a:latin typeface="DejaVu Sans Mono"/>
              </a:rPr>
              <a:t>i</a:t>
            </a:r>
            <a:r>
              <a:rPr b="0" lang="en-US" sz="1000" spc="-1" strike="noStrike">
                <a:solidFill>
                  <a:srgbClr val="bbbbbb"/>
                </a:solidFill>
                <a:latin typeface="DejaVu Sans Mono"/>
              </a:rPr>
              <a:t> </a:t>
            </a:r>
            <a:r>
              <a:rPr b="0" lang="en-US" sz="1000" spc="-1" strike="noStrike">
                <a:solidFill>
                  <a:srgbClr val="666666"/>
                </a:solidFill>
                <a:latin typeface="DejaVu Sans Mono"/>
              </a:rPr>
              <a:t>=</a:t>
            </a:r>
            <a:r>
              <a:rPr b="0" lang="en-US" sz="1000" spc="-1" strike="noStrike">
                <a:solidFill>
                  <a:srgbClr val="bbbbbb"/>
                </a:solidFill>
                <a:latin typeface="DejaVu Sans Mono"/>
              </a:rPr>
              <a:t> </a:t>
            </a:r>
            <a:r>
              <a:rPr b="0" lang="en-US" sz="1000" spc="-1" strike="noStrike">
                <a:solidFill>
                  <a:srgbClr val="40a070"/>
                </a:solidFill>
                <a:latin typeface="DejaVu Sans Mono"/>
              </a:rPr>
              <a:t>0</a:t>
            </a:r>
            <a:r>
              <a:rPr b="0" lang="en-US" sz="1000" spc="-1" strike="noStrike">
                <a:solidFill>
                  <a:srgbClr val="031424"/>
                </a:solidFill>
                <a:latin typeface="DejaVu Sans Mono"/>
              </a:rPr>
              <a:t>;</a:t>
            </a:r>
            <a:r>
              <a:rPr b="0" lang="en-US" sz="1000" spc="-1" strike="noStrike">
                <a:solidFill>
                  <a:srgbClr val="bbbbbb"/>
                </a:solidFill>
                <a:latin typeface="DejaVu Sans Mono"/>
              </a:rPr>
              <a:t> </a:t>
            </a:r>
            <a:r>
              <a:rPr b="0" lang="en-US" sz="1000" spc="-1" strike="noStrike">
                <a:solidFill>
                  <a:srgbClr val="031424"/>
                </a:solidFill>
                <a:latin typeface="DejaVu Sans Mono"/>
              </a:rPr>
              <a:t>i</a:t>
            </a:r>
            <a:r>
              <a:rPr b="0" lang="en-US" sz="1000" spc="-1" strike="noStrike">
                <a:solidFill>
                  <a:srgbClr val="bbbbbb"/>
                </a:solidFill>
                <a:latin typeface="DejaVu Sans Mono"/>
              </a:rPr>
              <a:t> </a:t>
            </a:r>
            <a:r>
              <a:rPr b="0" lang="en-US" sz="1000" spc="-1" strike="noStrike">
                <a:solidFill>
                  <a:srgbClr val="666666"/>
                </a:solidFill>
                <a:latin typeface="DejaVu Sans Mono"/>
              </a:rPr>
              <a:t>&lt;</a:t>
            </a:r>
            <a:r>
              <a:rPr b="0" lang="en-US" sz="1000" spc="-1" strike="noStrike">
                <a:solidFill>
                  <a:srgbClr val="bbbbbb"/>
                </a:solidFill>
                <a:latin typeface="DejaVu Sans Mono"/>
              </a:rPr>
              <a:t> </a:t>
            </a:r>
            <a:r>
              <a:rPr b="0" lang="en-US" sz="1000" spc="-1" strike="noStrike">
                <a:solidFill>
                  <a:srgbClr val="031424"/>
                </a:solidFill>
                <a:latin typeface="DejaVu Sans Mono"/>
              </a:rPr>
              <a:t>n;</a:t>
            </a:r>
            <a:r>
              <a:rPr b="0" lang="en-US" sz="1000" spc="-1" strike="noStrike">
                <a:solidFill>
                  <a:srgbClr val="bbbbbb"/>
                </a:solidFill>
                <a:latin typeface="DejaVu Sans Mono"/>
              </a:rPr>
              <a:t> </a:t>
            </a:r>
            <a:r>
              <a:rPr b="0" lang="en-US" sz="1000" spc="-1" strike="noStrike">
                <a:solidFill>
                  <a:srgbClr val="666666"/>
                </a:solidFill>
                <a:latin typeface="DejaVu Sans Mono"/>
              </a:rPr>
              <a:t>++</a:t>
            </a:r>
            <a:r>
              <a:rPr b="0" lang="en-US" sz="1000" spc="-1" strike="noStrike">
                <a:solidFill>
                  <a:srgbClr val="031424"/>
                </a:solidFill>
                <a:latin typeface="DejaVu Sans Mono"/>
              </a:rPr>
              <a:t>i)</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0" lang="en-US" sz="1000" spc="-1" strike="noStrike">
                <a:solidFill>
                  <a:srgbClr val="031424"/>
                </a:solidFill>
                <a:latin typeface="DejaVu Sans Mono"/>
              </a:rPr>
              <a:t>total</a:t>
            </a:r>
            <a:r>
              <a:rPr b="0" lang="en-US" sz="1000" spc="-1" strike="noStrike">
                <a:solidFill>
                  <a:srgbClr val="bbbbbb"/>
                </a:solidFill>
                <a:latin typeface="DejaVu Sans Mono"/>
              </a:rPr>
              <a:t> </a:t>
            </a:r>
            <a:r>
              <a:rPr b="0" lang="en-US" sz="1000" spc="-1" strike="noStrike">
                <a:solidFill>
                  <a:srgbClr val="666666"/>
                </a:solidFill>
                <a:latin typeface="DejaVu Sans Mono"/>
              </a:rPr>
              <a:t>+=</a:t>
            </a:r>
            <a:r>
              <a:rPr b="0" lang="en-US" sz="1000" spc="-1" strike="noStrike">
                <a:solidFill>
                  <a:srgbClr val="bbbbbb"/>
                </a:solidFill>
                <a:latin typeface="DejaVu Sans Mono"/>
              </a:rPr>
              <a:t> </a:t>
            </a:r>
            <a:r>
              <a:rPr b="0" lang="en-US" sz="1000" spc="-1" strike="noStrike">
                <a:solidFill>
                  <a:srgbClr val="031424"/>
                </a:solidFill>
                <a:latin typeface="DejaVu Sans Mono"/>
              </a:rPr>
              <a:t>x[i]</a:t>
            </a:r>
            <a:r>
              <a:rPr b="0" lang="en-US" sz="1000" spc="-1" strike="noStrike">
                <a:solidFill>
                  <a:srgbClr val="bbbbbb"/>
                </a:solidFill>
                <a:latin typeface="DejaVu Sans Mono"/>
              </a:rPr>
              <a:t> </a:t>
            </a:r>
            <a:r>
              <a:rPr b="0" lang="en-US" sz="1000" spc="-1" strike="noStrike">
                <a:solidFill>
                  <a:srgbClr val="666666"/>
                </a:solidFill>
                <a:latin typeface="DejaVu Sans Mono"/>
              </a:rPr>
              <a:t>*</a:t>
            </a:r>
            <a:r>
              <a:rPr b="0" lang="en-US" sz="1000" spc="-1" strike="noStrike">
                <a:solidFill>
                  <a:srgbClr val="bbbbbb"/>
                </a:solidFill>
                <a:latin typeface="DejaVu Sans Mono"/>
              </a:rPr>
              <a:t> </a:t>
            </a:r>
            <a:r>
              <a:rPr b="0" lang="en-US" sz="1000" spc="-1" strike="noStrike">
                <a:solidFill>
                  <a:srgbClr val="031424"/>
                </a:solidFill>
                <a:latin typeface="DejaVu Sans Mono"/>
              </a:rPr>
              <a:t>x[i];</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1" lang="en-US" sz="1000" spc="-1" strike="noStrike">
                <a:solidFill>
                  <a:srgbClr val="007020"/>
                </a:solidFill>
                <a:latin typeface="DejaVu Sans Mono"/>
              </a:rPr>
              <a:t>return</a:t>
            </a:r>
            <a:r>
              <a:rPr b="0" lang="en-US" sz="1000" spc="-1" strike="noStrike">
                <a:solidFill>
                  <a:srgbClr val="bbbbbb"/>
                </a:solidFill>
                <a:latin typeface="DejaVu Sans Mono"/>
              </a:rPr>
              <a:t> </a:t>
            </a:r>
            <a:r>
              <a:rPr b="0" lang="en-US" sz="1000" spc="-1" strike="noStrike">
                <a:solidFill>
                  <a:srgbClr val="031424"/>
                </a:solidFill>
                <a:latin typeface="DejaVu Sans Mono"/>
              </a:rPr>
              <a:t>total;</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endParaRPr b="0" lang="en-US" sz="1000" spc="-1" strike="noStrike">
              <a:solidFill>
                <a:srgbClr val="000000"/>
              </a:solidFill>
              <a:latin typeface="Arial"/>
            </a:endParaRPr>
          </a:p>
        </p:txBody>
      </p:sp>
      <p:sp>
        <p:nvSpPr>
          <p:cNvPr id="99" name="Rounded Rectangle 112"/>
          <p:cNvSpPr/>
          <p:nvPr/>
        </p:nvSpPr>
        <p:spPr>
          <a:xfrm>
            <a:off x="502920" y="3730680"/>
            <a:ext cx="3655440" cy="210096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00" name="TextBox 113"/>
          <p:cNvSpPr/>
          <p:nvPr/>
        </p:nvSpPr>
        <p:spPr>
          <a:xfrm>
            <a:off x="612720" y="3785760"/>
            <a:ext cx="343584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bindings.cpp</a:t>
            </a:r>
            <a:endParaRPr b="0" lang="en-US" sz="1500" spc="-1" strike="noStrike">
              <a:solidFill>
                <a:srgbClr val="000000"/>
              </a:solidFill>
              <a:latin typeface="Arial"/>
            </a:endParaRPr>
          </a:p>
        </p:txBody>
      </p:sp>
      <p:sp>
        <p:nvSpPr>
          <p:cNvPr id="101" name="TextBox 114"/>
          <p:cNvSpPr/>
          <p:nvPr/>
        </p:nvSpPr>
        <p:spPr>
          <a:xfrm>
            <a:off x="888120" y="4169520"/>
            <a:ext cx="2885400" cy="18518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0" lang="en-US" sz="1000" spc="-1" strike="noStrike">
                <a:solidFill>
                  <a:srgbClr val="007020"/>
                </a:solidFill>
                <a:latin typeface="DejaVu Sans Mono"/>
              </a:rPr>
              <a:t>#include</a:t>
            </a:r>
            <a:r>
              <a:rPr b="0" lang="en-US" sz="1000" spc="-1" strike="noStrike">
                <a:solidFill>
                  <a:srgbClr val="bbbbbb"/>
                </a:solidFill>
                <a:latin typeface="DejaVu Sans Mono"/>
              </a:rPr>
              <a:t> </a:t>
            </a:r>
            <a:r>
              <a:rPr b="0" lang="en-US" sz="1000" spc="-1" strike="noStrike">
                <a:solidFill>
                  <a:srgbClr val="60a0b0"/>
                </a:solidFill>
                <a:latin typeface="DejaVu Sans Mono"/>
              </a:rPr>
              <a:t>&lt;pybind11/pybind11.h&gt;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07020"/>
                </a:solidFill>
                <a:latin typeface="DejaVu Sans Mono"/>
              </a:rPr>
              <a:t>#include</a:t>
            </a:r>
            <a:r>
              <a:rPr b="0" lang="en-US" sz="1000" spc="-1" strike="noStrike">
                <a:solidFill>
                  <a:srgbClr val="bbbbbb"/>
                </a:solidFill>
                <a:latin typeface="DejaVu Sans Mono"/>
              </a:rPr>
              <a:t> </a:t>
            </a:r>
            <a:r>
              <a:rPr b="0" lang="en-US" sz="1000" spc="-1" strike="noStrike">
                <a:solidFill>
                  <a:srgbClr val="60a0b0"/>
                </a:solidFill>
                <a:latin typeface="DejaVu Sans Mono"/>
              </a:rPr>
              <a:t>&lt;pybind11/numpy.h&gt;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07020"/>
                </a:solidFill>
                <a:latin typeface="DejaVu Sans Mono"/>
              </a:rPr>
              <a:t>#include</a:t>
            </a:r>
            <a:r>
              <a:rPr b="0" lang="en-US" sz="1000" spc="-1" strike="noStrike">
                <a:solidFill>
                  <a:srgbClr val="bbbbbb"/>
                </a:solidFill>
                <a:latin typeface="DejaVu Sans Mono"/>
              </a:rPr>
              <a:t> </a:t>
            </a:r>
            <a:r>
              <a:rPr b="0" lang="en-US" sz="1000" spc="-1" strike="noStrike">
                <a:solidFill>
                  <a:srgbClr val="60a0b0"/>
                </a:solidFill>
                <a:latin typeface="DejaVu Sans Mono"/>
              </a:rPr>
              <a:t>"kernel.hpp"</a:t>
            </a:r>
            <a:endParaRPr b="0" lang="en-US" sz="1000" spc="-1" strike="noStrike">
              <a:solidFill>
                <a:srgbClr val="000000"/>
              </a:solidFill>
              <a:latin typeface="Arial"/>
            </a:endParaRPr>
          </a:p>
          <a:p>
            <a:pPr>
              <a:lnSpc>
                <a:spcPct val="105000"/>
              </a:lnSpc>
              <a:tabLst>
                <a:tab algn="l" pos="0"/>
              </a:tabLst>
            </a:pPr>
            <a:r>
              <a:rPr b="1" lang="en-US" sz="1000" spc="-1" strike="noStrike">
                <a:solidFill>
                  <a:srgbClr val="007020"/>
                </a:solidFill>
                <a:latin typeface="DejaVu Sans Mono"/>
              </a:rPr>
              <a:t>namespace</a:t>
            </a:r>
            <a:r>
              <a:rPr b="0" lang="en-US" sz="1000" spc="-1" strike="noStrike">
                <a:solidFill>
                  <a:srgbClr val="bbbbbb"/>
                </a:solidFill>
                <a:latin typeface="DejaVu Sans Mono"/>
              </a:rPr>
              <a:t> </a:t>
            </a:r>
            <a:r>
              <a:rPr b="1" lang="en-US" sz="1000" spc="-1" strike="noStrike">
                <a:solidFill>
                  <a:srgbClr val="0e84b5"/>
                </a:solidFill>
                <a:latin typeface="DejaVu Sans Mono"/>
              </a:rPr>
              <a:t>py</a:t>
            </a:r>
            <a:r>
              <a:rPr b="0" lang="en-US" sz="1000" spc="-1" strike="noStrike">
                <a:solidFill>
                  <a:srgbClr val="bbbbbb"/>
                </a:solidFill>
                <a:latin typeface="DejaVu Sans Mono"/>
              </a:rPr>
              <a:t> </a:t>
            </a:r>
            <a:r>
              <a:rPr b="0" lang="en-US" sz="1000" spc="-1" strike="noStrike">
                <a:solidFill>
                  <a:srgbClr val="666666"/>
                </a:solidFill>
                <a:latin typeface="DejaVu Sans Mono"/>
              </a:rPr>
              <a:t>=</a:t>
            </a:r>
            <a:r>
              <a:rPr b="0" lang="en-US" sz="1000" spc="-1" strike="noStrike">
                <a:solidFill>
                  <a:srgbClr val="bbbbbb"/>
                </a:solidFill>
                <a:latin typeface="DejaVu Sans Mono"/>
              </a:rPr>
              <a:t> </a:t>
            </a:r>
            <a:r>
              <a:rPr b="1" lang="en-US" sz="1000" spc="-1" strike="noStrike">
                <a:solidFill>
                  <a:srgbClr val="0e84b5"/>
                </a:solidFill>
                <a:latin typeface="DejaVu Sans Mono"/>
              </a:rPr>
              <a:t>pybind11</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31424"/>
                </a:solidFill>
                <a:latin typeface="DejaVu Sans Mono"/>
              </a:rPr>
              <a:t>PYBIND11_MODULE(_native,</a:t>
            </a:r>
            <a:r>
              <a:rPr b="0" lang="en-US" sz="1000" spc="-1" strike="noStrike">
                <a:solidFill>
                  <a:srgbClr val="bbbbbb"/>
                </a:solidFill>
                <a:latin typeface="DejaVu Sans Mono"/>
              </a:rPr>
              <a:t> </a:t>
            </a:r>
            <a:r>
              <a:rPr b="0" lang="en-US" sz="1000" spc="-1" strike="noStrike">
                <a:solidFill>
                  <a:srgbClr val="031424"/>
                </a:solidFill>
                <a:latin typeface="DejaVu Sans Mono"/>
              </a:rPr>
              <a:t>m)</a:t>
            </a:r>
            <a:r>
              <a:rPr b="0" lang="en-US" sz="1000" spc="-1" strike="noStrike">
                <a:solidFill>
                  <a:srgbClr val="bbbbbb"/>
                </a:solidFill>
                <a:latin typeface="DejaVu Sans Mono"/>
              </a:rPr>
              <a:t> </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0" lang="en-US" sz="1000" spc="-1" strike="noStrike">
                <a:solidFill>
                  <a:srgbClr val="031424"/>
                </a:solidFill>
                <a:latin typeface="DejaVu Sans Mono"/>
              </a:rPr>
              <a:t>m.def(</a:t>
            </a:r>
            <a:r>
              <a:rPr b="0" lang="en-US" sz="1000" spc="-1" strike="noStrike">
                <a:solidFill>
                  <a:srgbClr val="4070a0"/>
                </a:solidFill>
                <a:latin typeface="DejaVu Sans Mono"/>
              </a:rPr>
              <a:t>"sum_sq"</a:t>
            </a:r>
            <a:r>
              <a:rPr b="0" lang="en-US" sz="1000" spc="-1" strike="noStrike">
                <a:solidFill>
                  <a:srgbClr val="031424"/>
                </a:solidFill>
                <a:latin typeface="DejaVu Sans Mono"/>
              </a:rPr>
              <a:t>,</a:t>
            </a:r>
            <a:r>
              <a:rPr b="0" lang="en-US" sz="1000" spc="-1" strike="noStrike">
                <a:solidFill>
                  <a:srgbClr val="bbbbbb"/>
                </a:solidFill>
                <a:latin typeface="DejaVu Sans Mono"/>
              </a:rPr>
              <a:t> </a:t>
            </a:r>
            <a:r>
              <a:rPr b="0" lang="en-US" sz="1000" spc="-1" strike="noStrike">
                <a:solidFill>
                  <a:srgbClr val="031424"/>
                </a:solidFill>
                <a:latin typeface="DejaVu Sans Mono"/>
              </a:rPr>
              <a:t>[](py</a:t>
            </a:r>
            <a:r>
              <a:rPr b="0" lang="en-US" sz="1000" spc="-1" strike="noStrike">
                <a:solidFill>
                  <a:srgbClr val="666666"/>
                </a:solidFill>
                <a:latin typeface="DejaVu Sans Mono"/>
              </a:rPr>
              <a:t>::</a:t>
            </a:r>
            <a:r>
              <a:rPr b="0" lang="en-US" sz="1000" spc="-1" strike="noStrike">
                <a:solidFill>
                  <a:srgbClr val="031424"/>
                </a:solidFill>
                <a:latin typeface="DejaVu Sans Mono"/>
              </a:rPr>
              <a:t>array_t</a:t>
            </a:r>
            <a:r>
              <a:rPr b="0" lang="en-US" sz="1000" spc="-1" strike="noStrike">
                <a:solidFill>
                  <a:srgbClr val="666666"/>
                </a:solidFill>
                <a:latin typeface="DejaVu Sans Mono"/>
              </a:rPr>
              <a:t>&lt;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0" lang="en-US" sz="1000" spc="-1" strike="noStrike">
                <a:solidFill>
                  <a:srgbClr val="902000"/>
                </a:solidFill>
                <a:latin typeface="DejaVu Sans Mono"/>
              </a:rPr>
              <a:t>double</a:t>
            </a:r>
            <a:r>
              <a:rPr b="0" lang="en-US" sz="1000" spc="-1" strike="noStrike">
                <a:solidFill>
                  <a:srgbClr val="031424"/>
                </a:solidFill>
                <a:latin typeface="DejaVu Sans Mono"/>
              </a:rPr>
              <a:t>,</a:t>
            </a:r>
            <a:r>
              <a:rPr b="0" lang="en-US" sz="1000" spc="-1" strike="noStrike">
                <a:solidFill>
                  <a:srgbClr val="bbbbbb"/>
                </a:solidFill>
                <a:latin typeface="DejaVu Sans Mono"/>
              </a:rPr>
              <a:t> </a:t>
            </a:r>
            <a:r>
              <a:rPr b="0" lang="en-US" sz="1000" spc="-1" strike="noStrike">
                <a:solidFill>
                  <a:srgbClr val="031424"/>
                </a:solidFill>
                <a:latin typeface="DejaVu Sans Mono"/>
              </a:rPr>
              <a:t>py</a:t>
            </a:r>
            <a:r>
              <a:rPr b="0" lang="en-US" sz="1000" spc="-1" strike="noStrike">
                <a:solidFill>
                  <a:srgbClr val="666666"/>
                </a:solidFill>
                <a:latin typeface="DejaVu Sans Mono"/>
              </a:rPr>
              <a:t>::</a:t>
            </a:r>
            <a:r>
              <a:rPr b="0" lang="en-US" sz="1000" spc="-1" strike="noStrike">
                <a:solidFill>
                  <a:srgbClr val="031424"/>
                </a:solidFill>
                <a:latin typeface="DejaVu Sans Mono"/>
              </a:rPr>
              <a:t>array</a:t>
            </a:r>
            <a:r>
              <a:rPr b="0" lang="en-US" sz="1000" spc="-1" strike="noStrike">
                <a:solidFill>
                  <a:srgbClr val="666666"/>
                </a:solidFill>
                <a:latin typeface="DejaVu Sans Mono"/>
              </a:rPr>
              <a:t>::</a:t>
            </a:r>
            <a:r>
              <a:rPr b="0" lang="en-US" sz="1000" spc="-1" strike="noStrike">
                <a:solidFill>
                  <a:srgbClr val="031424"/>
                </a:solidFill>
                <a:latin typeface="DejaVu Sans Mono"/>
              </a:rPr>
              <a:t>c_style</a:t>
            </a:r>
            <a:r>
              <a:rPr b="0" lang="en-US" sz="1000" spc="-1" strike="noStrike">
                <a:solidFill>
                  <a:srgbClr val="666666"/>
                </a:solidFill>
                <a:latin typeface="DejaVu Sans Mono"/>
              </a:rPr>
              <a:t>&gt;</a:t>
            </a:r>
            <a:r>
              <a:rPr b="0" lang="en-US" sz="1000" spc="-1" strike="noStrike">
                <a:solidFill>
                  <a:srgbClr val="bbbbbb"/>
                </a:solidFill>
                <a:latin typeface="DejaVu Sans Mono"/>
              </a:rPr>
              <a:t> </a:t>
            </a:r>
            <a:r>
              <a:rPr b="0" lang="en-US" sz="1000" spc="-1" strike="noStrike">
                <a:solidFill>
                  <a:srgbClr val="031424"/>
                </a:solidFill>
                <a:latin typeface="DejaVu Sans Mono"/>
              </a:rPr>
              <a:t>x)</a:t>
            </a:r>
            <a:r>
              <a:rPr b="0" lang="en-US" sz="1000" spc="-1" strike="noStrike">
                <a:solidFill>
                  <a:srgbClr val="bbbbbb"/>
                </a:solidFill>
                <a:latin typeface="DejaVu Sans Mono"/>
              </a:rPr>
              <a:t> </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1" lang="en-US" sz="1000" spc="-1" strike="noStrike">
                <a:solidFill>
                  <a:srgbClr val="007020"/>
                </a:solidFill>
                <a:latin typeface="DejaVu Sans Mono"/>
              </a:rPr>
              <a:t>return</a:t>
            </a:r>
            <a:r>
              <a:rPr b="0" lang="en-US" sz="1000" spc="-1" strike="noStrike">
                <a:solidFill>
                  <a:srgbClr val="bbbbbb"/>
                </a:solidFill>
                <a:latin typeface="DejaVu Sans Mono"/>
              </a:rPr>
              <a:t> </a:t>
            </a:r>
            <a:r>
              <a:rPr b="0" lang="en-US" sz="1000" spc="-1" strike="noStrike">
                <a:solidFill>
                  <a:srgbClr val="031424"/>
                </a:solidFill>
                <a:latin typeface="DejaVu Sans Mono"/>
              </a:rPr>
              <a:t>sum_sq(x.data(),</a:t>
            </a:r>
            <a:r>
              <a:rPr b="0" lang="en-US" sz="1000" spc="-1" strike="noStrike">
                <a:solidFill>
                  <a:srgbClr val="bbbbbb"/>
                </a:solidFill>
                <a:latin typeface="DejaVu Sans Mono"/>
              </a:rPr>
              <a:t> </a:t>
            </a:r>
            <a:r>
              <a:rPr b="0" lang="en-US" sz="1000" spc="-1" strike="noStrike">
                <a:solidFill>
                  <a:srgbClr val="031424"/>
                </a:solidFill>
                <a:latin typeface="DejaVu Sans Mono"/>
              </a:rPr>
              <a:t>x.size());</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bbbbbb"/>
                </a:solidFill>
                <a:latin typeface="DejaVu Sans Mono"/>
              </a:rPr>
              <a:t>  </a:t>
            </a: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31424"/>
                </a:solidFill>
                <a:latin typeface="DejaVu Sans Mono"/>
              </a:rPr>
              <a:t>}</a:t>
            </a:r>
            <a:endParaRPr b="0" lang="en-US" sz="1000" spc="-1" strike="noStrike">
              <a:solidFill>
                <a:srgbClr val="000000"/>
              </a:solidFill>
              <a:latin typeface="Arial"/>
            </a:endParaRPr>
          </a:p>
          <a:p>
            <a:pPr>
              <a:lnSpc>
                <a:spcPct val="105000"/>
              </a:lnSpc>
              <a:tabLst>
                <a:tab algn="l" pos="0"/>
              </a:tabLst>
            </a:pPr>
            <a:endParaRPr b="0" lang="en-US" sz="1000" spc="-1" strike="noStrike">
              <a:solidFill>
                <a:srgbClr val="000000"/>
              </a:solidFill>
              <a:latin typeface="Arial"/>
            </a:endParaRPr>
          </a:p>
        </p:txBody>
      </p:sp>
      <p:sp>
        <p:nvSpPr>
          <p:cNvPr id="102" name="Rounded Rectangle 115"/>
          <p:cNvSpPr/>
          <p:nvPr/>
        </p:nvSpPr>
        <p:spPr>
          <a:xfrm>
            <a:off x="4279320" y="3730680"/>
            <a:ext cx="3609720" cy="210096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03" name="TextBox 116"/>
          <p:cNvSpPr/>
          <p:nvPr/>
        </p:nvSpPr>
        <p:spPr>
          <a:xfrm>
            <a:off x="4389120" y="3785760"/>
            <a:ext cx="339012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api.py  (optional convenience)</a:t>
            </a:r>
            <a:endParaRPr b="0" lang="en-US" sz="1500" spc="-1" strike="noStrike">
              <a:solidFill>
                <a:srgbClr val="000000"/>
              </a:solidFill>
              <a:latin typeface="Arial"/>
            </a:endParaRPr>
          </a:p>
        </p:txBody>
      </p:sp>
      <p:sp>
        <p:nvSpPr>
          <p:cNvPr id="104" name="TextBox 117"/>
          <p:cNvSpPr/>
          <p:nvPr/>
        </p:nvSpPr>
        <p:spPr>
          <a:xfrm>
            <a:off x="4566960" y="4169520"/>
            <a:ext cx="3034800" cy="13712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1" lang="en-US" sz="1000" spc="-1" strike="noStrike">
                <a:solidFill>
                  <a:srgbClr val="007020"/>
                </a:solidFill>
                <a:latin typeface="DejaVu Sans Mono"/>
              </a:rPr>
              <a:t>import</a:t>
            </a:r>
            <a:r>
              <a:rPr b="0" lang="en-US" sz="1000" spc="-1" strike="noStrike">
                <a:solidFill>
                  <a:srgbClr val="031424"/>
                </a:solidFill>
                <a:latin typeface="DejaVu Sans Mono"/>
              </a:rPr>
              <a:t> </a:t>
            </a:r>
            <a:r>
              <a:rPr b="1" lang="en-US" sz="1000" spc="-1" strike="noStrike">
                <a:solidFill>
                  <a:srgbClr val="0e84b5"/>
                </a:solidFill>
                <a:latin typeface="DejaVu Sans Mono"/>
              </a:rPr>
              <a:t>numpy</a:t>
            </a:r>
            <a:r>
              <a:rPr b="0" lang="en-US" sz="1000" spc="-1" strike="noStrike">
                <a:solidFill>
                  <a:srgbClr val="031424"/>
                </a:solidFill>
                <a:latin typeface="DejaVu Sans Mono"/>
              </a:rPr>
              <a:t> </a:t>
            </a:r>
            <a:r>
              <a:rPr b="1" lang="en-US" sz="1000" spc="-1" strike="noStrike">
                <a:solidFill>
                  <a:srgbClr val="007020"/>
                </a:solidFill>
                <a:latin typeface="DejaVu Sans Mono"/>
              </a:rPr>
              <a:t>as</a:t>
            </a:r>
            <a:r>
              <a:rPr b="0" lang="en-US" sz="1000" spc="-1" strike="noStrike">
                <a:solidFill>
                  <a:srgbClr val="031424"/>
                </a:solidFill>
                <a:latin typeface="DejaVu Sans Mono"/>
              </a:rPr>
              <a:t> </a:t>
            </a:r>
            <a:r>
              <a:rPr b="1" lang="en-US" sz="1000" spc="-1" strike="noStrike">
                <a:solidFill>
                  <a:srgbClr val="0e84b5"/>
                </a:solidFill>
                <a:latin typeface="DejaVu Sans Mono"/>
              </a:rPr>
              <a:t>np</a:t>
            </a:r>
            <a:endParaRPr b="0" lang="en-US" sz="1000" spc="-1" strike="noStrike">
              <a:solidFill>
                <a:srgbClr val="000000"/>
              </a:solidFill>
              <a:latin typeface="Arial"/>
            </a:endParaRPr>
          </a:p>
          <a:p>
            <a:pPr>
              <a:lnSpc>
                <a:spcPct val="105000"/>
              </a:lnSpc>
              <a:tabLst>
                <a:tab algn="l" pos="0"/>
              </a:tabLst>
            </a:pPr>
            <a:r>
              <a:rPr b="1" lang="en-US" sz="1000" spc="-1" strike="noStrike">
                <a:solidFill>
                  <a:srgbClr val="007020"/>
                </a:solidFill>
                <a:latin typeface="DejaVu Sans Mono"/>
              </a:rPr>
              <a:t>from</a:t>
            </a:r>
            <a:r>
              <a:rPr b="0" lang="en-US" sz="1000" spc="-1" strike="noStrike">
                <a:solidFill>
                  <a:srgbClr val="031424"/>
                </a:solidFill>
                <a:latin typeface="DejaVu Sans Mono"/>
              </a:rPr>
              <a:t> </a:t>
            </a:r>
            <a:r>
              <a:rPr b="1" lang="en-US" sz="1000" spc="-1" strike="noStrike">
                <a:solidFill>
                  <a:srgbClr val="0e84b5"/>
                </a:solidFill>
                <a:latin typeface="DejaVu Sans Mono"/>
              </a:rPr>
              <a:t>_native</a:t>
            </a:r>
            <a:r>
              <a:rPr b="0" lang="en-US" sz="1000" spc="-1" strike="noStrike">
                <a:solidFill>
                  <a:srgbClr val="031424"/>
                </a:solidFill>
                <a:latin typeface="DejaVu Sans Mono"/>
              </a:rPr>
              <a:t> </a:t>
            </a:r>
            <a:r>
              <a:rPr b="1" lang="en-US" sz="1000" spc="-1" strike="noStrike">
                <a:solidFill>
                  <a:srgbClr val="007020"/>
                </a:solidFill>
                <a:latin typeface="DejaVu Sans Mono"/>
              </a:rPr>
              <a:t>import</a:t>
            </a:r>
            <a:r>
              <a:rPr b="0" lang="en-US" sz="1000" spc="-1" strike="noStrike">
                <a:solidFill>
                  <a:srgbClr val="031424"/>
                </a:solidFill>
                <a:latin typeface="DejaVu Sans Mono"/>
              </a:rPr>
              <a:t> sum_sq </a:t>
            </a:r>
            <a:r>
              <a:rPr b="1" lang="en-US" sz="1000" spc="-1" strike="noStrike">
                <a:solidFill>
                  <a:srgbClr val="007020"/>
                </a:solidFill>
                <a:latin typeface="DejaVu Sans Mono"/>
              </a:rPr>
              <a:t>as</a:t>
            </a:r>
            <a:r>
              <a:rPr b="0" lang="en-US" sz="1000" spc="-1" strike="noStrike">
                <a:solidFill>
                  <a:srgbClr val="031424"/>
                </a:solidFill>
                <a:latin typeface="DejaVu Sans Mono"/>
              </a:rPr>
              <a:t> native_sum</a:t>
            </a:r>
            <a:endParaRPr b="0" lang="en-US" sz="1000" spc="-1" strike="noStrike">
              <a:solidFill>
                <a:srgbClr val="000000"/>
              </a:solidFill>
              <a:latin typeface="Arial"/>
            </a:endParaRPr>
          </a:p>
          <a:p>
            <a:pPr>
              <a:lnSpc>
                <a:spcPct val="105000"/>
              </a:lnSpc>
              <a:tabLst>
                <a:tab algn="l" pos="0"/>
              </a:tabLst>
            </a:pPr>
            <a:endParaRPr b="0" lang="en-US" sz="1000" spc="-1" strike="noStrike">
              <a:solidFill>
                <a:srgbClr val="000000"/>
              </a:solidFill>
              <a:latin typeface="Arial"/>
            </a:endParaRPr>
          </a:p>
          <a:p>
            <a:pPr>
              <a:lnSpc>
                <a:spcPct val="105000"/>
              </a:lnSpc>
              <a:tabLst>
                <a:tab algn="l" pos="0"/>
              </a:tabLst>
            </a:pPr>
            <a:r>
              <a:rPr b="1" lang="en-US" sz="1000" spc="-1" strike="noStrike">
                <a:solidFill>
                  <a:srgbClr val="007020"/>
                </a:solidFill>
                <a:latin typeface="DejaVu Sans Mono"/>
              </a:rPr>
              <a:t>def</a:t>
            </a:r>
            <a:r>
              <a:rPr b="0" lang="en-US" sz="1000" spc="-1" strike="noStrike">
                <a:solidFill>
                  <a:srgbClr val="031424"/>
                </a:solidFill>
                <a:latin typeface="DejaVu Sans Mono"/>
              </a:rPr>
              <a:t> </a:t>
            </a:r>
            <a:r>
              <a:rPr b="0" lang="en-US" sz="1000" spc="-1" strike="noStrike">
                <a:solidFill>
                  <a:srgbClr val="06287e"/>
                </a:solidFill>
                <a:latin typeface="DejaVu Sans Mono"/>
              </a:rPr>
              <a:t>sum_sq</a:t>
            </a:r>
            <a:r>
              <a:rPr b="0" lang="en-US" sz="1000" spc="-1" strike="noStrike">
                <a:solidFill>
                  <a:srgbClr val="031424"/>
                </a:solidFill>
                <a:latin typeface="DejaVu Sans Mono"/>
              </a:rPr>
              <a:t>(values):</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31424"/>
                </a:solidFill>
                <a:latin typeface="DejaVu Sans Mono"/>
              </a:rPr>
              <a:t>    </a:t>
            </a:r>
            <a:r>
              <a:rPr b="0" lang="en-US" sz="1000" spc="-1" strike="noStrike">
                <a:solidFill>
                  <a:srgbClr val="031424"/>
                </a:solidFill>
                <a:latin typeface="DejaVu Sans Mono"/>
              </a:rPr>
              <a:t>x </a:t>
            </a:r>
            <a:r>
              <a:rPr b="0" lang="en-US" sz="1000" spc="-1" strike="noStrike">
                <a:solidFill>
                  <a:srgbClr val="666666"/>
                </a:solidFill>
                <a:latin typeface="DejaVu Sans Mono"/>
              </a:rPr>
              <a:t>=</a:t>
            </a:r>
            <a:r>
              <a:rPr b="0" lang="en-US" sz="1000" spc="-1" strike="noStrike">
                <a:solidFill>
                  <a:srgbClr val="031424"/>
                </a:solidFill>
                <a:latin typeface="DejaVu Sans Mono"/>
              </a:rPr>
              <a:t> np</a:t>
            </a:r>
            <a:r>
              <a:rPr b="0" lang="en-US" sz="1000" spc="-1" strike="noStrike">
                <a:solidFill>
                  <a:srgbClr val="666666"/>
                </a:solidFill>
                <a:latin typeface="DejaVu Sans Mono"/>
              </a:rPr>
              <a:t>.</a:t>
            </a:r>
            <a:r>
              <a:rPr b="0" lang="en-US" sz="1000" spc="-1" strike="noStrike">
                <a:solidFill>
                  <a:srgbClr val="031424"/>
                </a:solidFill>
                <a:latin typeface="DejaVu Sans Mono"/>
              </a:rPr>
              <a:t>ascontiguousarray(</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31424"/>
                </a:solidFill>
                <a:latin typeface="DejaVu Sans Mono"/>
              </a:rPr>
              <a:t>        </a:t>
            </a:r>
            <a:r>
              <a:rPr b="0" lang="en-US" sz="1000" spc="-1" strike="noStrike">
                <a:solidFill>
                  <a:srgbClr val="031424"/>
                </a:solidFill>
                <a:latin typeface="DejaVu Sans Mono"/>
              </a:rPr>
              <a:t>values, dtype</a:t>
            </a:r>
            <a:r>
              <a:rPr b="0" lang="en-US" sz="1000" spc="-1" strike="noStrike">
                <a:solidFill>
                  <a:srgbClr val="666666"/>
                </a:solidFill>
                <a:latin typeface="DejaVu Sans Mono"/>
              </a:rPr>
              <a:t>=</a:t>
            </a:r>
            <a:r>
              <a:rPr b="0" lang="en-US" sz="1000" spc="-1" strike="noStrike">
                <a:solidFill>
                  <a:srgbClr val="031424"/>
                </a:solidFill>
                <a:latin typeface="DejaVu Sans Mono"/>
              </a:rPr>
              <a:t>np</a:t>
            </a:r>
            <a:r>
              <a:rPr b="0" lang="en-US" sz="1000" spc="-1" strike="noStrike">
                <a:solidFill>
                  <a:srgbClr val="666666"/>
                </a:solidFill>
                <a:latin typeface="DejaVu Sans Mono"/>
              </a:rPr>
              <a:t>.</a:t>
            </a:r>
            <a:r>
              <a:rPr b="0" lang="en-US" sz="1000" spc="-1" strike="noStrike">
                <a:solidFill>
                  <a:srgbClr val="031424"/>
                </a:solidFill>
                <a:latin typeface="DejaVu Sans Mono"/>
              </a:rPr>
              <a:t>float64)</a:t>
            </a:r>
            <a:endParaRPr b="0" lang="en-US" sz="1000" spc="-1" strike="noStrike">
              <a:solidFill>
                <a:srgbClr val="000000"/>
              </a:solidFill>
              <a:latin typeface="Arial"/>
            </a:endParaRPr>
          </a:p>
          <a:p>
            <a:pPr>
              <a:lnSpc>
                <a:spcPct val="105000"/>
              </a:lnSpc>
              <a:tabLst>
                <a:tab algn="l" pos="0"/>
              </a:tabLst>
            </a:pPr>
            <a:r>
              <a:rPr b="0" lang="en-US" sz="1000" spc="-1" strike="noStrike">
                <a:solidFill>
                  <a:srgbClr val="031424"/>
                </a:solidFill>
                <a:latin typeface="DejaVu Sans Mono"/>
              </a:rPr>
              <a:t>    </a:t>
            </a:r>
            <a:r>
              <a:rPr b="1" lang="en-US" sz="1000" spc="-1" strike="noStrike">
                <a:solidFill>
                  <a:srgbClr val="007020"/>
                </a:solidFill>
                <a:latin typeface="DejaVu Sans Mono"/>
              </a:rPr>
              <a:t>return</a:t>
            </a:r>
            <a:r>
              <a:rPr b="0" lang="en-US" sz="1000" spc="-1" strike="noStrike">
                <a:solidFill>
                  <a:srgbClr val="031424"/>
                </a:solidFill>
                <a:latin typeface="DejaVu Sans Mono"/>
              </a:rPr>
              <a:t> native_sum(x)</a:t>
            </a:r>
            <a:endParaRPr b="0" lang="en-US" sz="1000" spc="-1" strike="noStrike">
              <a:solidFill>
                <a:srgbClr val="000000"/>
              </a:solidFill>
              <a:latin typeface="Arial"/>
            </a:endParaRPr>
          </a:p>
          <a:p>
            <a:pPr>
              <a:lnSpc>
                <a:spcPct val="105000"/>
              </a:lnSpc>
              <a:tabLst>
                <a:tab algn="l" pos="0"/>
              </a:tabLst>
            </a:pPr>
            <a:endParaRPr b="0" lang="en-US" sz="1000" spc="-1" strike="noStrike">
              <a:solidFill>
                <a:srgbClr val="000000"/>
              </a:solidFill>
              <a:latin typeface="Arial"/>
            </a:endParaRPr>
          </a:p>
        </p:txBody>
      </p:sp>
      <p:sp>
        <p:nvSpPr>
          <p:cNvPr id="105" name="Rounded Rectangle 118"/>
          <p:cNvSpPr/>
          <p:nvPr/>
        </p:nvSpPr>
        <p:spPr>
          <a:xfrm>
            <a:off x="8010000" y="3730680"/>
            <a:ext cx="3655440" cy="210096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06" name="TextBox 119"/>
          <p:cNvSpPr/>
          <p:nvPr/>
        </p:nvSpPr>
        <p:spPr>
          <a:xfrm>
            <a:off x="8119800" y="3785760"/>
            <a:ext cx="343584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demo.py</a:t>
            </a:r>
            <a:endParaRPr b="0" lang="en-US" sz="1500" spc="-1" strike="noStrike">
              <a:solidFill>
                <a:srgbClr val="000000"/>
              </a:solidFill>
              <a:latin typeface="Arial"/>
            </a:endParaRPr>
          </a:p>
        </p:txBody>
      </p:sp>
      <p:sp>
        <p:nvSpPr>
          <p:cNvPr id="107" name="TextBox 120"/>
          <p:cNvSpPr/>
          <p:nvPr/>
        </p:nvSpPr>
        <p:spPr>
          <a:xfrm>
            <a:off x="8602200" y="4169520"/>
            <a:ext cx="2471400" cy="124092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1" lang="en-US" sz="1200" spc="-1" strike="noStrike">
                <a:solidFill>
                  <a:srgbClr val="007020"/>
                </a:solidFill>
                <a:latin typeface="DejaVu Sans Mono"/>
              </a:rPr>
              <a:t>from</a:t>
            </a:r>
            <a:r>
              <a:rPr b="0" lang="en-US" sz="1200" spc="-1" strike="noStrike">
                <a:solidFill>
                  <a:srgbClr val="031424"/>
                </a:solidFill>
                <a:latin typeface="DejaVu Sans Mono"/>
              </a:rPr>
              <a:t> </a:t>
            </a:r>
            <a:r>
              <a:rPr b="1" lang="en-US" sz="1200" spc="-1" strike="noStrike">
                <a:solidFill>
                  <a:srgbClr val="0e84b5"/>
                </a:solidFill>
                <a:latin typeface="DejaVu Sans Mono"/>
              </a:rPr>
              <a:t>api</a:t>
            </a:r>
            <a:r>
              <a:rPr b="0" lang="en-US" sz="1200" spc="-1" strike="noStrike">
                <a:solidFill>
                  <a:srgbClr val="031424"/>
                </a:solidFill>
                <a:latin typeface="DejaVu Sans Mono"/>
              </a:rPr>
              <a:t> </a:t>
            </a:r>
            <a:r>
              <a:rPr b="1" lang="en-US" sz="1200" spc="-1" strike="noStrike">
                <a:solidFill>
                  <a:srgbClr val="007020"/>
                </a:solidFill>
                <a:latin typeface="DejaVu Sans Mono"/>
              </a:rPr>
              <a:t>import</a:t>
            </a:r>
            <a:r>
              <a:rPr b="0" lang="en-US" sz="1200" spc="-1" strike="noStrike">
                <a:solidFill>
                  <a:srgbClr val="031424"/>
                </a:solidFill>
                <a:latin typeface="DejaVu Sans Mono"/>
              </a:rPr>
              <a:t> sum_sq</a:t>
            </a:r>
            <a:endParaRPr b="0" lang="en-US" sz="1200" spc="-1" strike="noStrike">
              <a:solidFill>
                <a:srgbClr val="000000"/>
              </a:solidFill>
              <a:latin typeface="Arial"/>
            </a:endParaRPr>
          </a:p>
          <a:p>
            <a:pPr>
              <a:lnSpc>
                <a:spcPct val="105000"/>
              </a:lnSpc>
              <a:tabLst>
                <a:tab algn="l" pos="0"/>
              </a:tabLst>
            </a:pPr>
            <a:endParaRPr b="0" lang="en-US" sz="1200" spc="-1" strike="noStrike">
              <a:solidFill>
                <a:srgbClr val="000000"/>
              </a:solidFill>
              <a:latin typeface="Arial"/>
            </a:endParaRPr>
          </a:p>
          <a:p>
            <a:pPr>
              <a:lnSpc>
                <a:spcPct val="105000"/>
              </a:lnSpc>
              <a:tabLst>
                <a:tab algn="l" pos="0"/>
              </a:tabLst>
            </a:pPr>
            <a:r>
              <a:rPr b="0" lang="en-US" sz="1200" spc="-1" strike="noStrike">
                <a:solidFill>
                  <a:srgbClr val="007020"/>
                </a:solidFill>
                <a:latin typeface="DejaVu Sans Mono"/>
              </a:rPr>
              <a:t>print</a:t>
            </a:r>
            <a:r>
              <a:rPr b="0" lang="en-US" sz="1200" spc="-1" strike="noStrike">
                <a:solidFill>
                  <a:srgbClr val="031424"/>
                </a:solidFill>
                <a:latin typeface="DejaVu Sans Mono"/>
              </a:rPr>
              <a:t>(sum_sq([</a:t>
            </a:r>
            <a:r>
              <a:rPr b="0" lang="en-US" sz="1200" spc="-1" strike="noStrike">
                <a:solidFill>
                  <a:srgbClr val="40a070"/>
                </a:solidFill>
                <a:latin typeface="DejaVu Sans Mono"/>
              </a:rPr>
              <a:t>1.</a:t>
            </a:r>
            <a:r>
              <a:rPr b="0" lang="en-US" sz="1200" spc="-1" strike="noStrike">
                <a:solidFill>
                  <a:srgbClr val="031424"/>
                </a:solidFill>
                <a:latin typeface="DejaVu Sans Mono"/>
              </a:rPr>
              <a:t>, </a:t>
            </a:r>
            <a:r>
              <a:rPr b="0" lang="en-US" sz="1200" spc="-1" strike="noStrike">
                <a:solidFill>
                  <a:srgbClr val="40a070"/>
                </a:solidFill>
                <a:latin typeface="DejaVu Sans Mono"/>
              </a:rPr>
              <a:t>2.</a:t>
            </a:r>
            <a:r>
              <a:rPr b="0" lang="en-US" sz="1200" spc="-1" strike="noStrike">
                <a:solidFill>
                  <a:srgbClr val="031424"/>
                </a:solidFill>
                <a:latin typeface="DejaVu Sans Mono"/>
              </a:rPr>
              <a:t>, </a:t>
            </a:r>
            <a:r>
              <a:rPr b="0" lang="en-US" sz="1200" spc="-1" strike="noStrike">
                <a:solidFill>
                  <a:srgbClr val="40a070"/>
                </a:solidFill>
                <a:latin typeface="DejaVu Sans Mono"/>
              </a:rPr>
              <a:t>3.</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5000"/>
              </a:lnSpc>
              <a:tabLst>
                <a:tab algn="l" pos="0"/>
              </a:tabLst>
            </a:pPr>
            <a:endParaRPr b="0" lang="en-US" sz="1200" spc="-1" strike="noStrike">
              <a:solidFill>
                <a:srgbClr val="000000"/>
              </a:solidFill>
              <a:latin typeface="Arial"/>
            </a:endParaRPr>
          </a:p>
          <a:p>
            <a:pPr>
              <a:lnSpc>
                <a:spcPct val="105000"/>
              </a:lnSpc>
              <a:tabLst>
                <a:tab algn="l" pos="0"/>
              </a:tabLst>
            </a:pPr>
            <a:r>
              <a:rPr b="0" lang="en-US" sz="1200" spc="-1" strike="noStrike">
                <a:solidFill>
                  <a:srgbClr val="60a0b0"/>
                </a:solidFill>
                <a:latin typeface="DejaVu Sans Mono"/>
              </a:rPr>
              <a:t># 14.0</a:t>
            </a:r>
            <a:endParaRPr b="0" lang="en-US" sz="1200" spc="-1" strike="noStrike">
              <a:solidFill>
                <a:srgbClr val="000000"/>
              </a:solidFill>
              <a:latin typeface="Arial"/>
            </a:endParaRPr>
          </a:p>
          <a:p>
            <a:pPr>
              <a:lnSpc>
                <a:spcPct val="105000"/>
              </a:lnSpc>
              <a:tabLst>
                <a:tab algn="l" pos="0"/>
              </a:tabLst>
            </a:pPr>
            <a:endParaRPr b="0" lang="en-US" sz="1200" spc="-1" strike="noStrike">
              <a:solidFill>
                <a:srgbClr val="000000"/>
              </a:solidFill>
              <a:latin typeface="Arial"/>
            </a:endParaRPr>
          </a:p>
        </p:txBody>
      </p:sp>
      <p:sp>
        <p:nvSpPr>
          <p:cNvPr id="108" name="TextBox 121"/>
          <p:cNvSpPr/>
          <p:nvPr/>
        </p:nvSpPr>
        <p:spPr>
          <a:xfrm>
            <a:off x="3999960" y="6016680"/>
            <a:ext cx="4159440" cy="71388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0" lang="en-US" sz="1300" spc="-1" strike="noStrike">
                <a:solidFill>
                  <a:srgbClr val="031424"/>
                </a:solidFill>
                <a:latin typeface="DejaVu Sans Mono"/>
              </a:rPr>
              <a:t>cmake </a:t>
            </a:r>
            <a:r>
              <a:rPr b="0" lang="en-US" sz="1300" spc="-1" strike="noStrike">
                <a:solidFill>
                  <a:srgbClr val="666666"/>
                </a:solidFill>
                <a:latin typeface="DejaVu Sans Mono"/>
              </a:rPr>
              <a:t>-</a:t>
            </a:r>
            <a:r>
              <a:rPr b="0" lang="en-US" sz="1300" spc="-1" strike="noStrike">
                <a:solidFill>
                  <a:srgbClr val="031424"/>
                </a:solidFill>
                <a:latin typeface="DejaVu Sans Mono"/>
              </a:rPr>
              <a:t>S </a:t>
            </a:r>
            <a:r>
              <a:rPr b="0" lang="en-US" sz="1300" spc="-1" strike="noStrike">
                <a:solidFill>
                  <a:srgbClr val="666666"/>
                </a:solidFill>
                <a:latin typeface="DejaVu Sans Mono"/>
              </a:rPr>
              <a:t>.</a:t>
            </a:r>
            <a:r>
              <a:rPr b="0" lang="en-US" sz="1300" spc="-1" strike="noStrike">
                <a:solidFill>
                  <a:srgbClr val="031424"/>
                </a:solidFill>
                <a:latin typeface="DejaVu Sans Mono"/>
              </a:rPr>
              <a:t> </a:t>
            </a:r>
            <a:r>
              <a:rPr b="0" lang="en-US" sz="1300" spc="-1" strike="noStrike">
                <a:solidFill>
                  <a:srgbClr val="666666"/>
                </a:solidFill>
                <a:latin typeface="DejaVu Sans Mono"/>
              </a:rPr>
              <a:t>-</a:t>
            </a:r>
            <a:r>
              <a:rPr b="0" lang="en-US" sz="1300" spc="-1" strike="noStrike">
                <a:solidFill>
                  <a:srgbClr val="031424"/>
                </a:solidFill>
                <a:latin typeface="DejaVu Sans Mono"/>
              </a:rPr>
              <a:t>B build </a:t>
            </a:r>
            <a:r>
              <a:rPr b="0" lang="en-US" sz="1300" spc="-1" strike="noStrike">
                <a:solidFill>
                  <a:srgbClr val="666666"/>
                </a:solidFill>
                <a:latin typeface="DejaVu Sans Mono"/>
              </a:rPr>
              <a:t>&amp;&amp;</a:t>
            </a:r>
            <a:r>
              <a:rPr b="0" lang="en-US" sz="1300" spc="-1" strike="noStrike">
                <a:solidFill>
                  <a:srgbClr val="031424"/>
                </a:solidFill>
                <a:latin typeface="DejaVu Sans Mono"/>
              </a:rPr>
              <a:t> cmake </a:t>
            </a:r>
            <a:r>
              <a:rPr b="0" lang="en-US" sz="1300" spc="-1" strike="noStrike">
                <a:solidFill>
                  <a:srgbClr val="666666"/>
                </a:solidFill>
                <a:latin typeface="DejaVu Sans Mono"/>
              </a:rPr>
              <a:t>--</a:t>
            </a:r>
            <a:r>
              <a:rPr b="0" lang="en-US" sz="1300" spc="-1" strike="noStrike">
                <a:solidFill>
                  <a:srgbClr val="031424"/>
                </a:solidFill>
                <a:latin typeface="DejaVu Sans Mono"/>
              </a:rPr>
              <a:t>build build</a:t>
            </a:r>
            <a:endParaRPr b="0" lang="en-US" sz="1300" spc="-1" strike="noStrike">
              <a:solidFill>
                <a:srgbClr val="000000"/>
              </a:solidFill>
              <a:latin typeface="Arial"/>
            </a:endParaRPr>
          </a:p>
          <a:p>
            <a:pPr>
              <a:lnSpc>
                <a:spcPct val="105000"/>
              </a:lnSpc>
              <a:tabLst>
                <a:tab algn="l" pos="0"/>
              </a:tabLst>
            </a:pPr>
            <a:r>
              <a:rPr b="0" lang="en-US" sz="1300" spc="-1" strike="noStrike">
                <a:solidFill>
                  <a:srgbClr val="031424"/>
                </a:solidFill>
                <a:latin typeface="DejaVu Sans Mono"/>
              </a:rPr>
              <a:t>PYTHONPATH</a:t>
            </a:r>
            <a:r>
              <a:rPr b="0" lang="en-US" sz="1300" spc="-1" strike="noStrike">
                <a:solidFill>
                  <a:srgbClr val="666666"/>
                </a:solidFill>
                <a:latin typeface="DejaVu Sans Mono"/>
              </a:rPr>
              <a:t>=</a:t>
            </a:r>
            <a:r>
              <a:rPr b="0" lang="en-US" sz="1300" spc="-1" strike="noStrike">
                <a:solidFill>
                  <a:srgbClr val="031424"/>
                </a:solidFill>
                <a:latin typeface="DejaVu Sans Mono"/>
              </a:rPr>
              <a:t>build python demo</a:t>
            </a:r>
            <a:r>
              <a:rPr b="0" lang="en-US" sz="1300" spc="-1" strike="noStrike">
                <a:solidFill>
                  <a:srgbClr val="666666"/>
                </a:solidFill>
                <a:latin typeface="DejaVu Sans Mono"/>
              </a:rPr>
              <a:t>.</a:t>
            </a:r>
            <a:r>
              <a:rPr b="0" lang="en-US" sz="1300" spc="-1" strike="noStrike">
                <a:solidFill>
                  <a:srgbClr val="031424"/>
                </a:solidFill>
                <a:latin typeface="DejaVu Sans Mono"/>
              </a:rPr>
              <a:t>py</a:t>
            </a:r>
            <a:endParaRPr b="0" lang="en-US" sz="1300" spc="-1" strike="noStrike">
              <a:solidFill>
                <a:srgbClr val="000000"/>
              </a:solidFill>
              <a:latin typeface="Arial"/>
            </a:endParaRPr>
          </a:p>
          <a:p>
            <a:pPr>
              <a:lnSpc>
                <a:spcPct val="105000"/>
              </a:lnSpc>
              <a:tabLst>
                <a:tab algn="l" pos="0"/>
              </a:tabLst>
            </a:pP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9" name="Picture 5" descr=""/>
          <p:cNvPicPr/>
          <p:nvPr/>
        </p:nvPicPr>
        <p:blipFill>
          <a:blip r:embed="rId1"/>
          <a:stretch/>
        </p:blipFill>
        <p:spPr>
          <a:xfrm>
            <a:off x="11547720" y="6235560"/>
            <a:ext cx="524160" cy="524160"/>
          </a:xfrm>
          <a:prstGeom prst="rect">
            <a:avLst/>
          </a:prstGeom>
          <a:ln w="0">
            <a:noFill/>
          </a:ln>
        </p:spPr>
      </p:pic>
      <p:cxnSp>
        <p:nvCxnSpPr>
          <p:cNvPr id="110" name="Straight Connector 7"/>
          <p:cNvCxnSpPr/>
          <p:nvPr/>
        </p:nvCxnSpPr>
        <p:spPr>
          <a:xfrm flipV="1">
            <a:off x="6095880" y="0"/>
            <a:ext cx="2520" cy="5812920"/>
          </a:xfrm>
          <a:prstGeom prst="straightConnector1">
            <a:avLst/>
          </a:prstGeom>
          <a:ln w="38100">
            <a:solidFill>
              <a:srgbClr val="031424"/>
            </a:solidFill>
            <a:round/>
          </a:ln>
        </p:spPr>
      </p:cxnSp>
      <p:cxnSp>
        <p:nvCxnSpPr>
          <p:cNvPr id="111" name="Straight Connector 9"/>
          <p:cNvCxnSpPr/>
          <p:nvPr/>
        </p:nvCxnSpPr>
        <p:spPr>
          <a:xfrm flipV="1">
            <a:off x="5970600" y="1047240"/>
            <a:ext cx="2520" cy="5813280"/>
          </a:xfrm>
          <a:prstGeom prst="straightConnector1">
            <a:avLst/>
          </a:prstGeom>
          <a:ln w="38100">
            <a:solidFill>
              <a:srgbClr val="fed021"/>
            </a:solidFill>
            <a:round/>
          </a:ln>
        </p:spPr>
      </p:cxnSp>
      <p:sp>
        <p:nvSpPr>
          <p:cNvPr id="112" name="TextBox 117"/>
          <p:cNvSpPr/>
          <p:nvPr/>
        </p:nvSpPr>
        <p:spPr>
          <a:xfrm>
            <a:off x="457200" y="365760"/>
            <a:ext cx="5392800" cy="485640"/>
          </a:xfrm>
          <a:prstGeom prst="rect">
            <a:avLst/>
          </a:prstGeom>
          <a:noFill/>
          <a:ln w="0">
            <a:noFill/>
          </a:ln>
        </p:spPr>
        <p:style>
          <a:lnRef idx="0"/>
          <a:fillRef idx="0"/>
          <a:effectRef idx="0"/>
          <a:fontRef idx="minor"/>
        </p:style>
        <p:txBody>
          <a:bodyPr lIns="0" rIns="0" tIns="45000" bIns="45000" anchor="t">
            <a:spAutoFit/>
          </a:bodyPr>
          <a:p>
            <a:pPr>
              <a:lnSpc>
                <a:spcPct val="100000"/>
              </a:lnSpc>
            </a:pPr>
            <a:r>
              <a:rPr b="1" lang="en-US" sz="2600" spc="-1" strike="noStrike">
                <a:solidFill>
                  <a:srgbClr val="031424"/>
                </a:solidFill>
                <a:latin typeface="Roboto"/>
              </a:rPr>
              <a:t>Plain cppyy</a:t>
            </a:r>
            <a:endParaRPr b="0" lang="en-US" sz="2600" spc="-1" strike="noStrike">
              <a:solidFill>
                <a:srgbClr val="000000"/>
              </a:solidFill>
              <a:latin typeface="Arial"/>
            </a:endParaRPr>
          </a:p>
        </p:txBody>
      </p:sp>
      <p:sp>
        <p:nvSpPr>
          <p:cNvPr id="113" name="TextBox 118"/>
          <p:cNvSpPr/>
          <p:nvPr/>
        </p:nvSpPr>
        <p:spPr>
          <a:xfrm>
            <a:off x="457200" y="914400"/>
            <a:ext cx="5392800" cy="333360"/>
          </a:xfrm>
          <a:prstGeom prst="rect">
            <a:avLst/>
          </a:prstGeom>
          <a:noFill/>
          <a:ln w="0">
            <a:noFill/>
          </a:ln>
        </p:spPr>
        <p:style>
          <a:lnRef idx="0"/>
          <a:fillRef idx="0"/>
          <a:effectRef idx="0"/>
          <a:fontRef idx="minor"/>
        </p:style>
        <p:txBody>
          <a:bodyPr lIns="0" rIns="0" tIns="45000" bIns="45000" anchor="t">
            <a:spAutoFit/>
          </a:bodyPr>
          <a:p>
            <a:pPr>
              <a:lnSpc>
                <a:spcPct val="100000"/>
              </a:lnSpc>
            </a:pPr>
            <a:r>
              <a:rPr b="0" lang="en-US" sz="1600" spc="-1" strike="noStrike">
                <a:solidFill>
                  <a:srgbClr val="031424"/>
                </a:solidFill>
                <a:latin typeface="Roboto"/>
              </a:rPr>
              <a:t>Declare C++, then call through cppyy.gbl.</a:t>
            </a:r>
            <a:endParaRPr b="0" lang="en-US" sz="1600" spc="-1" strike="noStrike">
              <a:solidFill>
                <a:srgbClr val="000000"/>
              </a:solidFill>
              <a:latin typeface="Arial"/>
            </a:endParaRPr>
          </a:p>
        </p:txBody>
      </p:sp>
      <p:sp>
        <p:nvSpPr>
          <p:cNvPr id="114" name="TextBox 119"/>
          <p:cNvSpPr/>
          <p:nvPr/>
        </p:nvSpPr>
        <p:spPr>
          <a:xfrm>
            <a:off x="995760" y="1554480"/>
            <a:ext cx="4315680" cy="3480840"/>
          </a:xfrm>
          <a:prstGeom prst="rect">
            <a:avLst/>
          </a:prstGeom>
          <a:noFill/>
          <a:ln w="0">
            <a:noFill/>
          </a:ln>
        </p:spPr>
        <p:style>
          <a:lnRef idx="0"/>
          <a:fillRef idx="0"/>
          <a:effectRef idx="0"/>
          <a:fontRef idx="minor"/>
        </p:style>
        <p:txBody>
          <a:bodyPr wrap="none" lIns="0" rIns="0" tIns="45000" bIns="45000" anchor="t">
            <a:spAutoFit/>
          </a:bodyPr>
          <a:p>
            <a:pPr>
              <a:lnSpc>
                <a:spcPct val="110000"/>
              </a:lnSpc>
            </a:pPr>
            <a:r>
              <a:rPr b="1" lang="en-US" sz="1350" spc="-1" strike="noStrike">
                <a:solidFill>
                  <a:srgbClr val="007020"/>
                </a:solidFill>
                <a:latin typeface="DejaVu Sans Mono"/>
              </a:rPr>
              <a:t>import</a:t>
            </a:r>
            <a:r>
              <a:rPr b="0" lang="en-US" sz="1350" spc="-1" strike="noStrike">
                <a:solidFill>
                  <a:srgbClr val="031424"/>
                </a:solidFill>
                <a:latin typeface="DejaVu Sans Mono"/>
              </a:rPr>
              <a:t> </a:t>
            </a:r>
            <a:r>
              <a:rPr b="1" lang="en-US" sz="1350" spc="-1" strike="noStrike">
                <a:solidFill>
                  <a:srgbClr val="0e84b5"/>
                </a:solidFill>
                <a:latin typeface="DejaVu Sans Mono"/>
              </a:rPr>
              <a:t>cppyy</a:t>
            </a:r>
            <a:endParaRPr b="0" lang="en-US" sz="1350" spc="-1" strike="noStrike">
              <a:solidFill>
                <a:srgbClr val="000000"/>
              </a:solidFill>
              <a:latin typeface="Arial"/>
            </a:endParaRPr>
          </a:p>
          <a:p>
            <a:pPr>
              <a:lnSpc>
                <a:spcPct val="110000"/>
              </a:lnSpc>
            </a:pPr>
            <a:r>
              <a:rPr b="1" lang="en-US" sz="1350" spc="-1" strike="noStrike">
                <a:solidFill>
                  <a:srgbClr val="007020"/>
                </a:solidFill>
                <a:latin typeface="DejaVu Sans Mono"/>
              </a:rPr>
              <a:t>import</a:t>
            </a:r>
            <a:r>
              <a:rPr b="0" lang="en-US" sz="1350" spc="-1" strike="noStrike">
                <a:solidFill>
                  <a:srgbClr val="031424"/>
                </a:solidFill>
                <a:latin typeface="DejaVu Sans Mono"/>
              </a:rPr>
              <a:t> </a:t>
            </a:r>
            <a:r>
              <a:rPr b="1" lang="en-US" sz="1350" spc="-1" strike="noStrike">
                <a:solidFill>
                  <a:srgbClr val="0e84b5"/>
                </a:solidFill>
                <a:latin typeface="DejaVu Sans Mono"/>
              </a:rPr>
              <a:t>numpy</a:t>
            </a:r>
            <a:r>
              <a:rPr b="0" lang="en-US" sz="1350" spc="-1" strike="noStrike">
                <a:solidFill>
                  <a:srgbClr val="031424"/>
                </a:solidFill>
                <a:latin typeface="DejaVu Sans Mono"/>
              </a:rPr>
              <a:t> </a:t>
            </a:r>
            <a:r>
              <a:rPr b="1" lang="en-US" sz="1350" spc="-1" strike="noStrike">
                <a:solidFill>
                  <a:srgbClr val="007020"/>
                </a:solidFill>
                <a:latin typeface="DejaVu Sans Mono"/>
              </a:rPr>
              <a:t>as</a:t>
            </a:r>
            <a:r>
              <a:rPr b="0" lang="en-US" sz="1350" spc="-1" strike="noStrike">
                <a:solidFill>
                  <a:srgbClr val="031424"/>
                </a:solidFill>
                <a:latin typeface="DejaVu Sans Mono"/>
              </a:rPr>
              <a:t> </a:t>
            </a:r>
            <a:r>
              <a:rPr b="1" lang="en-US" sz="1350" spc="-1" strike="noStrike">
                <a:solidFill>
                  <a:srgbClr val="0e84b5"/>
                </a:solidFill>
                <a:latin typeface="DejaVu Sans Mono"/>
              </a:rPr>
              <a:t>np</a:t>
            </a:r>
            <a:endParaRPr b="0" lang="en-US" sz="1350" spc="-1" strike="noStrike">
              <a:solidFill>
                <a:srgbClr val="000000"/>
              </a:solidFill>
              <a:latin typeface="Arial"/>
            </a:endParaRPr>
          </a:p>
          <a:p>
            <a:pPr>
              <a:lnSpc>
                <a:spcPct val="110000"/>
              </a:lnSpc>
            </a:pPr>
            <a:endParaRPr b="0" lang="en-US" sz="1350" spc="-1" strike="noStrike">
              <a:solidFill>
                <a:srgbClr val="000000"/>
              </a:solidFill>
              <a:latin typeface="Arial"/>
            </a:endParaRPr>
          </a:p>
          <a:p>
            <a:pPr>
              <a:lnSpc>
                <a:spcPct val="110000"/>
              </a:lnSpc>
            </a:pPr>
            <a:r>
              <a:rPr b="0" lang="en-US" sz="1350" spc="-1" strike="noStrike">
                <a:solidFill>
                  <a:srgbClr val="031424"/>
                </a:solidFill>
                <a:latin typeface="DejaVu Sans Mono"/>
              </a:rPr>
              <a:t>cppyy</a:t>
            </a:r>
            <a:r>
              <a:rPr b="0" lang="en-US" sz="1350" spc="-1" strike="noStrike">
                <a:solidFill>
                  <a:srgbClr val="666666"/>
                </a:solidFill>
                <a:latin typeface="DejaVu Sans Mono"/>
              </a:rPr>
              <a:t>.</a:t>
            </a:r>
            <a:r>
              <a:rPr b="0" lang="en-US" sz="1350" spc="-1" strike="noStrike">
                <a:solidFill>
                  <a:srgbClr val="031424"/>
                </a:solidFill>
                <a:latin typeface="DejaVu Sans Mono"/>
              </a:rPr>
              <a:t>cppdef(</a:t>
            </a:r>
            <a:r>
              <a:rPr b="0" lang="en-US" sz="1350" spc="-1" strike="noStrike">
                <a:solidFill>
                  <a:srgbClr val="4070a0"/>
                </a:solidFill>
                <a:latin typeface="DejaVu Sans Mono"/>
              </a:rPr>
              <a:t>"""</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double sum_sq(const double* x, size_t n) {</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    </a:t>
            </a:r>
            <a:r>
              <a:rPr b="0" lang="en-US" sz="1350" spc="-1" strike="noStrike">
                <a:solidFill>
                  <a:srgbClr val="4070a0"/>
                </a:solidFill>
                <a:latin typeface="DejaVu Sans Mono"/>
              </a:rPr>
              <a:t>double total = 0;</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    </a:t>
            </a:r>
            <a:r>
              <a:rPr b="0" lang="en-US" sz="1350" spc="-1" strike="noStrike">
                <a:solidFill>
                  <a:srgbClr val="4070a0"/>
                </a:solidFill>
                <a:latin typeface="DejaVu Sans Mono"/>
              </a:rPr>
              <a:t>for (size_t i = 0; i &lt; n; ++i)</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        </a:t>
            </a:r>
            <a:r>
              <a:rPr b="0" lang="en-US" sz="1350" spc="-1" strike="noStrike">
                <a:solidFill>
                  <a:srgbClr val="4070a0"/>
                </a:solidFill>
                <a:latin typeface="DejaVu Sans Mono"/>
              </a:rPr>
              <a:t>total += x[i] * x[i];</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    </a:t>
            </a:r>
            <a:r>
              <a:rPr b="0" lang="en-US" sz="1350" spc="-1" strike="noStrike">
                <a:solidFill>
                  <a:srgbClr val="4070a0"/>
                </a:solidFill>
                <a:latin typeface="DejaVu Sans Mono"/>
              </a:rPr>
              <a:t>return total;</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a:t>
            </a:r>
            <a:r>
              <a:rPr b="0" lang="en-US" sz="1350" spc="-1" strike="noStrike">
                <a:solidFill>
                  <a:srgbClr val="031424"/>
                </a:solidFill>
                <a:latin typeface="DejaVu Sans Mono"/>
              </a:rPr>
              <a:t>)</a:t>
            </a:r>
            <a:endParaRPr b="0" lang="en-US" sz="1350" spc="-1" strike="noStrike">
              <a:solidFill>
                <a:srgbClr val="000000"/>
              </a:solidFill>
              <a:latin typeface="Arial"/>
            </a:endParaRPr>
          </a:p>
          <a:p>
            <a:pPr>
              <a:lnSpc>
                <a:spcPct val="110000"/>
              </a:lnSpc>
            </a:pPr>
            <a:endParaRPr b="0" lang="en-US" sz="1350" spc="-1" strike="noStrike">
              <a:solidFill>
                <a:srgbClr val="000000"/>
              </a:solidFill>
              <a:latin typeface="Arial"/>
            </a:endParaRPr>
          </a:p>
          <a:p>
            <a:pPr>
              <a:lnSpc>
                <a:spcPct val="110000"/>
              </a:lnSpc>
            </a:pPr>
            <a:r>
              <a:rPr b="0" lang="en-US" sz="1350" spc="-1" strike="noStrike">
                <a:solidFill>
                  <a:srgbClr val="031424"/>
                </a:solidFill>
                <a:latin typeface="DejaVu Sans Mono"/>
              </a:rPr>
              <a:t>x </a:t>
            </a:r>
            <a:r>
              <a:rPr b="0" lang="en-US" sz="1350" spc="-1" strike="noStrike">
                <a:solidFill>
                  <a:srgbClr val="666666"/>
                </a:solidFill>
                <a:latin typeface="DejaVu Sans Mono"/>
              </a:rPr>
              <a:t>=</a:t>
            </a:r>
            <a:r>
              <a:rPr b="0" lang="en-US" sz="1350" spc="-1" strike="noStrike">
                <a:solidFill>
                  <a:srgbClr val="031424"/>
                </a:solidFill>
                <a:latin typeface="DejaVu Sans Mono"/>
              </a:rPr>
              <a:t> np</a:t>
            </a:r>
            <a:r>
              <a:rPr b="0" lang="en-US" sz="1350" spc="-1" strike="noStrike">
                <a:solidFill>
                  <a:srgbClr val="666666"/>
                </a:solidFill>
                <a:latin typeface="DejaVu Sans Mono"/>
              </a:rPr>
              <a:t>.</a:t>
            </a:r>
            <a:r>
              <a:rPr b="0" lang="en-US" sz="1350" spc="-1" strike="noStrike">
                <a:solidFill>
                  <a:srgbClr val="031424"/>
                </a:solidFill>
                <a:latin typeface="DejaVu Sans Mono"/>
              </a:rPr>
              <a:t>array([</a:t>
            </a:r>
            <a:r>
              <a:rPr b="0" lang="en-US" sz="1350" spc="-1" strike="noStrike">
                <a:solidFill>
                  <a:srgbClr val="40a070"/>
                </a:solidFill>
                <a:latin typeface="DejaVu Sans Mono"/>
              </a:rPr>
              <a:t>1.</a:t>
            </a:r>
            <a:r>
              <a:rPr b="0" lang="en-US" sz="1350" spc="-1" strike="noStrike">
                <a:solidFill>
                  <a:srgbClr val="031424"/>
                </a:solidFill>
                <a:latin typeface="DejaVu Sans Mono"/>
              </a:rPr>
              <a:t>, </a:t>
            </a:r>
            <a:r>
              <a:rPr b="0" lang="en-US" sz="1350" spc="-1" strike="noStrike">
                <a:solidFill>
                  <a:srgbClr val="40a070"/>
                </a:solidFill>
                <a:latin typeface="DejaVu Sans Mono"/>
              </a:rPr>
              <a:t>2.</a:t>
            </a:r>
            <a:r>
              <a:rPr b="0" lang="en-US" sz="1350" spc="-1" strike="noStrike">
                <a:solidFill>
                  <a:srgbClr val="031424"/>
                </a:solidFill>
                <a:latin typeface="DejaVu Sans Mono"/>
              </a:rPr>
              <a:t>, </a:t>
            </a:r>
            <a:r>
              <a:rPr b="0" lang="en-US" sz="1350" spc="-1" strike="noStrike">
                <a:solidFill>
                  <a:srgbClr val="40a070"/>
                </a:solidFill>
                <a:latin typeface="DejaVu Sans Mono"/>
              </a:rPr>
              <a:t>3.</a:t>
            </a:r>
            <a:r>
              <a:rPr b="0" lang="en-US" sz="1350" spc="-1" strike="noStrike">
                <a:solidFill>
                  <a:srgbClr val="031424"/>
                </a:solidFill>
                <a:latin typeface="DejaVu Sans Mono"/>
              </a:rPr>
              <a:t>])</a:t>
            </a:r>
            <a:endParaRPr b="0" lang="en-US" sz="1350" spc="-1" strike="noStrike">
              <a:solidFill>
                <a:srgbClr val="000000"/>
              </a:solidFill>
              <a:latin typeface="Arial"/>
            </a:endParaRPr>
          </a:p>
          <a:p>
            <a:pPr>
              <a:lnSpc>
                <a:spcPct val="110000"/>
              </a:lnSpc>
            </a:pPr>
            <a:r>
              <a:rPr b="0" lang="en-US" sz="1350" spc="-1" strike="noStrike">
                <a:solidFill>
                  <a:srgbClr val="007020"/>
                </a:solidFill>
                <a:latin typeface="DejaVu Sans Mono"/>
              </a:rPr>
              <a:t>print</a:t>
            </a:r>
            <a:r>
              <a:rPr b="0" lang="en-US" sz="1350" spc="-1" strike="noStrike">
                <a:solidFill>
                  <a:srgbClr val="031424"/>
                </a:solidFill>
                <a:latin typeface="DejaVu Sans Mono"/>
              </a:rPr>
              <a:t>(cppyy</a:t>
            </a:r>
            <a:r>
              <a:rPr b="0" lang="en-US" sz="1350" spc="-1" strike="noStrike">
                <a:solidFill>
                  <a:srgbClr val="666666"/>
                </a:solidFill>
                <a:latin typeface="DejaVu Sans Mono"/>
              </a:rPr>
              <a:t>.</a:t>
            </a:r>
            <a:r>
              <a:rPr b="0" lang="en-US" sz="1350" spc="-1" strike="noStrike">
                <a:solidFill>
                  <a:srgbClr val="031424"/>
                </a:solidFill>
                <a:latin typeface="DejaVu Sans Mono"/>
              </a:rPr>
              <a:t>gbl</a:t>
            </a:r>
            <a:r>
              <a:rPr b="0" lang="en-US" sz="1350" spc="-1" strike="noStrike">
                <a:solidFill>
                  <a:srgbClr val="666666"/>
                </a:solidFill>
                <a:latin typeface="DejaVu Sans Mono"/>
              </a:rPr>
              <a:t>.</a:t>
            </a:r>
            <a:r>
              <a:rPr b="0" lang="en-US" sz="1350" spc="-1" strike="noStrike">
                <a:solidFill>
                  <a:srgbClr val="031424"/>
                </a:solidFill>
                <a:latin typeface="DejaVu Sans Mono"/>
              </a:rPr>
              <a:t>sum_sq(x, x</a:t>
            </a:r>
            <a:r>
              <a:rPr b="0" lang="en-US" sz="1350" spc="-1" strike="noStrike">
                <a:solidFill>
                  <a:srgbClr val="666666"/>
                </a:solidFill>
                <a:latin typeface="DejaVu Sans Mono"/>
              </a:rPr>
              <a:t>.</a:t>
            </a:r>
            <a:r>
              <a:rPr b="0" lang="en-US" sz="1350" spc="-1" strike="noStrike">
                <a:solidFill>
                  <a:srgbClr val="031424"/>
                </a:solidFill>
                <a:latin typeface="DejaVu Sans Mono"/>
              </a:rPr>
              <a:t>size))</a:t>
            </a:r>
            <a:endParaRPr b="0" lang="en-US" sz="1350" spc="-1" strike="noStrike">
              <a:solidFill>
                <a:srgbClr val="000000"/>
              </a:solidFill>
              <a:latin typeface="Arial"/>
            </a:endParaRPr>
          </a:p>
          <a:p>
            <a:pPr>
              <a:lnSpc>
                <a:spcPct val="110000"/>
              </a:lnSpc>
            </a:pPr>
            <a:endParaRPr b="0" lang="en-US" sz="1350" spc="-1" strike="noStrike">
              <a:solidFill>
                <a:srgbClr val="000000"/>
              </a:solidFill>
              <a:latin typeface="Arial"/>
            </a:endParaRPr>
          </a:p>
        </p:txBody>
      </p:sp>
      <p:sp>
        <p:nvSpPr>
          <p:cNvPr id="115" name="TextBox 120"/>
          <p:cNvSpPr/>
          <p:nvPr/>
        </p:nvSpPr>
        <p:spPr>
          <a:xfrm>
            <a:off x="457200" y="5760720"/>
            <a:ext cx="5301360" cy="394560"/>
          </a:xfrm>
          <a:prstGeom prst="rect">
            <a:avLst/>
          </a:prstGeom>
          <a:noFill/>
          <a:ln w="0">
            <a:noFill/>
          </a:ln>
        </p:spPr>
        <p:style>
          <a:lnRef idx="0"/>
          <a:fillRef idx="0"/>
          <a:effectRef idx="0"/>
          <a:fontRef idx="minor"/>
        </p:style>
        <p:txBody>
          <a:bodyPr lIns="0" rIns="0" tIns="45000" bIns="45000" anchor="t">
            <a:spAutoFit/>
          </a:bodyPr>
          <a:p>
            <a:pPr>
              <a:lnSpc>
                <a:spcPct val="100000"/>
              </a:lnSpc>
            </a:pPr>
            <a:r>
              <a:rPr b="1" lang="en-US" sz="2000" spc="-1" strike="noStrike">
                <a:solidFill>
                  <a:srgbClr val="031424"/>
                </a:solidFill>
                <a:latin typeface="Roboto"/>
              </a:rPr>
              <a:t>Output: 14.0</a:t>
            </a:r>
            <a:endParaRPr b="0" lang="en-US" sz="2000" spc="-1" strike="noStrike">
              <a:solidFill>
                <a:srgbClr val="000000"/>
              </a:solidFill>
              <a:latin typeface="Arial"/>
            </a:endParaRPr>
          </a:p>
        </p:txBody>
      </p:sp>
      <p:sp>
        <p:nvSpPr>
          <p:cNvPr id="116" name="TextBox 121"/>
          <p:cNvSpPr/>
          <p:nvPr/>
        </p:nvSpPr>
        <p:spPr>
          <a:xfrm>
            <a:off x="6355080" y="365760"/>
            <a:ext cx="5392800" cy="485640"/>
          </a:xfrm>
          <a:prstGeom prst="rect">
            <a:avLst/>
          </a:prstGeom>
          <a:noFill/>
          <a:ln w="0">
            <a:noFill/>
          </a:ln>
        </p:spPr>
        <p:style>
          <a:lnRef idx="0"/>
          <a:fillRef idx="0"/>
          <a:effectRef idx="0"/>
          <a:fontRef idx="minor"/>
        </p:style>
        <p:txBody>
          <a:bodyPr lIns="0" rIns="0" tIns="45000" bIns="45000" anchor="t">
            <a:spAutoFit/>
          </a:bodyPr>
          <a:p>
            <a:pPr>
              <a:lnSpc>
                <a:spcPct val="100000"/>
              </a:lnSpc>
            </a:pPr>
            <a:r>
              <a:rPr b="1" lang="en-US" sz="2600" spc="-1" strike="noStrike">
                <a:solidFill>
                  <a:srgbClr val="031424"/>
                </a:solidFill>
                <a:latin typeface="Roboto"/>
              </a:rPr>
              <a:t>With cppyy_kit</a:t>
            </a:r>
            <a:endParaRPr b="0" lang="en-US" sz="2600" spc="-1" strike="noStrike">
              <a:solidFill>
                <a:srgbClr val="000000"/>
              </a:solidFill>
              <a:latin typeface="Arial"/>
            </a:endParaRPr>
          </a:p>
        </p:txBody>
      </p:sp>
      <p:sp>
        <p:nvSpPr>
          <p:cNvPr id="117" name="TextBox 122"/>
          <p:cNvSpPr/>
          <p:nvPr/>
        </p:nvSpPr>
        <p:spPr>
          <a:xfrm>
            <a:off x="6355080" y="914400"/>
            <a:ext cx="5392800" cy="333360"/>
          </a:xfrm>
          <a:prstGeom prst="rect">
            <a:avLst/>
          </a:prstGeom>
          <a:noFill/>
          <a:ln w="0">
            <a:noFill/>
          </a:ln>
        </p:spPr>
        <p:style>
          <a:lnRef idx="0"/>
          <a:fillRef idx="0"/>
          <a:effectRef idx="0"/>
          <a:fontRef idx="minor"/>
        </p:style>
        <p:txBody>
          <a:bodyPr lIns="0" rIns="0" tIns="45000" bIns="45000" anchor="t">
            <a:spAutoFit/>
          </a:bodyPr>
          <a:p>
            <a:pPr>
              <a:lnSpc>
                <a:spcPct val="100000"/>
              </a:lnSpc>
            </a:pPr>
            <a:r>
              <a:rPr b="0" lang="en-US" sz="1600" spc="-1" strike="noStrike">
                <a:solidFill>
                  <a:srgbClr val="031424"/>
                </a:solidFill>
                <a:latin typeface="Roboto"/>
              </a:rPr>
              <a:t>Annotate the array. Call a Python function.</a:t>
            </a:r>
            <a:endParaRPr b="0" lang="en-US" sz="1600" spc="-1" strike="noStrike">
              <a:solidFill>
                <a:srgbClr val="000000"/>
              </a:solidFill>
              <a:latin typeface="Arial"/>
            </a:endParaRPr>
          </a:p>
        </p:txBody>
      </p:sp>
      <p:sp>
        <p:nvSpPr>
          <p:cNvPr id="118" name="TextBox 123"/>
          <p:cNvSpPr/>
          <p:nvPr/>
        </p:nvSpPr>
        <p:spPr>
          <a:xfrm>
            <a:off x="6793920" y="1554480"/>
            <a:ext cx="4515480" cy="3706920"/>
          </a:xfrm>
          <a:prstGeom prst="rect">
            <a:avLst/>
          </a:prstGeom>
          <a:noFill/>
          <a:ln w="0">
            <a:noFill/>
          </a:ln>
        </p:spPr>
        <p:style>
          <a:lnRef idx="0"/>
          <a:fillRef idx="0"/>
          <a:effectRef idx="0"/>
          <a:fontRef idx="minor"/>
        </p:style>
        <p:txBody>
          <a:bodyPr wrap="none" lIns="0" rIns="0" tIns="45000" bIns="45000" anchor="t">
            <a:spAutoFit/>
          </a:bodyPr>
          <a:p>
            <a:pPr>
              <a:lnSpc>
                <a:spcPct val="110000"/>
              </a:lnSpc>
            </a:pPr>
            <a:r>
              <a:rPr b="1" lang="en-US" sz="1350" spc="-1" strike="noStrike">
                <a:solidFill>
                  <a:srgbClr val="007020"/>
                </a:solidFill>
                <a:latin typeface="DejaVu Sans Mono"/>
              </a:rPr>
              <a:t>import</a:t>
            </a:r>
            <a:r>
              <a:rPr b="0" lang="en-US" sz="1350" spc="-1" strike="noStrike">
                <a:solidFill>
                  <a:srgbClr val="031424"/>
                </a:solidFill>
                <a:latin typeface="DejaVu Sans Mono"/>
              </a:rPr>
              <a:t> </a:t>
            </a:r>
            <a:r>
              <a:rPr b="1" lang="en-US" sz="1350" spc="-1" strike="noStrike">
                <a:solidFill>
                  <a:srgbClr val="0e84b5"/>
                </a:solidFill>
                <a:latin typeface="DejaVu Sans Mono"/>
              </a:rPr>
              <a:t>numpy</a:t>
            </a:r>
            <a:r>
              <a:rPr b="0" lang="en-US" sz="1350" spc="-1" strike="noStrike">
                <a:solidFill>
                  <a:srgbClr val="031424"/>
                </a:solidFill>
                <a:latin typeface="DejaVu Sans Mono"/>
              </a:rPr>
              <a:t> </a:t>
            </a:r>
            <a:r>
              <a:rPr b="1" lang="en-US" sz="1350" spc="-1" strike="noStrike">
                <a:solidFill>
                  <a:srgbClr val="007020"/>
                </a:solidFill>
                <a:latin typeface="DejaVu Sans Mono"/>
              </a:rPr>
              <a:t>as</a:t>
            </a:r>
            <a:r>
              <a:rPr b="0" lang="en-US" sz="1350" spc="-1" strike="noStrike">
                <a:solidFill>
                  <a:srgbClr val="031424"/>
                </a:solidFill>
                <a:latin typeface="DejaVu Sans Mono"/>
              </a:rPr>
              <a:t> </a:t>
            </a:r>
            <a:r>
              <a:rPr b="1" lang="en-US" sz="1350" spc="-1" strike="noStrike">
                <a:solidFill>
                  <a:srgbClr val="0e84b5"/>
                </a:solidFill>
                <a:latin typeface="DejaVu Sans Mono"/>
              </a:rPr>
              <a:t>np</a:t>
            </a:r>
            <a:endParaRPr b="0" lang="en-US" sz="1350" spc="-1" strike="noStrike">
              <a:solidFill>
                <a:srgbClr val="000000"/>
              </a:solidFill>
              <a:latin typeface="Arial"/>
            </a:endParaRPr>
          </a:p>
          <a:p>
            <a:pPr>
              <a:lnSpc>
                <a:spcPct val="110000"/>
              </a:lnSpc>
            </a:pPr>
            <a:r>
              <a:rPr b="1" lang="en-US" sz="1350" spc="-1" strike="noStrike">
                <a:solidFill>
                  <a:srgbClr val="007020"/>
                </a:solidFill>
                <a:latin typeface="DejaVu Sans Mono"/>
              </a:rPr>
              <a:t>from</a:t>
            </a:r>
            <a:r>
              <a:rPr b="0" lang="en-US" sz="1350" spc="-1" strike="noStrike">
                <a:solidFill>
                  <a:srgbClr val="031424"/>
                </a:solidFill>
                <a:latin typeface="DejaVu Sans Mono"/>
              </a:rPr>
              <a:t> </a:t>
            </a:r>
            <a:r>
              <a:rPr b="1" lang="en-US" sz="1350" spc="-1" strike="noStrike">
                <a:solidFill>
                  <a:srgbClr val="0e84b5"/>
                </a:solidFill>
                <a:latin typeface="DejaVu Sans Mono"/>
              </a:rPr>
              <a:t>cppyy_kit</a:t>
            </a:r>
            <a:r>
              <a:rPr b="0" lang="en-US" sz="1350" spc="-1" strike="noStrike">
                <a:solidFill>
                  <a:srgbClr val="031424"/>
                </a:solidFill>
                <a:latin typeface="DejaVu Sans Mono"/>
              </a:rPr>
              <a:t> </a:t>
            </a:r>
            <a:r>
              <a:rPr b="1" lang="en-US" sz="1350" spc="-1" strike="noStrike">
                <a:solidFill>
                  <a:srgbClr val="007020"/>
                </a:solidFill>
                <a:latin typeface="DejaVu Sans Mono"/>
              </a:rPr>
              <a:t>import</a:t>
            </a:r>
            <a:r>
              <a:rPr b="0" lang="en-US" sz="1350" spc="-1" strike="noStrike">
                <a:solidFill>
                  <a:srgbClr val="031424"/>
                </a:solidFill>
                <a:latin typeface="DejaVu Sans Mono"/>
              </a:rPr>
              <a:t> cpp</a:t>
            </a:r>
            <a:endParaRPr b="0" lang="en-US" sz="1350" spc="-1" strike="noStrike">
              <a:solidFill>
                <a:srgbClr val="000000"/>
              </a:solidFill>
              <a:latin typeface="Arial"/>
            </a:endParaRPr>
          </a:p>
          <a:p>
            <a:pPr>
              <a:lnSpc>
                <a:spcPct val="110000"/>
              </a:lnSpc>
            </a:pPr>
            <a:r>
              <a:rPr b="1" lang="en-US" sz="1350" spc="-1" strike="noStrike">
                <a:solidFill>
                  <a:srgbClr val="007020"/>
                </a:solidFill>
                <a:latin typeface="DejaVu Sans Mono"/>
              </a:rPr>
              <a:t>from</a:t>
            </a:r>
            <a:r>
              <a:rPr b="0" lang="en-US" sz="1350" spc="-1" strike="noStrike">
                <a:solidFill>
                  <a:srgbClr val="031424"/>
                </a:solidFill>
                <a:latin typeface="DejaVu Sans Mono"/>
              </a:rPr>
              <a:t> </a:t>
            </a:r>
            <a:r>
              <a:rPr b="1" lang="en-US" sz="1350" spc="-1" strike="noStrike">
                <a:solidFill>
                  <a:srgbClr val="0e84b5"/>
                </a:solidFill>
                <a:latin typeface="DejaVu Sans Mono"/>
              </a:rPr>
              <a:t>cppyy_kit.numpy_types</a:t>
            </a:r>
            <a:r>
              <a:rPr b="0" lang="en-US" sz="1350" spc="-1" strike="noStrike">
                <a:solidFill>
                  <a:srgbClr val="031424"/>
                </a:solidFill>
                <a:latin typeface="DejaVu Sans Mono"/>
              </a:rPr>
              <a:t> </a:t>
            </a:r>
            <a:r>
              <a:rPr b="1" lang="en-US" sz="1350" spc="-1" strike="noStrike">
                <a:solidFill>
                  <a:srgbClr val="007020"/>
                </a:solidFill>
                <a:latin typeface="DejaVu Sans Mono"/>
              </a:rPr>
              <a:t>import</a:t>
            </a:r>
            <a:r>
              <a:rPr b="0" lang="en-US" sz="1350" spc="-1" strike="noStrike">
                <a:solidFill>
                  <a:srgbClr val="031424"/>
                </a:solidFill>
                <a:latin typeface="DejaVu Sans Mono"/>
              </a:rPr>
              <a:t> NDArray</a:t>
            </a:r>
            <a:endParaRPr b="0" lang="en-US" sz="1350" spc="-1" strike="noStrike">
              <a:solidFill>
                <a:srgbClr val="000000"/>
              </a:solidFill>
              <a:latin typeface="Arial"/>
            </a:endParaRPr>
          </a:p>
          <a:p>
            <a:pPr>
              <a:lnSpc>
                <a:spcPct val="110000"/>
              </a:lnSpc>
            </a:pPr>
            <a:endParaRPr b="0" lang="en-US" sz="1350" spc="-1" strike="noStrike">
              <a:solidFill>
                <a:srgbClr val="000000"/>
              </a:solidFill>
              <a:latin typeface="Arial"/>
            </a:endParaRPr>
          </a:p>
          <a:p>
            <a:pPr>
              <a:lnSpc>
                <a:spcPct val="110000"/>
              </a:lnSpc>
            </a:pPr>
            <a:r>
              <a:rPr b="1" lang="en-US" sz="1350" spc="-1" strike="noStrike">
                <a:solidFill>
                  <a:srgbClr val="555555"/>
                </a:solidFill>
                <a:latin typeface="DejaVu Sans Mono"/>
              </a:rPr>
              <a:t>@cpp</a:t>
            </a:r>
            <a:endParaRPr b="0" lang="en-US" sz="1350" spc="-1" strike="noStrike">
              <a:solidFill>
                <a:srgbClr val="000000"/>
              </a:solidFill>
              <a:latin typeface="Arial"/>
            </a:endParaRPr>
          </a:p>
          <a:p>
            <a:pPr>
              <a:lnSpc>
                <a:spcPct val="110000"/>
              </a:lnSpc>
            </a:pPr>
            <a:r>
              <a:rPr b="1" lang="en-US" sz="1350" spc="-1" strike="noStrike">
                <a:solidFill>
                  <a:srgbClr val="007020"/>
                </a:solidFill>
                <a:latin typeface="DejaVu Sans Mono"/>
              </a:rPr>
              <a:t>def</a:t>
            </a:r>
            <a:r>
              <a:rPr b="0" lang="en-US" sz="1350" spc="-1" strike="noStrike">
                <a:solidFill>
                  <a:srgbClr val="031424"/>
                </a:solidFill>
                <a:latin typeface="DejaVu Sans Mono"/>
              </a:rPr>
              <a:t> </a:t>
            </a:r>
            <a:r>
              <a:rPr b="0" lang="en-US" sz="1350" spc="-1" strike="noStrike">
                <a:solidFill>
                  <a:srgbClr val="06287e"/>
                </a:solidFill>
                <a:latin typeface="DejaVu Sans Mono"/>
              </a:rPr>
              <a:t>sum_sq</a:t>
            </a:r>
            <a:r>
              <a:rPr b="0" lang="en-US" sz="1350" spc="-1" strike="noStrike">
                <a:solidFill>
                  <a:srgbClr val="031424"/>
                </a:solidFill>
                <a:latin typeface="DejaVu Sans Mono"/>
              </a:rPr>
              <a:t>(x: NDArray[np</a:t>
            </a:r>
            <a:r>
              <a:rPr b="0" lang="en-US" sz="1350" spc="-1" strike="noStrike">
                <a:solidFill>
                  <a:srgbClr val="666666"/>
                </a:solidFill>
                <a:latin typeface="DejaVu Sans Mono"/>
              </a:rPr>
              <a:t>.</a:t>
            </a:r>
            <a:r>
              <a:rPr b="0" lang="en-US" sz="1350" spc="-1" strike="noStrike">
                <a:solidFill>
                  <a:srgbClr val="031424"/>
                </a:solidFill>
                <a:latin typeface="DejaVu Sans Mono"/>
              </a:rPr>
              <a:t>float64]) </a:t>
            </a:r>
            <a:r>
              <a:rPr b="0" lang="en-US" sz="1350" spc="-1" strike="noStrike">
                <a:solidFill>
                  <a:srgbClr val="666666"/>
                </a:solidFill>
                <a:latin typeface="DejaVu Sans Mono"/>
              </a:rPr>
              <a:t>-&gt;</a:t>
            </a:r>
            <a:r>
              <a:rPr b="0" lang="en-US" sz="1350" spc="-1" strike="noStrike">
                <a:solidFill>
                  <a:srgbClr val="031424"/>
                </a:solidFill>
                <a:latin typeface="DejaVu Sans Mono"/>
              </a:rPr>
              <a:t> </a:t>
            </a:r>
            <a:r>
              <a:rPr b="0" lang="en-US" sz="1350" spc="-1" strike="noStrike">
                <a:solidFill>
                  <a:srgbClr val="007020"/>
                </a:solidFill>
                <a:latin typeface="DejaVu Sans Mono"/>
              </a:rPr>
              <a:t>float</a:t>
            </a:r>
            <a:r>
              <a:rPr b="0" lang="en-US" sz="1350" spc="-1" strike="noStrike">
                <a:solidFill>
                  <a:srgbClr val="031424"/>
                </a:solidFill>
                <a:latin typeface="DejaVu Sans Mono"/>
              </a:rPr>
              <a:t>:</a:t>
            </a:r>
            <a:endParaRPr b="0" lang="en-US" sz="1350" spc="-1" strike="noStrike">
              <a:solidFill>
                <a:srgbClr val="000000"/>
              </a:solidFill>
              <a:latin typeface="Arial"/>
            </a:endParaRPr>
          </a:p>
          <a:p>
            <a:pPr>
              <a:lnSpc>
                <a:spcPct val="110000"/>
              </a:lnSpc>
            </a:pPr>
            <a:r>
              <a:rPr b="0" lang="en-US" sz="1350" spc="-1" strike="noStrike">
                <a:solidFill>
                  <a:srgbClr val="bbbbbb"/>
                </a:solidFill>
                <a:latin typeface="DejaVu Sans Mono"/>
              </a:rPr>
              <a:t>    </a:t>
            </a:r>
            <a:r>
              <a:rPr b="0" lang="en-US" sz="1350" spc="-1" strike="noStrike">
                <a:solidFill>
                  <a:srgbClr val="4070a0"/>
                </a:solidFill>
                <a:latin typeface="DejaVu Sans Mono"/>
              </a:rPr>
              <a:t>"""</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    </a:t>
            </a:r>
            <a:r>
              <a:rPr b="0" lang="en-US" sz="1350" spc="-1" strike="noStrike">
                <a:solidFill>
                  <a:srgbClr val="4070a0"/>
                </a:solidFill>
                <a:latin typeface="DejaVu Sans Mono"/>
              </a:rPr>
              <a:t>double total = 0;</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    </a:t>
            </a:r>
            <a:r>
              <a:rPr b="0" lang="en-US" sz="1350" spc="-1" strike="noStrike">
                <a:solidFill>
                  <a:srgbClr val="4070a0"/>
                </a:solidFill>
                <a:latin typeface="DejaVu Sans Mono"/>
              </a:rPr>
              <a:t>for (size_t i = 0; i &lt; x_size; ++i)</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        </a:t>
            </a:r>
            <a:r>
              <a:rPr b="0" lang="en-US" sz="1350" spc="-1" strike="noStrike">
                <a:solidFill>
                  <a:srgbClr val="4070a0"/>
                </a:solidFill>
                <a:latin typeface="DejaVu Sans Mono"/>
              </a:rPr>
              <a:t>total += x[i] * x[i];</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    </a:t>
            </a:r>
            <a:r>
              <a:rPr b="0" lang="en-US" sz="1350" spc="-1" strike="noStrike">
                <a:solidFill>
                  <a:srgbClr val="4070a0"/>
                </a:solidFill>
                <a:latin typeface="DejaVu Sans Mono"/>
              </a:rPr>
              <a:t>return total;</a:t>
            </a:r>
            <a:endParaRPr b="0" lang="en-US" sz="1350" spc="-1" strike="noStrike">
              <a:solidFill>
                <a:srgbClr val="000000"/>
              </a:solidFill>
              <a:latin typeface="Arial"/>
            </a:endParaRPr>
          </a:p>
          <a:p>
            <a:pPr>
              <a:lnSpc>
                <a:spcPct val="110000"/>
              </a:lnSpc>
            </a:pPr>
            <a:r>
              <a:rPr b="0" lang="en-US" sz="1350" spc="-1" strike="noStrike">
                <a:solidFill>
                  <a:srgbClr val="4070a0"/>
                </a:solidFill>
                <a:latin typeface="DejaVu Sans Mono"/>
              </a:rPr>
              <a:t>    </a:t>
            </a:r>
            <a:r>
              <a:rPr b="0" lang="en-US" sz="1350" spc="-1" strike="noStrike">
                <a:solidFill>
                  <a:srgbClr val="4070a0"/>
                </a:solidFill>
                <a:latin typeface="DejaVu Sans Mono"/>
              </a:rPr>
              <a:t>"""</a:t>
            </a:r>
            <a:endParaRPr b="0" lang="en-US" sz="1350" spc="-1" strike="noStrike">
              <a:solidFill>
                <a:srgbClr val="000000"/>
              </a:solidFill>
              <a:latin typeface="Arial"/>
            </a:endParaRPr>
          </a:p>
          <a:p>
            <a:pPr>
              <a:lnSpc>
                <a:spcPct val="110000"/>
              </a:lnSpc>
            </a:pPr>
            <a:endParaRPr b="0" lang="en-US" sz="1350" spc="-1" strike="noStrike">
              <a:solidFill>
                <a:srgbClr val="000000"/>
              </a:solidFill>
              <a:latin typeface="Arial"/>
            </a:endParaRPr>
          </a:p>
          <a:p>
            <a:pPr>
              <a:lnSpc>
                <a:spcPct val="110000"/>
              </a:lnSpc>
            </a:pPr>
            <a:r>
              <a:rPr b="0" lang="en-US" sz="1350" spc="-1" strike="noStrike">
                <a:solidFill>
                  <a:srgbClr val="031424"/>
                </a:solidFill>
                <a:latin typeface="DejaVu Sans Mono"/>
              </a:rPr>
              <a:t>x </a:t>
            </a:r>
            <a:r>
              <a:rPr b="0" lang="en-US" sz="1350" spc="-1" strike="noStrike">
                <a:solidFill>
                  <a:srgbClr val="666666"/>
                </a:solidFill>
                <a:latin typeface="DejaVu Sans Mono"/>
              </a:rPr>
              <a:t>=</a:t>
            </a:r>
            <a:r>
              <a:rPr b="0" lang="en-US" sz="1350" spc="-1" strike="noStrike">
                <a:solidFill>
                  <a:srgbClr val="031424"/>
                </a:solidFill>
                <a:latin typeface="DejaVu Sans Mono"/>
              </a:rPr>
              <a:t> np</a:t>
            </a:r>
            <a:r>
              <a:rPr b="0" lang="en-US" sz="1350" spc="-1" strike="noStrike">
                <a:solidFill>
                  <a:srgbClr val="666666"/>
                </a:solidFill>
                <a:latin typeface="DejaVu Sans Mono"/>
              </a:rPr>
              <a:t>.</a:t>
            </a:r>
            <a:r>
              <a:rPr b="0" lang="en-US" sz="1350" spc="-1" strike="noStrike">
                <a:solidFill>
                  <a:srgbClr val="031424"/>
                </a:solidFill>
                <a:latin typeface="DejaVu Sans Mono"/>
              </a:rPr>
              <a:t>array([</a:t>
            </a:r>
            <a:r>
              <a:rPr b="0" lang="en-US" sz="1350" spc="-1" strike="noStrike">
                <a:solidFill>
                  <a:srgbClr val="40a070"/>
                </a:solidFill>
                <a:latin typeface="DejaVu Sans Mono"/>
              </a:rPr>
              <a:t>1.</a:t>
            </a:r>
            <a:r>
              <a:rPr b="0" lang="en-US" sz="1350" spc="-1" strike="noStrike">
                <a:solidFill>
                  <a:srgbClr val="031424"/>
                </a:solidFill>
                <a:latin typeface="DejaVu Sans Mono"/>
              </a:rPr>
              <a:t>, </a:t>
            </a:r>
            <a:r>
              <a:rPr b="0" lang="en-US" sz="1350" spc="-1" strike="noStrike">
                <a:solidFill>
                  <a:srgbClr val="40a070"/>
                </a:solidFill>
                <a:latin typeface="DejaVu Sans Mono"/>
              </a:rPr>
              <a:t>2.</a:t>
            </a:r>
            <a:r>
              <a:rPr b="0" lang="en-US" sz="1350" spc="-1" strike="noStrike">
                <a:solidFill>
                  <a:srgbClr val="031424"/>
                </a:solidFill>
                <a:latin typeface="DejaVu Sans Mono"/>
              </a:rPr>
              <a:t>, </a:t>
            </a:r>
            <a:r>
              <a:rPr b="0" lang="en-US" sz="1350" spc="-1" strike="noStrike">
                <a:solidFill>
                  <a:srgbClr val="40a070"/>
                </a:solidFill>
                <a:latin typeface="DejaVu Sans Mono"/>
              </a:rPr>
              <a:t>3.</a:t>
            </a:r>
            <a:r>
              <a:rPr b="0" lang="en-US" sz="1350" spc="-1" strike="noStrike">
                <a:solidFill>
                  <a:srgbClr val="031424"/>
                </a:solidFill>
                <a:latin typeface="DejaVu Sans Mono"/>
              </a:rPr>
              <a:t>])</a:t>
            </a:r>
            <a:endParaRPr b="0" lang="en-US" sz="1350" spc="-1" strike="noStrike">
              <a:solidFill>
                <a:srgbClr val="000000"/>
              </a:solidFill>
              <a:latin typeface="Arial"/>
            </a:endParaRPr>
          </a:p>
          <a:p>
            <a:pPr>
              <a:lnSpc>
                <a:spcPct val="110000"/>
              </a:lnSpc>
            </a:pPr>
            <a:r>
              <a:rPr b="0" lang="en-US" sz="1350" spc="-1" strike="noStrike">
                <a:solidFill>
                  <a:srgbClr val="007020"/>
                </a:solidFill>
                <a:latin typeface="DejaVu Sans Mono"/>
              </a:rPr>
              <a:t>print</a:t>
            </a:r>
            <a:r>
              <a:rPr b="0" lang="en-US" sz="1350" spc="-1" strike="noStrike">
                <a:solidFill>
                  <a:srgbClr val="031424"/>
                </a:solidFill>
                <a:latin typeface="DejaVu Sans Mono"/>
              </a:rPr>
              <a:t>(sum_sq(x))</a:t>
            </a:r>
            <a:endParaRPr b="0" lang="en-US" sz="1350" spc="-1" strike="noStrike">
              <a:solidFill>
                <a:srgbClr val="000000"/>
              </a:solidFill>
              <a:latin typeface="Arial"/>
            </a:endParaRPr>
          </a:p>
          <a:p>
            <a:pPr>
              <a:lnSpc>
                <a:spcPct val="110000"/>
              </a:lnSpc>
            </a:pPr>
            <a:endParaRPr b="0" lang="en-US" sz="1350" spc="-1" strike="noStrike">
              <a:solidFill>
                <a:srgbClr val="000000"/>
              </a:solidFill>
              <a:latin typeface="Arial"/>
            </a:endParaRPr>
          </a:p>
        </p:txBody>
      </p:sp>
      <p:sp>
        <p:nvSpPr>
          <p:cNvPr id="119" name="TextBox 124"/>
          <p:cNvSpPr/>
          <p:nvPr/>
        </p:nvSpPr>
        <p:spPr>
          <a:xfrm>
            <a:off x="6355080" y="5760720"/>
            <a:ext cx="5301360" cy="394560"/>
          </a:xfrm>
          <a:prstGeom prst="rect">
            <a:avLst/>
          </a:prstGeom>
          <a:noFill/>
          <a:ln w="0">
            <a:noFill/>
          </a:ln>
        </p:spPr>
        <p:style>
          <a:lnRef idx="0"/>
          <a:fillRef idx="0"/>
          <a:effectRef idx="0"/>
          <a:fontRef idx="minor"/>
        </p:style>
        <p:txBody>
          <a:bodyPr lIns="0" rIns="0" tIns="45000" bIns="45000" anchor="t">
            <a:spAutoFit/>
          </a:bodyPr>
          <a:p>
            <a:pPr>
              <a:lnSpc>
                <a:spcPct val="100000"/>
              </a:lnSpc>
            </a:pPr>
            <a:r>
              <a:rPr b="1" lang="en-US" sz="2000" spc="-1" strike="noStrike">
                <a:solidFill>
                  <a:srgbClr val="031424"/>
                </a:solidFill>
                <a:latin typeface="Roboto"/>
              </a:rPr>
              <a:t>Output: 14.0</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0" name="Picture 5" descr=""/>
          <p:cNvPicPr/>
          <p:nvPr/>
        </p:nvPicPr>
        <p:blipFill>
          <a:blip r:embed="rId1"/>
          <a:stretch/>
        </p:blipFill>
        <p:spPr>
          <a:xfrm>
            <a:off x="10623600" y="345600"/>
            <a:ext cx="1058400" cy="1058400"/>
          </a:xfrm>
          <a:prstGeom prst="rect">
            <a:avLst/>
          </a:prstGeom>
          <a:ln w="0">
            <a:noFill/>
          </a:ln>
        </p:spPr>
      </p:pic>
      <p:cxnSp>
        <p:nvCxnSpPr>
          <p:cNvPr id="121" name="Straight Connector 7"/>
          <p:cNvCxnSpPr/>
          <p:nvPr/>
        </p:nvCxnSpPr>
        <p:spPr>
          <a:xfrm>
            <a:off x="0" y="1134720"/>
            <a:ext cx="4366080" cy="2520"/>
          </a:xfrm>
          <a:prstGeom prst="straightConnector1">
            <a:avLst/>
          </a:prstGeom>
          <a:ln w="38100">
            <a:solidFill>
              <a:srgbClr val="fed021"/>
            </a:solidFill>
            <a:round/>
          </a:ln>
        </p:spPr>
      </p:cxnSp>
      <p:sp>
        <p:nvSpPr>
          <p:cNvPr id="122" name="TextBox 101"/>
          <p:cNvSpPr/>
          <p:nvPr/>
        </p:nvSpPr>
        <p:spPr>
          <a:xfrm>
            <a:off x="502920" y="320040"/>
            <a:ext cx="10513440" cy="5166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800" spc="-1" strike="noStrike">
                <a:solidFill>
                  <a:srgbClr val="031424"/>
                </a:solidFill>
                <a:latin typeface="Roboto"/>
              </a:rPr>
              <a:t>Same computation, less setup to maintain</a:t>
            </a:r>
            <a:endParaRPr b="0" lang="en-US" sz="2800" spc="-1" strike="noStrike">
              <a:solidFill>
                <a:srgbClr val="000000"/>
              </a:solidFill>
              <a:latin typeface="Arial"/>
            </a:endParaRPr>
          </a:p>
        </p:txBody>
      </p:sp>
      <p:sp>
        <p:nvSpPr>
          <p:cNvPr id="123" name="TextBox 102"/>
          <p:cNvSpPr/>
          <p:nvPr/>
        </p:nvSpPr>
        <p:spPr>
          <a:xfrm>
            <a:off x="502920" y="1234440"/>
            <a:ext cx="5209920" cy="43992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300" spc="-1" strike="noStrike">
                <a:solidFill>
                  <a:srgbClr val="031424"/>
                </a:solidFill>
                <a:latin typeface="Roboto"/>
              </a:rPr>
              <a:t>A compiled Python extension</a:t>
            </a:r>
            <a:endParaRPr b="0" lang="en-US" sz="2300" spc="-1" strike="noStrike">
              <a:solidFill>
                <a:srgbClr val="000000"/>
              </a:solidFill>
              <a:latin typeface="Arial"/>
            </a:endParaRPr>
          </a:p>
        </p:txBody>
      </p:sp>
      <p:sp>
        <p:nvSpPr>
          <p:cNvPr id="124" name="TextBox 103"/>
          <p:cNvSpPr/>
          <p:nvPr/>
        </p:nvSpPr>
        <p:spPr>
          <a:xfrm>
            <a:off x="6355080" y="1234440"/>
            <a:ext cx="5301360" cy="43992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300" spc="-1" strike="noStrike">
                <a:solidFill>
                  <a:srgbClr val="031424"/>
                </a:solidFill>
                <a:latin typeface="Roboto"/>
              </a:rPr>
              <a:t>One Python file with @cpp</a:t>
            </a:r>
            <a:endParaRPr b="0" lang="en-US" sz="2300" spc="-1" strike="noStrike">
              <a:solidFill>
                <a:srgbClr val="000000"/>
              </a:solidFill>
              <a:latin typeface="Arial"/>
            </a:endParaRPr>
          </a:p>
        </p:txBody>
      </p:sp>
      <p:sp>
        <p:nvSpPr>
          <p:cNvPr id="125" name="Rounded Rectangle 104"/>
          <p:cNvSpPr/>
          <p:nvPr/>
        </p:nvSpPr>
        <p:spPr>
          <a:xfrm>
            <a:off x="502920" y="1783080"/>
            <a:ext cx="2512440" cy="125964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26" name="TextBox 105"/>
          <p:cNvSpPr/>
          <p:nvPr/>
        </p:nvSpPr>
        <p:spPr>
          <a:xfrm>
            <a:off x="612720" y="1837800"/>
            <a:ext cx="229284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CMakeLists.txt</a:t>
            </a:r>
            <a:endParaRPr b="0" lang="en-US" sz="1500" spc="-1" strike="noStrike">
              <a:solidFill>
                <a:srgbClr val="000000"/>
              </a:solidFill>
              <a:latin typeface="Arial"/>
            </a:endParaRPr>
          </a:p>
        </p:txBody>
      </p:sp>
      <p:sp>
        <p:nvSpPr>
          <p:cNvPr id="127" name="TextBox 106"/>
          <p:cNvSpPr/>
          <p:nvPr/>
        </p:nvSpPr>
        <p:spPr>
          <a:xfrm>
            <a:off x="915120" y="2221920"/>
            <a:ext cx="1688040" cy="7664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0" lang="en-US" sz="530" spc="-1" strike="noStrike">
                <a:solidFill>
                  <a:srgbClr val="007020"/>
                </a:solidFill>
                <a:latin typeface="DejaVu Sans Mono"/>
              </a:rPr>
              <a:t>cmake_minimum_required</a:t>
            </a:r>
            <a:r>
              <a:rPr b="0" lang="en-US" sz="530" spc="-1" strike="noStrike">
                <a:solidFill>
                  <a:srgbClr val="031424"/>
                </a:solidFill>
                <a:latin typeface="DejaVu Sans Mono"/>
              </a:rPr>
              <a:t>(</a:t>
            </a:r>
            <a:r>
              <a:rPr b="0" lang="en-US" sz="530" spc="-1" strike="noStrike">
                <a:solidFill>
                  <a:srgbClr val="4070a0"/>
                </a:solidFill>
                <a:latin typeface="DejaVu Sans Mono"/>
              </a:rPr>
              <a:t>VERSION</a:t>
            </a:r>
            <a:r>
              <a:rPr b="0" lang="en-US" sz="530" spc="-1" strike="noStrike">
                <a:solidFill>
                  <a:srgbClr val="bbbbbb"/>
                </a:solidFill>
                <a:latin typeface="DejaVu Sans Mono"/>
              </a:rPr>
              <a:t> </a:t>
            </a:r>
            <a:r>
              <a:rPr b="0" lang="en-US" sz="530" spc="-1" strike="noStrike">
                <a:solidFill>
                  <a:srgbClr val="4070a0"/>
                </a:solidFill>
                <a:latin typeface="DejaVu Sans Mono"/>
              </a:rPr>
              <a:t>3.18</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07020"/>
                </a:solidFill>
                <a:latin typeface="DejaVu Sans Mono"/>
              </a:rPr>
              <a:t>project</a:t>
            </a:r>
            <a:r>
              <a:rPr b="0" lang="en-US" sz="530" spc="-1" strike="noStrike">
                <a:solidFill>
                  <a:srgbClr val="031424"/>
                </a:solidFill>
                <a:latin typeface="DejaVu Sans Mono"/>
              </a:rPr>
              <a:t>(</a:t>
            </a:r>
            <a:r>
              <a:rPr b="0" lang="en-US" sz="530" spc="-1" strike="noStrike">
                <a:solidFill>
                  <a:srgbClr val="4070a0"/>
                </a:solidFill>
                <a:latin typeface="DejaVu Sans Mono"/>
              </a:rPr>
              <a:t>sum_example</a:t>
            </a:r>
            <a:r>
              <a:rPr b="0" lang="en-US" sz="530" spc="-1" strike="noStrike">
                <a:solidFill>
                  <a:srgbClr val="bbbbbb"/>
                </a:solidFill>
                <a:latin typeface="DejaVu Sans Mono"/>
              </a:rPr>
              <a:t> </a:t>
            </a:r>
            <a:r>
              <a:rPr b="0" lang="en-US" sz="530" spc="-1" strike="noStrike">
                <a:solidFill>
                  <a:srgbClr val="4070a0"/>
                </a:solidFill>
                <a:latin typeface="DejaVu Sans Mono"/>
              </a:rPr>
              <a:t>LANGUAGES</a:t>
            </a:r>
            <a:r>
              <a:rPr b="0" lang="en-US" sz="530" spc="-1" strike="noStrike">
                <a:solidFill>
                  <a:srgbClr val="bbbbbb"/>
                </a:solidFill>
                <a:latin typeface="DejaVu Sans Mono"/>
              </a:rPr>
              <a:t> </a:t>
            </a:r>
            <a:r>
              <a:rPr b="0" lang="en-US" sz="530" spc="-1" strike="noStrike">
                <a:solidFill>
                  <a:srgbClr val="4070a0"/>
                </a:solidFill>
                <a:latin typeface="DejaVu Sans Mono"/>
              </a:rPr>
              <a:t>CXX</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07020"/>
                </a:solidFill>
                <a:latin typeface="DejaVu Sans Mono"/>
              </a:rPr>
              <a:t>find_package</a:t>
            </a:r>
            <a:r>
              <a:rPr b="0" lang="en-US" sz="530" spc="-1" strike="noStrike">
                <a:solidFill>
                  <a:srgbClr val="031424"/>
                </a:solidFill>
                <a:latin typeface="DejaVu Sans Mono"/>
              </a:rPr>
              <a:t>(</a:t>
            </a:r>
            <a:r>
              <a:rPr b="0" lang="en-US" sz="530" spc="-1" strike="noStrike">
                <a:solidFill>
                  <a:srgbClr val="4070a0"/>
                </a:solidFill>
                <a:latin typeface="DejaVu Sans Mono"/>
              </a:rPr>
              <a:t>Python</a:t>
            </a:r>
            <a:r>
              <a:rPr b="0" lang="en-US" sz="530" spc="-1" strike="noStrike">
                <a:solidFill>
                  <a:srgbClr val="bbbbbb"/>
                </a:solidFill>
                <a:latin typeface="DejaVu Sans Mono"/>
              </a:rPr>
              <a:t> </a:t>
            </a:r>
            <a:r>
              <a:rPr b="0" lang="en-US" sz="530" spc="-1" strike="noStrike">
                <a:solidFill>
                  <a:srgbClr val="4070a0"/>
                </a:solidFill>
                <a:latin typeface="DejaVu Sans Mono"/>
              </a:rPr>
              <a:t>COMPONENTS</a:t>
            </a:r>
            <a:endParaRPr b="0" lang="en-US" sz="530" spc="-1" strike="noStrike">
              <a:solidFill>
                <a:srgbClr val="000000"/>
              </a:solidFill>
              <a:latin typeface="Arial"/>
            </a:endParaRPr>
          </a:p>
          <a:p>
            <a:pPr>
              <a:lnSpc>
                <a:spcPct val="105000"/>
              </a:lnSpc>
              <a:tabLst>
                <a:tab algn="l" pos="0"/>
              </a:tabLst>
            </a:pPr>
            <a:r>
              <a:rPr b="0" lang="en-US" sz="530" spc="-1" strike="noStrike">
                <a:solidFill>
                  <a:srgbClr val="bbbbbb"/>
                </a:solidFill>
                <a:latin typeface="DejaVu Sans Mono"/>
              </a:rPr>
              <a:t>  </a:t>
            </a:r>
            <a:r>
              <a:rPr b="0" lang="en-US" sz="530" spc="-1" strike="noStrike">
                <a:solidFill>
                  <a:srgbClr val="4070a0"/>
                </a:solidFill>
                <a:latin typeface="DejaVu Sans Mono"/>
              </a:rPr>
              <a:t>Interpreter</a:t>
            </a:r>
            <a:r>
              <a:rPr b="0" lang="en-US" sz="530" spc="-1" strike="noStrike">
                <a:solidFill>
                  <a:srgbClr val="bbbbbb"/>
                </a:solidFill>
                <a:latin typeface="DejaVu Sans Mono"/>
              </a:rPr>
              <a:t> </a:t>
            </a:r>
            <a:r>
              <a:rPr b="0" lang="en-US" sz="530" spc="-1" strike="noStrike">
                <a:solidFill>
                  <a:srgbClr val="4070a0"/>
                </a:solidFill>
                <a:latin typeface="DejaVu Sans Mono"/>
              </a:rPr>
              <a:t>Development.Module</a:t>
            </a:r>
            <a:r>
              <a:rPr b="0" lang="en-US" sz="530" spc="-1" strike="noStrike">
                <a:solidFill>
                  <a:srgbClr val="bbbbbb"/>
                </a:solidFill>
                <a:latin typeface="DejaVu Sans Mono"/>
              </a:rPr>
              <a:t> </a:t>
            </a:r>
            <a:r>
              <a:rPr b="0" lang="en-US" sz="530" spc="-1" strike="noStrike">
                <a:solidFill>
                  <a:srgbClr val="4070a0"/>
                </a:solidFill>
                <a:latin typeface="DejaVu Sans Mono"/>
              </a:rPr>
              <a:t>REQUIRED</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07020"/>
                </a:solidFill>
                <a:latin typeface="DejaVu Sans Mono"/>
              </a:rPr>
              <a:t>find_package</a:t>
            </a:r>
            <a:r>
              <a:rPr b="0" lang="en-US" sz="530" spc="-1" strike="noStrike">
                <a:solidFill>
                  <a:srgbClr val="031424"/>
                </a:solidFill>
                <a:latin typeface="DejaVu Sans Mono"/>
              </a:rPr>
              <a:t>(</a:t>
            </a:r>
            <a:r>
              <a:rPr b="0" lang="en-US" sz="530" spc="-1" strike="noStrike">
                <a:solidFill>
                  <a:srgbClr val="4070a0"/>
                </a:solidFill>
                <a:latin typeface="DejaVu Sans Mono"/>
              </a:rPr>
              <a:t>pybind11</a:t>
            </a:r>
            <a:r>
              <a:rPr b="0" lang="en-US" sz="530" spc="-1" strike="noStrike">
                <a:solidFill>
                  <a:srgbClr val="bbbbbb"/>
                </a:solidFill>
                <a:latin typeface="DejaVu Sans Mono"/>
              </a:rPr>
              <a:t> </a:t>
            </a:r>
            <a:r>
              <a:rPr b="0" lang="en-US" sz="530" spc="-1" strike="noStrike">
                <a:solidFill>
                  <a:srgbClr val="4070a0"/>
                </a:solidFill>
                <a:latin typeface="DejaVu Sans Mono"/>
              </a:rPr>
              <a:t>CONFIG</a:t>
            </a:r>
            <a:r>
              <a:rPr b="0" lang="en-US" sz="530" spc="-1" strike="noStrike">
                <a:solidFill>
                  <a:srgbClr val="bbbbbb"/>
                </a:solidFill>
                <a:latin typeface="DejaVu Sans Mono"/>
              </a:rPr>
              <a:t> </a:t>
            </a:r>
            <a:r>
              <a:rPr b="0" lang="en-US" sz="530" spc="-1" strike="noStrike">
                <a:solidFill>
                  <a:srgbClr val="4070a0"/>
                </a:solidFill>
                <a:latin typeface="DejaVu Sans Mono"/>
              </a:rPr>
              <a:t>REQUIRED</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07020"/>
                </a:solidFill>
                <a:latin typeface="DejaVu Sans Mono"/>
              </a:rPr>
              <a:t>pybind11_add_module</a:t>
            </a:r>
            <a:r>
              <a:rPr b="0" lang="en-US" sz="530" spc="-1" strike="noStrike">
                <a:solidFill>
                  <a:srgbClr val="031424"/>
                </a:solidFill>
                <a:latin typeface="DejaVu Sans Mono"/>
              </a:rPr>
              <a:t>(</a:t>
            </a:r>
            <a:r>
              <a:rPr b="0" lang="en-US" sz="530" spc="-1" strike="noStrike">
                <a:solidFill>
                  <a:srgbClr val="4070a0"/>
                </a:solidFill>
                <a:latin typeface="DejaVu Sans Mono"/>
              </a:rPr>
              <a:t>_native</a:t>
            </a:r>
            <a:endParaRPr b="0" lang="en-US" sz="530" spc="-1" strike="noStrike">
              <a:solidFill>
                <a:srgbClr val="000000"/>
              </a:solidFill>
              <a:latin typeface="Arial"/>
            </a:endParaRPr>
          </a:p>
          <a:p>
            <a:pPr>
              <a:lnSpc>
                <a:spcPct val="105000"/>
              </a:lnSpc>
              <a:tabLst>
                <a:tab algn="l" pos="0"/>
              </a:tabLst>
            </a:pPr>
            <a:r>
              <a:rPr b="0" lang="en-US" sz="530" spc="-1" strike="noStrike">
                <a:solidFill>
                  <a:srgbClr val="bbbbbb"/>
                </a:solidFill>
                <a:latin typeface="DejaVu Sans Mono"/>
              </a:rPr>
              <a:t>  </a:t>
            </a:r>
            <a:r>
              <a:rPr b="0" lang="en-US" sz="530" spc="-1" strike="noStrike">
                <a:solidFill>
                  <a:srgbClr val="4070a0"/>
                </a:solidFill>
                <a:latin typeface="DejaVu Sans Mono"/>
              </a:rPr>
              <a:t>bindings.cpp</a:t>
            </a:r>
            <a:r>
              <a:rPr b="0" lang="en-US" sz="530" spc="-1" strike="noStrike">
                <a:solidFill>
                  <a:srgbClr val="bbbbbb"/>
                </a:solidFill>
                <a:latin typeface="DejaVu Sans Mono"/>
              </a:rPr>
              <a:t> </a:t>
            </a:r>
            <a:r>
              <a:rPr b="0" lang="en-US" sz="530" spc="-1" strike="noStrike">
                <a:solidFill>
                  <a:srgbClr val="4070a0"/>
                </a:solidFill>
                <a:latin typeface="DejaVu Sans Mono"/>
              </a:rPr>
              <a:t>kernel.cpp</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endParaRPr b="0" lang="en-US" sz="530" spc="-1" strike="noStrike">
              <a:solidFill>
                <a:srgbClr val="000000"/>
              </a:solidFill>
              <a:latin typeface="Arial"/>
            </a:endParaRPr>
          </a:p>
        </p:txBody>
      </p:sp>
      <p:sp>
        <p:nvSpPr>
          <p:cNvPr id="128" name="Rounded Rectangle 107"/>
          <p:cNvSpPr/>
          <p:nvPr/>
        </p:nvSpPr>
        <p:spPr>
          <a:xfrm>
            <a:off x="3246120" y="1783080"/>
            <a:ext cx="2512440" cy="125964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29" name="TextBox 108"/>
          <p:cNvSpPr/>
          <p:nvPr/>
        </p:nvSpPr>
        <p:spPr>
          <a:xfrm>
            <a:off x="3355920" y="1837800"/>
            <a:ext cx="229284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kernel.hpp</a:t>
            </a:r>
            <a:endParaRPr b="0" lang="en-US" sz="1500" spc="-1" strike="noStrike">
              <a:solidFill>
                <a:srgbClr val="000000"/>
              </a:solidFill>
              <a:latin typeface="Arial"/>
            </a:endParaRPr>
          </a:p>
        </p:txBody>
      </p:sp>
      <p:sp>
        <p:nvSpPr>
          <p:cNvPr id="130" name="TextBox 109"/>
          <p:cNvSpPr/>
          <p:nvPr/>
        </p:nvSpPr>
        <p:spPr>
          <a:xfrm>
            <a:off x="3582360" y="2221920"/>
            <a:ext cx="1840320" cy="4280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0" lang="en-US" sz="530" spc="-1" strike="noStrike">
                <a:solidFill>
                  <a:srgbClr val="007020"/>
                </a:solidFill>
                <a:latin typeface="DejaVu Sans Mono"/>
              </a:rPr>
              <a:t>#pragma once</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07020"/>
                </a:solidFill>
                <a:latin typeface="DejaVu Sans Mono"/>
              </a:rPr>
              <a:t>#include</a:t>
            </a:r>
            <a:r>
              <a:rPr b="0" lang="en-US" sz="530" spc="-1" strike="noStrike">
                <a:solidFill>
                  <a:srgbClr val="bbbbbb"/>
                </a:solidFill>
                <a:latin typeface="DejaVu Sans Mono"/>
              </a:rPr>
              <a:t> </a:t>
            </a:r>
            <a:r>
              <a:rPr b="0" lang="en-US" sz="530" spc="-1" strike="noStrike">
                <a:solidFill>
                  <a:srgbClr val="60a0b0"/>
                </a:solidFill>
                <a:latin typeface="DejaVu Sans Mono"/>
              </a:rPr>
              <a:t>&lt;cstddef&gt;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902000"/>
                </a:solidFill>
                <a:latin typeface="DejaVu Sans Mono"/>
              </a:rPr>
              <a:t>double</a:t>
            </a:r>
            <a:r>
              <a:rPr b="0" lang="en-US" sz="530" spc="-1" strike="noStrike">
                <a:solidFill>
                  <a:srgbClr val="bbbbbb"/>
                </a:solidFill>
                <a:latin typeface="DejaVu Sans Mono"/>
              </a:rPr>
              <a:t> </a:t>
            </a:r>
            <a:r>
              <a:rPr b="0" lang="en-US" sz="530" spc="-1" strike="noStrike">
                <a:solidFill>
                  <a:srgbClr val="06287e"/>
                </a:solidFill>
                <a:latin typeface="DejaVu Sans Mono"/>
              </a:rPr>
              <a:t>sum_sq</a:t>
            </a:r>
            <a:r>
              <a:rPr b="0" lang="en-US" sz="530" spc="-1" strike="noStrike">
                <a:solidFill>
                  <a:srgbClr val="031424"/>
                </a:solidFill>
                <a:latin typeface="DejaVu Sans Mono"/>
              </a:rPr>
              <a:t>(</a:t>
            </a:r>
            <a:r>
              <a:rPr b="1" lang="en-US" sz="530" spc="-1" strike="noStrike">
                <a:solidFill>
                  <a:srgbClr val="007020"/>
                </a:solidFill>
                <a:latin typeface="DejaVu Sans Mono"/>
              </a:rPr>
              <a:t>const</a:t>
            </a:r>
            <a:r>
              <a:rPr b="0" lang="en-US" sz="530" spc="-1" strike="noStrike">
                <a:solidFill>
                  <a:srgbClr val="bbbbbb"/>
                </a:solidFill>
                <a:latin typeface="DejaVu Sans Mono"/>
              </a:rPr>
              <a:t> </a:t>
            </a:r>
            <a:r>
              <a:rPr b="0" lang="en-US" sz="530" spc="-1" strike="noStrike">
                <a:solidFill>
                  <a:srgbClr val="902000"/>
                </a:solidFill>
                <a:latin typeface="DejaVu Sans Mono"/>
              </a:rPr>
              <a:t>double</a:t>
            </a:r>
            <a:r>
              <a:rPr b="0" lang="en-US" sz="530" spc="-1" strike="noStrike">
                <a:solidFill>
                  <a:srgbClr val="666666"/>
                </a:solidFill>
                <a:latin typeface="DejaVu Sans Mono"/>
              </a:rPr>
              <a:t>*</a:t>
            </a:r>
            <a:r>
              <a:rPr b="0" lang="en-US" sz="530" spc="-1" strike="noStrike">
                <a:solidFill>
                  <a:srgbClr val="bbbbbb"/>
                </a:solidFill>
                <a:latin typeface="DejaVu Sans Mono"/>
              </a:rPr>
              <a:t> </a:t>
            </a:r>
            <a:r>
              <a:rPr b="0" lang="en-US" sz="530" spc="-1" strike="noStrike">
                <a:solidFill>
                  <a:srgbClr val="031424"/>
                </a:solidFill>
                <a:latin typeface="DejaVu Sans Mono"/>
              </a:rPr>
              <a:t>x,</a:t>
            </a:r>
            <a:r>
              <a:rPr b="0" lang="en-US" sz="530" spc="-1" strike="noStrike">
                <a:solidFill>
                  <a:srgbClr val="bbbbbb"/>
                </a:solidFill>
                <a:latin typeface="DejaVu Sans Mono"/>
              </a:rPr>
              <a:t> </a:t>
            </a:r>
            <a:r>
              <a:rPr b="0" lang="en-US" sz="530" spc="-1" strike="noStrike">
                <a:solidFill>
                  <a:srgbClr val="031424"/>
                </a:solidFill>
                <a:latin typeface="DejaVu Sans Mono"/>
              </a:rPr>
              <a:t>std</a:t>
            </a:r>
            <a:r>
              <a:rPr b="0" lang="en-US" sz="530" spc="-1" strike="noStrike">
                <a:solidFill>
                  <a:srgbClr val="666666"/>
                </a:solidFill>
                <a:latin typeface="DejaVu Sans Mono"/>
              </a:rPr>
              <a:t>::</a:t>
            </a:r>
            <a:r>
              <a:rPr b="0" lang="en-US" sz="530" spc="-1" strike="noStrike">
                <a:solidFill>
                  <a:srgbClr val="902000"/>
                </a:solidFill>
                <a:latin typeface="DejaVu Sans Mono"/>
              </a:rPr>
              <a:t>size_t</a:t>
            </a:r>
            <a:r>
              <a:rPr b="0" lang="en-US" sz="530" spc="-1" strike="noStrike">
                <a:solidFill>
                  <a:srgbClr val="bbbbbb"/>
                </a:solidFill>
                <a:latin typeface="DejaVu Sans Mono"/>
              </a:rPr>
              <a:t> </a:t>
            </a:r>
            <a:r>
              <a:rPr b="0" lang="en-US" sz="530" spc="-1" strike="noStrike">
                <a:solidFill>
                  <a:srgbClr val="031424"/>
                </a:solidFill>
                <a:latin typeface="DejaVu Sans Mono"/>
              </a:rPr>
              <a:t>n);</a:t>
            </a:r>
            <a:endParaRPr b="0" lang="en-US" sz="530" spc="-1" strike="noStrike">
              <a:solidFill>
                <a:srgbClr val="000000"/>
              </a:solidFill>
              <a:latin typeface="Arial"/>
            </a:endParaRPr>
          </a:p>
          <a:p>
            <a:pPr>
              <a:lnSpc>
                <a:spcPct val="105000"/>
              </a:lnSpc>
              <a:tabLst>
                <a:tab algn="l" pos="0"/>
              </a:tabLst>
            </a:pPr>
            <a:endParaRPr b="0" lang="en-US" sz="530" spc="-1" strike="noStrike">
              <a:solidFill>
                <a:srgbClr val="000000"/>
              </a:solidFill>
              <a:latin typeface="Arial"/>
            </a:endParaRPr>
          </a:p>
        </p:txBody>
      </p:sp>
      <p:sp>
        <p:nvSpPr>
          <p:cNvPr id="131" name="Rounded Rectangle 110"/>
          <p:cNvSpPr/>
          <p:nvPr/>
        </p:nvSpPr>
        <p:spPr>
          <a:xfrm>
            <a:off x="502920" y="3136320"/>
            <a:ext cx="2512440" cy="125964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32" name="TextBox 111"/>
          <p:cNvSpPr/>
          <p:nvPr/>
        </p:nvSpPr>
        <p:spPr>
          <a:xfrm>
            <a:off x="612720" y="3191400"/>
            <a:ext cx="229284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kernel.cpp</a:t>
            </a:r>
            <a:endParaRPr b="0" lang="en-US" sz="1500" spc="-1" strike="noStrike">
              <a:solidFill>
                <a:srgbClr val="000000"/>
              </a:solidFill>
              <a:latin typeface="Arial"/>
            </a:endParaRPr>
          </a:p>
        </p:txBody>
      </p:sp>
      <p:sp>
        <p:nvSpPr>
          <p:cNvPr id="133" name="TextBox 112"/>
          <p:cNvSpPr/>
          <p:nvPr/>
        </p:nvSpPr>
        <p:spPr>
          <a:xfrm>
            <a:off x="820080" y="3575160"/>
            <a:ext cx="1878480" cy="7664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0" lang="en-US" sz="530" spc="-1" strike="noStrike">
                <a:solidFill>
                  <a:srgbClr val="007020"/>
                </a:solidFill>
                <a:latin typeface="DejaVu Sans Mono"/>
              </a:rPr>
              <a:t>#include</a:t>
            </a:r>
            <a:r>
              <a:rPr b="0" lang="en-US" sz="530" spc="-1" strike="noStrike">
                <a:solidFill>
                  <a:srgbClr val="bbbbbb"/>
                </a:solidFill>
                <a:latin typeface="DejaVu Sans Mono"/>
              </a:rPr>
              <a:t> </a:t>
            </a:r>
            <a:r>
              <a:rPr b="0" lang="en-US" sz="530" spc="-1" strike="noStrike">
                <a:solidFill>
                  <a:srgbClr val="60a0b0"/>
                </a:solidFill>
                <a:latin typeface="DejaVu Sans Mono"/>
              </a:rPr>
              <a:t>"kernel.hpp"</a:t>
            </a:r>
            <a:endParaRPr b="0" lang="en-US" sz="530" spc="-1" strike="noStrike">
              <a:solidFill>
                <a:srgbClr val="000000"/>
              </a:solidFill>
              <a:latin typeface="Arial"/>
            </a:endParaRPr>
          </a:p>
          <a:p>
            <a:pPr>
              <a:lnSpc>
                <a:spcPct val="105000"/>
              </a:lnSpc>
              <a:tabLst>
                <a:tab algn="l" pos="0"/>
              </a:tabLst>
            </a:pPr>
            <a:r>
              <a:rPr b="0" lang="en-US" sz="530" spc="-1" strike="noStrike">
                <a:solidFill>
                  <a:srgbClr val="902000"/>
                </a:solidFill>
                <a:latin typeface="DejaVu Sans Mono"/>
              </a:rPr>
              <a:t>double</a:t>
            </a:r>
            <a:r>
              <a:rPr b="0" lang="en-US" sz="530" spc="-1" strike="noStrike">
                <a:solidFill>
                  <a:srgbClr val="bbbbbb"/>
                </a:solidFill>
                <a:latin typeface="DejaVu Sans Mono"/>
              </a:rPr>
              <a:t> </a:t>
            </a:r>
            <a:r>
              <a:rPr b="0" lang="en-US" sz="530" spc="-1" strike="noStrike">
                <a:solidFill>
                  <a:srgbClr val="06287e"/>
                </a:solidFill>
                <a:latin typeface="DejaVu Sans Mono"/>
              </a:rPr>
              <a:t>sum_sq</a:t>
            </a:r>
            <a:r>
              <a:rPr b="0" lang="en-US" sz="530" spc="-1" strike="noStrike">
                <a:solidFill>
                  <a:srgbClr val="031424"/>
                </a:solidFill>
                <a:latin typeface="DejaVu Sans Mono"/>
              </a:rPr>
              <a:t>(</a:t>
            </a:r>
            <a:r>
              <a:rPr b="1" lang="en-US" sz="530" spc="-1" strike="noStrike">
                <a:solidFill>
                  <a:srgbClr val="007020"/>
                </a:solidFill>
                <a:latin typeface="DejaVu Sans Mono"/>
              </a:rPr>
              <a:t>const</a:t>
            </a:r>
            <a:r>
              <a:rPr b="0" lang="en-US" sz="530" spc="-1" strike="noStrike">
                <a:solidFill>
                  <a:srgbClr val="bbbbbb"/>
                </a:solidFill>
                <a:latin typeface="DejaVu Sans Mono"/>
              </a:rPr>
              <a:t> </a:t>
            </a:r>
            <a:r>
              <a:rPr b="0" lang="en-US" sz="530" spc="-1" strike="noStrike">
                <a:solidFill>
                  <a:srgbClr val="902000"/>
                </a:solidFill>
                <a:latin typeface="DejaVu Sans Mono"/>
              </a:rPr>
              <a:t>double</a:t>
            </a:r>
            <a:r>
              <a:rPr b="0" lang="en-US" sz="530" spc="-1" strike="noStrike">
                <a:solidFill>
                  <a:srgbClr val="666666"/>
                </a:solidFill>
                <a:latin typeface="DejaVu Sans Mono"/>
              </a:rPr>
              <a:t>*</a:t>
            </a:r>
            <a:r>
              <a:rPr b="0" lang="en-US" sz="530" spc="-1" strike="noStrike">
                <a:solidFill>
                  <a:srgbClr val="bbbbbb"/>
                </a:solidFill>
                <a:latin typeface="DejaVu Sans Mono"/>
              </a:rPr>
              <a:t> </a:t>
            </a:r>
            <a:r>
              <a:rPr b="0" lang="en-US" sz="530" spc="-1" strike="noStrike">
                <a:solidFill>
                  <a:srgbClr val="031424"/>
                </a:solidFill>
                <a:latin typeface="DejaVu Sans Mono"/>
              </a:rPr>
              <a:t>x,</a:t>
            </a:r>
            <a:r>
              <a:rPr b="0" lang="en-US" sz="530" spc="-1" strike="noStrike">
                <a:solidFill>
                  <a:srgbClr val="bbbbbb"/>
                </a:solidFill>
                <a:latin typeface="DejaVu Sans Mono"/>
              </a:rPr>
              <a:t> </a:t>
            </a:r>
            <a:r>
              <a:rPr b="0" lang="en-US" sz="530" spc="-1" strike="noStrike">
                <a:solidFill>
                  <a:srgbClr val="031424"/>
                </a:solidFill>
                <a:latin typeface="DejaVu Sans Mono"/>
              </a:rPr>
              <a:t>std</a:t>
            </a:r>
            <a:r>
              <a:rPr b="0" lang="en-US" sz="530" spc="-1" strike="noStrike">
                <a:solidFill>
                  <a:srgbClr val="666666"/>
                </a:solidFill>
                <a:latin typeface="DejaVu Sans Mono"/>
              </a:rPr>
              <a:t>::</a:t>
            </a:r>
            <a:r>
              <a:rPr b="0" lang="en-US" sz="530" spc="-1" strike="noStrike">
                <a:solidFill>
                  <a:srgbClr val="902000"/>
                </a:solidFill>
                <a:latin typeface="DejaVu Sans Mono"/>
              </a:rPr>
              <a:t>size_t</a:t>
            </a:r>
            <a:r>
              <a:rPr b="0" lang="en-US" sz="530" spc="-1" strike="noStrike">
                <a:solidFill>
                  <a:srgbClr val="bbbbbb"/>
                </a:solidFill>
                <a:latin typeface="DejaVu Sans Mono"/>
              </a:rPr>
              <a:t> </a:t>
            </a:r>
            <a:r>
              <a:rPr b="0" lang="en-US" sz="530" spc="-1" strike="noStrike">
                <a:solidFill>
                  <a:srgbClr val="031424"/>
                </a:solidFill>
                <a:latin typeface="DejaVu Sans Mono"/>
              </a:rPr>
              <a:t>n)</a:t>
            </a:r>
            <a:r>
              <a:rPr b="0" lang="en-US" sz="530" spc="-1" strike="noStrike">
                <a:solidFill>
                  <a:srgbClr val="bbbbbb"/>
                </a:solidFill>
                <a:latin typeface="DejaVu Sans Mono"/>
              </a:rPr>
              <a:t> </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bbbbbb"/>
                </a:solidFill>
                <a:latin typeface="DejaVu Sans Mono"/>
              </a:rPr>
              <a:t>    </a:t>
            </a:r>
            <a:r>
              <a:rPr b="0" lang="en-US" sz="530" spc="-1" strike="noStrike">
                <a:solidFill>
                  <a:srgbClr val="902000"/>
                </a:solidFill>
                <a:latin typeface="DejaVu Sans Mono"/>
              </a:rPr>
              <a:t>double</a:t>
            </a:r>
            <a:r>
              <a:rPr b="0" lang="en-US" sz="530" spc="-1" strike="noStrike">
                <a:solidFill>
                  <a:srgbClr val="bbbbbb"/>
                </a:solidFill>
                <a:latin typeface="DejaVu Sans Mono"/>
              </a:rPr>
              <a:t> </a:t>
            </a:r>
            <a:r>
              <a:rPr b="0" lang="en-US" sz="530" spc="-1" strike="noStrike">
                <a:solidFill>
                  <a:srgbClr val="031424"/>
                </a:solidFill>
                <a:latin typeface="DejaVu Sans Mono"/>
              </a:rPr>
              <a:t>total</a:t>
            </a:r>
            <a:r>
              <a:rPr b="0" lang="en-US" sz="530" spc="-1" strike="noStrike">
                <a:solidFill>
                  <a:srgbClr val="bbbbbb"/>
                </a:solidFill>
                <a:latin typeface="DejaVu Sans Mono"/>
              </a:rPr>
              <a:t> </a:t>
            </a:r>
            <a:r>
              <a:rPr b="0" lang="en-US" sz="530" spc="-1" strike="noStrike">
                <a:solidFill>
                  <a:srgbClr val="666666"/>
                </a:solidFill>
                <a:latin typeface="DejaVu Sans Mono"/>
              </a:rPr>
              <a:t>=</a:t>
            </a:r>
            <a:r>
              <a:rPr b="0" lang="en-US" sz="530" spc="-1" strike="noStrike">
                <a:solidFill>
                  <a:srgbClr val="bbbbbb"/>
                </a:solidFill>
                <a:latin typeface="DejaVu Sans Mono"/>
              </a:rPr>
              <a:t> </a:t>
            </a:r>
            <a:r>
              <a:rPr b="0" lang="en-US" sz="530" spc="-1" strike="noStrike">
                <a:solidFill>
                  <a:srgbClr val="40a070"/>
                </a:solidFill>
                <a:latin typeface="DejaVu Sans Mono"/>
              </a:rPr>
              <a:t>0</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bbbbbb"/>
                </a:solidFill>
                <a:latin typeface="DejaVu Sans Mono"/>
              </a:rPr>
              <a:t>    </a:t>
            </a:r>
            <a:r>
              <a:rPr b="1" lang="en-US" sz="530" spc="-1" strike="noStrike">
                <a:solidFill>
                  <a:srgbClr val="007020"/>
                </a:solidFill>
                <a:latin typeface="DejaVu Sans Mono"/>
              </a:rPr>
              <a:t>for</a:t>
            </a:r>
            <a:r>
              <a:rPr b="0" lang="en-US" sz="530" spc="-1" strike="noStrike">
                <a:solidFill>
                  <a:srgbClr val="bbbbbb"/>
                </a:solidFill>
                <a:latin typeface="DejaVu Sans Mono"/>
              </a:rPr>
              <a:t> </a:t>
            </a:r>
            <a:r>
              <a:rPr b="0" lang="en-US" sz="530" spc="-1" strike="noStrike">
                <a:solidFill>
                  <a:srgbClr val="031424"/>
                </a:solidFill>
                <a:latin typeface="DejaVu Sans Mono"/>
              </a:rPr>
              <a:t>(std</a:t>
            </a:r>
            <a:r>
              <a:rPr b="0" lang="en-US" sz="530" spc="-1" strike="noStrike">
                <a:solidFill>
                  <a:srgbClr val="666666"/>
                </a:solidFill>
                <a:latin typeface="DejaVu Sans Mono"/>
              </a:rPr>
              <a:t>::</a:t>
            </a:r>
            <a:r>
              <a:rPr b="0" lang="en-US" sz="530" spc="-1" strike="noStrike">
                <a:solidFill>
                  <a:srgbClr val="902000"/>
                </a:solidFill>
                <a:latin typeface="DejaVu Sans Mono"/>
              </a:rPr>
              <a:t>size_t</a:t>
            </a:r>
            <a:r>
              <a:rPr b="0" lang="en-US" sz="530" spc="-1" strike="noStrike">
                <a:solidFill>
                  <a:srgbClr val="bbbbbb"/>
                </a:solidFill>
                <a:latin typeface="DejaVu Sans Mono"/>
              </a:rPr>
              <a:t> </a:t>
            </a:r>
            <a:r>
              <a:rPr b="0" lang="en-US" sz="530" spc="-1" strike="noStrike">
                <a:solidFill>
                  <a:srgbClr val="031424"/>
                </a:solidFill>
                <a:latin typeface="DejaVu Sans Mono"/>
              </a:rPr>
              <a:t>i</a:t>
            </a:r>
            <a:r>
              <a:rPr b="0" lang="en-US" sz="530" spc="-1" strike="noStrike">
                <a:solidFill>
                  <a:srgbClr val="bbbbbb"/>
                </a:solidFill>
                <a:latin typeface="DejaVu Sans Mono"/>
              </a:rPr>
              <a:t> </a:t>
            </a:r>
            <a:r>
              <a:rPr b="0" lang="en-US" sz="530" spc="-1" strike="noStrike">
                <a:solidFill>
                  <a:srgbClr val="666666"/>
                </a:solidFill>
                <a:latin typeface="DejaVu Sans Mono"/>
              </a:rPr>
              <a:t>=</a:t>
            </a:r>
            <a:r>
              <a:rPr b="0" lang="en-US" sz="530" spc="-1" strike="noStrike">
                <a:solidFill>
                  <a:srgbClr val="bbbbbb"/>
                </a:solidFill>
                <a:latin typeface="DejaVu Sans Mono"/>
              </a:rPr>
              <a:t> </a:t>
            </a:r>
            <a:r>
              <a:rPr b="0" lang="en-US" sz="530" spc="-1" strike="noStrike">
                <a:solidFill>
                  <a:srgbClr val="40a070"/>
                </a:solidFill>
                <a:latin typeface="DejaVu Sans Mono"/>
              </a:rPr>
              <a:t>0</a:t>
            </a:r>
            <a:r>
              <a:rPr b="0" lang="en-US" sz="530" spc="-1" strike="noStrike">
                <a:solidFill>
                  <a:srgbClr val="031424"/>
                </a:solidFill>
                <a:latin typeface="DejaVu Sans Mono"/>
              </a:rPr>
              <a:t>;</a:t>
            </a:r>
            <a:r>
              <a:rPr b="0" lang="en-US" sz="530" spc="-1" strike="noStrike">
                <a:solidFill>
                  <a:srgbClr val="bbbbbb"/>
                </a:solidFill>
                <a:latin typeface="DejaVu Sans Mono"/>
              </a:rPr>
              <a:t> </a:t>
            </a:r>
            <a:r>
              <a:rPr b="0" lang="en-US" sz="530" spc="-1" strike="noStrike">
                <a:solidFill>
                  <a:srgbClr val="031424"/>
                </a:solidFill>
                <a:latin typeface="DejaVu Sans Mono"/>
              </a:rPr>
              <a:t>i</a:t>
            </a:r>
            <a:r>
              <a:rPr b="0" lang="en-US" sz="530" spc="-1" strike="noStrike">
                <a:solidFill>
                  <a:srgbClr val="bbbbbb"/>
                </a:solidFill>
                <a:latin typeface="DejaVu Sans Mono"/>
              </a:rPr>
              <a:t> </a:t>
            </a:r>
            <a:r>
              <a:rPr b="0" lang="en-US" sz="530" spc="-1" strike="noStrike">
                <a:solidFill>
                  <a:srgbClr val="666666"/>
                </a:solidFill>
                <a:latin typeface="DejaVu Sans Mono"/>
              </a:rPr>
              <a:t>&lt;</a:t>
            </a:r>
            <a:r>
              <a:rPr b="0" lang="en-US" sz="530" spc="-1" strike="noStrike">
                <a:solidFill>
                  <a:srgbClr val="bbbbbb"/>
                </a:solidFill>
                <a:latin typeface="DejaVu Sans Mono"/>
              </a:rPr>
              <a:t> </a:t>
            </a:r>
            <a:r>
              <a:rPr b="0" lang="en-US" sz="530" spc="-1" strike="noStrike">
                <a:solidFill>
                  <a:srgbClr val="031424"/>
                </a:solidFill>
                <a:latin typeface="DejaVu Sans Mono"/>
              </a:rPr>
              <a:t>n;</a:t>
            </a:r>
            <a:r>
              <a:rPr b="0" lang="en-US" sz="530" spc="-1" strike="noStrike">
                <a:solidFill>
                  <a:srgbClr val="bbbbbb"/>
                </a:solidFill>
                <a:latin typeface="DejaVu Sans Mono"/>
              </a:rPr>
              <a:t> </a:t>
            </a:r>
            <a:r>
              <a:rPr b="0" lang="en-US" sz="530" spc="-1" strike="noStrike">
                <a:solidFill>
                  <a:srgbClr val="666666"/>
                </a:solidFill>
                <a:latin typeface="DejaVu Sans Mono"/>
              </a:rPr>
              <a:t>++</a:t>
            </a:r>
            <a:r>
              <a:rPr b="0" lang="en-US" sz="530" spc="-1" strike="noStrike">
                <a:solidFill>
                  <a:srgbClr val="031424"/>
                </a:solidFill>
                <a:latin typeface="DejaVu Sans Mono"/>
              </a:rPr>
              <a:t>i)</a:t>
            </a:r>
            <a:endParaRPr b="0" lang="en-US" sz="530" spc="-1" strike="noStrike">
              <a:solidFill>
                <a:srgbClr val="000000"/>
              </a:solidFill>
              <a:latin typeface="Arial"/>
            </a:endParaRPr>
          </a:p>
          <a:p>
            <a:pPr>
              <a:lnSpc>
                <a:spcPct val="105000"/>
              </a:lnSpc>
              <a:tabLst>
                <a:tab algn="l" pos="0"/>
              </a:tabLst>
            </a:pPr>
            <a:r>
              <a:rPr b="0" lang="en-US" sz="530" spc="-1" strike="noStrike">
                <a:solidFill>
                  <a:srgbClr val="bbbbbb"/>
                </a:solidFill>
                <a:latin typeface="DejaVu Sans Mono"/>
              </a:rPr>
              <a:t>        </a:t>
            </a:r>
            <a:r>
              <a:rPr b="0" lang="en-US" sz="530" spc="-1" strike="noStrike">
                <a:solidFill>
                  <a:srgbClr val="031424"/>
                </a:solidFill>
                <a:latin typeface="DejaVu Sans Mono"/>
              </a:rPr>
              <a:t>total</a:t>
            </a:r>
            <a:r>
              <a:rPr b="0" lang="en-US" sz="530" spc="-1" strike="noStrike">
                <a:solidFill>
                  <a:srgbClr val="bbbbbb"/>
                </a:solidFill>
                <a:latin typeface="DejaVu Sans Mono"/>
              </a:rPr>
              <a:t> </a:t>
            </a:r>
            <a:r>
              <a:rPr b="0" lang="en-US" sz="530" spc="-1" strike="noStrike">
                <a:solidFill>
                  <a:srgbClr val="666666"/>
                </a:solidFill>
                <a:latin typeface="DejaVu Sans Mono"/>
              </a:rPr>
              <a:t>+=</a:t>
            </a:r>
            <a:r>
              <a:rPr b="0" lang="en-US" sz="530" spc="-1" strike="noStrike">
                <a:solidFill>
                  <a:srgbClr val="bbbbbb"/>
                </a:solidFill>
                <a:latin typeface="DejaVu Sans Mono"/>
              </a:rPr>
              <a:t> </a:t>
            </a:r>
            <a:r>
              <a:rPr b="0" lang="en-US" sz="530" spc="-1" strike="noStrike">
                <a:solidFill>
                  <a:srgbClr val="031424"/>
                </a:solidFill>
                <a:latin typeface="DejaVu Sans Mono"/>
              </a:rPr>
              <a:t>x[i]</a:t>
            </a:r>
            <a:r>
              <a:rPr b="0" lang="en-US" sz="530" spc="-1" strike="noStrike">
                <a:solidFill>
                  <a:srgbClr val="bbbbbb"/>
                </a:solidFill>
                <a:latin typeface="DejaVu Sans Mono"/>
              </a:rPr>
              <a:t> </a:t>
            </a:r>
            <a:r>
              <a:rPr b="0" lang="en-US" sz="530" spc="-1" strike="noStrike">
                <a:solidFill>
                  <a:srgbClr val="666666"/>
                </a:solidFill>
                <a:latin typeface="DejaVu Sans Mono"/>
              </a:rPr>
              <a:t>*</a:t>
            </a:r>
            <a:r>
              <a:rPr b="0" lang="en-US" sz="530" spc="-1" strike="noStrike">
                <a:solidFill>
                  <a:srgbClr val="bbbbbb"/>
                </a:solidFill>
                <a:latin typeface="DejaVu Sans Mono"/>
              </a:rPr>
              <a:t> </a:t>
            </a:r>
            <a:r>
              <a:rPr b="0" lang="en-US" sz="530" spc="-1" strike="noStrike">
                <a:solidFill>
                  <a:srgbClr val="031424"/>
                </a:solidFill>
                <a:latin typeface="DejaVu Sans Mono"/>
              </a:rPr>
              <a:t>x[i];</a:t>
            </a:r>
            <a:endParaRPr b="0" lang="en-US" sz="530" spc="-1" strike="noStrike">
              <a:solidFill>
                <a:srgbClr val="000000"/>
              </a:solidFill>
              <a:latin typeface="Arial"/>
            </a:endParaRPr>
          </a:p>
          <a:p>
            <a:pPr>
              <a:lnSpc>
                <a:spcPct val="105000"/>
              </a:lnSpc>
              <a:tabLst>
                <a:tab algn="l" pos="0"/>
              </a:tabLst>
            </a:pPr>
            <a:r>
              <a:rPr b="0" lang="en-US" sz="530" spc="-1" strike="noStrike">
                <a:solidFill>
                  <a:srgbClr val="bbbbbb"/>
                </a:solidFill>
                <a:latin typeface="DejaVu Sans Mono"/>
              </a:rPr>
              <a:t>    </a:t>
            </a:r>
            <a:r>
              <a:rPr b="1" lang="en-US" sz="530" spc="-1" strike="noStrike">
                <a:solidFill>
                  <a:srgbClr val="007020"/>
                </a:solidFill>
                <a:latin typeface="DejaVu Sans Mono"/>
              </a:rPr>
              <a:t>return</a:t>
            </a:r>
            <a:r>
              <a:rPr b="0" lang="en-US" sz="530" spc="-1" strike="noStrike">
                <a:solidFill>
                  <a:srgbClr val="bbbbbb"/>
                </a:solidFill>
                <a:latin typeface="DejaVu Sans Mono"/>
              </a:rPr>
              <a:t> </a:t>
            </a:r>
            <a:r>
              <a:rPr b="0" lang="en-US" sz="530" spc="-1" strike="noStrike">
                <a:solidFill>
                  <a:srgbClr val="031424"/>
                </a:solidFill>
                <a:latin typeface="DejaVu Sans Mono"/>
              </a:rPr>
              <a:t>total;</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endParaRPr b="0" lang="en-US" sz="530" spc="-1" strike="noStrike">
              <a:solidFill>
                <a:srgbClr val="000000"/>
              </a:solidFill>
              <a:latin typeface="Arial"/>
            </a:endParaRPr>
          </a:p>
        </p:txBody>
      </p:sp>
      <p:sp>
        <p:nvSpPr>
          <p:cNvPr id="134" name="Rounded Rectangle 113"/>
          <p:cNvSpPr/>
          <p:nvPr/>
        </p:nvSpPr>
        <p:spPr>
          <a:xfrm>
            <a:off x="3246120" y="3136320"/>
            <a:ext cx="2512440" cy="125964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35" name="TextBox 114"/>
          <p:cNvSpPr/>
          <p:nvPr/>
        </p:nvSpPr>
        <p:spPr>
          <a:xfrm>
            <a:off x="3355920" y="3191400"/>
            <a:ext cx="229284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bindings.cpp</a:t>
            </a:r>
            <a:endParaRPr b="0" lang="en-US" sz="1500" spc="-1" strike="noStrike">
              <a:solidFill>
                <a:srgbClr val="000000"/>
              </a:solidFill>
              <a:latin typeface="Arial"/>
            </a:endParaRPr>
          </a:p>
        </p:txBody>
      </p:sp>
      <p:sp>
        <p:nvSpPr>
          <p:cNvPr id="136" name="TextBox 115"/>
          <p:cNvSpPr/>
          <p:nvPr/>
        </p:nvSpPr>
        <p:spPr>
          <a:xfrm>
            <a:off x="3738960" y="3575160"/>
            <a:ext cx="1527120" cy="10202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0" lang="en-US" sz="530" spc="-1" strike="noStrike">
                <a:solidFill>
                  <a:srgbClr val="007020"/>
                </a:solidFill>
                <a:latin typeface="DejaVu Sans Mono"/>
              </a:rPr>
              <a:t>#include</a:t>
            </a:r>
            <a:r>
              <a:rPr b="0" lang="en-US" sz="530" spc="-1" strike="noStrike">
                <a:solidFill>
                  <a:srgbClr val="bbbbbb"/>
                </a:solidFill>
                <a:latin typeface="DejaVu Sans Mono"/>
              </a:rPr>
              <a:t> </a:t>
            </a:r>
            <a:r>
              <a:rPr b="0" lang="en-US" sz="530" spc="-1" strike="noStrike">
                <a:solidFill>
                  <a:srgbClr val="60a0b0"/>
                </a:solidFill>
                <a:latin typeface="DejaVu Sans Mono"/>
              </a:rPr>
              <a:t>&lt;pybind11/pybind11.h&gt;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07020"/>
                </a:solidFill>
                <a:latin typeface="DejaVu Sans Mono"/>
              </a:rPr>
              <a:t>#include</a:t>
            </a:r>
            <a:r>
              <a:rPr b="0" lang="en-US" sz="530" spc="-1" strike="noStrike">
                <a:solidFill>
                  <a:srgbClr val="bbbbbb"/>
                </a:solidFill>
                <a:latin typeface="DejaVu Sans Mono"/>
              </a:rPr>
              <a:t> </a:t>
            </a:r>
            <a:r>
              <a:rPr b="0" lang="en-US" sz="530" spc="-1" strike="noStrike">
                <a:solidFill>
                  <a:srgbClr val="60a0b0"/>
                </a:solidFill>
                <a:latin typeface="DejaVu Sans Mono"/>
              </a:rPr>
              <a:t>&lt;pybind11/numpy.h&gt;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07020"/>
                </a:solidFill>
                <a:latin typeface="DejaVu Sans Mono"/>
              </a:rPr>
              <a:t>#include</a:t>
            </a:r>
            <a:r>
              <a:rPr b="0" lang="en-US" sz="530" spc="-1" strike="noStrike">
                <a:solidFill>
                  <a:srgbClr val="bbbbbb"/>
                </a:solidFill>
                <a:latin typeface="DejaVu Sans Mono"/>
              </a:rPr>
              <a:t> </a:t>
            </a:r>
            <a:r>
              <a:rPr b="0" lang="en-US" sz="530" spc="-1" strike="noStrike">
                <a:solidFill>
                  <a:srgbClr val="60a0b0"/>
                </a:solidFill>
                <a:latin typeface="DejaVu Sans Mono"/>
              </a:rPr>
              <a:t>"kernel.hpp"</a:t>
            </a:r>
            <a:endParaRPr b="0" lang="en-US" sz="530" spc="-1" strike="noStrike">
              <a:solidFill>
                <a:srgbClr val="000000"/>
              </a:solidFill>
              <a:latin typeface="Arial"/>
            </a:endParaRPr>
          </a:p>
          <a:p>
            <a:pPr>
              <a:lnSpc>
                <a:spcPct val="105000"/>
              </a:lnSpc>
              <a:tabLst>
                <a:tab algn="l" pos="0"/>
              </a:tabLst>
            </a:pPr>
            <a:r>
              <a:rPr b="1" lang="en-US" sz="530" spc="-1" strike="noStrike">
                <a:solidFill>
                  <a:srgbClr val="007020"/>
                </a:solidFill>
                <a:latin typeface="DejaVu Sans Mono"/>
              </a:rPr>
              <a:t>namespace</a:t>
            </a:r>
            <a:r>
              <a:rPr b="0" lang="en-US" sz="530" spc="-1" strike="noStrike">
                <a:solidFill>
                  <a:srgbClr val="bbbbbb"/>
                </a:solidFill>
                <a:latin typeface="DejaVu Sans Mono"/>
              </a:rPr>
              <a:t> </a:t>
            </a:r>
            <a:r>
              <a:rPr b="1" lang="en-US" sz="530" spc="-1" strike="noStrike">
                <a:solidFill>
                  <a:srgbClr val="0e84b5"/>
                </a:solidFill>
                <a:latin typeface="DejaVu Sans Mono"/>
              </a:rPr>
              <a:t>py</a:t>
            </a:r>
            <a:r>
              <a:rPr b="0" lang="en-US" sz="530" spc="-1" strike="noStrike">
                <a:solidFill>
                  <a:srgbClr val="bbbbbb"/>
                </a:solidFill>
                <a:latin typeface="DejaVu Sans Mono"/>
              </a:rPr>
              <a:t> </a:t>
            </a:r>
            <a:r>
              <a:rPr b="0" lang="en-US" sz="530" spc="-1" strike="noStrike">
                <a:solidFill>
                  <a:srgbClr val="666666"/>
                </a:solidFill>
                <a:latin typeface="DejaVu Sans Mono"/>
              </a:rPr>
              <a:t>=</a:t>
            </a:r>
            <a:r>
              <a:rPr b="0" lang="en-US" sz="530" spc="-1" strike="noStrike">
                <a:solidFill>
                  <a:srgbClr val="bbbbbb"/>
                </a:solidFill>
                <a:latin typeface="DejaVu Sans Mono"/>
              </a:rPr>
              <a:t> </a:t>
            </a:r>
            <a:r>
              <a:rPr b="1" lang="en-US" sz="530" spc="-1" strike="noStrike">
                <a:solidFill>
                  <a:srgbClr val="0e84b5"/>
                </a:solidFill>
                <a:latin typeface="DejaVu Sans Mono"/>
              </a:rPr>
              <a:t>pybind11</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31424"/>
                </a:solidFill>
                <a:latin typeface="DejaVu Sans Mono"/>
              </a:rPr>
              <a:t>PYBIND11_MODULE(_native,</a:t>
            </a:r>
            <a:r>
              <a:rPr b="0" lang="en-US" sz="530" spc="-1" strike="noStrike">
                <a:solidFill>
                  <a:srgbClr val="bbbbbb"/>
                </a:solidFill>
                <a:latin typeface="DejaVu Sans Mono"/>
              </a:rPr>
              <a:t> </a:t>
            </a:r>
            <a:r>
              <a:rPr b="0" lang="en-US" sz="530" spc="-1" strike="noStrike">
                <a:solidFill>
                  <a:srgbClr val="031424"/>
                </a:solidFill>
                <a:latin typeface="DejaVu Sans Mono"/>
              </a:rPr>
              <a:t>m)</a:t>
            </a:r>
            <a:r>
              <a:rPr b="0" lang="en-US" sz="530" spc="-1" strike="noStrike">
                <a:solidFill>
                  <a:srgbClr val="bbbbbb"/>
                </a:solidFill>
                <a:latin typeface="DejaVu Sans Mono"/>
              </a:rPr>
              <a:t> </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bbbbbb"/>
                </a:solidFill>
                <a:latin typeface="DejaVu Sans Mono"/>
              </a:rPr>
              <a:t>  </a:t>
            </a:r>
            <a:r>
              <a:rPr b="0" lang="en-US" sz="530" spc="-1" strike="noStrike">
                <a:solidFill>
                  <a:srgbClr val="031424"/>
                </a:solidFill>
                <a:latin typeface="DejaVu Sans Mono"/>
              </a:rPr>
              <a:t>m.def(</a:t>
            </a:r>
            <a:r>
              <a:rPr b="0" lang="en-US" sz="530" spc="-1" strike="noStrike">
                <a:solidFill>
                  <a:srgbClr val="4070a0"/>
                </a:solidFill>
                <a:latin typeface="DejaVu Sans Mono"/>
              </a:rPr>
              <a:t>"sum_sq"</a:t>
            </a:r>
            <a:r>
              <a:rPr b="0" lang="en-US" sz="530" spc="-1" strike="noStrike">
                <a:solidFill>
                  <a:srgbClr val="031424"/>
                </a:solidFill>
                <a:latin typeface="DejaVu Sans Mono"/>
              </a:rPr>
              <a:t>,</a:t>
            </a:r>
            <a:r>
              <a:rPr b="0" lang="en-US" sz="530" spc="-1" strike="noStrike">
                <a:solidFill>
                  <a:srgbClr val="bbbbbb"/>
                </a:solidFill>
                <a:latin typeface="DejaVu Sans Mono"/>
              </a:rPr>
              <a:t> </a:t>
            </a:r>
            <a:r>
              <a:rPr b="0" lang="en-US" sz="530" spc="-1" strike="noStrike">
                <a:solidFill>
                  <a:srgbClr val="031424"/>
                </a:solidFill>
                <a:latin typeface="DejaVu Sans Mono"/>
              </a:rPr>
              <a:t>[](py</a:t>
            </a:r>
            <a:r>
              <a:rPr b="0" lang="en-US" sz="530" spc="-1" strike="noStrike">
                <a:solidFill>
                  <a:srgbClr val="666666"/>
                </a:solidFill>
                <a:latin typeface="DejaVu Sans Mono"/>
              </a:rPr>
              <a:t>::</a:t>
            </a:r>
            <a:r>
              <a:rPr b="0" lang="en-US" sz="530" spc="-1" strike="noStrike">
                <a:solidFill>
                  <a:srgbClr val="031424"/>
                </a:solidFill>
                <a:latin typeface="DejaVu Sans Mono"/>
              </a:rPr>
              <a:t>array_t</a:t>
            </a:r>
            <a:r>
              <a:rPr b="0" lang="en-US" sz="530" spc="-1" strike="noStrike">
                <a:solidFill>
                  <a:srgbClr val="666666"/>
                </a:solidFill>
                <a:latin typeface="DejaVu Sans Mono"/>
              </a:rPr>
              <a:t>&lt;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bbbbbb"/>
                </a:solidFill>
                <a:latin typeface="DejaVu Sans Mono"/>
              </a:rPr>
              <a:t>      </a:t>
            </a:r>
            <a:r>
              <a:rPr b="0" lang="en-US" sz="530" spc="-1" strike="noStrike">
                <a:solidFill>
                  <a:srgbClr val="902000"/>
                </a:solidFill>
                <a:latin typeface="DejaVu Sans Mono"/>
              </a:rPr>
              <a:t>double</a:t>
            </a:r>
            <a:r>
              <a:rPr b="0" lang="en-US" sz="530" spc="-1" strike="noStrike">
                <a:solidFill>
                  <a:srgbClr val="031424"/>
                </a:solidFill>
                <a:latin typeface="DejaVu Sans Mono"/>
              </a:rPr>
              <a:t>,</a:t>
            </a:r>
            <a:r>
              <a:rPr b="0" lang="en-US" sz="530" spc="-1" strike="noStrike">
                <a:solidFill>
                  <a:srgbClr val="bbbbbb"/>
                </a:solidFill>
                <a:latin typeface="DejaVu Sans Mono"/>
              </a:rPr>
              <a:t> </a:t>
            </a:r>
            <a:r>
              <a:rPr b="0" lang="en-US" sz="530" spc="-1" strike="noStrike">
                <a:solidFill>
                  <a:srgbClr val="031424"/>
                </a:solidFill>
                <a:latin typeface="DejaVu Sans Mono"/>
              </a:rPr>
              <a:t>py</a:t>
            </a:r>
            <a:r>
              <a:rPr b="0" lang="en-US" sz="530" spc="-1" strike="noStrike">
                <a:solidFill>
                  <a:srgbClr val="666666"/>
                </a:solidFill>
                <a:latin typeface="DejaVu Sans Mono"/>
              </a:rPr>
              <a:t>::</a:t>
            </a:r>
            <a:r>
              <a:rPr b="0" lang="en-US" sz="530" spc="-1" strike="noStrike">
                <a:solidFill>
                  <a:srgbClr val="031424"/>
                </a:solidFill>
                <a:latin typeface="DejaVu Sans Mono"/>
              </a:rPr>
              <a:t>array</a:t>
            </a:r>
            <a:r>
              <a:rPr b="0" lang="en-US" sz="530" spc="-1" strike="noStrike">
                <a:solidFill>
                  <a:srgbClr val="666666"/>
                </a:solidFill>
                <a:latin typeface="DejaVu Sans Mono"/>
              </a:rPr>
              <a:t>::</a:t>
            </a:r>
            <a:r>
              <a:rPr b="0" lang="en-US" sz="530" spc="-1" strike="noStrike">
                <a:solidFill>
                  <a:srgbClr val="031424"/>
                </a:solidFill>
                <a:latin typeface="DejaVu Sans Mono"/>
              </a:rPr>
              <a:t>c_style</a:t>
            </a:r>
            <a:r>
              <a:rPr b="0" lang="en-US" sz="530" spc="-1" strike="noStrike">
                <a:solidFill>
                  <a:srgbClr val="666666"/>
                </a:solidFill>
                <a:latin typeface="DejaVu Sans Mono"/>
              </a:rPr>
              <a:t>&gt;</a:t>
            </a:r>
            <a:r>
              <a:rPr b="0" lang="en-US" sz="530" spc="-1" strike="noStrike">
                <a:solidFill>
                  <a:srgbClr val="bbbbbb"/>
                </a:solidFill>
                <a:latin typeface="DejaVu Sans Mono"/>
              </a:rPr>
              <a:t> </a:t>
            </a:r>
            <a:r>
              <a:rPr b="0" lang="en-US" sz="530" spc="-1" strike="noStrike">
                <a:solidFill>
                  <a:srgbClr val="031424"/>
                </a:solidFill>
                <a:latin typeface="DejaVu Sans Mono"/>
              </a:rPr>
              <a:t>x)</a:t>
            </a:r>
            <a:r>
              <a:rPr b="0" lang="en-US" sz="530" spc="-1" strike="noStrike">
                <a:solidFill>
                  <a:srgbClr val="bbbbbb"/>
                </a:solidFill>
                <a:latin typeface="DejaVu Sans Mono"/>
              </a:rPr>
              <a:t> </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bbbbbb"/>
                </a:solidFill>
                <a:latin typeface="DejaVu Sans Mono"/>
              </a:rPr>
              <a:t>    </a:t>
            </a:r>
            <a:r>
              <a:rPr b="1" lang="en-US" sz="530" spc="-1" strike="noStrike">
                <a:solidFill>
                  <a:srgbClr val="007020"/>
                </a:solidFill>
                <a:latin typeface="DejaVu Sans Mono"/>
              </a:rPr>
              <a:t>return</a:t>
            </a:r>
            <a:r>
              <a:rPr b="0" lang="en-US" sz="530" spc="-1" strike="noStrike">
                <a:solidFill>
                  <a:srgbClr val="bbbbbb"/>
                </a:solidFill>
                <a:latin typeface="DejaVu Sans Mono"/>
              </a:rPr>
              <a:t> </a:t>
            </a:r>
            <a:r>
              <a:rPr b="0" lang="en-US" sz="530" spc="-1" strike="noStrike">
                <a:solidFill>
                  <a:srgbClr val="031424"/>
                </a:solidFill>
                <a:latin typeface="DejaVu Sans Mono"/>
              </a:rPr>
              <a:t>sum_sq(x.data(),</a:t>
            </a:r>
            <a:r>
              <a:rPr b="0" lang="en-US" sz="530" spc="-1" strike="noStrike">
                <a:solidFill>
                  <a:srgbClr val="bbbbbb"/>
                </a:solidFill>
                <a:latin typeface="DejaVu Sans Mono"/>
              </a:rPr>
              <a:t> </a:t>
            </a:r>
            <a:r>
              <a:rPr b="0" lang="en-US" sz="530" spc="-1" strike="noStrike">
                <a:solidFill>
                  <a:srgbClr val="031424"/>
                </a:solidFill>
                <a:latin typeface="DejaVu Sans Mono"/>
              </a:rPr>
              <a:t>x.size());</a:t>
            </a:r>
            <a:endParaRPr b="0" lang="en-US" sz="530" spc="-1" strike="noStrike">
              <a:solidFill>
                <a:srgbClr val="000000"/>
              </a:solidFill>
              <a:latin typeface="Arial"/>
            </a:endParaRPr>
          </a:p>
          <a:p>
            <a:pPr>
              <a:lnSpc>
                <a:spcPct val="105000"/>
              </a:lnSpc>
              <a:tabLst>
                <a:tab algn="l" pos="0"/>
              </a:tabLst>
            </a:pPr>
            <a:r>
              <a:rPr b="0" lang="en-US" sz="530" spc="-1" strike="noStrike">
                <a:solidFill>
                  <a:srgbClr val="bbbbbb"/>
                </a:solidFill>
                <a:latin typeface="DejaVu Sans Mono"/>
              </a:rPr>
              <a:t>  </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endParaRPr b="0" lang="en-US" sz="530" spc="-1" strike="noStrike">
              <a:solidFill>
                <a:srgbClr val="000000"/>
              </a:solidFill>
              <a:latin typeface="Arial"/>
            </a:endParaRPr>
          </a:p>
        </p:txBody>
      </p:sp>
      <p:sp>
        <p:nvSpPr>
          <p:cNvPr id="137" name="Rounded Rectangle 116"/>
          <p:cNvSpPr/>
          <p:nvPr/>
        </p:nvSpPr>
        <p:spPr>
          <a:xfrm>
            <a:off x="502920" y="4489560"/>
            <a:ext cx="2512440" cy="125964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38" name="TextBox 117"/>
          <p:cNvSpPr/>
          <p:nvPr/>
        </p:nvSpPr>
        <p:spPr>
          <a:xfrm>
            <a:off x="612720" y="4544640"/>
            <a:ext cx="229284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api.py (optional)</a:t>
            </a:r>
            <a:endParaRPr b="0" lang="en-US" sz="1500" spc="-1" strike="noStrike">
              <a:solidFill>
                <a:srgbClr val="000000"/>
              </a:solidFill>
              <a:latin typeface="Arial"/>
            </a:endParaRPr>
          </a:p>
        </p:txBody>
      </p:sp>
      <p:sp>
        <p:nvSpPr>
          <p:cNvPr id="139" name="TextBox 118"/>
          <p:cNvSpPr/>
          <p:nvPr/>
        </p:nvSpPr>
        <p:spPr>
          <a:xfrm>
            <a:off x="956160" y="4928760"/>
            <a:ext cx="1605960" cy="7664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1" lang="en-US" sz="530" spc="-1" strike="noStrike">
                <a:solidFill>
                  <a:srgbClr val="007020"/>
                </a:solidFill>
                <a:latin typeface="DejaVu Sans Mono"/>
              </a:rPr>
              <a:t>import</a:t>
            </a:r>
            <a:r>
              <a:rPr b="0" lang="en-US" sz="530" spc="-1" strike="noStrike">
                <a:solidFill>
                  <a:srgbClr val="031424"/>
                </a:solidFill>
                <a:latin typeface="DejaVu Sans Mono"/>
              </a:rPr>
              <a:t> </a:t>
            </a:r>
            <a:r>
              <a:rPr b="1" lang="en-US" sz="530" spc="-1" strike="noStrike">
                <a:solidFill>
                  <a:srgbClr val="0e84b5"/>
                </a:solidFill>
                <a:latin typeface="DejaVu Sans Mono"/>
              </a:rPr>
              <a:t>numpy</a:t>
            </a:r>
            <a:r>
              <a:rPr b="0" lang="en-US" sz="530" spc="-1" strike="noStrike">
                <a:solidFill>
                  <a:srgbClr val="031424"/>
                </a:solidFill>
                <a:latin typeface="DejaVu Sans Mono"/>
              </a:rPr>
              <a:t> </a:t>
            </a:r>
            <a:r>
              <a:rPr b="1" lang="en-US" sz="530" spc="-1" strike="noStrike">
                <a:solidFill>
                  <a:srgbClr val="007020"/>
                </a:solidFill>
                <a:latin typeface="DejaVu Sans Mono"/>
              </a:rPr>
              <a:t>as</a:t>
            </a:r>
            <a:r>
              <a:rPr b="0" lang="en-US" sz="530" spc="-1" strike="noStrike">
                <a:solidFill>
                  <a:srgbClr val="031424"/>
                </a:solidFill>
                <a:latin typeface="DejaVu Sans Mono"/>
              </a:rPr>
              <a:t> </a:t>
            </a:r>
            <a:r>
              <a:rPr b="1" lang="en-US" sz="530" spc="-1" strike="noStrike">
                <a:solidFill>
                  <a:srgbClr val="0e84b5"/>
                </a:solidFill>
                <a:latin typeface="DejaVu Sans Mono"/>
              </a:rPr>
              <a:t>np</a:t>
            </a:r>
            <a:endParaRPr b="0" lang="en-US" sz="530" spc="-1" strike="noStrike">
              <a:solidFill>
                <a:srgbClr val="000000"/>
              </a:solidFill>
              <a:latin typeface="Arial"/>
            </a:endParaRPr>
          </a:p>
          <a:p>
            <a:pPr>
              <a:lnSpc>
                <a:spcPct val="105000"/>
              </a:lnSpc>
              <a:tabLst>
                <a:tab algn="l" pos="0"/>
              </a:tabLst>
            </a:pPr>
            <a:r>
              <a:rPr b="1" lang="en-US" sz="530" spc="-1" strike="noStrike">
                <a:solidFill>
                  <a:srgbClr val="007020"/>
                </a:solidFill>
                <a:latin typeface="DejaVu Sans Mono"/>
              </a:rPr>
              <a:t>from</a:t>
            </a:r>
            <a:r>
              <a:rPr b="0" lang="en-US" sz="530" spc="-1" strike="noStrike">
                <a:solidFill>
                  <a:srgbClr val="031424"/>
                </a:solidFill>
                <a:latin typeface="DejaVu Sans Mono"/>
              </a:rPr>
              <a:t> </a:t>
            </a:r>
            <a:r>
              <a:rPr b="1" lang="en-US" sz="530" spc="-1" strike="noStrike">
                <a:solidFill>
                  <a:srgbClr val="0e84b5"/>
                </a:solidFill>
                <a:latin typeface="DejaVu Sans Mono"/>
              </a:rPr>
              <a:t>_native</a:t>
            </a:r>
            <a:r>
              <a:rPr b="0" lang="en-US" sz="530" spc="-1" strike="noStrike">
                <a:solidFill>
                  <a:srgbClr val="031424"/>
                </a:solidFill>
                <a:latin typeface="DejaVu Sans Mono"/>
              </a:rPr>
              <a:t> </a:t>
            </a:r>
            <a:r>
              <a:rPr b="1" lang="en-US" sz="530" spc="-1" strike="noStrike">
                <a:solidFill>
                  <a:srgbClr val="007020"/>
                </a:solidFill>
                <a:latin typeface="DejaVu Sans Mono"/>
              </a:rPr>
              <a:t>import</a:t>
            </a:r>
            <a:r>
              <a:rPr b="0" lang="en-US" sz="530" spc="-1" strike="noStrike">
                <a:solidFill>
                  <a:srgbClr val="031424"/>
                </a:solidFill>
                <a:latin typeface="DejaVu Sans Mono"/>
              </a:rPr>
              <a:t> sum_sq </a:t>
            </a:r>
            <a:r>
              <a:rPr b="1" lang="en-US" sz="530" spc="-1" strike="noStrike">
                <a:solidFill>
                  <a:srgbClr val="007020"/>
                </a:solidFill>
                <a:latin typeface="DejaVu Sans Mono"/>
              </a:rPr>
              <a:t>as</a:t>
            </a:r>
            <a:r>
              <a:rPr b="0" lang="en-US" sz="530" spc="-1" strike="noStrike">
                <a:solidFill>
                  <a:srgbClr val="031424"/>
                </a:solidFill>
                <a:latin typeface="DejaVu Sans Mono"/>
              </a:rPr>
              <a:t> native_sum</a:t>
            </a:r>
            <a:endParaRPr b="0" lang="en-US" sz="530" spc="-1" strike="noStrike">
              <a:solidFill>
                <a:srgbClr val="000000"/>
              </a:solidFill>
              <a:latin typeface="Arial"/>
            </a:endParaRPr>
          </a:p>
          <a:p>
            <a:pPr>
              <a:lnSpc>
                <a:spcPct val="105000"/>
              </a:lnSpc>
              <a:tabLst>
                <a:tab algn="l" pos="0"/>
              </a:tabLst>
            </a:pPr>
            <a:endParaRPr b="0" lang="en-US" sz="530" spc="-1" strike="noStrike">
              <a:solidFill>
                <a:srgbClr val="000000"/>
              </a:solidFill>
              <a:latin typeface="Arial"/>
            </a:endParaRPr>
          </a:p>
          <a:p>
            <a:pPr>
              <a:lnSpc>
                <a:spcPct val="105000"/>
              </a:lnSpc>
              <a:tabLst>
                <a:tab algn="l" pos="0"/>
              </a:tabLst>
            </a:pPr>
            <a:r>
              <a:rPr b="1" lang="en-US" sz="530" spc="-1" strike="noStrike">
                <a:solidFill>
                  <a:srgbClr val="007020"/>
                </a:solidFill>
                <a:latin typeface="DejaVu Sans Mono"/>
              </a:rPr>
              <a:t>def</a:t>
            </a:r>
            <a:r>
              <a:rPr b="0" lang="en-US" sz="530" spc="-1" strike="noStrike">
                <a:solidFill>
                  <a:srgbClr val="031424"/>
                </a:solidFill>
                <a:latin typeface="DejaVu Sans Mono"/>
              </a:rPr>
              <a:t> </a:t>
            </a:r>
            <a:r>
              <a:rPr b="0" lang="en-US" sz="530" spc="-1" strike="noStrike">
                <a:solidFill>
                  <a:srgbClr val="06287e"/>
                </a:solidFill>
                <a:latin typeface="DejaVu Sans Mono"/>
              </a:rPr>
              <a:t>sum_sq</a:t>
            </a:r>
            <a:r>
              <a:rPr b="0" lang="en-US" sz="530" spc="-1" strike="noStrike">
                <a:solidFill>
                  <a:srgbClr val="031424"/>
                </a:solidFill>
                <a:latin typeface="DejaVu Sans Mono"/>
              </a:rPr>
              <a:t>(values):</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31424"/>
                </a:solidFill>
                <a:latin typeface="DejaVu Sans Mono"/>
              </a:rPr>
              <a:t>    </a:t>
            </a:r>
            <a:r>
              <a:rPr b="0" lang="en-US" sz="530" spc="-1" strike="noStrike">
                <a:solidFill>
                  <a:srgbClr val="031424"/>
                </a:solidFill>
                <a:latin typeface="DejaVu Sans Mono"/>
              </a:rPr>
              <a:t>x </a:t>
            </a:r>
            <a:r>
              <a:rPr b="0" lang="en-US" sz="530" spc="-1" strike="noStrike">
                <a:solidFill>
                  <a:srgbClr val="666666"/>
                </a:solidFill>
                <a:latin typeface="DejaVu Sans Mono"/>
              </a:rPr>
              <a:t>=</a:t>
            </a:r>
            <a:r>
              <a:rPr b="0" lang="en-US" sz="530" spc="-1" strike="noStrike">
                <a:solidFill>
                  <a:srgbClr val="031424"/>
                </a:solidFill>
                <a:latin typeface="DejaVu Sans Mono"/>
              </a:rPr>
              <a:t> np</a:t>
            </a:r>
            <a:r>
              <a:rPr b="0" lang="en-US" sz="530" spc="-1" strike="noStrike">
                <a:solidFill>
                  <a:srgbClr val="666666"/>
                </a:solidFill>
                <a:latin typeface="DejaVu Sans Mono"/>
              </a:rPr>
              <a:t>.</a:t>
            </a:r>
            <a:r>
              <a:rPr b="0" lang="en-US" sz="530" spc="-1" strike="noStrike">
                <a:solidFill>
                  <a:srgbClr val="031424"/>
                </a:solidFill>
                <a:latin typeface="DejaVu Sans Mono"/>
              </a:rPr>
              <a:t>ascontiguousarray(</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31424"/>
                </a:solidFill>
                <a:latin typeface="DejaVu Sans Mono"/>
              </a:rPr>
              <a:t>        </a:t>
            </a:r>
            <a:r>
              <a:rPr b="0" lang="en-US" sz="530" spc="-1" strike="noStrike">
                <a:solidFill>
                  <a:srgbClr val="031424"/>
                </a:solidFill>
                <a:latin typeface="DejaVu Sans Mono"/>
              </a:rPr>
              <a:t>values, dtype</a:t>
            </a:r>
            <a:r>
              <a:rPr b="0" lang="en-US" sz="530" spc="-1" strike="noStrike">
                <a:solidFill>
                  <a:srgbClr val="666666"/>
                </a:solidFill>
                <a:latin typeface="DejaVu Sans Mono"/>
              </a:rPr>
              <a:t>=</a:t>
            </a:r>
            <a:r>
              <a:rPr b="0" lang="en-US" sz="530" spc="-1" strike="noStrike">
                <a:solidFill>
                  <a:srgbClr val="031424"/>
                </a:solidFill>
                <a:latin typeface="DejaVu Sans Mono"/>
              </a:rPr>
              <a:t>np</a:t>
            </a:r>
            <a:r>
              <a:rPr b="0" lang="en-US" sz="530" spc="-1" strike="noStrike">
                <a:solidFill>
                  <a:srgbClr val="666666"/>
                </a:solidFill>
                <a:latin typeface="DejaVu Sans Mono"/>
              </a:rPr>
              <a:t>.</a:t>
            </a:r>
            <a:r>
              <a:rPr b="0" lang="en-US" sz="530" spc="-1" strike="noStrike">
                <a:solidFill>
                  <a:srgbClr val="031424"/>
                </a:solidFill>
                <a:latin typeface="DejaVu Sans Mono"/>
              </a:rPr>
              <a:t>float64)</a:t>
            </a:r>
            <a:endParaRPr b="0" lang="en-US" sz="530" spc="-1" strike="noStrike">
              <a:solidFill>
                <a:srgbClr val="000000"/>
              </a:solidFill>
              <a:latin typeface="Arial"/>
            </a:endParaRPr>
          </a:p>
          <a:p>
            <a:pPr>
              <a:lnSpc>
                <a:spcPct val="105000"/>
              </a:lnSpc>
              <a:tabLst>
                <a:tab algn="l" pos="0"/>
              </a:tabLst>
            </a:pPr>
            <a:r>
              <a:rPr b="0" lang="en-US" sz="530" spc="-1" strike="noStrike">
                <a:solidFill>
                  <a:srgbClr val="031424"/>
                </a:solidFill>
                <a:latin typeface="DejaVu Sans Mono"/>
              </a:rPr>
              <a:t>    </a:t>
            </a:r>
            <a:r>
              <a:rPr b="1" lang="en-US" sz="530" spc="-1" strike="noStrike">
                <a:solidFill>
                  <a:srgbClr val="007020"/>
                </a:solidFill>
                <a:latin typeface="DejaVu Sans Mono"/>
              </a:rPr>
              <a:t>return</a:t>
            </a:r>
            <a:r>
              <a:rPr b="0" lang="en-US" sz="530" spc="-1" strike="noStrike">
                <a:solidFill>
                  <a:srgbClr val="031424"/>
                </a:solidFill>
                <a:latin typeface="DejaVu Sans Mono"/>
              </a:rPr>
              <a:t> native_sum(x)</a:t>
            </a:r>
            <a:endParaRPr b="0" lang="en-US" sz="530" spc="-1" strike="noStrike">
              <a:solidFill>
                <a:srgbClr val="000000"/>
              </a:solidFill>
              <a:latin typeface="Arial"/>
            </a:endParaRPr>
          </a:p>
          <a:p>
            <a:pPr>
              <a:lnSpc>
                <a:spcPct val="105000"/>
              </a:lnSpc>
              <a:tabLst>
                <a:tab algn="l" pos="0"/>
              </a:tabLst>
            </a:pPr>
            <a:endParaRPr b="0" lang="en-US" sz="530" spc="-1" strike="noStrike">
              <a:solidFill>
                <a:srgbClr val="000000"/>
              </a:solidFill>
              <a:latin typeface="Arial"/>
            </a:endParaRPr>
          </a:p>
        </p:txBody>
      </p:sp>
      <p:sp>
        <p:nvSpPr>
          <p:cNvPr id="140" name="Rounded Rectangle 119"/>
          <p:cNvSpPr/>
          <p:nvPr/>
        </p:nvSpPr>
        <p:spPr>
          <a:xfrm>
            <a:off x="3246120" y="4489560"/>
            <a:ext cx="2512440" cy="1259640"/>
          </a:xfrm>
          <a:prstGeom prst="roundRect">
            <a:avLst>
              <a:gd name="adj" fmla="val 16667"/>
            </a:avLst>
          </a:prstGeom>
          <a:solidFill>
            <a:srgbClr val="f4f6f8"/>
          </a:solidFill>
          <a:ln>
            <a:solidFill>
              <a:srgbClr val="b8c4c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41" name="TextBox 120"/>
          <p:cNvSpPr/>
          <p:nvPr/>
        </p:nvSpPr>
        <p:spPr>
          <a:xfrm>
            <a:off x="3355920" y="4544640"/>
            <a:ext cx="2292840" cy="3182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500" spc="-1" strike="noStrike">
                <a:solidFill>
                  <a:srgbClr val="031424"/>
                </a:solidFill>
                <a:latin typeface="Roboto"/>
              </a:rPr>
              <a:t>demo.py</a:t>
            </a:r>
            <a:endParaRPr b="0" lang="en-US" sz="1500" spc="-1" strike="noStrike">
              <a:solidFill>
                <a:srgbClr val="000000"/>
              </a:solidFill>
              <a:latin typeface="Arial"/>
            </a:endParaRPr>
          </a:p>
        </p:txBody>
      </p:sp>
      <p:sp>
        <p:nvSpPr>
          <p:cNvPr id="142" name="TextBox 121"/>
          <p:cNvSpPr/>
          <p:nvPr/>
        </p:nvSpPr>
        <p:spPr>
          <a:xfrm>
            <a:off x="3962520" y="4928760"/>
            <a:ext cx="1080000" cy="42804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1" lang="en-US" sz="530" spc="-1" strike="noStrike">
                <a:solidFill>
                  <a:srgbClr val="007020"/>
                </a:solidFill>
                <a:latin typeface="DejaVu Sans Mono"/>
              </a:rPr>
              <a:t>from</a:t>
            </a:r>
            <a:r>
              <a:rPr b="0" lang="en-US" sz="530" spc="-1" strike="noStrike">
                <a:solidFill>
                  <a:srgbClr val="031424"/>
                </a:solidFill>
                <a:latin typeface="DejaVu Sans Mono"/>
              </a:rPr>
              <a:t> </a:t>
            </a:r>
            <a:r>
              <a:rPr b="1" lang="en-US" sz="530" spc="-1" strike="noStrike">
                <a:solidFill>
                  <a:srgbClr val="0e84b5"/>
                </a:solidFill>
                <a:latin typeface="DejaVu Sans Mono"/>
              </a:rPr>
              <a:t>api</a:t>
            </a:r>
            <a:r>
              <a:rPr b="0" lang="en-US" sz="530" spc="-1" strike="noStrike">
                <a:solidFill>
                  <a:srgbClr val="031424"/>
                </a:solidFill>
                <a:latin typeface="DejaVu Sans Mono"/>
              </a:rPr>
              <a:t> </a:t>
            </a:r>
            <a:r>
              <a:rPr b="1" lang="en-US" sz="530" spc="-1" strike="noStrike">
                <a:solidFill>
                  <a:srgbClr val="007020"/>
                </a:solidFill>
                <a:latin typeface="DejaVu Sans Mono"/>
              </a:rPr>
              <a:t>import</a:t>
            </a:r>
            <a:r>
              <a:rPr b="0" lang="en-US" sz="530" spc="-1" strike="noStrike">
                <a:solidFill>
                  <a:srgbClr val="031424"/>
                </a:solidFill>
                <a:latin typeface="DejaVu Sans Mono"/>
              </a:rPr>
              <a:t> sum_sq</a:t>
            </a:r>
            <a:endParaRPr b="0" lang="en-US" sz="530" spc="-1" strike="noStrike">
              <a:solidFill>
                <a:srgbClr val="000000"/>
              </a:solidFill>
              <a:latin typeface="Arial"/>
            </a:endParaRPr>
          </a:p>
          <a:p>
            <a:pPr>
              <a:lnSpc>
                <a:spcPct val="105000"/>
              </a:lnSpc>
              <a:tabLst>
                <a:tab algn="l" pos="0"/>
              </a:tabLst>
            </a:pPr>
            <a:endParaRPr b="0" lang="en-US" sz="530" spc="-1" strike="noStrike">
              <a:solidFill>
                <a:srgbClr val="000000"/>
              </a:solidFill>
              <a:latin typeface="Arial"/>
            </a:endParaRPr>
          </a:p>
          <a:p>
            <a:pPr>
              <a:lnSpc>
                <a:spcPct val="105000"/>
              </a:lnSpc>
              <a:tabLst>
                <a:tab algn="l" pos="0"/>
              </a:tabLst>
            </a:pPr>
            <a:r>
              <a:rPr b="0" lang="en-US" sz="530" spc="-1" strike="noStrike">
                <a:solidFill>
                  <a:srgbClr val="007020"/>
                </a:solidFill>
                <a:latin typeface="DejaVu Sans Mono"/>
              </a:rPr>
              <a:t>print</a:t>
            </a:r>
            <a:r>
              <a:rPr b="0" lang="en-US" sz="530" spc="-1" strike="noStrike">
                <a:solidFill>
                  <a:srgbClr val="031424"/>
                </a:solidFill>
                <a:latin typeface="DejaVu Sans Mono"/>
              </a:rPr>
              <a:t>(sum_sq([</a:t>
            </a:r>
            <a:r>
              <a:rPr b="0" lang="en-US" sz="530" spc="-1" strike="noStrike">
                <a:solidFill>
                  <a:srgbClr val="40a070"/>
                </a:solidFill>
                <a:latin typeface="DejaVu Sans Mono"/>
              </a:rPr>
              <a:t>1.</a:t>
            </a:r>
            <a:r>
              <a:rPr b="0" lang="en-US" sz="530" spc="-1" strike="noStrike">
                <a:solidFill>
                  <a:srgbClr val="031424"/>
                </a:solidFill>
                <a:latin typeface="DejaVu Sans Mono"/>
              </a:rPr>
              <a:t>, </a:t>
            </a:r>
            <a:r>
              <a:rPr b="0" lang="en-US" sz="530" spc="-1" strike="noStrike">
                <a:solidFill>
                  <a:srgbClr val="40a070"/>
                </a:solidFill>
                <a:latin typeface="DejaVu Sans Mono"/>
              </a:rPr>
              <a:t>2.</a:t>
            </a:r>
            <a:r>
              <a:rPr b="0" lang="en-US" sz="530" spc="-1" strike="noStrike">
                <a:solidFill>
                  <a:srgbClr val="031424"/>
                </a:solidFill>
                <a:latin typeface="DejaVu Sans Mono"/>
              </a:rPr>
              <a:t>, </a:t>
            </a:r>
            <a:r>
              <a:rPr b="0" lang="en-US" sz="530" spc="-1" strike="noStrike">
                <a:solidFill>
                  <a:srgbClr val="40a070"/>
                </a:solidFill>
                <a:latin typeface="DejaVu Sans Mono"/>
              </a:rPr>
              <a:t>3.</a:t>
            </a:r>
            <a:r>
              <a:rPr b="0" lang="en-US" sz="530" spc="-1" strike="noStrike">
                <a:solidFill>
                  <a:srgbClr val="031424"/>
                </a:solidFill>
                <a:latin typeface="DejaVu Sans Mono"/>
              </a:rPr>
              <a:t>]))</a:t>
            </a:r>
            <a:endParaRPr b="0" lang="en-US" sz="530" spc="-1" strike="noStrike">
              <a:solidFill>
                <a:srgbClr val="000000"/>
              </a:solidFill>
              <a:latin typeface="Arial"/>
            </a:endParaRPr>
          </a:p>
          <a:p>
            <a:pPr>
              <a:lnSpc>
                <a:spcPct val="105000"/>
              </a:lnSpc>
              <a:tabLst>
                <a:tab algn="l" pos="0"/>
              </a:tabLst>
            </a:pPr>
            <a:endParaRPr b="0" lang="en-US" sz="530" spc="-1" strike="noStrike">
              <a:solidFill>
                <a:srgbClr val="000000"/>
              </a:solidFill>
              <a:latin typeface="Arial"/>
            </a:endParaRPr>
          </a:p>
        </p:txBody>
      </p:sp>
      <p:sp>
        <p:nvSpPr>
          <p:cNvPr id="143" name="TextBox 122"/>
          <p:cNvSpPr/>
          <p:nvPr/>
        </p:nvSpPr>
        <p:spPr>
          <a:xfrm>
            <a:off x="502920" y="5925240"/>
            <a:ext cx="5301360" cy="3639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800" spc="-1" strike="noStrike">
                <a:solidFill>
                  <a:srgbClr val="031424"/>
                </a:solidFill>
                <a:latin typeface="Roboto"/>
              </a:rPr>
              <a:t>Configure → build → import → run</a:t>
            </a:r>
            <a:endParaRPr b="0" lang="en-US" sz="1800" spc="-1" strike="noStrike">
              <a:solidFill>
                <a:srgbClr val="000000"/>
              </a:solidFill>
              <a:latin typeface="Arial"/>
            </a:endParaRPr>
          </a:p>
        </p:txBody>
      </p:sp>
      <p:sp>
        <p:nvSpPr>
          <p:cNvPr id="144" name="Rectangle 123"/>
          <p:cNvSpPr/>
          <p:nvPr/>
        </p:nvSpPr>
        <p:spPr>
          <a:xfrm>
            <a:off x="5961960" y="1280160"/>
            <a:ext cx="29880" cy="5118480"/>
          </a:xfrm>
          <a:prstGeom prst="rect">
            <a:avLst/>
          </a:prstGeom>
          <a:solidFill>
            <a:srgbClr val="e6b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45" name="TextBox 124"/>
          <p:cNvSpPr/>
          <p:nvPr/>
        </p:nvSpPr>
        <p:spPr>
          <a:xfrm>
            <a:off x="6849720" y="1828800"/>
            <a:ext cx="4358160" cy="3418920"/>
          </a:xfrm>
          <a:prstGeom prst="rect">
            <a:avLst/>
          </a:prstGeom>
          <a:noFill/>
          <a:ln w="0">
            <a:noFill/>
          </a:ln>
        </p:spPr>
        <p:style>
          <a:lnRef idx="0"/>
          <a:fillRef idx="0"/>
          <a:effectRef idx="0"/>
          <a:fontRef idx="minor"/>
        </p:style>
        <p:txBody>
          <a:bodyPr wrap="none" lIns="0" rIns="0" tIns="45000" bIns="45000" anchor="t">
            <a:spAutoFit/>
          </a:bodyPr>
          <a:p>
            <a:pPr>
              <a:lnSpc>
                <a:spcPct val="105000"/>
              </a:lnSpc>
              <a:tabLst>
                <a:tab algn="l" pos="0"/>
              </a:tabLst>
            </a:pPr>
            <a:r>
              <a:rPr b="1" lang="en-US" sz="1300" spc="-1" strike="noStrike">
                <a:solidFill>
                  <a:srgbClr val="007020"/>
                </a:solidFill>
                <a:latin typeface="DejaVu Sans Mono"/>
              </a:rPr>
              <a:t>import</a:t>
            </a:r>
            <a:r>
              <a:rPr b="0" lang="en-US" sz="1300" spc="-1" strike="noStrike">
                <a:solidFill>
                  <a:srgbClr val="031424"/>
                </a:solidFill>
                <a:latin typeface="DejaVu Sans Mono"/>
              </a:rPr>
              <a:t> </a:t>
            </a:r>
            <a:r>
              <a:rPr b="1" lang="en-US" sz="1300" spc="-1" strike="noStrike">
                <a:solidFill>
                  <a:srgbClr val="0e84b5"/>
                </a:solidFill>
                <a:latin typeface="DejaVu Sans Mono"/>
              </a:rPr>
              <a:t>numpy</a:t>
            </a:r>
            <a:r>
              <a:rPr b="0" lang="en-US" sz="1300" spc="-1" strike="noStrike">
                <a:solidFill>
                  <a:srgbClr val="031424"/>
                </a:solidFill>
                <a:latin typeface="DejaVu Sans Mono"/>
              </a:rPr>
              <a:t> </a:t>
            </a:r>
            <a:r>
              <a:rPr b="1" lang="en-US" sz="1300" spc="-1" strike="noStrike">
                <a:solidFill>
                  <a:srgbClr val="007020"/>
                </a:solidFill>
                <a:latin typeface="DejaVu Sans Mono"/>
              </a:rPr>
              <a:t>as</a:t>
            </a:r>
            <a:r>
              <a:rPr b="0" lang="en-US" sz="1300" spc="-1" strike="noStrike">
                <a:solidFill>
                  <a:srgbClr val="031424"/>
                </a:solidFill>
                <a:latin typeface="DejaVu Sans Mono"/>
              </a:rPr>
              <a:t> </a:t>
            </a:r>
            <a:r>
              <a:rPr b="1" lang="en-US" sz="1300" spc="-1" strike="noStrike">
                <a:solidFill>
                  <a:srgbClr val="0e84b5"/>
                </a:solidFill>
                <a:latin typeface="DejaVu Sans Mono"/>
              </a:rPr>
              <a:t>np</a:t>
            </a:r>
            <a:endParaRPr b="0" lang="en-US" sz="1300" spc="-1" strike="noStrike">
              <a:solidFill>
                <a:srgbClr val="000000"/>
              </a:solidFill>
              <a:latin typeface="Arial"/>
            </a:endParaRPr>
          </a:p>
          <a:p>
            <a:pPr>
              <a:lnSpc>
                <a:spcPct val="105000"/>
              </a:lnSpc>
              <a:tabLst>
                <a:tab algn="l" pos="0"/>
              </a:tabLst>
            </a:pPr>
            <a:r>
              <a:rPr b="1" lang="en-US" sz="1300" spc="-1" strike="noStrike">
                <a:solidFill>
                  <a:srgbClr val="007020"/>
                </a:solidFill>
                <a:latin typeface="DejaVu Sans Mono"/>
              </a:rPr>
              <a:t>from</a:t>
            </a:r>
            <a:r>
              <a:rPr b="0" lang="en-US" sz="1300" spc="-1" strike="noStrike">
                <a:solidFill>
                  <a:srgbClr val="031424"/>
                </a:solidFill>
                <a:latin typeface="DejaVu Sans Mono"/>
              </a:rPr>
              <a:t> </a:t>
            </a:r>
            <a:r>
              <a:rPr b="1" lang="en-US" sz="1300" spc="-1" strike="noStrike">
                <a:solidFill>
                  <a:srgbClr val="0e84b5"/>
                </a:solidFill>
                <a:latin typeface="DejaVu Sans Mono"/>
              </a:rPr>
              <a:t>cppyy_kit</a:t>
            </a:r>
            <a:r>
              <a:rPr b="0" lang="en-US" sz="1300" spc="-1" strike="noStrike">
                <a:solidFill>
                  <a:srgbClr val="031424"/>
                </a:solidFill>
                <a:latin typeface="DejaVu Sans Mono"/>
              </a:rPr>
              <a:t> </a:t>
            </a:r>
            <a:r>
              <a:rPr b="1" lang="en-US" sz="1300" spc="-1" strike="noStrike">
                <a:solidFill>
                  <a:srgbClr val="007020"/>
                </a:solidFill>
                <a:latin typeface="DejaVu Sans Mono"/>
              </a:rPr>
              <a:t>import</a:t>
            </a:r>
            <a:r>
              <a:rPr b="0" lang="en-US" sz="1300" spc="-1" strike="noStrike">
                <a:solidFill>
                  <a:srgbClr val="031424"/>
                </a:solidFill>
                <a:latin typeface="DejaVu Sans Mono"/>
              </a:rPr>
              <a:t> cpp</a:t>
            </a:r>
            <a:endParaRPr b="0" lang="en-US" sz="1300" spc="-1" strike="noStrike">
              <a:solidFill>
                <a:srgbClr val="000000"/>
              </a:solidFill>
              <a:latin typeface="Arial"/>
            </a:endParaRPr>
          </a:p>
          <a:p>
            <a:pPr>
              <a:lnSpc>
                <a:spcPct val="105000"/>
              </a:lnSpc>
              <a:tabLst>
                <a:tab algn="l" pos="0"/>
              </a:tabLst>
            </a:pPr>
            <a:r>
              <a:rPr b="1" lang="en-US" sz="1300" spc="-1" strike="noStrike">
                <a:solidFill>
                  <a:srgbClr val="007020"/>
                </a:solidFill>
                <a:latin typeface="DejaVu Sans Mono"/>
              </a:rPr>
              <a:t>from</a:t>
            </a:r>
            <a:r>
              <a:rPr b="0" lang="en-US" sz="1300" spc="-1" strike="noStrike">
                <a:solidFill>
                  <a:srgbClr val="031424"/>
                </a:solidFill>
                <a:latin typeface="DejaVu Sans Mono"/>
              </a:rPr>
              <a:t> </a:t>
            </a:r>
            <a:r>
              <a:rPr b="1" lang="en-US" sz="1300" spc="-1" strike="noStrike">
                <a:solidFill>
                  <a:srgbClr val="0e84b5"/>
                </a:solidFill>
                <a:latin typeface="DejaVu Sans Mono"/>
              </a:rPr>
              <a:t>cppyy_kit.numpy_types</a:t>
            </a:r>
            <a:r>
              <a:rPr b="0" lang="en-US" sz="1300" spc="-1" strike="noStrike">
                <a:solidFill>
                  <a:srgbClr val="031424"/>
                </a:solidFill>
                <a:latin typeface="DejaVu Sans Mono"/>
              </a:rPr>
              <a:t> </a:t>
            </a:r>
            <a:r>
              <a:rPr b="1" lang="en-US" sz="1300" spc="-1" strike="noStrike">
                <a:solidFill>
                  <a:srgbClr val="007020"/>
                </a:solidFill>
                <a:latin typeface="DejaVu Sans Mono"/>
              </a:rPr>
              <a:t>import</a:t>
            </a:r>
            <a:r>
              <a:rPr b="0" lang="en-US" sz="1300" spc="-1" strike="noStrike">
                <a:solidFill>
                  <a:srgbClr val="031424"/>
                </a:solidFill>
                <a:latin typeface="DejaVu Sans Mono"/>
              </a:rPr>
              <a:t> NDArray</a:t>
            </a:r>
            <a:endParaRPr b="0" lang="en-US" sz="1300" spc="-1" strike="noStrike">
              <a:solidFill>
                <a:srgbClr val="000000"/>
              </a:solidFill>
              <a:latin typeface="Arial"/>
            </a:endParaRPr>
          </a:p>
          <a:p>
            <a:pPr>
              <a:lnSpc>
                <a:spcPct val="105000"/>
              </a:lnSpc>
              <a:tabLst>
                <a:tab algn="l" pos="0"/>
              </a:tabLst>
            </a:pPr>
            <a:endParaRPr b="0" lang="en-US" sz="1300" spc="-1" strike="noStrike">
              <a:solidFill>
                <a:srgbClr val="000000"/>
              </a:solidFill>
              <a:latin typeface="Arial"/>
            </a:endParaRPr>
          </a:p>
          <a:p>
            <a:pPr>
              <a:lnSpc>
                <a:spcPct val="105000"/>
              </a:lnSpc>
              <a:tabLst>
                <a:tab algn="l" pos="0"/>
              </a:tabLst>
            </a:pPr>
            <a:r>
              <a:rPr b="1" lang="en-US" sz="1300" spc="-1" strike="noStrike">
                <a:solidFill>
                  <a:srgbClr val="555555"/>
                </a:solidFill>
                <a:latin typeface="DejaVu Sans Mono"/>
              </a:rPr>
              <a:t>@cpp</a:t>
            </a:r>
            <a:endParaRPr b="0" lang="en-US" sz="1300" spc="-1" strike="noStrike">
              <a:solidFill>
                <a:srgbClr val="000000"/>
              </a:solidFill>
              <a:latin typeface="Arial"/>
            </a:endParaRPr>
          </a:p>
          <a:p>
            <a:pPr>
              <a:lnSpc>
                <a:spcPct val="105000"/>
              </a:lnSpc>
              <a:tabLst>
                <a:tab algn="l" pos="0"/>
              </a:tabLst>
            </a:pPr>
            <a:r>
              <a:rPr b="1" lang="en-US" sz="1300" spc="-1" strike="noStrike">
                <a:solidFill>
                  <a:srgbClr val="007020"/>
                </a:solidFill>
                <a:latin typeface="DejaVu Sans Mono"/>
              </a:rPr>
              <a:t>def</a:t>
            </a:r>
            <a:r>
              <a:rPr b="0" lang="en-US" sz="1300" spc="-1" strike="noStrike">
                <a:solidFill>
                  <a:srgbClr val="031424"/>
                </a:solidFill>
                <a:latin typeface="DejaVu Sans Mono"/>
              </a:rPr>
              <a:t> </a:t>
            </a:r>
            <a:r>
              <a:rPr b="0" lang="en-US" sz="1300" spc="-1" strike="noStrike">
                <a:solidFill>
                  <a:srgbClr val="06287e"/>
                </a:solidFill>
                <a:latin typeface="DejaVu Sans Mono"/>
              </a:rPr>
              <a:t>sum_sq</a:t>
            </a:r>
            <a:r>
              <a:rPr b="0" lang="en-US" sz="1300" spc="-1" strike="noStrike">
                <a:solidFill>
                  <a:srgbClr val="031424"/>
                </a:solidFill>
                <a:latin typeface="DejaVu Sans Mono"/>
              </a:rPr>
              <a:t>(x: NDArray[np</a:t>
            </a:r>
            <a:r>
              <a:rPr b="0" lang="en-US" sz="1300" spc="-1" strike="noStrike">
                <a:solidFill>
                  <a:srgbClr val="666666"/>
                </a:solidFill>
                <a:latin typeface="DejaVu Sans Mono"/>
              </a:rPr>
              <a:t>.</a:t>
            </a:r>
            <a:r>
              <a:rPr b="0" lang="en-US" sz="1300" spc="-1" strike="noStrike">
                <a:solidFill>
                  <a:srgbClr val="031424"/>
                </a:solidFill>
                <a:latin typeface="DejaVu Sans Mono"/>
              </a:rPr>
              <a:t>float64]) </a:t>
            </a:r>
            <a:r>
              <a:rPr b="0" lang="en-US" sz="1300" spc="-1" strike="noStrike">
                <a:solidFill>
                  <a:srgbClr val="666666"/>
                </a:solidFill>
                <a:latin typeface="DejaVu Sans Mono"/>
              </a:rPr>
              <a:t>-&gt;</a:t>
            </a:r>
            <a:r>
              <a:rPr b="0" lang="en-US" sz="1300" spc="-1" strike="noStrike">
                <a:solidFill>
                  <a:srgbClr val="031424"/>
                </a:solidFill>
                <a:latin typeface="DejaVu Sans Mono"/>
              </a:rPr>
              <a:t> </a:t>
            </a:r>
            <a:r>
              <a:rPr b="0" lang="en-US" sz="1300" spc="-1" strike="noStrike">
                <a:solidFill>
                  <a:srgbClr val="007020"/>
                </a:solidFill>
                <a:latin typeface="DejaVu Sans Mono"/>
              </a:rPr>
              <a:t>float</a:t>
            </a:r>
            <a:r>
              <a:rPr b="0" lang="en-US" sz="1300" spc="-1" strike="noStrike">
                <a:solidFill>
                  <a:srgbClr val="031424"/>
                </a:solidFill>
                <a:latin typeface="DejaVu Sans Mono"/>
              </a:rPr>
              <a:t>:</a:t>
            </a:r>
            <a:endParaRPr b="0" lang="en-US" sz="1300" spc="-1" strike="noStrike">
              <a:solidFill>
                <a:srgbClr val="000000"/>
              </a:solidFill>
              <a:latin typeface="Arial"/>
            </a:endParaRPr>
          </a:p>
          <a:p>
            <a:pPr>
              <a:lnSpc>
                <a:spcPct val="105000"/>
              </a:lnSpc>
              <a:tabLst>
                <a:tab algn="l" pos="0"/>
              </a:tabLst>
            </a:pPr>
            <a:r>
              <a:rPr b="0" lang="en-US" sz="1300" spc="-1" strike="noStrike">
                <a:solidFill>
                  <a:srgbClr val="bbbbbb"/>
                </a:solidFill>
                <a:latin typeface="DejaVu Sans Mono"/>
              </a:rPr>
              <a:t>    </a:t>
            </a:r>
            <a:r>
              <a:rPr b="0" lang="en-US" sz="1300" spc="-1" strike="noStrike">
                <a:solidFill>
                  <a:srgbClr val="4070a0"/>
                </a:solidFill>
                <a:latin typeface="DejaVu Sans Mono"/>
              </a:rPr>
              <a:t>"""</a:t>
            </a:r>
            <a:endParaRPr b="0" lang="en-US" sz="1300" spc="-1" strike="noStrike">
              <a:solidFill>
                <a:srgbClr val="000000"/>
              </a:solidFill>
              <a:latin typeface="Arial"/>
            </a:endParaRPr>
          </a:p>
          <a:p>
            <a:pPr>
              <a:lnSpc>
                <a:spcPct val="105000"/>
              </a:lnSpc>
              <a:tabLst>
                <a:tab algn="l" pos="0"/>
              </a:tabLst>
            </a:pPr>
            <a:r>
              <a:rPr b="0" lang="en-US" sz="1300" spc="-1" strike="noStrike">
                <a:solidFill>
                  <a:srgbClr val="4070a0"/>
                </a:solidFill>
                <a:latin typeface="DejaVu Sans Mono"/>
              </a:rPr>
              <a:t>    </a:t>
            </a:r>
            <a:r>
              <a:rPr b="0" lang="en-US" sz="1300" spc="-1" strike="noStrike">
                <a:solidFill>
                  <a:srgbClr val="4070a0"/>
                </a:solidFill>
                <a:latin typeface="DejaVu Sans Mono"/>
              </a:rPr>
              <a:t>double total = 0;</a:t>
            </a:r>
            <a:endParaRPr b="0" lang="en-US" sz="1300" spc="-1" strike="noStrike">
              <a:solidFill>
                <a:srgbClr val="000000"/>
              </a:solidFill>
              <a:latin typeface="Arial"/>
            </a:endParaRPr>
          </a:p>
          <a:p>
            <a:pPr>
              <a:lnSpc>
                <a:spcPct val="105000"/>
              </a:lnSpc>
              <a:tabLst>
                <a:tab algn="l" pos="0"/>
              </a:tabLst>
            </a:pPr>
            <a:r>
              <a:rPr b="0" lang="en-US" sz="1300" spc="-1" strike="noStrike">
                <a:solidFill>
                  <a:srgbClr val="4070a0"/>
                </a:solidFill>
                <a:latin typeface="DejaVu Sans Mono"/>
              </a:rPr>
              <a:t>    </a:t>
            </a:r>
            <a:r>
              <a:rPr b="0" lang="en-US" sz="1300" spc="-1" strike="noStrike">
                <a:solidFill>
                  <a:srgbClr val="4070a0"/>
                </a:solidFill>
                <a:latin typeface="DejaVu Sans Mono"/>
              </a:rPr>
              <a:t>for (size_t i = 0; i &lt; x_size; ++i)</a:t>
            </a:r>
            <a:endParaRPr b="0" lang="en-US" sz="1300" spc="-1" strike="noStrike">
              <a:solidFill>
                <a:srgbClr val="000000"/>
              </a:solidFill>
              <a:latin typeface="Arial"/>
            </a:endParaRPr>
          </a:p>
          <a:p>
            <a:pPr>
              <a:lnSpc>
                <a:spcPct val="105000"/>
              </a:lnSpc>
              <a:tabLst>
                <a:tab algn="l" pos="0"/>
              </a:tabLst>
            </a:pPr>
            <a:r>
              <a:rPr b="0" lang="en-US" sz="1300" spc="-1" strike="noStrike">
                <a:solidFill>
                  <a:srgbClr val="4070a0"/>
                </a:solidFill>
                <a:latin typeface="DejaVu Sans Mono"/>
              </a:rPr>
              <a:t>        </a:t>
            </a:r>
            <a:r>
              <a:rPr b="0" lang="en-US" sz="1300" spc="-1" strike="noStrike">
                <a:solidFill>
                  <a:srgbClr val="4070a0"/>
                </a:solidFill>
                <a:latin typeface="DejaVu Sans Mono"/>
              </a:rPr>
              <a:t>total += x[i] * x[i];</a:t>
            </a:r>
            <a:endParaRPr b="0" lang="en-US" sz="1300" spc="-1" strike="noStrike">
              <a:solidFill>
                <a:srgbClr val="000000"/>
              </a:solidFill>
              <a:latin typeface="Arial"/>
            </a:endParaRPr>
          </a:p>
          <a:p>
            <a:pPr>
              <a:lnSpc>
                <a:spcPct val="105000"/>
              </a:lnSpc>
              <a:tabLst>
                <a:tab algn="l" pos="0"/>
              </a:tabLst>
            </a:pPr>
            <a:r>
              <a:rPr b="0" lang="en-US" sz="1300" spc="-1" strike="noStrike">
                <a:solidFill>
                  <a:srgbClr val="4070a0"/>
                </a:solidFill>
                <a:latin typeface="DejaVu Sans Mono"/>
              </a:rPr>
              <a:t>    </a:t>
            </a:r>
            <a:r>
              <a:rPr b="0" lang="en-US" sz="1300" spc="-1" strike="noStrike">
                <a:solidFill>
                  <a:srgbClr val="4070a0"/>
                </a:solidFill>
                <a:latin typeface="DejaVu Sans Mono"/>
              </a:rPr>
              <a:t>return total;</a:t>
            </a:r>
            <a:endParaRPr b="0" lang="en-US" sz="1300" spc="-1" strike="noStrike">
              <a:solidFill>
                <a:srgbClr val="000000"/>
              </a:solidFill>
              <a:latin typeface="Arial"/>
            </a:endParaRPr>
          </a:p>
          <a:p>
            <a:pPr>
              <a:lnSpc>
                <a:spcPct val="105000"/>
              </a:lnSpc>
              <a:tabLst>
                <a:tab algn="l" pos="0"/>
              </a:tabLst>
            </a:pPr>
            <a:r>
              <a:rPr b="0" lang="en-US" sz="1300" spc="-1" strike="noStrike">
                <a:solidFill>
                  <a:srgbClr val="4070a0"/>
                </a:solidFill>
                <a:latin typeface="DejaVu Sans Mono"/>
              </a:rPr>
              <a:t>    </a:t>
            </a:r>
            <a:r>
              <a:rPr b="0" lang="en-US" sz="1300" spc="-1" strike="noStrike">
                <a:solidFill>
                  <a:srgbClr val="4070a0"/>
                </a:solidFill>
                <a:latin typeface="DejaVu Sans Mono"/>
              </a:rPr>
              <a:t>"""</a:t>
            </a:r>
            <a:endParaRPr b="0" lang="en-US" sz="1300" spc="-1" strike="noStrike">
              <a:solidFill>
                <a:srgbClr val="000000"/>
              </a:solidFill>
              <a:latin typeface="Arial"/>
            </a:endParaRPr>
          </a:p>
          <a:p>
            <a:pPr>
              <a:lnSpc>
                <a:spcPct val="105000"/>
              </a:lnSpc>
              <a:tabLst>
                <a:tab algn="l" pos="0"/>
              </a:tabLst>
            </a:pPr>
            <a:endParaRPr b="0" lang="en-US" sz="1300" spc="-1" strike="noStrike">
              <a:solidFill>
                <a:srgbClr val="000000"/>
              </a:solidFill>
              <a:latin typeface="Arial"/>
            </a:endParaRPr>
          </a:p>
          <a:p>
            <a:pPr>
              <a:lnSpc>
                <a:spcPct val="105000"/>
              </a:lnSpc>
              <a:tabLst>
                <a:tab algn="l" pos="0"/>
              </a:tabLst>
            </a:pPr>
            <a:r>
              <a:rPr b="0" lang="en-US" sz="1300" spc="-1" strike="noStrike">
                <a:solidFill>
                  <a:srgbClr val="031424"/>
                </a:solidFill>
                <a:latin typeface="DejaVu Sans Mono"/>
              </a:rPr>
              <a:t>x </a:t>
            </a:r>
            <a:r>
              <a:rPr b="0" lang="en-US" sz="1300" spc="-1" strike="noStrike">
                <a:solidFill>
                  <a:srgbClr val="666666"/>
                </a:solidFill>
                <a:latin typeface="DejaVu Sans Mono"/>
              </a:rPr>
              <a:t>=</a:t>
            </a:r>
            <a:r>
              <a:rPr b="0" lang="en-US" sz="1300" spc="-1" strike="noStrike">
                <a:solidFill>
                  <a:srgbClr val="031424"/>
                </a:solidFill>
                <a:latin typeface="DejaVu Sans Mono"/>
              </a:rPr>
              <a:t> np</a:t>
            </a:r>
            <a:r>
              <a:rPr b="0" lang="en-US" sz="1300" spc="-1" strike="noStrike">
                <a:solidFill>
                  <a:srgbClr val="666666"/>
                </a:solidFill>
                <a:latin typeface="DejaVu Sans Mono"/>
              </a:rPr>
              <a:t>.</a:t>
            </a:r>
            <a:r>
              <a:rPr b="0" lang="en-US" sz="1300" spc="-1" strike="noStrike">
                <a:solidFill>
                  <a:srgbClr val="031424"/>
                </a:solidFill>
                <a:latin typeface="DejaVu Sans Mono"/>
              </a:rPr>
              <a:t>array([</a:t>
            </a:r>
            <a:r>
              <a:rPr b="0" lang="en-US" sz="1300" spc="-1" strike="noStrike">
                <a:solidFill>
                  <a:srgbClr val="40a070"/>
                </a:solidFill>
                <a:latin typeface="DejaVu Sans Mono"/>
              </a:rPr>
              <a:t>1.</a:t>
            </a:r>
            <a:r>
              <a:rPr b="0" lang="en-US" sz="1300" spc="-1" strike="noStrike">
                <a:solidFill>
                  <a:srgbClr val="031424"/>
                </a:solidFill>
                <a:latin typeface="DejaVu Sans Mono"/>
              </a:rPr>
              <a:t>, </a:t>
            </a:r>
            <a:r>
              <a:rPr b="0" lang="en-US" sz="1300" spc="-1" strike="noStrike">
                <a:solidFill>
                  <a:srgbClr val="40a070"/>
                </a:solidFill>
                <a:latin typeface="DejaVu Sans Mono"/>
              </a:rPr>
              <a:t>2.</a:t>
            </a:r>
            <a:r>
              <a:rPr b="0" lang="en-US" sz="1300" spc="-1" strike="noStrike">
                <a:solidFill>
                  <a:srgbClr val="031424"/>
                </a:solidFill>
                <a:latin typeface="DejaVu Sans Mono"/>
              </a:rPr>
              <a:t>, </a:t>
            </a:r>
            <a:r>
              <a:rPr b="0" lang="en-US" sz="1300" spc="-1" strike="noStrike">
                <a:solidFill>
                  <a:srgbClr val="40a070"/>
                </a:solidFill>
                <a:latin typeface="DejaVu Sans Mono"/>
              </a:rPr>
              <a:t>3.</a:t>
            </a:r>
            <a:r>
              <a:rPr b="0" lang="en-US" sz="1300" spc="-1" strike="noStrike">
                <a:solidFill>
                  <a:srgbClr val="031424"/>
                </a:solidFill>
                <a:latin typeface="DejaVu Sans Mono"/>
              </a:rPr>
              <a:t>])</a:t>
            </a:r>
            <a:endParaRPr b="0" lang="en-US" sz="1300" spc="-1" strike="noStrike">
              <a:solidFill>
                <a:srgbClr val="000000"/>
              </a:solidFill>
              <a:latin typeface="Arial"/>
            </a:endParaRPr>
          </a:p>
          <a:p>
            <a:pPr>
              <a:lnSpc>
                <a:spcPct val="105000"/>
              </a:lnSpc>
              <a:tabLst>
                <a:tab algn="l" pos="0"/>
              </a:tabLst>
            </a:pPr>
            <a:r>
              <a:rPr b="0" lang="en-US" sz="1300" spc="-1" strike="noStrike">
                <a:solidFill>
                  <a:srgbClr val="007020"/>
                </a:solidFill>
                <a:latin typeface="DejaVu Sans Mono"/>
              </a:rPr>
              <a:t>print</a:t>
            </a:r>
            <a:r>
              <a:rPr b="0" lang="en-US" sz="1300" spc="-1" strike="noStrike">
                <a:solidFill>
                  <a:srgbClr val="031424"/>
                </a:solidFill>
                <a:latin typeface="DejaVu Sans Mono"/>
              </a:rPr>
              <a:t>(sum_sq(x))</a:t>
            </a:r>
            <a:endParaRPr b="0" lang="en-US" sz="1300" spc="-1" strike="noStrike">
              <a:solidFill>
                <a:srgbClr val="000000"/>
              </a:solidFill>
              <a:latin typeface="Arial"/>
            </a:endParaRPr>
          </a:p>
          <a:p>
            <a:pPr>
              <a:lnSpc>
                <a:spcPct val="105000"/>
              </a:lnSpc>
              <a:tabLst>
                <a:tab algn="l" pos="0"/>
              </a:tabLst>
            </a:pPr>
            <a:endParaRPr b="0" lang="en-US" sz="1300" spc="-1" strike="noStrike">
              <a:solidFill>
                <a:srgbClr val="000000"/>
              </a:solidFill>
              <a:latin typeface="Arial"/>
            </a:endParaRPr>
          </a:p>
        </p:txBody>
      </p:sp>
      <p:sp>
        <p:nvSpPr>
          <p:cNvPr id="146" name="TextBox 125"/>
          <p:cNvSpPr/>
          <p:nvPr/>
        </p:nvSpPr>
        <p:spPr>
          <a:xfrm>
            <a:off x="6355080" y="5897880"/>
            <a:ext cx="520992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700" spc="-1" strike="noStrike">
                <a:solidFill>
                  <a:srgbClr val="031424"/>
                </a:solidFill>
                <a:latin typeface="Roboto"/>
              </a:rPr>
              <a:t>Run Python. The kit handles the native function.</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7" name="Picture 5" descr=""/>
          <p:cNvPicPr/>
          <p:nvPr/>
        </p:nvPicPr>
        <p:blipFill>
          <a:blip r:embed="rId1"/>
          <a:stretch/>
        </p:blipFill>
        <p:spPr>
          <a:xfrm>
            <a:off x="10623600" y="345600"/>
            <a:ext cx="1058400" cy="1058400"/>
          </a:xfrm>
          <a:prstGeom prst="rect">
            <a:avLst/>
          </a:prstGeom>
          <a:ln w="0">
            <a:noFill/>
          </a:ln>
        </p:spPr>
      </p:pic>
      <p:cxnSp>
        <p:nvCxnSpPr>
          <p:cNvPr id="148" name="Straight Connector 7"/>
          <p:cNvCxnSpPr/>
          <p:nvPr/>
        </p:nvCxnSpPr>
        <p:spPr>
          <a:xfrm>
            <a:off x="0" y="1134720"/>
            <a:ext cx="4366080" cy="2520"/>
          </a:xfrm>
          <a:prstGeom prst="straightConnector1">
            <a:avLst/>
          </a:prstGeom>
          <a:ln w="38100">
            <a:solidFill>
              <a:srgbClr val="fed021"/>
            </a:solidFill>
            <a:round/>
          </a:ln>
        </p:spPr>
      </p:cxnSp>
      <p:sp>
        <p:nvSpPr>
          <p:cNvPr id="149" name="TextBox 143"/>
          <p:cNvSpPr/>
          <p:nvPr/>
        </p:nvSpPr>
        <p:spPr>
          <a:xfrm>
            <a:off x="502920" y="320040"/>
            <a:ext cx="10148040" cy="5166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800" spc="-1" strike="noStrike">
                <a:solidFill>
                  <a:srgbClr val="031424"/>
                </a:solidFill>
                <a:latin typeface="Roboto"/>
              </a:rPr>
              <a:t>Localisation: score candidate robot positions</a:t>
            </a:r>
            <a:endParaRPr b="0" lang="en-US" sz="2800" spc="-1" strike="noStrike">
              <a:solidFill>
                <a:srgbClr val="000000"/>
              </a:solidFill>
              <a:latin typeface="Arial"/>
            </a:endParaRPr>
          </a:p>
        </p:txBody>
      </p:sp>
      <p:sp>
        <p:nvSpPr>
          <p:cNvPr id="150" name="TextBox 144"/>
          <p:cNvSpPr/>
          <p:nvPr/>
        </p:nvSpPr>
        <p:spPr>
          <a:xfrm>
            <a:off x="1270080" y="1170360"/>
            <a:ext cx="6784560" cy="5576040"/>
          </a:xfrm>
          <a:prstGeom prst="rect">
            <a:avLst/>
          </a:prstGeom>
          <a:noFill/>
          <a:ln w="0">
            <a:noFill/>
          </a:ln>
        </p:spPr>
        <p:style>
          <a:lnRef idx="0"/>
          <a:fillRef idx="0"/>
          <a:effectRef idx="0"/>
          <a:fontRef idx="minor"/>
        </p:style>
        <p:txBody>
          <a:bodyPr wrap="none" lIns="0" rIns="0" tIns="45000" bIns="45000" anchor="t">
            <a:spAutoFit/>
          </a:bodyPr>
          <a:p>
            <a:pPr>
              <a:lnSpc>
                <a:spcPct val="100000"/>
              </a:lnSpc>
              <a:tabLst>
                <a:tab algn="l" pos="0"/>
              </a:tabLst>
            </a:pPr>
            <a:r>
              <a:rPr b="1" lang="en-US" sz="1200" spc="-1" strike="noStrike">
                <a:solidFill>
                  <a:srgbClr val="007020"/>
                </a:solidFill>
                <a:latin typeface="DejaVu Sans Mono"/>
              </a:rPr>
              <a:t>import</a:t>
            </a:r>
            <a:r>
              <a:rPr b="0" lang="en-US" sz="1200" spc="-1" strike="noStrike">
                <a:solidFill>
                  <a:srgbClr val="031424"/>
                </a:solidFill>
                <a:latin typeface="DejaVu Sans Mono"/>
              </a:rPr>
              <a:t> </a:t>
            </a:r>
            <a:r>
              <a:rPr b="1" lang="en-US" sz="1200" spc="-1" strike="noStrike">
                <a:solidFill>
                  <a:srgbClr val="0e84b5"/>
                </a:solidFill>
                <a:latin typeface="DejaVu Sans Mono"/>
              </a:rPr>
              <a:t>sys</a:t>
            </a:r>
            <a:endParaRPr b="0" lang="en-US" sz="1200" spc="-1" strike="noStrike">
              <a:solidFill>
                <a:srgbClr val="000000"/>
              </a:solidFill>
              <a:latin typeface="Arial"/>
            </a:endParaRPr>
          </a:p>
          <a:p>
            <a:pPr>
              <a:lnSpc>
                <a:spcPct val="100000"/>
              </a:lnSpc>
              <a:tabLst>
                <a:tab algn="l" pos="0"/>
              </a:tabLst>
            </a:pPr>
            <a:r>
              <a:rPr b="1" lang="en-US" sz="1200" spc="-1" strike="noStrike">
                <a:solidFill>
                  <a:srgbClr val="007020"/>
                </a:solidFill>
                <a:latin typeface="DejaVu Sans Mono"/>
              </a:rPr>
              <a:t>import</a:t>
            </a:r>
            <a:r>
              <a:rPr b="0" lang="en-US" sz="1200" spc="-1" strike="noStrike">
                <a:solidFill>
                  <a:srgbClr val="031424"/>
                </a:solidFill>
                <a:latin typeface="DejaVu Sans Mono"/>
              </a:rPr>
              <a:t> </a:t>
            </a:r>
            <a:r>
              <a:rPr b="1" lang="en-US" sz="1200" spc="-1" strike="noStrike">
                <a:solidFill>
                  <a:srgbClr val="0e84b5"/>
                </a:solidFill>
                <a:latin typeface="DejaVu Sans Mono"/>
              </a:rPr>
              <a:t>numpy</a:t>
            </a:r>
            <a:r>
              <a:rPr b="0" lang="en-US" sz="1200" spc="-1" strike="noStrike">
                <a:solidFill>
                  <a:srgbClr val="031424"/>
                </a:solidFill>
                <a:latin typeface="DejaVu Sans Mono"/>
              </a:rPr>
              <a:t> </a:t>
            </a:r>
            <a:r>
              <a:rPr b="1" lang="en-US" sz="1200" spc="-1" strike="noStrike">
                <a:solidFill>
                  <a:srgbClr val="007020"/>
                </a:solidFill>
                <a:latin typeface="DejaVu Sans Mono"/>
              </a:rPr>
              <a:t>as</a:t>
            </a:r>
            <a:r>
              <a:rPr b="0" lang="en-US" sz="1200" spc="-1" strike="noStrike">
                <a:solidFill>
                  <a:srgbClr val="031424"/>
                </a:solidFill>
                <a:latin typeface="DejaVu Sans Mono"/>
              </a:rPr>
              <a:t> </a:t>
            </a:r>
            <a:r>
              <a:rPr b="1" lang="en-US" sz="1200" spc="-1" strike="noStrike">
                <a:solidFill>
                  <a:srgbClr val="0e84b5"/>
                </a:solidFill>
                <a:latin typeface="DejaVu Sans Mono"/>
              </a:rPr>
              <a:t>np</a:t>
            </a:r>
            <a:endParaRPr b="0" lang="en-US" sz="1200" spc="-1" strike="noStrike">
              <a:solidFill>
                <a:srgbClr val="000000"/>
              </a:solidFill>
              <a:latin typeface="Arial"/>
            </a:endParaRPr>
          </a:p>
          <a:p>
            <a:pPr>
              <a:lnSpc>
                <a:spcPct val="100000"/>
              </a:lnSpc>
              <a:tabLst>
                <a:tab algn="l" pos="0"/>
              </a:tabLst>
            </a:pPr>
            <a:r>
              <a:rPr b="1" lang="en-US" sz="1200" spc="-1" strike="noStrike">
                <a:solidFill>
                  <a:srgbClr val="007020"/>
                </a:solidFill>
                <a:latin typeface="DejaVu Sans Mono"/>
              </a:rPr>
              <a:t>from</a:t>
            </a:r>
            <a:r>
              <a:rPr b="0" lang="en-US" sz="1200" spc="-1" strike="noStrike">
                <a:solidFill>
                  <a:srgbClr val="031424"/>
                </a:solidFill>
                <a:latin typeface="DejaVu Sans Mono"/>
              </a:rPr>
              <a:t> </a:t>
            </a:r>
            <a:r>
              <a:rPr b="1" lang="en-US" sz="1200" spc="-1" strike="noStrike">
                <a:solidFill>
                  <a:srgbClr val="0e84b5"/>
                </a:solidFill>
                <a:latin typeface="DejaVu Sans Mono"/>
              </a:rPr>
              <a:t>cppyy_kit</a:t>
            </a:r>
            <a:r>
              <a:rPr b="0" lang="en-US" sz="1200" spc="-1" strike="noStrike">
                <a:solidFill>
                  <a:srgbClr val="031424"/>
                </a:solidFill>
                <a:latin typeface="DejaVu Sans Mono"/>
              </a:rPr>
              <a:t> </a:t>
            </a:r>
            <a:r>
              <a:rPr b="1" lang="en-US" sz="1200" spc="-1" strike="noStrike">
                <a:solidFill>
                  <a:srgbClr val="007020"/>
                </a:solidFill>
                <a:latin typeface="DejaVu Sans Mono"/>
              </a:rPr>
              <a:t>import</a:t>
            </a:r>
            <a:r>
              <a:rPr b="0" lang="en-US" sz="1200" spc="-1" strike="noStrike">
                <a:solidFill>
                  <a:srgbClr val="031424"/>
                </a:solidFill>
                <a:latin typeface="DejaVu Sans Mono"/>
              </a:rPr>
              <a:t> cpp</a:t>
            </a:r>
            <a:endParaRPr b="0" lang="en-US" sz="1200" spc="-1" strike="noStrike">
              <a:solidFill>
                <a:srgbClr val="000000"/>
              </a:solidFill>
              <a:latin typeface="Arial"/>
            </a:endParaRPr>
          </a:p>
          <a:p>
            <a:pPr>
              <a:lnSpc>
                <a:spcPct val="100000"/>
              </a:lnSpc>
              <a:tabLst>
                <a:tab algn="l" pos="0"/>
              </a:tabLst>
            </a:pPr>
            <a:r>
              <a:rPr b="1" lang="en-US" sz="1200" spc="-1" strike="noStrike">
                <a:solidFill>
                  <a:srgbClr val="007020"/>
                </a:solidFill>
                <a:latin typeface="DejaVu Sans Mono"/>
              </a:rPr>
              <a:t>from</a:t>
            </a:r>
            <a:r>
              <a:rPr b="0" lang="en-US" sz="1200" spc="-1" strike="noStrike">
                <a:solidFill>
                  <a:srgbClr val="031424"/>
                </a:solidFill>
                <a:latin typeface="DejaVu Sans Mono"/>
              </a:rPr>
              <a:t> </a:t>
            </a:r>
            <a:r>
              <a:rPr b="1" lang="en-US" sz="1200" spc="-1" strike="noStrike">
                <a:solidFill>
                  <a:srgbClr val="0e84b5"/>
                </a:solidFill>
                <a:latin typeface="DejaVu Sans Mono"/>
              </a:rPr>
              <a:t>cppyy_kit.numpy_types</a:t>
            </a:r>
            <a:r>
              <a:rPr b="0" lang="en-US" sz="1200" spc="-1" strike="noStrike">
                <a:solidFill>
                  <a:srgbClr val="031424"/>
                </a:solidFill>
                <a:latin typeface="DejaVu Sans Mono"/>
              </a:rPr>
              <a:t> </a:t>
            </a:r>
            <a:r>
              <a:rPr b="1" lang="en-US" sz="1200" spc="-1" strike="noStrike">
                <a:solidFill>
                  <a:srgbClr val="007020"/>
                </a:solidFill>
                <a:latin typeface="DejaVu Sans Mono"/>
              </a:rPr>
              <a:t>import</a:t>
            </a:r>
            <a:r>
              <a:rPr b="0" lang="en-US" sz="1200" spc="-1" strike="noStrike">
                <a:solidFill>
                  <a:srgbClr val="031424"/>
                </a:solidFill>
                <a:latin typeface="DejaVu Sans Mono"/>
              </a:rPr>
              <a:t> NDArray</a:t>
            </a:r>
            <a:endParaRPr b="0" lang="en-US" sz="1200" spc="-1" strike="noStrike">
              <a:solidFill>
                <a:srgbClr val="000000"/>
              </a:solidFill>
              <a:latin typeface="Arial"/>
            </a:endParaRPr>
          </a:p>
          <a:p>
            <a:pPr>
              <a:lnSpc>
                <a:spcPct val="100000"/>
              </a:lnSpc>
              <a:tabLst>
                <a:tab algn="l" pos="0"/>
              </a:tabLst>
            </a:pPr>
            <a:endParaRPr b="0" lang="en-US" sz="1200" spc="-1" strike="noStrike">
              <a:solidFill>
                <a:srgbClr val="000000"/>
              </a:solidFill>
              <a:latin typeface="Arial"/>
            </a:endParaRPr>
          </a:p>
          <a:p>
            <a:pPr>
              <a:lnSpc>
                <a:spcPct val="100000"/>
              </a:lnSpc>
              <a:tabLst>
                <a:tab algn="l" pos="0"/>
              </a:tabLst>
            </a:pPr>
            <a:r>
              <a:rPr b="0" lang="en-US" sz="1200" spc="-1" strike="noStrike">
                <a:solidFill>
                  <a:srgbClr val="031424"/>
                </a:solidFill>
                <a:latin typeface="DejaVu Sans Mono"/>
              </a:rPr>
              <a:t>Array </a:t>
            </a:r>
            <a:r>
              <a:rPr b="0" lang="en-US" sz="1200" spc="-1" strike="noStrike">
                <a:solidFill>
                  <a:srgbClr val="666666"/>
                </a:solidFill>
                <a:latin typeface="DejaVu Sans Mono"/>
              </a:rPr>
              <a:t>=</a:t>
            </a:r>
            <a:r>
              <a:rPr b="0" lang="en-US" sz="1200" spc="-1" strike="noStrike">
                <a:solidFill>
                  <a:srgbClr val="031424"/>
                </a:solidFill>
                <a:latin typeface="DejaVu Sans Mono"/>
              </a:rPr>
              <a:t> NDArray[np</a:t>
            </a:r>
            <a:r>
              <a:rPr b="0" lang="en-US" sz="1200" spc="-1" strike="noStrike">
                <a:solidFill>
                  <a:srgbClr val="666666"/>
                </a:solidFill>
                <a:latin typeface="DejaVu Sans Mono"/>
              </a:rPr>
              <a:t>.</a:t>
            </a:r>
            <a:r>
              <a:rPr b="0" lang="en-US" sz="1200" spc="-1" strike="noStrike">
                <a:solidFill>
                  <a:srgbClr val="031424"/>
                </a:solidFill>
                <a:latin typeface="DejaVu Sans Mono"/>
              </a:rPr>
              <a:t>float64]</a:t>
            </a:r>
            <a:endParaRPr b="0" lang="en-US" sz="1200" spc="-1" strike="noStrike">
              <a:solidFill>
                <a:srgbClr val="000000"/>
              </a:solidFill>
              <a:latin typeface="Arial"/>
            </a:endParaRPr>
          </a:p>
          <a:p>
            <a:pPr>
              <a:lnSpc>
                <a:spcPct val="100000"/>
              </a:lnSpc>
              <a:tabLst>
                <a:tab algn="l" pos="0"/>
              </a:tabLst>
            </a:pPr>
            <a:endParaRPr b="0" lang="en-US" sz="1200" spc="-1" strike="noStrike">
              <a:solidFill>
                <a:srgbClr val="000000"/>
              </a:solidFill>
              <a:latin typeface="Arial"/>
            </a:endParaRPr>
          </a:p>
          <a:p>
            <a:pPr>
              <a:lnSpc>
                <a:spcPct val="100000"/>
              </a:lnSpc>
              <a:tabLst>
                <a:tab algn="l" pos="0"/>
              </a:tabLst>
            </a:pPr>
            <a:r>
              <a:rPr b="1" lang="en-US" sz="1200" spc="-1" strike="noStrike">
                <a:solidFill>
                  <a:srgbClr val="555555"/>
                </a:solidFill>
                <a:latin typeface="DejaVu Sans Mono"/>
              </a:rPr>
              <a:t>@cpp</a:t>
            </a:r>
            <a:r>
              <a:rPr b="0" lang="en-US" sz="1200" spc="-1" strike="noStrike">
                <a:solidFill>
                  <a:srgbClr val="031424"/>
                </a:solidFill>
                <a:latin typeface="DejaVu Sans Mono"/>
              </a:rPr>
              <a:t>(headers</a:t>
            </a:r>
            <a:r>
              <a:rPr b="0" lang="en-US" sz="1200" spc="-1" strike="noStrike">
                <a:solidFill>
                  <a:srgbClr val="666666"/>
                </a:solidFill>
                <a:latin typeface="DejaVu Sans Mono"/>
              </a:rPr>
              <a:t>=</a:t>
            </a:r>
            <a:r>
              <a:rPr b="0" lang="en-US" sz="1200" spc="-1" strike="noStrike">
                <a:solidFill>
                  <a:srgbClr val="031424"/>
                </a:solidFill>
                <a:latin typeface="DejaVu Sans Mono"/>
              </a:rPr>
              <a:t>[</a:t>
            </a:r>
            <a:r>
              <a:rPr b="0" lang="en-US" sz="1200" spc="-1" strike="noStrike">
                <a:solidFill>
                  <a:srgbClr val="4070a0"/>
                </a:solidFill>
                <a:latin typeface="DejaVu Sans Mono"/>
              </a:rPr>
              <a:t>'Eigen/Core'</a:t>
            </a:r>
            <a:r>
              <a:rPr b="0" lang="en-US" sz="1200" spc="-1" strike="noStrike">
                <a:solidFill>
                  <a:srgbClr val="031424"/>
                </a:solidFill>
                <a:latin typeface="DejaVu Sans Mono"/>
              </a:rPr>
              <a:t>, </a:t>
            </a:r>
            <a:r>
              <a:rPr b="0" lang="en-US" sz="1200" spc="-1" strike="noStrike">
                <a:solidFill>
                  <a:srgbClr val="4070a0"/>
                </a:solidFill>
                <a:latin typeface="DejaVu Sans Mono"/>
              </a:rPr>
              <a:t>'stdexcept'</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031424"/>
                </a:solidFill>
                <a:latin typeface="DejaVu Sans Mono"/>
              </a:rPr>
              <a:t>     </a:t>
            </a:r>
            <a:r>
              <a:rPr b="0" lang="en-US" sz="1200" spc="-1" strike="noStrike">
                <a:solidFill>
                  <a:srgbClr val="031424"/>
                </a:solidFill>
                <a:latin typeface="DejaVu Sans Mono"/>
              </a:rPr>
              <a:t>include_paths</a:t>
            </a:r>
            <a:r>
              <a:rPr b="0" lang="en-US" sz="1200" spc="-1" strike="noStrike">
                <a:solidFill>
                  <a:srgbClr val="666666"/>
                </a:solidFill>
                <a:latin typeface="DejaVu Sans Mono"/>
              </a:rPr>
              <a:t>=</a:t>
            </a:r>
            <a:r>
              <a:rPr b="0" lang="en-US" sz="1200" spc="-1" strike="noStrike">
                <a:solidFill>
                  <a:srgbClr val="031424"/>
                </a:solidFill>
                <a:latin typeface="DejaVu Sans Mono"/>
              </a:rPr>
              <a:t>[</a:t>
            </a:r>
            <a:r>
              <a:rPr b="0" lang="en-US" sz="1200" spc="-1" strike="noStrike">
                <a:solidFill>
                  <a:srgbClr val="4070a0"/>
                </a:solidFill>
                <a:latin typeface="DejaVu Sans Mono"/>
              </a:rPr>
              <a:t>f'</a:t>
            </a:r>
            <a:r>
              <a:rPr b="0" lang="en-US" sz="1200" spc="-1" strike="noStrike">
                <a:solidFill>
                  <a:srgbClr val="70a0d0"/>
                </a:solidFill>
                <a:latin typeface="DejaVu Sans Mono"/>
              </a:rPr>
              <a:t>{</a:t>
            </a:r>
            <a:r>
              <a:rPr b="0" lang="en-US" sz="1200" spc="-1" strike="noStrike">
                <a:solidFill>
                  <a:srgbClr val="031424"/>
                </a:solidFill>
                <a:latin typeface="DejaVu Sans Mono"/>
              </a:rPr>
              <a:t>sys</a:t>
            </a:r>
            <a:r>
              <a:rPr b="0" lang="en-US" sz="1200" spc="-1" strike="noStrike">
                <a:solidFill>
                  <a:srgbClr val="666666"/>
                </a:solidFill>
                <a:latin typeface="DejaVu Sans Mono"/>
              </a:rPr>
              <a:t>.</a:t>
            </a:r>
            <a:r>
              <a:rPr b="0" lang="en-US" sz="1200" spc="-1" strike="noStrike">
                <a:solidFill>
                  <a:srgbClr val="031424"/>
                </a:solidFill>
                <a:latin typeface="DejaVu Sans Mono"/>
              </a:rPr>
              <a:t>prefix</a:t>
            </a:r>
            <a:r>
              <a:rPr b="0" lang="en-US" sz="1200" spc="-1" strike="noStrike">
                <a:solidFill>
                  <a:srgbClr val="70a0d0"/>
                </a:solidFill>
                <a:latin typeface="DejaVu Sans Mono"/>
              </a:rPr>
              <a:t>}</a:t>
            </a:r>
            <a:r>
              <a:rPr b="0" lang="en-US" sz="1200" spc="-1" strike="noStrike">
                <a:solidFill>
                  <a:srgbClr val="4070a0"/>
                </a:solidFill>
                <a:latin typeface="DejaVu Sans Mono"/>
              </a:rPr>
              <a:t>/include/eigen3'</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031424"/>
                </a:solidFill>
                <a:latin typeface="DejaVu Sans Mono"/>
              </a:rPr>
              <a:t>     </a:t>
            </a:r>
            <a:r>
              <a:rPr b="0" lang="en-US" sz="1200" spc="-1" strike="noStrike">
                <a:solidFill>
                  <a:srgbClr val="031424"/>
                </a:solidFill>
                <a:latin typeface="DejaVu Sans Mono"/>
              </a:rPr>
              <a:t>link_args</a:t>
            </a:r>
            <a:r>
              <a:rPr b="0" lang="en-US" sz="1200" spc="-1" strike="noStrike">
                <a:solidFill>
                  <a:srgbClr val="666666"/>
                </a:solidFill>
                <a:latin typeface="DejaVu Sans Mono"/>
              </a:rPr>
              <a:t>=</a:t>
            </a:r>
            <a:r>
              <a:rPr b="0" lang="en-US" sz="1200" spc="-1" strike="noStrike">
                <a:solidFill>
                  <a:srgbClr val="031424"/>
                </a:solidFill>
                <a:latin typeface="DejaVu Sans Mono"/>
              </a:rPr>
              <a:t>[</a:t>
            </a:r>
            <a:r>
              <a:rPr b="0" lang="en-US" sz="1200" spc="-1" strike="noStrike">
                <a:solidFill>
                  <a:srgbClr val="4070a0"/>
                </a:solidFill>
                <a:latin typeface="DejaVu Sans Mono"/>
              </a:rPr>
              <a:t>'-fopenmp'</a:t>
            </a:r>
            <a:r>
              <a:rPr b="0" lang="en-US" sz="1200" spc="-1" strike="noStrike">
                <a:solidFill>
                  <a:srgbClr val="031424"/>
                </a:solidFill>
                <a:latin typeface="DejaVu Sans Mono"/>
              </a:rPr>
              <a:t>], nogil</a:t>
            </a:r>
            <a:r>
              <a:rPr b="0" lang="en-US" sz="1200" spc="-1" strike="noStrike">
                <a:solidFill>
                  <a:srgbClr val="666666"/>
                </a:solidFill>
                <a:latin typeface="DejaVu Sans Mono"/>
              </a:rPr>
              <a:t>=</a:t>
            </a:r>
            <a:r>
              <a:rPr b="1" lang="en-US" sz="1200" spc="-1" strike="noStrike">
                <a:solidFill>
                  <a:srgbClr val="007020"/>
                </a:solidFill>
                <a:latin typeface="DejaVu Sans Mono"/>
              </a:rPr>
              <a:t>True</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1" lang="en-US" sz="1200" spc="-1" strike="noStrike">
                <a:solidFill>
                  <a:srgbClr val="007020"/>
                </a:solidFill>
                <a:latin typeface="DejaVu Sans Mono"/>
              </a:rPr>
              <a:t>def</a:t>
            </a:r>
            <a:r>
              <a:rPr b="0" lang="en-US" sz="1200" spc="-1" strike="noStrike">
                <a:solidFill>
                  <a:srgbClr val="031424"/>
                </a:solidFill>
                <a:latin typeface="DejaVu Sans Mono"/>
              </a:rPr>
              <a:t> </a:t>
            </a:r>
            <a:r>
              <a:rPr b="0" lang="en-US" sz="1200" spc="-1" strike="noStrike">
                <a:solidFill>
                  <a:srgbClr val="06287e"/>
                </a:solidFill>
                <a:latin typeface="DejaVu Sans Mono"/>
              </a:rPr>
              <a:t>score</a:t>
            </a:r>
            <a:r>
              <a:rPr b="0" lang="en-US" sz="1200" spc="-1" strike="noStrike">
                <a:solidFill>
                  <a:srgbClr val="031424"/>
                </a:solidFill>
                <a:latin typeface="DejaVu Sans Mono"/>
              </a:rPr>
              <a:t>(positions: Array, landmarks: Array, ranges: Array,</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031424"/>
                </a:solidFill>
                <a:latin typeface="DejaVu Sans Mono"/>
              </a:rPr>
              <a:t>          </a:t>
            </a:r>
            <a:r>
              <a:rPr b="0" lang="en-US" sz="1200" spc="-1" strike="noStrike">
                <a:solidFill>
                  <a:srgbClr val="031424"/>
                </a:solidFill>
                <a:latin typeface="DejaVu Sans Mono"/>
              </a:rPr>
              <a:t>scores: Array, threads: </a:t>
            </a:r>
            <a:r>
              <a:rPr b="0" lang="en-US" sz="1200" spc="-1" strike="noStrike">
                <a:solidFill>
                  <a:srgbClr val="007020"/>
                </a:solidFill>
                <a:latin typeface="DejaVu Sans Mono"/>
              </a:rPr>
              <a:t>int</a:t>
            </a:r>
            <a:r>
              <a:rPr b="0" lang="en-US" sz="1200" spc="-1" strike="noStrike">
                <a:solidFill>
                  <a:srgbClr val="031424"/>
                </a:solidFill>
                <a:latin typeface="DejaVu Sans Mono"/>
              </a:rPr>
              <a:t> </a:t>
            </a:r>
            <a:r>
              <a:rPr b="0" lang="en-US" sz="1200" spc="-1" strike="noStrike">
                <a:solidFill>
                  <a:srgbClr val="666666"/>
                </a:solidFill>
                <a:latin typeface="DejaVu Sans Mono"/>
              </a:rPr>
              <a:t>=</a:t>
            </a:r>
            <a:r>
              <a:rPr b="0" lang="en-US" sz="1200" spc="-1" strike="noStrike">
                <a:solidFill>
                  <a:srgbClr val="031424"/>
                </a:solidFill>
                <a:latin typeface="DejaVu Sans Mono"/>
              </a:rPr>
              <a:t> </a:t>
            </a:r>
            <a:r>
              <a:rPr b="0" lang="en-US" sz="1200" spc="-1" strike="noStrike">
                <a:solidFill>
                  <a:srgbClr val="40a070"/>
                </a:solidFill>
                <a:latin typeface="DejaVu Sans Mono"/>
              </a:rPr>
              <a:t>4</a:t>
            </a:r>
            <a:r>
              <a:rPr b="0" lang="en-US" sz="1200" spc="-1" strike="noStrike">
                <a:solidFill>
                  <a:srgbClr val="031424"/>
                </a:solidFill>
                <a:latin typeface="DejaVu Sans Mono"/>
              </a:rPr>
              <a:t>) </a:t>
            </a:r>
            <a:r>
              <a:rPr b="0" lang="en-US" sz="1200" spc="-1" strike="noStrike">
                <a:solidFill>
                  <a:srgbClr val="666666"/>
                </a:solidFill>
                <a:latin typeface="DejaVu Sans Mono"/>
              </a:rPr>
              <a:t>-&gt;</a:t>
            </a:r>
            <a:r>
              <a:rPr b="0" lang="en-US" sz="1200" spc="-1" strike="noStrike">
                <a:solidFill>
                  <a:srgbClr val="031424"/>
                </a:solidFill>
                <a:latin typeface="DejaVu Sans Mono"/>
              </a:rPr>
              <a:t> </a:t>
            </a:r>
            <a:r>
              <a:rPr b="1" lang="en-US" sz="1200" spc="-1" strike="noStrike">
                <a:solidFill>
                  <a:srgbClr val="007020"/>
                </a:solidFill>
                <a:latin typeface="DejaVu Sans Mono"/>
              </a:rPr>
              <a:t>None</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4070a0"/>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1" lang="en-US" sz="1200" spc="-1" strike="noStrike">
                <a:solidFill>
                  <a:srgbClr val="007020"/>
                </a:solidFill>
                <a:latin typeface="DejaVu Sans Mono"/>
              </a:rPr>
              <a:t>using</a:t>
            </a:r>
            <a:r>
              <a:rPr b="0" lang="en-US" sz="1200" spc="-1" strike="noStrike">
                <a:solidFill>
                  <a:srgbClr val="bbbbbb"/>
                </a:solidFill>
                <a:latin typeface="DejaVu Sans Mono"/>
              </a:rPr>
              <a:t> </a:t>
            </a:r>
            <a:r>
              <a:rPr b="0" lang="en-US" sz="1200" spc="-1" strike="noStrike">
                <a:solidFill>
                  <a:srgbClr val="031424"/>
                </a:solidFill>
                <a:latin typeface="DejaVu Sans Mono"/>
              </a:rPr>
              <a:t>Vec</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Eigen</a:t>
            </a:r>
            <a:r>
              <a:rPr b="0" lang="en-US" sz="1200" spc="-1" strike="noStrike">
                <a:solidFill>
                  <a:srgbClr val="666666"/>
                </a:solidFill>
                <a:latin typeface="DejaVu Sans Mono"/>
              </a:rPr>
              <a:t>::</a:t>
            </a:r>
            <a:r>
              <a:rPr b="0" lang="en-US" sz="1200" spc="-1" strike="noStrike">
                <a:solidFill>
                  <a:srgbClr val="031424"/>
                </a:solidFill>
                <a:latin typeface="DejaVu Sans Mono"/>
              </a:rPr>
              <a:t>Vector2d;</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1" lang="en-US" sz="1200" spc="-1" strike="noStrike">
                <a:solidFill>
                  <a:srgbClr val="007020"/>
                </a:solidFill>
                <a:latin typeface="DejaVu Sans Mono"/>
              </a:rPr>
              <a:t>if</a:t>
            </a:r>
            <a:r>
              <a:rPr b="0" lang="en-US" sz="1200" spc="-1" strike="noStrike">
                <a:solidFill>
                  <a:srgbClr val="bbbbbb"/>
                </a:solidFill>
                <a:latin typeface="DejaVu Sans Mono"/>
              </a:rPr>
              <a:t> </a:t>
            </a:r>
            <a:r>
              <a:rPr b="0" lang="en-US" sz="1200" spc="-1" strike="noStrike">
                <a:solidFill>
                  <a:srgbClr val="031424"/>
                </a:solidFill>
                <a:latin typeface="DejaVu Sans Mono"/>
              </a:rPr>
              <a:t>(positions_size</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2</a:t>
            </a:r>
            <a:r>
              <a:rPr b="0" lang="en-US" sz="1200" spc="-1" strike="noStrike">
                <a:solidFill>
                  <a:srgbClr val="666666"/>
                </a:solidFill>
                <a:latin typeface="DejaVu Sans Mono"/>
              </a:rPr>
              <a:t>*</a:t>
            </a:r>
            <a:r>
              <a:rPr b="0" lang="en-US" sz="1200" spc="-1" strike="noStrike">
                <a:solidFill>
                  <a:srgbClr val="031424"/>
                </a:solidFill>
                <a:latin typeface="DejaVu Sans Mono"/>
              </a:rPr>
              <a:t>scores_size</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landmarks_size</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2</a:t>
            </a:r>
            <a:r>
              <a:rPr b="0" lang="en-US" sz="1200" spc="-1" strike="noStrike">
                <a:solidFill>
                  <a:srgbClr val="666666"/>
                </a:solidFill>
                <a:latin typeface="DejaVu Sans Mono"/>
              </a:rPr>
              <a:t>*</a:t>
            </a:r>
            <a:r>
              <a:rPr b="0" lang="en-US" sz="1200" spc="-1" strike="noStrike">
                <a:solidFill>
                  <a:srgbClr val="031424"/>
                </a:solidFill>
                <a:latin typeface="DejaVu Sans Mono"/>
              </a:rPr>
              <a:t>ranges_size</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threads</a:t>
            </a:r>
            <a:r>
              <a:rPr b="0" lang="en-US" sz="1200" spc="-1" strike="noStrike">
                <a:solidFill>
                  <a:srgbClr val="bbbbbb"/>
                </a:solidFill>
                <a:latin typeface="DejaVu Sans Mono"/>
              </a:rPr>
              <a:t> </a:t>
            </a:r>
            <a:r>
              <a:rPr b="0" lang="en-US" sz="1200" spc="-1" strike="noStrike">
                <a:solidFill>
                  <a:srgbClr val="666666"/>
                </a:solidFill>
                <a:latin typeface="DejaVu Sans Mono"/>
              </a:rPr>
              <a:t>&lt;</a:t>
            </a:r>
            <a:r>
              <a:rPr b="0" lang="en-US" sz="1200" spc="-1" strike="noStrike">
                <a:solidFill>
                  <a:srgbClr val="bbbbbb"/>
                </a:solidFill>
                <a:latin typeface="DejaVu Sans Mono"/>
              </a:rPr>
              <a:t> </a:t>
            </a:r>
            <a:r>
              <a:rPr b="0" lang="en-US" sz="1200" spc="-1" strike="noStrike">
                <a:solidFill>
                  <a:srgbClr val="40a070"/>
                </a:solidFill>
                <a:latin typeface="DejaVu Sans Mono"/>
              </a:rPr>
              <a:t>1</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1" lang="en-US" sz="1200" spc="-1" strike="noStrike">
                <a:solidFill>
                  <a:srgbClr val="007020"/>
                </a:solidFill>
                <a:latin typeface="DejaVu Sans Mono"/>
              </a:rPr>
              <a:t>throw</a:t>
            </a:r>
            <a:r>
              <a:rPr b="0" lang="en-US" sz="1200" spc="-1" strike="noStrike">
                <a:solidFill>
                  <a:srgbClr val="bbbbbb"/>
                </a:solidFill>
                <a:latin typeface="DejaVu Sans Mono"/>
              </a:rPr>
              <a:t> </a:t>
            </a:r>
            <a:r>
              <a:rPr b="0" lang="en-US" sz="1200" spc="-1" strike="noStrike">
                <a:solidFill>
                  <a:srgbClr val="031424"/>
                </a:solidFill>
                <a:latin typeface="DejaVu Sans Mono"/>
              </a:rPr>
              <a:t>std</a:t>
            </a:r>
            <a:r>
              <a:rPr b="0" lang="en-US" sz="1200" spc="-1" strike="noStrike">
                <a:solidFill>
                  <a:srgbClr val="666666"/>
                </a:solidFill>
                <a:latin typeface="DejaVu Sans Mono"/>
              </a:rPr>
              <a:t>::</a:t>
            </a:r>
            <a:r>
              <a:rPr b="0" lang="en-US" sz="1200" spc="-1" strike="noStrike">
                <a:solidFill>
                  <a:srgbClr val="031424"/>
                </a:solidFill>
                <a:latin typeface="DejaVu Sans Mono"/>
              </a:rPr>
              <a:t>invalid_argument(</a:t>
            </a:r>
            <a:r>
              <a:rPr b="0" lang="en-US" sz="1200" spc="-1" strike="noStrike">
                <a:solidFill>
                  <a:srgbClr val="4070a0"/>
                </a:solidFill>
                <a:latin typeface="DejaVu Sans Mono"/>
              </a:rPr>
              <a:t>"Invalid dimensions or thread count"</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07020"/>
                </a:solidFill>
                <a:latin typeface="DejaVu Sans Mono"/>
              </a:rPr>
              <a:t>#pragma omp parallel for num_threads(threads) schedule(static)</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1" lang="en-US" sz="1200" spc="-1" strike="noStrike">
                <a:solidFill>
                  <a:srgbClr val="007020"/>
                </a:solidFill>
                <a:latin typeface="DejaVu Sans Mono"/>
              </a:rPr>
              <a:t>for</a:t>
            </a:r>
            <a:r>
              <a:rPr b="0" lang="en-US" sz="1200" spc="-1" strike="noStrike">
                <a:solidFill>
                  <a:srgbClr val="bbbbbb"/>
                </a:solidFill>
                <a:latin typeface="DejaVu Sans Mono"/>
              </a:rPr>
              <a:t> </a:t>
            </a:r>
            <a:r>
              <a:rPr b="0" lang="en-US" sz="1200" spc="-1" strike="noStrike">
                <a:solidFill>
                  <a:srgbClr val="031424"/>
                </a:solidFill>
                <a:latin typeface="DejaVu Sans Mono"/>
              </a:rPr>
              <a:t>(</a:t>
            </a:r>
            <a:r>
              <a:rPr b="0" lang="en-US" sz="1200" spc="-1" strike="noStrike">
                <a:solidFill>
                  <a:srgbClr val="902000"/>
                </a:solidFill>
                <a:latin typeface="DejaVu Sans Mono"/>
              </a:rPr>
              <a:t>long</a:t>
            </a:r>
            <a:r>
              <a:rPr b="0" lang="en-US" sz="1200" spc="-1" strike="noStrike">
                <a:solidFill>
                  <a:srgbClr val="bbbbbb"/>
                </a:solidFill>
                <a:latin typeface="DejaVu Sans Mono"/>
              </a:rPr>
              <a:t> </a:t>
            </a:r>
            <a:r>
              <a:rPr b="0" lang="en-US" sz="1200" spc="-1" strike="noStrike">
                <a:solidFill>
                  <a:srgbClr val="031424"/>
                </a:solidFill>
                <a:latin typeface="DejaVu Sans Mono"/>
              </a:rPr>
              <a:t>i</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0</a:t>
            </a:r>
            <a:r>
              <a:rPr b="0" lang="en-US" sz="1200" spc="-1" strike="noStrike">
                <a:solidFill>
                  <a:srgbClr val="031424"/>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i</a:t>
            </a:r>
            <a:r>
              <a:rPr b="0" lang="en-US" sz="1200" spc="-1" strike="noStrike">
                <a:solidFill>
                  <a:srgbClr val="bbbbbb"/>
                </a:solidFill>
                <a:latin typeface="DejaVu Sans Mono"/>
              </a:rPr>
              <a:t> </a:t>
            </a:r>
            <a:r>
              <a:rPr b="0" lang="en-US" sz="1200" spc="-1" strike="noStrike">
                <a:solidFill>
                  <a:srgbClr val="666666"/>
                </a:solidFill>
                <a:latin typeface="DejaVu Sans Mono"/>
              </a:rPr>
              <a:t>&lt;</a:t>
            </a:r>
            <a:r>
              <a:rPr b="0" lang="en-US" sz="1200" spc="-1" strike="noStrike">
                <a:solidFill>
                  <a:srgbClr val="bbbbbb"/>
                </a:solidFill>
                <a:latin typeface="DejaVu Sans Mono"/>
              </a:rPr>
              <a:t> </a:t>
            </a:r>
            <a:r>
              <a:rPr b="1" lang="en-US" sz="1200" spc="-1" strike="noStrike">
                <a:solidFill>
                  <a:srgbClr val="007020"/>
                </a:solidFill>
                <a:latin typeface="DejaVu Sans Mono"/>
              </a:rPr>
              <a:t>static_cast</a:t>
            </a:r>
            <a:r>
              <a:rPr b="0" lang="en-US" sz="1200" spc="-1" strike="noStrike">
                <a:solidFill>
                  <a:srgbClr val="666666"/>
                </a:solidFill>
                <a:latin typeface="DejaVu Sans Mono"/>
              </a:rPr>
              <a:t>&lt;</a:t>
            </a:r>
            <a:r>
              <a:rPr b="0" lang="en-US" sz="1200" spc="-1" strike="noStrike">
                <a:solidFill>
                  <a:srgbClr val="902000"/>
                </a:solidFill>
                <a:latin typeface="DejaVu Sans Mono"/>
              </a:rPr>
              <a:t>long</a:t>
            </a:r>
            <a:r>
              <a:rPr b="0" lang="en-US" sz="1200" spc="-1" strike="noStrike">
                <a:solidFill>
                  <a:srgbClr val="666666"/>
                </a:solidFill>
                <a:latin typeface="DejaVu Sans Mono"/>
              </a:rPr>
              <a:t>&gt;</a:t>
            </a:r>
            <a:r>
              <a:rPr b="0" lang="en-US" sz="1200" spc="-1" strike="noStrike">
                <a:solidFill>
                  <a:srgbClr val="031424"/>
                </a:solidFill>
                <a:latin typeface="DejaVu Sans Mono"/>
              </a:rPr>
              <a:t>(scores_size);</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031424"/>
                </a:solidFill>
                <a:latin typeface="DejaVu Sans Mono"/>
              </a:rPr>
              <a:t>i)</a:t>
            </a:r>
            <a:r>
              <a:rPr b="0" lang="en-US" sz="1200" spc="-1" strike="noStrike">
                <a:solidFill>
                  <a:srgbClr val="bbbbbb"/>
                </a:solidFill>
                <a:latin typeface="DejaVu Sans Mono"/>
              </a:rPr>
              <a:t> </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Eigen</a:t>
            </a:r>
            <a:r>
              <a:rPr b="0" lang="en-US" sz="1200" spc="-1" strike="noStrike">
                <a:solidFill>
                  <a:srgbClr val="666666"/>
                </a:solidFill>
                <a:latin typeface="DejaVu Sans Mono"/>
              </a:rPr>
              <a:t>::</a:t>
            </a:r>
            <a:r>
              <a:rPr b="0" lang="en-US" sz="1200" spc="-1" strike="noStrike">
                <a:solidFill>
                  <a:srgbClr val="031424"/>
                </a:solidFill>
                <a:latin typeface="DejaVu Sans Mono"/>
              </a:rPr>
              <a:t>Map</a:t>
            </a:r>
            <a:r>
              <a:rPr b="0" lang="en-US" sz="1200" spc="-1" strike="noStrike">
                <a:solidFill>
                  <a:srgbClr val="666666"/>
                </a:solidFill>
                <a:latin typeface="DejaVu Sans Mono"/>
              </a:rPr>
              <a:t>&lt;</a:t>
            </a:r>
            <a:r>
              <a:rPr b="1" lang="en-US" sz="1200" spc="-1" strike="noStrike">
                <a:solidFill>
                  <a:srgbClr val="007020"/>
                </a:solidFill>
                <a:latin typeface="DejaVu Sans Mono"/>
              </a:rPr>
              <a:t>const</a:t>
            </a:r>
            <a:r>
              <a:rPr b="0" lang="en-US" sz="1200" spc="-1" strike="noStrike">
                <a:solidFill>
                  <a:srgbClr val="bbbbbb"/>
                </a:solidFill>
                <a:latin typeface="DejaVu Sans Mono"/>
              </a:rPr>
              <a:t> </a:t>
            </a:r>
            <a:r>
              <a:rPr b="0" lang="en-US" sz="1200" spc="-1" strike="noStrike">
                <a:solidFill>
                  <a:srgbClr val="031424"/>
                </a:solidFill>
                <a:latin typeface="DejaVu Sans Mono"/>
              </a:rPr>
              <a:t>Vec</a:t>
            </a:r>
            <a:r>
              <a:rPr b="0" lang="en-US" sz="1200" spc="-1" strike="noStrike">
                <a:solidFill>
                  <a:srgbClr val="666666"/>
                </a:solidFill>
                <a:latin typeface="DejaVu Sans Mono"/>
              </a:rPr>
              <a:t>&gt;</a:t>
            </a:r>
            <a:r>
              <a:rPr b="0" lang="en-US" sz="1200" spc="-1" strike="noStrike">
                <a:solidFill>
                  <a:srgbClr val="bbbbbb"/>
                </a:solidFill>
                <a:latin typeface="DejaVu Sans Mono"/>
              </a:rPr>
              <a:t> </a:t>
            </a:r>
            <a:r>
              <a:rPr b="0" lang="en-US" sz="1200" spc="-1" strike="noStrike">
                <a:solidFill>
                  <a:srgbClr val="031424"/>
                </a:solidFill>
                <a:latin typeface="DejaVu Sans Mono"/>
              </a:rPr>
              <a:t>position(positions</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2</a:t>
            </a:r>
            <a:r>
              <a:rPr b="0" lang="en-US" sz="1200" spc="-1" strike="noStrike">
                <a:solidFill>
                  <a:srgbClr val="666666"/>
                </a:solidFill>
                <a:latin typeface="DejaVu Sans Mono"/>
              </a:rPr>
              <a:t>*</a:t>
            </a:r>
            <a:r>
              <a:rPr b="0" lang="en-US" sz="1200" spc="-1" strike="noStrike">
                <a:solidFill>
                  <a:srgbClr val="031424"/>
                </a:solidFill>
                <a:latin typeface="DejaVu Sans Mono"/>
              </a:rPr>
              <a:t>i);</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902000"/>
                </a:solidFill>
                <a:latin typeface="DejaVu Sans Mono"/>
              </a:rPr>
              <a:t>double</a:t>
            </a:r>
            <a:r>
              <a:rPr b="0" lang="en-US" sz="1200" spc="-1" strike="noStrike">
                <a:solidFill>
                  <a:srgbClr val="bbbbbb"/>
                </a:solidFill>
                <a:latin typeface="DejaVu Sans Mono"/>
              </a:rPr>
              <a:t> </a:t>
            </a:r>
            <a:r>
              <a:rPr b="0" lang="en-US" sz="1200" spc="-1" strike="noStrike">
                <a:solidFill>
                  <a:srgbClr val="031424"/>
                </a:solidFill>
                <a:latin typeface="DejaVu Sans Mono"/>
              </a:rPr>
              <a:t>error</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0.0</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1" lang="en-US" sz="1200" spc="-1" strike="noStrike">
                <a:solidFill>
                  <a:srgbClr val="007020"/>
                </a:solidFill>
                <a:latin typeface="DejaVu Sans Mono"/>
              </a:rPr>
              <a:t>for</a:t>
            </a:r>
            <a:r>
              <a:rPr b="0" lang="en-US" sz="1200" spc="-1" strike="noStrike">
                <a:solidFill>
                  <a:srgbClr val="bbbbbb"/>
                </a:solidFill>
                <a:latin typeface="DejaVu Sans Mono"/>
              </a:rPr>
              <a:t> </a:t>
            </a:r>
            <a:r>
              <a:rPr b="0" lang="en-US" sz="1200" spc="-1" strike="noStrike">
                <a:solidFill>
                  <a:srgbClr val="031424"/>
                </a:solidFill>
                <a:latin typeface="DejaVu Sans Mono"/>
              </a:rPr>
              <a:t>(</a:t>
            </a:r>
            <a:r>
              <a:rPr b="0" lang="en-US" sz="1200" spc="-1" strike="noStrike">
                <a:solidFill>
                  <a:srgbClr val="902000"/>
                </a:solidFill>
                <a:latin typeface="DejaVu Sans Mono"/>
              </a:rPr>
              <a:t>size_t</a:t>
            </a:r>
            <a:r>
              <a:rPr b="0" lang="en-US" sz="1200" spc="-1" strike="noStrike">
                <a:solidFill>
                  <a:srgbClr val="bbbbbb"/>
                </a:solidFill>
                <a:latin typeface="DejaVu Sans Mono"/>
              </a:rPr>
              <a:t> </a:t>
            </a:r>
            <a:r>
              <a:rPr b="0" lang="en-US" sz="1200" spc="-1" strike="noStrike">
                <a:solidFill>
                  <a:srgbClr val="031424"/>
                </a:solidFill>
                <a:latin typeface="DejaVu Sans Mono"/>
              </a:rPr>
              <a:t>j</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0</a:t>
            </a:r>
            <a:r>
              <a:rPr b="0" lang="en-US" sz="1200" spc="-1" strike="noStrike">
                <a:solidFill>
                  <a:srgbClr val="031424"/>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j</a:t>
            </a:r>
            <a:r>
              <a:rPr b="0" lang="en-US" sz="1200" spc="-1" strike="noStrike">
                <a:solidFill>
                  <a:srgbClr val="bbbbbb"/>
                </a:solidFill>
                <a:latin typeface="DejaVu Sans Mono"/>
              </a:rPr>
              <a:t> </a:t>
            </a:r>
            <a:r>
              <a:rPr b="0" lang="en-US" sz="1200" spc="-1" strike="noStrike">
                <a:solidFill>
                  <a:srgbClr val="666666"/>
                </a:solidFill>
                <a:latin typeface="DejaVu Sans Mono"/>
              </a:rPr>
              <a:t>&lt;</a:t>
            </a:r>
            <a:r>
              <a:rPr b="0" lang="en-US" sz="1200" spc="-1" strike="noStrike">
                <a:solidFill>
                  <a:srgbClr val="bbbbbb"/>
                </a:solidFill>
                <a:latin typeface="DejaVu Sans Mono"/>
              </a:rPr>
              <a:t> </a:t>
            </a:r>
            <a:r>
              <a:rPr b="0" lang="en-US" sz="1200" spc="-1" strike="noStrike">
                <a:solidFill>
                  <a:srgbClr val="031424"/>
                </a:solidFill>
                <a:latin typeface="DejaVu Sans Mono"/>
              </a:rPr>
              <a:t>ranges_size;</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031424"/>
                </a:solidFill>
                <a:latin typeface="DejaVu Sans Mono"/>
              </a:rPr>
              <a:t>j)</a:t>
            </a:r>
            <a:r>
              <a:rPr b="0" lang="en-US" sz="1200" spc="-1" strike="noStrike">
                <a:solidFill>
                  <a:srgbClr val="bbbbbb"/>
                </a:solidFill>
                <a:latin typeface="DejaVu Sans Mono"/>
              </a:rPr>
              <a:t> </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Eigen</a:t>
            </a:r>
            <a:r>
              <a:rPr b="0" lang="en-US" sz="1200" spc="-1" strike="noStrike">
                <a:solidFill>
                  <a:srgbClr val="666666"/>
                </a:solidFill>
                <a:latin typeface="DejaVu Sans Mono"/>
              </a:rPr>
              <a:t>::</a:t>
            </a:r>
            <a:r>
              <a:rPr b="0" lang="en-US" sz="1200" spc="-1" strike="noStrike">
                <a:solidFill>
                  <a:srgbClr val="031424"/>
                </a:solidFill>
                <a:latin typeface="DejaVu Sans Mono"/>
              </a:rPr>
              <a:t>Map</a:t>
            </a:r>
            <a:r>
              <a:rPr b="0" lang="en-US" sz="1200" spc="-1" strike="noStrike">
                <a:solidFill>
                  <a:srgbClr val="666666"/>
                </a:solidFill>
                <a:latin typeface="DejaVu Sans Mono"/>
              </a:rPr>
              <a:t>&lt;</a:t>
            </a:r>
            <a:r>
              <a:rPr b="1" lang="en-US" sz="1200" spc="-1" strike="noStrike">
                <a:solidFill>
                  <a:srgbClr val="007020"/>
                </a:solidFill>
                <a:latin typeface="DejaVu Sans Mono"/>
              </a:rPr>
              <a:t>const</a:t>
            </a:r>
            <a:r>
              <a:rPr b="0" lang="en-US" sz="1200" spc="-1" strike="noStrike">
                <a:solidFill>
                  <a:srgbClr val="bbbbbb"/>
                </a:solidFill>
                <a:latin typeface="DejaVu Sans Mono"/>
              </a:rPr>
              <a:t> </a:t>
            </a:r>
            <a:r>
              <a:rPr b="0" lang="en-US" sz="1200" spc="-1" strike="noStrike">
                <a:solidFill>
                  <a:srgbClr val="031424"/>
                </a:solidFill>
                <a:latin typeface="DejaVu Sans Mono"/>
              </a:rPr>
              <a:t>Vec</a:t>
            </a:r>
            <a:r>
              <a:rPr b="0" lang="en-US" sz="1200" spc="-1" strike="noStrike">
                <a:solidFill>
                  <a:srgbClr val="666666"/>
                </a:solidFill>
                <a:latin typeface="DejaVu Sans Mono"/>
              </a:rPr>
              <a:t>&gt;</a:t>
            </a:r>
            <a:r>
              <a:rPr b="0" lang="en-US" sz="1200" spc="-1" strike="noStrike">
                <a:solidFill>
                  <a:srgbClr val="bbbbbb"/>
                </a:solidFill>
                <a:latin typeface="DejaVu Sans Mono"/>
              </a:rPr>
              <a:t> </a:t>
            </a:r>
            <a:r>
              <a:rPr b="0" lang="en-US" sz="1200" spc="-1" strike="noStrike">
                <a:solidFill>
                  <a:srgbClr val="031424"/>
                </a:solidFill>
                <a:latin typeface="DejaVu Sans Mono"/>
              </a:rPr>
              <a:t>landmark(landmarks</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2</a:t>
            </a:r>
            <a:r>
              <a:rPr b="0" lang="en-US" sz="1200" spc="-1" strike="noStrike">
                <a:solidFill>
                  <a:srgbClr val="666666"/>
                </a:solidFill>
                <a:latin typeface="DejaVu Sans Mono"/>
              </a:rPr>
              <a:t>*</a:t>
            </a:r>
            <a:r>
              <a:rPr b="0" lang="en-US" sz="1200" spc="-1" strike="noStrike">
                <a:solidFill>
                  <a:srgbClr val="031424"/>
                </a:solidFill>
                <a:latin typeface="DejaVu Sans Mono"/>
              </a:rPr>
              <a:t>j);</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902000"/>
                </a:solidFill>
                <a:latin typeface="DejaVu Sans Mono"/>
              </a:rPr>
              <a:t>double</a:t>
            </a:r>
            <a:r>
              <a:rPr b="0" lang="en-US" sz="1200" spc="-1" strike="noStrike">
                <a:solidFill>
                  <a:srgbClr val="bbbbbb"/>
                </a:solidFill>
                <a:latin typeface="DejaVu Sans Mono"/>
              </a:rPr>
              <a:t> </a:t>
            </a:r>
            <a:r>
              <a:rPr b="0" lang="en-US" sz="1200" spc="-1" strike="noStrike">
                <a:solidFill>
                  <a:srgbClr val="031424"/>
                </a:solidFill>
                <a:latin typeface="DejaVu Sans Mono"/>
              </a:rPr>
              <a:t>residual</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(position</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landmark).norm()</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ranges[j];</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error</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residual</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residual;</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scores[i]</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031424"/>
                </a:solidFill>
                <a:latin typeface="DejaVu Sans Mono"/>
              </a:rPr>
              <a:t>error;</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4070a0"/>
                </a:solidFill>
                <a:latin typeface="DejaVu Sans Mono"/>
              </a:rPr>
              <a:t>"""</a:t>
            </a:r>
            <a:endParaRPr b="0" lang="en-US" sz="1200" spc="-1" strike="noStrike">
              <a:solidFill>
                <a:srgbClr val="000000"/>
              </a:solidFill>
              <a:latin typeface="Arial"/>
            </a:endParaRPr>
          </a:p>
          <a:p>
            <a:pPr>
              <a:lnSpc>
                <a:spcPct val="100000"/>
              </a:lnSpc>
              <a:tabLst>
                <a:tab algn="l" pos="0"/>
              </a:tabLst>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1" name="Picture 5" descr=""/>
          <p:cNvPicPr/>
          <p:nvPr/>
        </p:nvPicPr>
        <p:blipFill>
          <a:blip r:embed="rId1"/>
          <a:stretch/>
        </p:blipFill>
        <p:spPr>
          <a:xfrm>
            <a:off x="10623600" y="345600"/>
            <a:ext cx="1058400" cy="1058400"/>
          </a:xfrm>
          <a:prstGeom prst="rect">
            <a:avLst/>
          </a:prstGeom>
          <a:ln w="0">
            <a:noFill/>
          </a:ln>
        </p:spPr>
      </p:pic>
      <p:cxnSp>
        <p:nvCxnSpPr>
          <p:cNvPr id="152" name="Straight Connector 7"/>
          <p:cNvCxnSpPr/>
          <p:nvPr/>
        </p:nvCxnSpPr>
        <p:spPr>
          <a:xfrm>
            <a:off x="0" y="1134720"/>
            <a:ext cx="4366080" cy="2520"/>
          </a:xfrm>
          <a:prstGeom prst="straightConnector1">
            <a:avLst/>
          </a:prstGeom>
          <a:ln w="38100">
            <a:solidFill>
              <a:srgbClr val="fed021"/>
            </a:solidFill>
            <a:round/>
          </a:ln>
        </p:spPr>
      </p:cxnSp>
      <p:sp>
        <p:nvSpPr>
          <p:cNvPr id="153" name="TextBox 151"/>
          <p:cNvSpPr/>
          <p:nvPr/>
        </p:nvSpPr>
        <p:spPr>
          <a:xfrm>
            <a:off x="502920" y="320040"/>
            <a:ext cx="10148040" cy="5166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800" spc="-1" strike="noStrike">
                <a:solidFill>
                  <a:srgbClr val="031424"/>
                </a:solidFill>
                <a:latin typeface="Roboto"/>
              </a:rPr>
              <a:t>Localisation: score candidate robot positions</a:t>
            </a:r>
            <a:endParaRPr b="0" lang="en-US" sz="2800" spc="-1" strike="noStrike">
              <a:solidFill>
                <a:srgbClr val="000000"/>
              </a:solidFill>
              <a:latin typeface="Arial"/>
            </a:endParaRPr>
          </a:p>
        </p:txBody>
      </p:sp>
      <p:sp>
        <p:nvSpPr>
          <p:cNvPr id="154" name="TextBox 152"/>
          <p:cNvSpPr/>
          <p:nvPr/>
        </p:nvSpPr>
        <p:spPr>
          <a:xfrm>
            <a:off x="1270080" y="1170360"/>
            <a:ext cx="6784560" cy="5576040"/>
          </a:xfrm>
          <a:prstGeom prst="rect">
            <a:avLst/>
          </a:prstGeom>
          <a:noFill/>
          <a:ln w="0">
            <a:noFill/>
          </a:ln>
        </p:spPr>
        <p:style>
          <a:lnRef idx="0"/>
          <a:fillRef idx="0"/>
          <a:effectRef idx="0"/>
          <a:fontRef idx="minor"/>
        </p:style>
        <p:txBody>
          <a:bodyPr wrap="none" lIns="0" rIns="0" tIns="45000" bIns="45000" anchor="t">
            <a:spAutoFit/>
          </a:bodyPr>
          <a:p>
            <a:pPr>
              <a:lnSpc>
                <a:spcPct val="100000"/>
              </a:lnSpc>
              <a:tabLst>
                <a:tab algn="l" pos="0"/>
              </a:tabLst>
            </a:pPr>
            <a:r>
              <a:rPr b="1" lang="en-US" sz="1200" spc="-1" strike="noStrike">
                <a:solidFill>
                  <a:srgbClr val="007020"/>
                </a:solidFill>
                <a:latin typeface="DejaVu Sans Mono"/>
              </a:rPr>
              <a:t>import</a:t>
            </a:r>
            <a:r>
              <a:rPr b="0" lang="en-US" sz="1200" spc="-1" strike="noStrike">
                <a:solidFill>
                  <a:srgbClr val="031424"/>
                </a:solidFill>
                <a:latin typeface="DejaVu Sans Mono"/>
              </a:rPr>
              <a:t> </a:t>
            </a:r>
            <a:r>
              <a:rPr b="1" lang="en-US" sz="1200" spc="-1" strike="noStrike">
                <a:solidFill>
                  <a:srgbClr val="0e84b5"/>
                </a:solidFill>
                <a:latin typeface="DejaVu Sans Mono"/>
              </a:rPr>
              <a:t>sys</a:t>
            </a:r>
            <a:endParaRPr b="0" lang="en-US" sz="1200" spc="-1" strike="noStrike">
              <a:solidFill>
                <a:srgbClr val="000000"/>
              </a:solidFill>
              <a:latin typeface="Arial"/>
            </a:endParaRPr>
          </a:p>
          <a:p>
            <a:pPr>
              <a:lnSpc>
                <a:spcPct val="100000"/>
              </a:lnSpc>
              <a:tabLst>
                <a:tab algn="l" pos="0"/>
              </a:tabLst>
            </a:pPr>
            <a:r>
              <a:rPr b="1" lang="en-US" sz="1200" spc="-1" strike="noStrike">
                <a:solidFill>
                  <a:srgbClr val="007020"/>
                </a:solidFill>
                <a:latin typeface="DejaVu Sans Mono"/>
              </a:rPr>
              <a:t>import</a:t>
            </a:r>
            <a:r>
              <a:rPr b="0" lang="en-US" sz="1200" spc="-1" strike="noStrike">
                <a:solidFill>
                  <a:srgbClr val="031424"/>
                </a:solidFill>
                <a:latin typeface="DejaVu Sans Mono"/>
              </a:rPr>
              <a:t> </a:t>
            </a:r>
            <a:r>
              <a:rPr b="1" lang="en-US" sz="1200" spc="-1" strike="noStrike">
                <a:solidFill>
                  <a:srgbClr val="0e84b5"/>
                </a:solidFill>
                <a:latin typeface="DejaVu Sans Mono"/>
              </a:rPr>
              <a:t>numpy</a:t>
            </a:r>
            <a:r>
              <a:rPr b="0" lang="en-US" sz="1200" spc="-1" strike="noStrike">
                <a:solidFill>
                  <a:srgbClr val="031424"/>
                </a:solidFill>
                <a:latin typeface="DejaVu Sans Mono"/>
              </a:rPr>
              <a:t> </a:t>
            </a:r>
            <a:r>
              <a:rPr b="1" lang="en-US" sz="1200" spc="-1" strike="noStrike">
                <a:solidFill>
                  <a:srgbClr val="007020"/>
                </a:solidFill>
                <a:latin typeface="DejaVu Sans Mono"/>
              </a:rPr>
              <a:t>as</a:t>
            </a:r>
            <a:r>
              <a:rPr b="0" lang="en-US" sz="1200" spc="-1" strike="noStrike">
                <a:solidFill>
                  <a:srgbClr val="031424"/>
                </a:solidFill>
                <a:latin typeface="DejaVu Sans Mono"/>
              </a:rPr>
              <a:t> </a:t>
            </a:r>
            <a:r>
              <a:rPr b="1" lang="en-US" sz="1200" spc="-1" strike="noStrike">
                <a:solidFill>
                  <a:srgbClr val="0e84b5"/>
                </a:solidFill>
                <a:latin typeface="DejaVu Sans Mono"/>
              </a:rPr>
              <a:t>np</a:t>
            </a:r>
            <a:endParaRPr b="0" lang="en-US" sz="1200" spc="-1" strike="noStrike">
              <a:solidFill>
                <a:srgbClr val="000000"/>
              </a:solidFill>
              <a:latin typeface="Arial"/>
            </a:endParaRPr>
          </a:p>
          <a:p>
            <a:pPr>
              <a:lnSpc>
                <a:spcPct val="100000"/>
              </a:lnSpc>
              <a:tabLst>
                <a:tab algn="l" pos="0"/>
              </a:tabLst>
            </a:pPr>
            <a:r>
              <a:rPr b="1" lang="en-US" sz="1200" spc="-1" strike="noStrike">
                <a:solidFill>
                  <a:srgbClr val="007020"/>
                </a:solidFill>
                <a:latin typeface="DejaVu Sans Mono"/>
              </a:rPr>
              <a:t>from</a:t>
            </a:r>
            <a:r>
              <a:rPr b="0" lang="en-US" sz="1200" spc="-1" strike="noStrike">
                <a:solidFill>
                  <a:srgbClr val="031424"/>
                </a:solidFill>
                <a:latin typeface="DejaVu Sans Mono"/>
              </a:rPr>
              <a:t> </a:t>
            </a:r>
            <a:r>
              <a:rPr b="1" lang="en-US" sz="1200" spc="-1" strike="noStrike">
                <a:solidFill>
                  <a:srgbClr val="0e84b5"/>
                </a:solidFill>
                <a:latin typeface="DejaVu Sans Mono"/>
              </a:rPr>
              <a:t>cppyy_kit</a:t>
            </a:r>
            <a:r>
              <a:rPr b="0" lang="en-US" sz="1200" spc="-1" strike="noStrike">
                <a:solidFill>
                  <a:srgbClr val="031424"/>
                </a:solidFill>
                <a:latin typeface="DejaVu Sans Mono"/>
              </a:rPr>
              <a:t> </a:t>
            </a:r>
            <a:r>
              <a:rPr b="1" lang="en-US" sz="1200" spc="-1" strike="noStrike">
                <a:solidFill>
                  <a:srgbClr val="007020"/>
                </a:solidFill>
                <a:latin typeface="DejaVu Sans Mono"/>
              </a:rPr>
              <a:t>import</a:t>
            </a:r>
            <a:r>
              <a:rPr b="0" lang="en-US" sz="1200" spc="-1" strike="noStrike">
                <a:solidFill>
                  <a:srgbClr val="031424"/>
                </a:solidFill>
                <a:latin typeface="DejaVu Sans Mono"/>
              </a:rPr>
              <a:t> cpp</a:t>
            </a:r>
            <a:endParaRPr b="0" lang="en-US" sz="1200" spc="-1" strike="noStrike">
              <a:solidFill>
                <a:srgbClr val="000000"/>
              </a:solidFill>
              <a:latin typeface="Arial"/>
            </a:endParaRPr>
          </a:p>
          <a:p>
            <a:pPr>
              <a:lnSpc>
                <a:spcPct val="100000"/>
              </a:lnSpc>
              <a:tabLst>
                <a:tab algn="l" pos="0"/>
              </a:tabLst>
            </a:pPr>
            <a:r>
              <a:rPr b="1" lang="en-US" sz="1200" spc="-1" strike="noStrike">
                <a:solidFill>
                  <a:srgbClr val="007020"/>
                </a:solidFill>
                <a:latin typeface="DejaVu Sans Mono"/>
              </a:rPr>
              <a:t>from</a:t>
            </a:r>
            <a:r>
              <a:rPr b="0" lang="en-US" sz="1200" spc="-1" strike="noStrike">
                <a:solidFill>
                  <a:srgbClr val="031424"/>
                </a:solidFill>
                <a:latin typeface="DejaVu Sans Mono"/>
              </a:rPr>
              <a:t> </a:t>
            </a:r>
            <a:r>
              <a:rPr b="1" lang="en-US" sz="1200" spc="-1" strike="noStrike">
                <a:solidFill>
                  <a:srgbClr val="0e84b5"/>
                </a:solidFill>
                <a:latin typeface="DejaVu Sans Mono"/>
              </a:rPr>
              <a:t>cppyy_kit.numpy_types</a:t>
            </a:r>
            <a:r>
              <a:rPr b="0" lang="en-US" sz="1200" spc="-1" strike="noStrike">
                <a:solidFill>
                  <a:srgbClr val="031424"/>
                </a:solidFill>
                <a:latin typeface="DejaVu Sans Mono"/>
              </a:rPr>
              <a:t> </a:t>
            </a:r>
            <a:r>
              <a:rPr b="1" lang="en-US" sz="1200" spc="-1" strike="noStrike">
                <a:solidFill>
                  <a:srgbClr val="007020"/>
                </a:solidFill>
                <a:latin typeface="DejaVu Sans Mono"/>
              </a:rPr>
              <a:t>import</a:t>
            </a:r>
            <a:r>
              <a:rPr b="0" lang="en-US" sz="1200" spc="-1" strike="noStrike">
                <a:solidFill>
                  <a:srgbClr val="031424"/>
                </a:solidFill>
                <a:latin typeface="DejaVu Sans Mono"/>
              </a:rPr>
              <a:t> NDArray</a:t>
            </a:r>
            <a:endParaRPr b="0" lang="en-US" sz="1200" spc="-1" strike="noStrike">
              <a:solidFill>
                <a:srgbClr val="000000"/>
              </a:solidFill>
              <a:latin typeface="Arial"/>
            </a:endParaRPr>
          </a:p>
          <a:p>
            <a:pPr>
              <a:lnSpc>
                <a:spcPct val="100000"/>
              </a:lnSpc>
              <a:tabLst>
                <a:tab algn="l" pos="0"/>
              </a:tabLst>
            </a:pPr>
            <a:endParaRPr b="0" lang="en-US" sz="1200" spc="-1" strike="noStrike">
              <a:solidFill>
                <a:srgbClr val="000000"/>
              </a:solidFill>
              <a:latin typeface="Arial"/>
            </a:endParaRPr>
          </a:p>
          <a:p>
            <a:pPr>
              <a:lnSpc>
                <a:spcPct val="100000"/>
              </a:lnSpc>
              <a:tabLst>
                <a:tab algn="l" pos="0"/>
              </a:tabLst>
            </a:pPr>
            <a:r>
              <a:rPr b="0" lang="en-US" sz="1200" spc="-1" strike="noStrike">
                <a:solidFill>
                  <a:srgbClr val="031424"/>
                </a:solidFill>
                <a:latin typeface="DejaVu Sans Mono"/>
              </a:rPr>
              <a:t>Array </a:t>
            </a:r>
            <a:r>
              <a:rPr b="0" lang="en-US" sz="1200" spc="-1" strike="noStrike">
                <a:solidFill>
                  <a:srgbClr val="666666"/>
                </a:solidFill>
                <a:latin typeface="DejaVu Sans Mono"/>
              </a:rPr>
              <a:t>=</a:t>
            </a:r>
            <a:r>
              <a:rPr b="0" lang="en-US" sz="1200" spc="-1" strike="noStrike">
                <a:solidFill>
                  <a:srgbClr val="031424"/>
                </a:solidFill>
                <a:latin typeface="DejaVu Sans Mono"/>
              </a:rPr>
              <a:t> NDArray[np</a:t>
            </a:r>
            <a:r>
              <a:rPr b="0" lang="en-US" sz="1200" spc="-1" strike="noStrike">
                <a:solidFill>
                  <a:srgbClr val="666666"/>
                </a:solidFill>
                <a:latin typeface="DejaVu Sans Mono"/>
              </a:rPr>
              <a:t>.</a:t>
            </a:r>
            <a:r>
              <a:rPr b="0" lang="en-US" sz="1200" spc="-1" strike="noStrike">
                <a:solidFill>
                  <a:srgbClr val="031424"/>
                </a:solidFill>
                <a:latin typeface="DejaVu Sans Mono"/>
              </a:rPr>
              <a:t>float64]</a:t>
            </a:r>
            <a:endParaRPr b="0" lang="en-US" sz="1200" spc="-1" strike="noStrike">
              <a:solidFill>
                <a:srgbClr val="000000"/>
              </a:solidFill>
              <a:latin typeface="Arial"/>
            </a:endParaRPr>
          </a:p>
          <a:p>
            <a:pPr>
              <a:lnSpc>
                <a:spcPct val="100000"/>
              </a:lnSpc>
              <a:tabLst>
                <a:tab algn="l" pos="0"/>
              </a:tabLst>
            </a:pPr>
            <a:endParaRPr b="0" lang="en-US" sz="1200" spc="-1" strike="noStrike">
              <a:solidFill>
                <a:srgbClr val="000000"/>
              </a:solidFill>
              <a:latin typeface="Arial"/>
            </a:endParaRPr>
          </a:p>
          <a:p>
            <a:pPr>
              <a:lnSpc>
                <a:spcPct val="100000"/>
              </a:lnSpc>
              <a:tabLst>
                <a:tab algn="l" pos="0"/>
              </a:tabLst>
            </a:pPr>
            <a:r>
              <a:rPr b="1" lang="en-US" sz="1200" spc="-1" strike="noStrike">
                <a:solidFill>
                  <a:srgbClr val="555555"/>
                </a:solidFill>
                <a:latin typeface="DejaVu Sans Mono"/>
              </a:rPr>
              <a:t>@cpp</a:t>
            </a:r>
            <a:r>
              <a:rPr b="0" lang="en-US" sz="1200" spc="-1" strike="noStrike">
                <a:solidFill>
                  <a:srgbClr val="031424"/>
                </a:solidFill>
                <a:latin typeface="DejaVu Sans Mono"/>
              </a:rPr>
              <a:t>(headers</a:t>
            </a:r>
            <a:r>
              <a:rPr b="0" lang="en-US" sz="1200" spc="-1" strike="noStrike">
                <a:solidFill>
                  <a:srgbClr val="666666"/>
                </a:solidFill>
                <a:latin typeface="DejaVu Sans Mono"/>
              </a:rPr>
              <a:t>=</a:t>
            </a:r>
            <a:r>
              <a:rPr b="0" lang="en-US" sz="1200" spc="-1" strike="noStrike">
                <a:solidFill>
                  <a:srgbClr val="031424"/>
                </a:solidFill>
                <a:latin typeface="DejaVu Sans Mono"/>
              </a:rPr>
              <a:t>[</a:t>
            </a:r>
            <a:r>
              <a:rPr b="0" lang="en-US" sz="1200" spc="-1" strike="noStrike">
                <a:solidFill>
                  <a:srgbClr val="4070a0"/>
                </a:solidFill>
                <a:latin typeface="DejaVu Sans Mono"/>
              </a:rPr>
              <a:t>'Eigen/Core'</a:t>
            </a:r>
            <a:r>
              <a:rPr b="0" lang="en-US" sz="1200" spc="-1" strike="noStrike">
                <a:solidFill>
                  <a:srgbClr val="031424"/>
                </a:solidFill>
                <a:latin typeface="DejaVu Sans Mono"/>
              </a:rPr>
              <a:t>, </a:t>
            </a:r>
            <a:r>
              <a:rPr b="0" lang="en-US" sz="1200" spc="-1" strike="noStrike">
                <a:solidFill>
                  <a:srgbClr val="4070a0"/>
                </a:solidFill>
                <a:latin typeface="DejaVu Sans Mono"/>
              </a:rPr>
              <a:t>'stdexcept'</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031424"/>
                </a:solidFill>
                <a:latin typeface="DejaVu Sans Mono"/>
              </a:rPr>
              <a:t>     </a:t>
            </a:r>
            <a:r>
              <a:rPr b="0" lang="en-US" sz="1200" spc="-1" strike="noStrike">
                <a:solidFill>
                  <a:srgbClr val="031424"/>
                </a:solidFill>
                <a:latin typeface="DejaVu Sans Mono"/>
              </a:rPr>
              <a:t>include_paths</a:t>
            </a:r>
            <a:r>
              <a:rPr b="0" lang="en-US" sz="1200" spc="-1" strike="noStrike">
                <a:solidFill>
                  <a:srgbClr val="666666"/>
                </a:solidFill>
                <a:latin typeface="DejaVu Sans Mono"/>
              </a:rPr>
              <a:t>=</a:t>
            </a:r>
            <a:r>
              <a:rPr b="0" lang="en-US" sz="1200" spc="-1" strike="noStrike">
                <a:solidFill>
                  <a:srgbClr val="031424"/>
                </a:solidFill>
                <a:latin typeface="DejaVu Sans Mono"/>
              </a:rPr>
              <a:t>[</a:t>
            </a:r>
            <a:r>
              <a:rPr b="0" lang="en-US" sz="1200" spc="-1" strike="noStrike">
                <a:solidFill>
                  <a:srgbClr val="4070a0"/>
                </a:solidFill>
                <a:latin typeface="DejaVu Sans Mono"/>
              </a:rPr>
              <a:t>f'</a:t>
            </a:r>
            <a:r>
              <a:rPr b="0" lang="en-US" sz="1200" spc="-1" strike="noStrike">
                <a:solidFill>
                  <a:srgbClr val="70a0d0"/>
                </a:solidFill>
                <a:latin typeface="DejaVu Sans Mono"/>
              </a:rPr>
              <a:t>{</a:t>
            </a:r>
            <a:r>
              <a:rPr b="0" lang="en-US" sz="1200" spc="-1" strike="noStrike">
                <a:solidFill>
                  <a:srgbClr val="031424"/>
                </a:solidFill>
                <a:latin typeface="DejaVu Sans Mono"/>
              </a:rPr>
              <a:t>sys</a:t>
            </a:r>
            <a:r>
              <a:rPr b="0" lang="en-US" sz="1200" spc="-1" strike="noStrike">
                <a:solidFill>
                  <a:srgbClr val="666666"/>
                </a:solidFill>
                <a:latin typeface="DejaVu Sans Mono"/>
              </a:rPr>
              <a:t>.</a:t>
            </a:r>
            <a:r>
              <a:rPr b="0" lang="en-US" sz="1200" spc="-1" strike="noStrike">
                <a:solidFill>
                  <a:srgbClr val="031424"/>
                </a:solidFill>
                <a:latin typeface="DejaVu Sans Mono"/>
              </a:rPr>
              <a:t>prefix</a:t>
            </a:r>
            <a:r>
              <a:rPr b="0" lang="en-US" sz="1200" spc="-1" strike="noStrike">
                <a:solidFill>
                  <a:srgbClr val="70a0d0"/>
                </a:solidFill>
                <a:latin typeface="DejaVu Sans Mono"/>
              </a:rPr>
              <a:t>}</a:t>
            </a:r>
            <a:r>
              <a:rPr b="0" lang="en-US" sz="1200" spc="-1" strike="noStrike">
                <a:solidFill>
                  <a:srgbClr val="4070a0"/>
                </a:solidFill>
                <a:latin typeface="DejaVu Sans Mono"/>
              </a:rPr>
              <a:t>/include/eigen3'</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031424"/>
                </a:solidFill>
                <a:latin typeface="DejaVu Sans Mono"/>
              </a:rPr>
              <a:t>     </a:t>
            </a:r>
            <a:r>
              <a:rPr b="0" lang="en-US" sz="1200" spc="-1" strike="noStrike">
                <a:solidFill>
                  <a:srgbClr val="031424"/>
                </a:solidFill>
                <a:latin typeface="DejaVu Sans Mono"/>
              </a:rPr>
              <a:t>link_args</a:t>
            </a:r>
            <a:r>
              <a:rPr b="0" lang="en-US" sz="1200" spc="-1" strike="noStrike">
                <a:solidFill>
                  <a:srgbClr val="666666"/>
                </a:solidFill>
                <a:latin typeface="DejaVu Sans Mono"/>
              </a:rPr>
              <a:t>=</a:t>
            </a:r>
            <a:r>
              <a:rPr b="0" lang="en-US" sz="1200" spc="-1" strike="noStrike">
                <a:solidFill>
                  <a:srgbClr val="031424"/>
                </a:solidFill>
                <a:latin typeface="DejaVu Sans Mono"/>
              </a:rPr>
              <a:t>[</a:t>
            </a:r>
            <a:r>
              <a:rPr b="0" lang="en-US" sz="1200" spc="-1" strike="noStrike">
                <a:solidFill>
                  <a:srgbClr val="4070a0"/>
                </a:solidFill>
                <a:latin typeface="DejaVu Sans Mono"/>
              </a:rPr>
              <a:t>'-fopenmp'</a:t>
            </a:r>
            <a:r>
              <a:rPr b="0" lang="en-US" sz="1200" spc="-1" strike="noStrike">
                <a:solidFill>
                  <a:srgbClr val="031424"/>
                </a:solidFill>
                <a:latin typeface="DejaVu Sans Mono"/>
              </a:rPr>
              <a:t>], nogil</a:t>
            </a:r>
            <a:r>
              <a:rPr b="0" lang="en-US" sz="1200" spc="-1" strike="noStrike">
                <a:solidFill>
                  <a:srgbClr val="666666"/>
                </a:solidFill>
                <a:latin typeface="DejaVu Sans Mono"/>
              </a:rPr>
              <a:t>=</a:t>
            </a:r>
            <a:r>
              <a:rPr b="1" lang="en-US" sz="1200" spc="-1" strike="noStrike">
                <a:solidFill>
                  <a:srgbClr val="007020"/>
                </a:solidFill>
                <a:latin typeface="DejaVu Sans Mono"/>
              </a:rPr>
              <a:t>True</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1" lang="en-US" sz="1200" spc="-1" strike="noStrike">
                <a:solidFill>
                  <a:srgbClr val="007020"/>
                </a:solidFill>
                <a:latin typeface="DejaVu Sans Mono"/>
              </a:rPr>
              <a:t>def</a:t>
            </a:r>
            <a:r>
              <a:rPr b="0" lang="en-US" sz="1200" spc="-1" strike="noStrike">
                <a:solidFill>
                  <a:srgbClr val="031424"/>
                </a:solidFill>
                <a:latin typeface="DejaVu Sans Mono"/>
              </a:rPr>
              <a:t> </a:t>
            </a:r>
            <a:r>
              <a:rPr b="0" lang="en-US" sz="1200" spc="-1" strike="noStrike">
                <a:solidFill>
                  <a:srgbClr val="06287e"/>
                </a:solidFill>
                <a:latin typeface="DejaVu Sans Mono"/>
              </a:rPr>
              <a:t>score</a:t>
            </a:r>
            <a:r>
              <a:rPr b="0" lang="en-US" sz="1200" spc="-1" strike="noStrike">
                <a:solidFill>
                  <a:srgbClr val="031424"/>
                </a:solidFill>
                <a:latin typeface="DejaVu Sans Mono"/>
              </a:rPr>
              <a:t>(positions: Array, landmarks: Array, ranges: Array,</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031424"/>
                </a:solidFill>
                <a:latin typeface="DejaVu Sans Mono"/>
              </a:rPr>
              <a:t>          </a:t>
            </a:r>
            <a:r>
              <a:rPr b="0" lang="en-US" sz="1200" spc="-1" strike="noStrike">
                <a:solidFill>
                  <a:srgbClr val="031424"/>
                </a:solidFill>
                <a:latin typeface="DejaVu Sans Mono"/>
              </a:rPr>
              <a:t>scores: Array, threads: </a:t>
            </a:r>
            <a:r>
              <a:rPr b="0" lang="en-US" sz="1200" spc="-1" strike="noStrike">
                <a:solidFill>
                  <a:srgbClr val="007020"/>
                </a:solidFill>
                <a:latin typeface="DejaVu Sans Mono"/>
              </a:rPr>
              <a:t>int</a:t>
            </a:r>
            <a:r>
              <a:rPr b="0" lang="en-US" sz="1200" spc="-1" strike="noStrike">
                <a:solidFill>
                  <a:srgbClr val="031424"/>
                </a:solidFill>
                <a:latin typeface="DejaVu Sans Mono"/>
              </a:rPr>
              <a:t> </a:t>
            </a:r>
            <a:r>
              <a:rPr b="0" lang="en-US" sz="1200" spc="-1" strike="noStrike">
                <a:solidFill>
                  <a:srgbClr val="666666"/>
                </a:solidFill>
                <a:latin typeface="DejaVu Sans Mono"/>
              </a:rPr>
              <a:t>=</a:t>
            </a:r>
            <a:r>
              <a:rPr b="0" lang="en-US" sz="1200" spc="-1" strike="noStrike">
                <a:solidFill>
                  <a:srgbClr val="031424"/>
                </a:solidFill>
                <a:latin typeface="DejaVu Sans Mono"/>
              </a:rPr>
              <a:t> </a:t>
            </a:r>
            <a:r>
              <a:rPr b="0" lang="en-US" sz="1200" spc="-1" strike="noStrike">
                <a:solidFill>
                  <a:srgbClr val="40a070"/>
                </a:solidFill>
                <a:latin typeface="DejaVu Sans Mono"/>
              </a:rPr>
              <a:t>4</a:t>
            </a:r>
            <a:r>
              <a:rPr b="0" lang="en-US" sz="1200" spc="-1" strike="noStrike">
                <a:solidFill>
                  <a:srgbClr val="031424"/>
                </a:solidFill>
                <a:latin typeface="DejaVu Sans Mono"/>
              </a:rPr>
              <a:t>) </a:t>
            </a:r>
            <a:r>
              <a:rPr b="0" lang="en-US" sz="1200" spc="-1" strike="noStrike">
                <a:solidFill>
                  <a:srgbClr val="666666"/>
                </a:solidFill>
                <a:latin typeface="DejaVu Sans Mono"/>
              </a:rPr>
              <a:t>-&gt;</a:t>
            </a:r>
            <a:r>
              <a:rPr b="0" lang="en-US" sz="1200" spc="-1" strike="noStrike">
                <a:solidFill>
                  <a:srgbClr val="031424"/>
                </a:solidFill>
                <a:latin typeface="DejaVu Sans Mono"/>
              </a:rPr>
              <a:t> </a:t>
            </a:r>
            <a:r>
              <a:rPr b="1" lang="en-US" sz="1200" spc="-1" strike="noStrike">
                <a:solidFill>
                  <a:srgbClr val="007020"/>
                </a:solidFill>
                <a:latin typeface="DejaVu Sans Mono"/>
              </a:rPr>
              <a:t>None</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4070a0"/>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1" lang="en-US" sz="1200" spc="-1" strike="noStrike">
                <a:solidFill>
                  <a:srgbClr val="007020"/>
                </a:solidFill>
                <a:latin typeface="DejaVu Sans Mono"/>
              </a:rPr>
              <a:t>using</a:t>
            </a:r>
            <a:r>
              <a:rPr b="0" lang="en-US" sz="1200" spc="-1" strike="noStrike">
                <a:solidFill>
                  <a:srgbClr val="bbbbbb"/>
                </a:solidFill>
                <a:latin typeface="DejaVu Sans Mono"/>
              </a:rPr>
              <a:t> </a:t>
            </a:r>
            <a:r>
              <a:rPr b="0" lang="en-US" sz="1200" spc="-1" strike="noStrike">
                <a:solidFill>
                  <a:srgbClr val="031424"/>
                </a:solidFill>
                <a:latin typeface="DejaVu Sans Mono"/>
              </a:rPr>
              <a:t>Vec</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Eigen</a:t>
            </a:r>
            <a:r>
              <a:rPr b="0" lang="en-US" sz="1200" spc="-1" strike="noStrike">
                <a:solidFill>
                  <a:srgbClr val="666666"/>
                </a:solidFill>
                <a:latin typeface="DejaVu Sans Mono"/>
              </a:rPr>
              <a:t>::</a:t>
            </a:r>
            <a:r>
              <a:rPr b="0" lang="en-US" sz="1200" spc="-1" strike="noStrike">
                <a:solidFill>
                  <a:srgbClr val="031424"/>
                </a:solidFill>
                <a:latin typeface="DejaVu Sans Mono"/>
              </a:rPr>
              <a:t>Vector2d;</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1" lang="en-US" sz="1200" spc="-1" strike="noStrike">
                <a:solidFill>
                  <a:srgbClr val="007020"/>
                </a:solidFill>
                <a:latin typeface="DejaVu Sans Mono"/>
              </a:rPr>
              <a:t>if</a:t>
            </a:r>
            <a:r>
              <a:rPr b="0" lang="en-US" sz="1200" spc="-1" strike="noStrike">
                <a:solidFill>
                  <a:srgbClr val="bbbbbb"/>
                </a:solidFill>
                <a:latin typeface="DejaVu Sans Mono"/>
              </a:rPr>
              <a:t> </a:t>
            </a:r>
            <a:r>
              <a:rPr b="0" lang="en-US" sz="1200" spc="-1" strike="noStrike">
                <a:solidFill>
                  <a:srgbClr val="031424"/>
                </a:solidFill>
                <a:latin typeface="DejaVu Sans Mono"/>
              </a:rPr>
              <a:t>(positions_size</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2</a:t>
            </a:r>
            <a:r>
              <a:rPr b="0" lang="en-US" sz="1200" spc="-1" strike="noStrike">
                <a:solidFill>
                  <a:srgbClr val="666666"/>
                </a:solidFill>
                <a:latin typeface="DejaVu Sans Mono"/>
              </a:rPr>
              <a:t>*</a:t>
            </a:r>
            <a:r>
              <a:rPr b="0" lang="en-US" sz="1200" spc="-1" strike="noStrike">
                <a:solidFill>
                  <a:srgbClr val="031424"/>
                </a:solidFill>
                <a:latin typeface="DejaVu Sans Mono"/>
              </a:rPr>
              <a:t>scores_size</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landmarks_size</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2</a:t>
            </a:r>
            <a:r>
              <a:rPr b="0" lang="en-US" sz="1200" spc="-1" strike="noStrike">
                <a:solidFill>
                  <a:srgbClr val="666666"/>
                </a:solidFill>
                <a:latin typeface="DejaVu Sans Mono"/>
              </a:rPr>
              <a:t>*</a:t>
            </a:r>
            <a:r>
              <a:rPr b="0" lang="en-US" sz="1200" spc="-1" strike="noStrike">
                <a:solidFill>
                  <a:srgbClr val="031424"/>
                </a:solidFill>
                <a:latin typeface="DejaVu Sans Mono"/>
              </a:rPr>
              <a:t>ranges_size</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threads</a:t>
            </a:r>
            <a:r>
              <a:rPr b="0" lang="en-US" sz="1200" spc="-1" strike="noStrike">
                <a:solidFill>
                  <a:srgbClr val="bbbbbb"/>
                </a:solidFill>
                <a:latin typeface="DejaVu Sans Mono"/>
              </a:rPr>
              <a:t> </a:t>
            </a:r>
            <a:r>
              <a:rPr b="0" lang="en-US" sz="1200" spc="-1" strike="noStrike">
                <a:solidFill>
                  <a:srgbClr val="666666"/>
                </a:solidFill>
                <a:latin typeface="DejaVu Sans Mono"/>
              </a:rPr>
              <a:t>&lt;</a:t>
            </a:r>
            <a:r>
              <a:rPr b="0" lang="en-US" sz="1200" spc="-1" strike="noStrike">
                <a:solidFill>
                  <a:srgbClr val="bbbbbb"/>
                </a:solidFill>
                <a:latin typeface="DejaVu Sans Mono"/>
              </a:rPr>
              <a:t> </a:t>
            </a:r>
            <a:r>
              <a:rPr b="0" lang="en-US" sz="1200" spc="-1" strike="noStrike">
                <a:solidFill>
                  <a:srgbClr val="40a070"/>
                </a:solidFill>
                <a:latin typeface="DejaVu Sans Mono"/>
              </a:rPr>
              <a:t>1</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1" lang="en-US" sz="1200" spc="-1" strike="noStrike">
                <a:solidFill>
                  <a:srgbClr val="007020"/>
                </a:solidFill>
                <a:latin typeface="DejaVu Sans Mono"/>
              </a:rPr>
              <a:t>throw</a:t>
            </a:r>
            <a:r>
              <a:rPr b="0" lang="en-US" sz="1200" spc="-1" strike="noStrike">
                <a:solidFill>
                  <a:srgbClr val="bbbbbb"/>
                </a:solidFill>
                <a:latin typeface="DejaVu Sans Mono"/>
              </a:rPr>
              <a:t> </a:t>
            </a:r>
            <a:r>
              <a:rPr b="0" lang="en-US" sz="1200" spc="-1" strike="noStrike">
                <a:solidFill>
                  <a:srgbClr val="031424"/>
                </a:solidFill>
                <a:latin typeface="DejaVu Sans Mono"/>
              </a:rPr>
              <a:t>std</a:t>
            </a:r>
            <a:r>
              <a:rPr b="0" lang="en-US" sz="1200" spc="-1" strike="noStrike">
                <a:solidFill>
                  <a:srgbClr val="666666"/>
                </a:solidFill>
                <a:latin typeface="DejaVu Sans Mono"/>
              </a:rPr>
              <a:t>::</a:t>
            </a:r>
            <a:r>
              <a:rPr b="0" lang="en-US" sz="1200" spc="-1" strike="noStrike">
                <a:solidFill>
                  <a:srgbClr val="031424"/>
                </a:solidFill>
                <a:latin typeface="DejaVu Sans Mono"/>
              </a:rPr>
              <a:t>invalid_argument(</a:t>
            </a:r>
            <a:r>
              <a:rPr b="0" lang="en-US" sz="1200" spc="-1" strike="noStrike">
                <a:solidFill>
                  <a:srgbClr val="4070a0"/>
                </a:solidFill>
                <a:latin typeface="DejaVu Sans Mono"/>
              </a:rPr>
              <a:t>"Invalid dimensions or thread count"</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07020"/>
                </a:solidFill>
                <a:latin typeface="DejaVu Sans Mono"/>
              </a:rPr>
              <a:t>#pragma omp parallel for num_threads(threads) schedule(static)</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1" lang="en-US" sz="1200" spc="-1" strike="noStrike">
                <a:solidFill>
                  <a:srgbClr val="007020"/>
                </a:solidFill>
                <a:latin typeface="DejaVu Sans Mono"/>
              </a:rPr>
              <a:t>for</a:t>
            </a:r>
            <a:r>
              <a:rPr b="0" lang="en-US" sz="1200" spc="-1" strike="noStrike">
                <a:solidFill>
                  <a:srgbClr val="bbbbbb"/>
                </a:solidFill>
                <a:latin typeface="DejaVu Sans Mono"/>
              </a:rPr>
              <a:t> </a:t>
            </a:r>
            <a:r>
              <a:rPr b="0" lang="en-US" sz="1200" spc="-1" strike="noStrike">
                <a:solidFill>
                  <a:srgbClr val="031424"/>
                </a:solidFill>
                <a:latin typeface="DejaVu Sans Mono"/>
              </a:rPr>
              <a:t>(</a:t>
            </a:r>
            <a:r>
              <a:rPr b="0" lang="en-US" sz="1200" spc="-1" strike="noStrike">
                <a:solidFill>
                  <a:srgbClr val="902000"/>
                </a:solidFill>
                <a:latin typeface="DejaVu Sans Mono"/>
              </a:rPr>
              <a:t>long</a:t>
            </a:r>
            <a:r>
              <a:rPr b="0" lang="en-US" sz="1200" spc="-1" strike="noStrike">
                <a:solidFill>
                  <a:srgbClr val="bbbbbb"/>
                </a:solidFill>
                <a:latin typeface="DejaVu Sans Mono"/>
              </a:rPr>
              <a:t> </a:t>
            </a:r>
            <a:r>
              <a:rPr b="0" lang="en-US" sz="1200" spc="-1" strike="noStrike">
                <a:solidFill>
                  <a:srgbClr val="031424"/>
                </a:solidFill>
                <a:latin typeface="DejaVu Sans Mono"/>
              </a:rPr>
              <a:t>i</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0</a:t>
            </a:r>
            <a:r>
              <a:rPr b="0" lang="en-US" sz="1200" spc="-1" strike="noStrike">
                <a:solidFill>
                  <a:srgbClr val="031424"/>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i</a:t>
            </a:r>
            <a:r>
              <a:rPr b="0" lang="en-US" sz="1200" spc="-1" strike="noStrike">
                <a:solidFill>
                  <a:srgbClr val="bbbbbb"/>
                </a:solidFill>
                <a:latin typeface="DejaVu Sans Mono"/>
              </a:rPr>
              <a:t> </a:t>
            </a:r>
            <a:r>
              <a:rPr b="0" lang="en-US" sz="1200" spc="-1" strike="noStrike">
                <a:solidFill>
                  <a:srgbClr val="666666"/>
                </a:solidFill>
                <a:latin typeface="DejaVu Sans Mono"/>
              </a:rPr>
              <a:t>&lt;</a:t>
            </a:r>
            <a:r>
              <a:rPr b="0" lang="en-US" sz="1200" spc="-1" strike="noStrike">
                <a:solidFill>
                  <a:srgbClr val="bbbbbb"/>
                </a:solidFill>
                <a:latin typeface="DejaVu Sans Mono"/>
              </a:rPr>
              <a:t> </a:t>
            </a:r>
            <a:r>
              <a:rPr b="1" lang="en-US" sz="1200" spc="-1" strike="noStrike">
                <a:solidFill>
                  <a:srgbClr val="007020"/>
                </a:solidFill>
                <a:latin typeface="DejaVu Sans Mono"/>
              </a:rPr>
              <a:t>static_cast</a:t>
            </a:r>
            <a:r>
              <a:rPr b="0" lang="en-US" sz="1200" spc="-1" strike="noStrike">
                <a:solidFill>
                  <a:srgbClr val="666666"/>
                </a:solidFill>
                <a:latin typeface="DejaVu Sans Mono"/>
              </a:rPr>
              <a:t>&lt;</a:t>
            </a:r>
            <a:r>
              <a:rPr b="0" lang="en-US" sz="1200" spc="-1" strike="noStrike">
                <a:solidFill>
                  <a:srgbClr val="902000"/>
                </a:solidFill>
                <a:latin typeface="DejaVu Sans Mono"/>
              </a:rPr>
              <a:t>long</a:t>
            </a:r>
            <a:r>
              <a:rPr b="0" lang="en-US" sz="1200" spc="-1" strike="noStrike">
                <a:solidFill>
                  <a:srgbClr val="666666"/>
                </a:solidFill>
                <a:latin typeface="DejaVu Sans Mono"/>
              </a:rPr>
              <a:t>&gt;</a:t>
            </a:r>
            <a:r>
              <a:rPr b="0" lang="en-US" sz="1200" spc="-1" strike="noStrike">
                <a:solidFill>
                  <a:srgbClr val="031424"/>
                </a:solidFill>
                <a:latin typeface="DejaVu Sans Mono"/>
              </a:rPr>
              <a:t>(scores_size);</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031424"/>
                </a:solidFill>
                <a:latin typeface="DejaVu Sans Mono"/>
              </a:rPr>
              <a:t>i)</a:t>
            </a:r>
            <a:r>
              <a:rPr b="0" lang="en-US" sz="1200" spc="-1" strike="noStrike">
                <a:solidFill>
                  <a:srgbClr val="bbbbbb"/>
                </a:solidFill>
                <a:latin typeface="DejaVu Sans Mono"/>
              </a:rPr>
              <a:t> </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Eigen</a:t>
            </a:r>
            <a:r>
              <a:rPr b="0" lang="en-US" sz="1200" spc="-1" strike="noStrike">
                <a:solidFill>
                  <a:srgbClr val="666666"/>
                </a:solidFill>
                <a:latin typeface="DejaVu Sans Mono"/>
              </a:rPr>
              <a:t>::</a:t>
            </a:r>
            <a:r>
              <a:rPr b="0" lang="en-US" sz="1200" spc="-1" strike="noStrike">
                <a:solidFill>
                  <a:srgbClr val="031424"/>
                </a:solidFill>
                <a:latin typeface="DejaVu Sans Mono"/>
              </a:rPr>
              <a:t>Map</a:t>
            </a:r>
            <a:r>
              <a:rPr b="0" lang="en-US" sz="1200" spc="-1" strike="noStrike">
                <a:solidFill>
                  <a:srgbClr val="666666"/>
                </a:solidFill>
                <a:latin typeface="DejaVu Sans Mono"/>
              </a:rPr>
              <a:t>&lt;</a:t>
            </a:r>
            <a:r>
              <a:rPr b="1" lang="en-US" sz="1200" spc="-1" strike="noStrike">
                <a:solidFill>
                  <a:srgbClr val="007020"/>
                </a:solidFill>
                <a:latin typeface="DejaVu Sans Mono"/>
              </a:rPr>
              <a:t>const</a:t>
            </a:r>
            <a:r>
              <a:rPr b="0" lang="en-US" sz="1200" spc="-1" strike="noStrike">
                <a:solidFill>
                  <a:srgbClr val="bbbbbb"/>
                </a:solidFill>
                <a:latin typeface="DejaVu Sans Mono"/>
              </a:rPr>
              <a:t> </a:t>
            </a:r>
            <a:r>
              <a:rPr b="0" lang="en-US" sz="1200" spc="-1" strike="noStrike">
                <a:solidFill>
                  <a:srgbClr val="031424"/>
                </a:solidFill>
                <a:latin typeface="DejaVu Sans Mono"/>
              </a:rPr>
              <a:t>Vec</a:t>
            </a:r>
            <a:r>
              <a:rPr b="0" lang="en-US" sz="1200" spc="-1" strike="noStrike">
                <a:solidFill>
                  <a:srgbClr val="666666"/>
                </a:solidFill>
                <a:latin typeface="DejaVu Sans Mono"/>
              </a:rPr>
              <a:t>&gt;</a:t>
            </a:r>
            <a:r>
              <a:rPr b="0" lang="en-US" sz="1200" spc="-1" strike="noStrike">
                <a:solidFill>
                  <a:srgbClr val="bbbbbb"/>
                </a:solidFill>
                <a:latin typeface="DejaVu Sans Mono"/>
              </a:rPr>
              <a:t> </a:t>
            </a:r>
            <a:r>
              <a:rPr b="0" lang="en-US" sz="1200" spc="-1" strike="noStrike">
                <a:solidFill>
                  <a:srgbClr val="031424"/>
                </a:solidFill>
                <a:latin typeface="DejaVu Sans Mono"/>
              </a:rPr>
              <a:t>position(positions</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2</a:t>
            </a:r>
            <a:r>
              <a:rPr b="0" lang="en-US" sz="1200" spc="-1" strike="noStrike">
                <a:solidFill>
                  <a:srgbClr val="666666"/>
                </a:solidFill>
                <a:latin typeface="DejaVu Sans Mono"/>
              </a:rPr>
              <a:t>*</a:t>
            </a:r>
            <a:r>
              <a:rPr b="0" lang="en-US" sz="1200" spc="-1" strike="noStrike">
                <a:solidFill>
                  <a:srgbClr val="031424"/>
                </a:solidFill>
                <a:latin typeface="DejaVu Sans Mono"/>
              </a:rPr>
              <a:t>i);</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902000"/>
                </a:solidFill>
                <a:latin typeface="DejaVu Sans Mono"/>
              </a:rPr>
              <a:t>double</a:t>
            </a:r>
            <a:r>
              <a:rPr b="0" lang="en-US" sz="1200" spc="-1" strike="noStrike">
                <a:solidFill>
                  <a:srgbClr val="bbbbbb"/>
                </a:solidFill>
                <a:latin typeface="DejaVu Sans Mono"/>
              </a:rPr>
              <a:t> </a:t>
            </a:r>
            <a:r>
              <a:rPr b="0" lang="en-US" sz="1200" spc="-1" strike="noStrike">
                <a:solidFill>
                  <a:srgbClr val="031424"/>
                </a:solidFill>
                <a:latin typeface="DejaVu Sans Mono"/>
              </a:rPr>
              <a:t>error</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0.0</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1" lang="en-US" sz="1200" spc="-1" strike="noStrike">
                <a:solidFill>
                  <a:srgbClr val="007020"/>
                </a:solidFill>
                <a:latin typeface="DejaVu Sans Mono"/>
              </a:rPr>
              <a:t>for</a:t>
            </a:r>
            <a:r>
              <a:rPr b="0" lang="en-US" sz="1200" spc="-1" strike="noStrike">
                <a:solidFill>
                  <a:srgbClr val="bbbbbb"/>
                </a:solidFill>
                <a:latin typeface="DejaVu Sans Mono"/>
              </a:rPr>
              <a:t> </a:t>
            </a:r>
            <a:r>
              <a:rPr b="0" lang="en-US" sz="1200" spc="-1" strike="noStrike">
                <a:solidFill>
                  <a:srgbClr val="031424"/>
                </a:solidFill>
                <a:latin typeface="DejaVu Sans Mono"/>
              </a:rPr>
              <a:t>(</a:t>
            </a:r>
            <a:r>
              <a:rPr b="0" lang="en-US" sz="1200" spc="-1" strike="noStrike">
                <a:solidFill>
                  <a:srgbClr val="902000"/>
                </a:solidFill>
                <a:latin typeface="DejaVu Sans Mono"/>
              </a:rPr>
              <a:t>size_t</a:t>
            </a:r>
            <a:r>
              <a:rPr b="0" lang="en-US" sz="1200" spc="-1" strike="noStrike">
                <a:solidFill>
                  <a:srgbClr val="bbbbbb"/>
                </a:solidFill>
                <a:latin typeface="DejaVu Sans Mono"/>
              </a:rPr>
              <a:t> </a:t>
            </a:r>
            <a:r>
              <a:rPr b="0" lang="en-US" sz="1200" spc="-1" strike="noStrike">
                <a:solidFill>
                  <a:srgbClr val="031424"/>
                </a:solidFill>
                <a:latin typeface="DejaVu Sans Mono"/>
              </a:rPr>
              <a:t>j</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0</a:t>
            </a:r>
            <a:r>
              <a:rPr b="0" lang="en-US" sz="1200" spc="-1" strike="noStrike">
                <a:solidFill>
                  <a:srgbClr val="031424"/>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j</a:t>
            </a:r>
            <a:r>
              <a:rPr b="0" lang="en-US" sz="1200" spc="-1" strike="noStrike">
                <a:solidFill>
                  <a:srgbClr val="bbbbbb"/>
                </a:solidFill>
                <a:latin typeface="DejaVu Sans Mono"/>
              </a:rPr>
              <a:t> </a:t>
            </a:r>
            <a:r>
              <a:rPr b="0" lang="en-US" sz="1200" spc="-1" strike="noStrike">
                <a:solidFill>
                  <a:srgbClr val="666666"/>
                </a:solidFill>
                <a:latin typeface="DejaVu Sans Mono"/>
              </a:rPr>
              <a:t>&lt;</a:t>
            </a:r>
            <a:r>
              <a:rPr b="0" lang="en-US" sz="1200" spc="-1" strike="noStrike">
                <a:solidFill>
                  <a:srgbClr val="bbbbbb"/>
                </a:solidFill>
                <a:latin typeface="DejaVu Sans Mono"/>
              </a:rPr>
              <a:t> </a:t>
            </a:r>
            <a:r>
              <a:rPr b="0" lang="en-US" sz="1200" spc="-1" strike="noStrike">
                <a:solidFill>
                  <a:srgbClr val="031424"/>
                </a:solidFill>
                <a:latin typeface="DejaVu Sans Mono"/>
              </a:rPr>
              <a:t>ranges_size;</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031424"/>
                </a:solidFill>
                <a:latin typeface="DejaVu Sans Mono"/>
              </a:rPr>
              <a:t>j)</a:t>
            </a:r>
            <a:r>
              <a:rPr b="0" lang="en-US" sz="1200" spc="-1" strike="noStrike">
                <a:solidFill>
                  <a:srgbClr val="bbbbbb"/>
                </a:solidFill>
                <a:latin typeface="DejaVu Sans Mono"/>
              </a:rPr>
              <a:t> </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Eigen</a:t>
            </a:r>
            <a:r>
              <a:rPr b="0" lang="en-US" sz="1200" spc="-1" strike="noStrike">
                <a:solidFill>
                  <a:srgbClr val="666666"/>
                </a:solidFill>
                <a:latin typeface="DejaVu Sans Mono"/>
              </a:rPr>
              <a:t>::</a:t>
            </a:r>
            <a:r>
              <a:rPr b="0" lang="en-US" sz="1200" spc="-1" strike="noStrike">
                <a:solidFill>
                  <a:srgbClr val="031424"/>
                </a:solidFill>
                <a:latin typeface="DejaVu Sans Mono"/>
              </a:rPr>
              <a:t>Map</a:t>
            </a:r>
            <a:r>
              <a:rPr b="0" lang="en-US" sz="1200" spc="-1" strike="noStrike">
                <a:solidFill>
                  <a:srgbClr val="666666"/>
                </a:solidFill>
                <a:latin typeface="DejaVu Sans Mono"/>
              </a:rPr>
              <a:t>&lt;</a:t>
            </a:r>
            <a:r>
              <a:rPr b="1" lang="en-US" sz="1200" spc="-1" strike="noStrike">
                <a:solidFill>
                  <a:srgbClr val="007020"/>
                </a:solidFill>
                <a:latin typeface="DejaVu Sans Mono"/>
              </a:rPr>
              <a:t>const</a:t>
            </a:r>
            <a:r>
              <a:rPr b="0" lang="en-US" sz="1200" spc="-1" strike="noStrike">
                <a:solidFill>
                  <a:srgbClr val="bbbbbb"/>
                </a:solidFill>
                <a:latin typeface="DejaVu Sans Mono"/>
              </a:rPr>
              <a:t> </a:t>
            </a:r>
            <a:r>
              <a:rPr b="0" lang="en-US" sz="1200" spc="-1" strike="noStrike">
                <a:solidFill>
                  <a:srgbClr val="031424"/>
                </a:solidFill>
                <a:latin typeface="DejaVu Sans Mono"/>
              </a:rPr>
              <a:t>Vec</a:t>
            </a:r>
            <a:r>
              <a:rPr b="0" lang="en-US" sz="1200" spc="-1" strike="noStrike">
                <a:solidFill>
                  <a:srgbClr val="666666"/>
                </a:solidFill>
                <a:latin typeface="DejaVu Sans Mono"/>
              </a:rPr>
              <a:t>&gt;</a:t>
            </a:r>
            <a:r>
              <a:rPr b="0" lang="en-US" sz="1200" spc="-1" strike="noStrike">
                <a:solidFill>
                  <a:srgbClr val="bbbbbb"/>
                </a:solidFill>
                <a:latin typeface="DejaVu Sans Mono"/>
              </a:rPr>
              <a:t> </a:t>
            </a:r>
            <a:r>
              <a:rPr b="0" lang="en-US" sz="1200" spc="-1" strike="noStrike">
                <a:solidFill>
                  <a:srgbClr val="031424"/>
                </a:solidFill>
                <a:latin typeface="DejaVu Sans Mono"/>
              </a:rPr>
              <a:t>landmark(landmarks</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40a070"/>
                </a:solidFill>
                <a:latin typeface="DejaVu Sans Mono"/>
              </a:rPr>
              <a:t>2</a:t>
            </a:r>
            <a:r>
              <a:rPr b="0" lang="en-US" sz="1200" spc="-1" strike="noStrike">
                <a:solidFill>
                  <a:srgbClr val="666666"/>
                </a:solidFill>
                <a:latin typeface="DejaVu Sans Mono"/>
              </a:rPr>
              <a:t>*</a:t>
            </a:r>
            <a:r>
              <a:rPr b="0" lang="en-US" sz="1200" spc="-1" strike="noStrike">
                <a:solidFill>
                  <a:srgbClr val="031424"/>
                </a:solidFill>
                <a:latin typeface="DejaVu Sans Mono"/>
              </a:rPr>
              <a:t>j);</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902000"/>
                </a:solidFill>
                <a:latin typeface="DejaVu Sans Mono"/>
              </a:rPr>
              <a:t>double</a:t>
            </a:r>
            <a:r>
              <a:rPr b="0" lang="en-US" sz="1200" spc="-1" strike="noStrike">
                <a:solidFill>
                  <a:srgbClr val="bbbbbb"/>
                </a:solidFill>
                <a:latin typeface="DejaVu Sans Mono"/>
              </a:rPr>
              <a:t> </a:t>
            </a:r>
            <a:r>
              <a:rPr b="0" lang="en-US" sz="1200" spc="-1" strike="noStrike">
                <a:solidFill>
                  <a:srgbClr val="031424"/>
                </a:solidFill>
                <a:latin typeface="DejaVu Sans Mono"/>
              </a:rPr>
              <a:t>residual</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(position</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landmark).norm()</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ranges[j];</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error</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residual</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031424"/>
                </a:solidFill>
                <a:latin typeface="DejaVu Sans Mono"/>
              </a:rPr>
              <a:t>residual;</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scores[i]</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bbbbbb"/>
                </a:solidFill>
                <a:latin typeface="DejaVu Sans Mono"/>
              </a:rPr>
              <a:t> </a:t>
            </a:r>
            <a:r>
              <a:rPr b="0" lang="en-US" sz="1200" spc="-1" strike="noStrike">
                <a:solidFill>
                  <a:srgbClr val="666666"/>
                </a:solidFill>
                <a:latin typeface="DejaVu Sans Mono"/>
              </a:rPr>
              <a:t>-</a:t>
            </a:r>
            <a:r>
              <a:rPr b="0" lang="en-US" sz="1200" spc="-1" strike="noStrike">
                <a:solidFill>
                  <a:srgbClr val="031424"/>
                </a:solidFill>
                <a:latin typeface="DejaVu Sans Mono"/>
              </a:rPr>
              <a:t>error;</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031424"/>
                </a:solidFill>
                <a:latin typeface="DejaVu Sans Mono"/>
              </a:rPr>
              <a:t>}</a:t>
            </a:r>
            <a:endParaRPr b="0" lang="en-US" sz="1200" spc="-1" strike="noStrike">
              <a:solidFill>
                <a:srgbClr val="000000"/>
              </a:solidFill>
              <a:latin typeface="Arial"/>
            </a:endParaRPr>
          </a:p>
          <a:p>
            <a:pPr>
              <a:lnSpc>
                <a:spcPct val="100000"/>
              </a:lnSpc>
              <a:tabLst>
                <a:tab algn="l" pos="0"/>
              </a:tabLst>
            </a:pPr>
            <a:r>
              <a:rPr b="0" lang="en-US" sz="1200" spc="-1" strike="noStrike">
                <a:solidFill>
                  <a:srgbClr val="bbbbbb"/>
                </a:solidFill>
                <a:latin typeface="DejaVu Sans Mono"/>
              </a:rPr>
              <a:t>    </a:t>
            </a:r>
            <a:r>
              <a:rPr b="0" lang="en-US" sz="1200" spc="-1" strike="noStrike">
                <a:solidFill>
                  <a:srgbClr val="4070a0"/>
                </a:solidFill>
                <a:latin typeface="DejaVu Sans Mono"/>
              </a:rPr>
              <a:t>"""</a:t>
            </a:r>
            <a:endParaRPr b="0" lang="en-US" sz="1200" spc="-1" strike="noStrike">
              <a:solidFill>
                <a:srgbClr val="000000"/>
              </a:solidFill>
              <a:latin typeface="Arial"/>
            </a:endParaRPr>
          </a:p>
          <a:p>
            <a:pPr>
              <a:lnSpc>
                <a:spcPct val="100000"/>
              </a:lnSpc>
              <a:tabLst>
                <a:tab algn="l" pos="0"/>
              </a:tabLst>
            </a:pPr>
            <a:endParaRPr b="0" lang="en-US" sz="1200" spc="-1" strike="noStrike">
              <a:solidFill>
                <a:srgbClr val="000000"/>
              </a:solidFill>
              <a:latin typeface="Arial"/>
            </a:endParaRPr>
          </a:p>
        </p:txBody>
      </p:sp>
      <p:sp>
        <p:nvSpPr>
          <p:cNvPr id="155" name="Freeform 1"/>
          <p:cNvSpPr/>
          <p:nvPr/>
        </p:nvSpPr>
        <p:spPr>
          <a:xfrm>
            <a:off x="5029200" y="1774080"/>
            <a:ext cx="4067280" cy="1177920"/>
          </a:xfrm>
          <a:custGeom>
            <a:avLst/>
            <a:gdLst>
              <a:gd name="textAreaLeft" fmla="*/ 0 w 4067280"/>
              <a:gd name="textAreaRight" fmla="*/ 4069080 w 4067280"/>
              <a:gd name="textAreaTop" fmla="*/ 0 h 1177920"/>
              <a:gd name="textAreaBottom" fmla="*/ 1179720 h 1177920"/>
            </a:gdLst>
            <a:ahLst/>
            <a:rect l="textAreaLeft" t="textAreaTop" r="textAreaRight" b="textAreaBottom"/>
            <a:pathLst>
              <a:path w="4069080" h="1179576">
                <a:moveTo>
                  <a:pt x="4069080" y="0"/>
                </a:moveTo>
                <a:lnTo>
                  <a:pt x="0" y="1179576"/>
                </a:lnTo>
                <a:lnTo>
                  <a:pt x="4069080" y="274320"/>
                </a:lnTo>
                <a:close/>
              </a:path>
            </a:pathLst>
          </a:cu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56" name="Rounded Rectangle 153"/>
          <p:cNvSpPr/>
          <p:nvPr/>
        </p:nvSpPr>
        <p:spPr>
          <a:xfrm>
            <a:off x="9006840" y="1481400"/>
            <a:ext cx="2695680" cy="766440"/>
          </a:xfrm>
          <a:prstGeom prst="roundRect">
            <a:avLst>
              <a:gd name="adj" fmla="val 16667"/>
            </a:avLst>
          </a:pr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57" name="TextBox 154"/>
          <p:cNvSpPr/>
          <p:nvPr/>
        </p:nvSpPr>
        <p:spPr>
          <a:xfrm>
            <a:off x="9135000" y="1554480"/>
            <a:ext cx="2439720" cy="5770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600" spc="-1" strike="noStrike">
                <a:solidFill>
                  <a:srgbClr val="031424"/>
                </a:solidFill>
                <a:latin typeface="Roboto"/>
              </a:rPr>
              <a:t>Release the GIL: Python threads can continue.</a:t>
            </a:r>
            <a:endParaRPr b="0" lang="en-US" sz="1600" spc="-1" strike="noStrike">
              <a:solidFill>
                <a:srgbClr val="000000"/>
              </a:solidFill>
              <a:latin typeface="Arial"/>
            </a:endParaRPr>
          </a:p>
        </p:txBody>
      </p:sp>
      <p:sp>
        <p:nvSpPr>
          <p:cNvPr id="158" name="Freeform 2"/>
          <p:cNvSpPr/>
          <p:nvPr/>
        </p:nvSpPr>
        <p:spPr>
          <a:xfrm>
            <a:off x="7498080" y="3145680"/>
            <a:ext cx="1598400" cy="1269360"/>
          </a:xfrm>
          <a:custGeom>
            <a:avLst/>
            <a:gdLst>
              <a:gd name="textAreaLeft" fmla="*/ 0 w 1598400"/>
              <a:gd name="textAreaRight" fmla="*/ 1600200 w 1598400"/>
              <a:gd name="textAreaTop" fmla="*/ 0 h 1269360"/>
              <a:gd name="textAreaBottom" fmla="*/ 1271160 h 1269360"/>
            </a:gdLst>
            <a:ahLst/>
            <a:rect l="textAreaLeft" t="textAreaTop" r="textAreaRight" b="textAreaBottom"/>
            <a:pathLst>
              <a:path w="1600201" h="1271016">
                <a:moveTo>
                  <a:pt x="1600201" y="0"/>
                </a:moveTo>
                <a:lnTo>
                  <a:pt x="0" y="1271016"/>
                </a:lnTo>
                <a:lnTo>
                  <a:pt x="1600201" y="274320"/>
                </a:lnTo>
                <a:close/>
              </a:path>
            </a:pathLst>
          </a:cu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59" name="Rounded Rectangle 155"/>
          <p:cNvSpPr/>
          <p:nvPr/>
        </p:nvSpPr>
        <p:spPr>
          <a:xfrm>
            <a:off x="9006840" y="2853000"/>
            <a:ext cx="2695680" cy="766440"/>
          </a:xfrm>
          <a:prstGeom prst="roundRect">
            <a:avLst>
              <a:gd name="adj" fmla="val 16667"/>
            </a:avLst>
          </a:pr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60" name="TextBox 156"/>
          <p:cNvSpPr/>
          <p:nvPr/>
        </p:nvSpPr>
        <p:spPr>
          <a:xfrm>
            <a:off x="9135000" y="2926080"/>
            <a:ext cx="2439720" cy="5770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600" spc="-1" strike="noStrike">
                <a:solidFill>
                  <a:srgbClr val="031424"/>
                </a:solidFill>
                <a:latin typeface="Roboto"/>
              </a:rPr>
              <a:t>Split candidates across native workers.</a:t>
            </a:r>
            <a:endParaRPr b="0" lang="en-US" sz="1600" spc="-1" strike="noStrike">
              <a:solidFill>
                <a:srgbClr val="000000"/>
              </a:solidFill>
              <a:latin typeface="Arial"/>
            </a:endParaRPr>
          </a:p>
        </p:txBody>
      </p:sp>
      <p:sp>
        <p:nvSpPr>
          <p:cNvPr id="161" name="Freeform 3"/>
          <p:cNvSpPr/>
          <p:nvPr/>
        </p:nvSpPr>
        <p:spPr>
          <a:xfrm>
            <a:off x="6766560" y="4498920"/>
            <a:ext cx="2329920" cy="281520"/>
          </a:xfrm>
          <a:custGeom>
            <a:avLst/>
            <a:gdLst>
              <a:gd name="textAreaLeft" fmla="*/ 0 w 2329920"/>
              <a:gd name="textAreaRight" fmla="*/ 2331720 w 2329920"/>
              <a:gd name="textAreaTop" fmla="*/ 0 h 281520"/>
              <a:gd name="textAreaBottom" fmla="*/ 283320 h 281520"/>
            </a:gdLst>
            <a:ahLst/>
            <a:rect l="textAreaLeft" t="textAreaTop" r="textAreaRight" b="textAreaBottom"/>
            <a:pathLst>
              <a:path w="2331720" h="283464">
                <a:moveTo>
                  <a:pt x="2331720" y="0"/>
                </a:moveTo>
                <a:lnTo>
                  <a:pt x="0" y="283464"/>
                </a:lnTo>
                <a:lnTo>
                  <a:pt x="2331720" y="274320"/>
                </a:lnTo>
                <a:close/>
              </a:path>
            </a:pathLst>
          </a:cu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62" name="Rounded Rectangle 157"/>
          <p:cNvSpPr/>
          <p:nvPr/>
        </p:nvSpPr>
        <p:spPr>
          <a:xfrm>
            <a:off x="9006840" y="4206240"/>
            <a:ext cx="2695680" cy="766440"/>
          </a:xfrm>
          <a:prstGeom prst="roundRect">
            <a:avLst>
              <a:gd name="adj" fmla="val 16667"/>
            </a:avLst>
          </a:pr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63" name="TextBox 158"/>
          <p:cNvSpPr/>
          <p:nvPr/>
        </p:nvSpPr>
        <p:spPr>
          <a:xfrm>
            <a:off x="9135000" y="4279320"/>
            <a:ext cx="2439720" cy="5770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600" spc="-1" strike="noStrike">
                <a:solidFill>
                  <a:srgbClr val="031424"/>
                </a:solidFill>
                <a:latin typeface="Roboto"/>
              </a:rPr>
              <a:t>Eigen views: use the existing coordinates.</a:t>
            </a:r>
            <a:endParaRPr b="0" lang="en-US" sz="1600" spc="-1" strike="noStrike">
              <a:solidFill>
                <a:srgbClr val="000000"/>
              </a:solidFill>
              <a:latin typeface="Arial"/>
            </a:endParaRPr>
          </a:p>
        </p:txBody>
      </p:sp>
      <p:sp>
        <p:nvSpPr>
          <p:cNvPr id="164" name="Freeform 4"/>
          <p:cNvSpPr/>
          <p:nvPr/>
        </p:nvSpPr>
        <p:spPr>
          <a:xfrm>
            <a:off x="7955280" y="5513760"/>
            <a:ext cx="1141200" cy="446400"/>
          </a:xfrm>
          <a:custGeom>
            <a:avLst/>
            <a:gdLst>
              <a:gd name="textAreaLeft" fmla="*/ 0 w 1141200"/>
              <a:gd name="textAreaRight" fmla="*/ 1143000 w 1141200"/>
              <a:gd name="textAreaTop" fmla="*/ 0 h 446400"/>
              <a:gd name="textAreaBottom" fmla="*/ 448200 h 446400"/>
            </a:gdLst>
            <a:ahLst/>
            <a:rect l="textAreaLeft" t="textAreaTop" r="textAreaRight" b="textAreaBottom"/>
            <a:pathLst>
              <a:path w="1143001" h="448056">
                <a:moveTo>
                  <a:pt x="1143001" y="173736"/>
                </a:moveTo>
                <a:lnTo>
                  <a:pt x="0" y="0"/>
                </a:lnTo>
                <a:lnTo>
                  <a:pt x="1143001" y="448056"/>
                </a:lnTo>
                <a:close/>
              </a:path>
            </a:pathLst>
          </a:cu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65" name="Rounded Rectangle 159"/>
          <p:cNvSpPr/>
          <p:nvPr/>
        </p:nvSpPr>
        <p:spPr>
          <a:xfrm>
            <a:off x="9006840" y="5394960"/>
            <a:ext cx="2695680" cy="892440"/>
          </a:xfrm>
          <a:prstGeom prst="roundRect">
            <a:avLst>
              <a:gd name="adj" fmla="val 16667"/>
            </a:avLst>
          </a:pr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166" name="TextBox 160"/>
          <p:cNvSpPr/>
          <p:nvPr/>
        </p:nvSpPr>
        <p:spPr>
          <a:xfrm>
            <a:off x="9135000" y="5468040"/>
            <a:ext cx="2439720" cy="5770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600" spc="-1" strike="noStrike">
                <a:solidFill>
                  <a:srgbClr val="031424"/>
                </a:solidFill>
                <a:latin typeface="Roboto"/>
              </a:rPr>
              <a:t>Distance error → square → sum. Higher score wins.</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7" name="Picture 5" descr=""/>
          <p:cNvPicPr/>
          <p:nvPr/>
        </p:nvPicPr>
        <p:blipFill>
          <a:blip r:embed="rId1"/>
          <a:stretch/>
        </p:blipFill>
        <p:spPr>
          <a:xfrm>
            <a:off x="10623600" y="345600"/>
            <a:ext cx="1058400" cy="1058400"/>
          </a:xfrm>
          <a:prstGeom prst="rect">
            <a:avLst/>
          </a:prstGeom>
          <a:ln w="0">
            <a:noFill/>
          </a:ln>
        </p:spPr>
      </p:pic>
      <p:cxnSp>
        <p:nvCxnSpPr>
          <p:cNvPr id="168" name="Straight Connector 7"/>
          <p:cNvCxnSpPr/>
          <p:nvPr/>
        </p:nvCxnSpPr>
        <p:spPr>
          <a:xfrm>
            <a:off x="0" y="1134720"/>
            <a:ext cx="4366080" cy="2520"/>
          </a:xfrm>
          <a:prstGeom prst="straightConnector1">
            <a:avLst/>
          </a:prstGeom>
          <a:ln w="38100">
            <a:solidFill>
              <a:srgbClr val="fed021"/>
            </a:solidFill>
            <a:round/>
          </a:ln>
        </p:spPr>
      </p:cxnSp>
      <p:sp>
        <p:nvSpPr>
          <p:cNvPr id="169" name="TextBox 160"/>
          <p:cNvSpPr/>
          <p:nvPr/>
        </p:nvSpPr>
        <p:spPr>
          <a:xfrm>
            <a:off x="502920" y="320040"/>
            <a:ext cx="10148040" cy="5166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800" spc="-1" strike="noStrike">
                <a:solidFill>
                  <a:srgbClr val="031424"/>
                </a:solidFill>
                <a:latin typeface="Roboto"/>
              </a:rPr>
              <a:t>Particle scoring: from Python loops to parallel C++</a:t>
            </a:r>
            <a:endParaRPr b="0" lang="en-US" sz="2800" spc="-1" strike="noStrike">
              <a:solidFill>
                <a:srgbClr val="000000"/>
              </a:solidFill>
              <a:latin typeface="Arial"/>
            </a:endParaRPr>
          </a:p>
        </p:txBody>
      </p:sp>
      <p:sp>
        <p:nvSpPr>
          <p:cNvPr id="170" name="TextBox 161"/>
          <p:cNvSpPr/>
          <p:nvPr/>
        </p:nvSpPr>
        <p:spPr>
          <a:xfrm>
            <a:off x="502920" y="1280160"/>
            <a:ext cx="1097100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20,000 candidate positions × 32 landmarks · same inputs and scoring operation</a:t>
            </a:r>
            <a:endParaRPr b="0" lang="en-US" sz="2100" spc="-1" strike="noStrike">
              <a:solidFill>
                <a:srgbClr val="000000"/>
              </a:solidFill>
              <a:latin typeface="Arial"/>
            </a:endParaRPr>
          </a:p>
        </p:txBody>
      </p:sp>
      <p:sp>
        <p:nvSpPr>
          <p:cNvPr id="171" name="TextBox 162"/>
          <p:cNvSpPr/>
          <p:nvPr/>
        </p:nvSpPr>
        <p:spPr>
          <a:xfrm>
            <a:off x="594360" y="1965960"/>
            <a:ext cx="66733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Implementation</a:t>
            </a:r>
            <a:endParaRPr b="0" lang="en-US" sz="2100" spc="-1" strike="noStrike">
              <a:solidFill>
                <a:srgbClr val="000000"/>
              </a:solidFill>
              <a:latin typeface="Arial"/>
            </a:endParaRPr>
          </a:p>
        </p:txBody>
      </p:sp>
      <p:sp>
        <p:nvSpPr>
          <p:cNvPr id="172" name="TextBox 163"/>
          <p:cNvSpPr/>
          <p:nvPr/>
        </p:nvSpPr>
        <p:spPr>
          <a:xfrm>
            <a:off x="7543800" y="1965960"/>
            <a:ext cx="20098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Median / call</a:t>
            </a:r>
            <a:endParaRPr b="0" lang="en-US" sz="2100" spc="-1" strike="noStrike">
              <a:solidFill>
                <a:srgbClr val="000000"/>
              </a:solidFill>
              <a:latin typeface="Arial"/>
            </a:endParaRPr>
          </a:p>
        </p:txBody>
      </p:sp>
      <p:sp>
        <p:nvSpPr>
          <p:cNvPr id="173" name="TextBox 164"/>
          <p:cNvSpPr/>
          <p:nvPr/>
        </p:nvSpPr>
        <p:spPr>
          <a:xfrm>
            <a:off x="9875520" y="1965960"/>
            <a:ext cx="16441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Speedup</a:t>
            </a:r>
            <a:endParaRPr b="0" lang="en-US" sz="2100" spc="-1" strike="noStrike">
              <a:solidFill>
                <a:srgbClr val="000000"/>
              </a:solidFill>
              <a:latin typeface="Arial"/>
            </a:endParaRPr>
          </a:p>
        </p:txBody>
      </p:sp>
      <p:sp>
        <p:nvSpPr>
          <p:cNvPr id="174" name="TextBox 165"/>
          <p:cNvSpPr/>
          <p:nvPr/>
        </p:nvSpPr>
        <p:spPr>
          <a:xfrm>
            <a:off x="594360" y="2468880"/>
            <a:ext cx="66733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Python lists + math.hypot</a:t>
            </a:r>
            <a:endParaRPr b="0" lang="en-US" sz="2100" spc="-1" strike="noStrike">
              <a:solidFill>
                <a:srgbClr val="000000"/>
              </a:solidFill>
              <a:latin typeface="Arial"/>
            </a:endParaRPr>
          </a:p>
        </p:txBody>
      </p:sp>
      <p:sp>
        <p:nvSpPr>
          <p:cNvPr id="175" name="TextBox 166"/>
          <p:cNvSpPr/>
          <p:nvPr/>
        </p:nvSpPr>
        <p:spPr>
          <a:xfrm>
            <a:off x="7543800" y="2468880"/>
            <a:ext cx="20098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39.182 ms</a:t>
            </a:r>
            <a:endParaRPr b="0" lang="en-US" sz="2100" spc="-1" strike="noStrike">
              <a:solidFill>
                <a:srgbClr val="000000"/>
              </a:solidFill>
              <a:latin typeface="Arial"/>
            </a:endParaRPr>
          </a:p>
        </p:txBody>
      </p:sp>
      <p:sp>
        <p:nvSpPr>
          <p:cNvPr id="176" name="TextBox 167"/>
          <p:cNvSpPr/>
          <p:nvPr/>
        </p:nvSpPr>
        <p:spPr>
          <a:xfrm>
            <a:off x="9875520" y="2468880"/>
            <a:ext cx="16441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1.0×</a:t>
            </a:r>
            <a:endParaRPr b="0" lang="en-US" sz="2100" spc="-1" strike="noStrike">
              <a:solidFill>
                <a:srgbClr val="000000"/>
              </a:solidFill>
              <a:latin typeface="Arial"/>
            </a:endParaRPr>
          </a:p>
        </p:txBody>
      </p:sp>
      <p:sp>
        <p:nvSpPr>
          <p:cNvPr id="177" name="TextBox 168"/>
          <p:cNvSpPr/>
          <p:nvPr/>
        </p:nvSpPr>
        <p:spPr>
          <a:xfrm>
            <a:off x="594360" y="2971800"/>
            <a:ext cx="66733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NumPy: broadcasting</a:t>
            </a:r>
            <a:endParaRPr b="0" lang="en-US" sz="2100" spc="-1" strike="noStrike">
              <a:solidFill>
                <a:srgbClr val="000000"/>
              </a:solidFill>
              <a:latin typeface="Arial"/>
            </a:endParaRPr>
          </a:p>
        </p:txBody>
      </p:sp>
      <p:sp>
        <p:nvSpPr>
          <p:cNvPr id="178" name="TextBox 169"/>
          <p:cNvSpPr/>
          <p:nvPr/>
        </p:nvSpPr>
        <p:spPr>
          <a:xfrm>
            <a:off x="7543800" y="2971800"/>
            <a:ext cx="20098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4.957 ms</a:t>
            </a:r>
            <a:endParaRPr b="0" lang="en-US" sz="2100" spc="-1" strike="noStrike">
              <a:solidFill>
                <a:srgbClr val="000000"/>
              </a:solidFill>
              <a:latin typeface="Arial"/>
            </a:endParaRPr>
          </a:p>
        </p:txBody>
      </p:sp>
      <p:sp>
        <p:nvSpPr>
          <p:cNvPr id="179" name="TextBox 170"/>
          <p:cNvSpPr/>
          <p:nvPr/>
        </p:nvSpPr>
        <p:spPr>
          <a:xfrm>
            <a:off x="9875520" y="2971800"/>
            <a:ext cx="16441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7.9×</a:t>
            </a:r>
            <a:endParaRPr b="0" lang="en-US" sz="2100" spc="-1" strike="noStrike">
              <a:solidFill>
                <a:srgbClr val="000000"/>
              </a:solidFill>
              <a:latin typeface="Arial"/>
            </a:endParaRPr>
          </a:p>
        </p:txBody>
      </p:sp>
      <p:sp>
        <p:nvSpPr>
          <p:cNvPr id="180" name="TextBox 171"/>
          <p:cNvSpPr/>
          <p:nvPr/>
        </p:nvSpPr>
        <p:spPr>
          <a:xfrm>
            <a:off x="594360" y="3474720"/>
            <a:ext cx="66733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NumPy: one landmark at a time</a:t>
            </a:r>
            <a:endParaRPr b="0" lang="en-US" sz="2100" spc="-1" strike="noStrike">
              <a:solidFill>
                <a:srgbClr val="000000"/>
              </a:solidFill>
              <a:latin typeface="Arial"/>
            </a:endParaRPr>
          </a:p>
        </p:txBody>
      </p:sp>
      <p:sp>
        <p:nvSpPr>
          <p:cNvPr id="181" name="TextBox 172"/>
          <p:cNvSpPr/>
          <p:nvPr/>
        </p:nvSpPr>
        <p:spPr>
          <a:xfrm>
            <a:off x="7543800" y="3474720"/>
            <a:ext cx="20098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1.344 ms</a:t>
            </a:r>
            <a:endParaRPr b="0" lang="en-US" sz="2100" spc="-1" strike="noStrike">
              <a:solidFill>
                <a:srgbClr val="000000"/>
              </a:solidFill>
              <a:latin typeface="Arial"/>
            </a:endParaRPr>
          </a:p>
        </p:txBody>
      </p:sp>
      <p:sp>
        <p:nvSpPr>
          <p:cNvPr id="182" name="TextBox 173"/>
          <p:cNvSpPr/>
          <p:nvPr/>
        </p:nvSpPr>
        <p:spPr>
          <a:xfrm>
            <a:off x="9875520" y="3474720"/>
            <a:ext cx="16441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29.2×</a:t>
            </a:r>
            <a:endParaRPr b="0" lang="en-US" sz="2100" spc="-1" strike="noStrike">
              <a:solidFill>
                <a:srgbClr val="000000"/>
              </a:solidFill>
              <a:latin typeface="Arial"/>
            </a:endParaRPr>
          </a:p>
        </p:txBody>
      </p:sp>
      <p:sp>
        <p:nvSpPr>
          <p:cNvPr id="183" name="TextBox 174"/>
          <p:cNvSpPr/>
          <p:nvPr/>
        </p:nvSpPr>
        <p:spPr>
          <a:xfrm>
            <a:off x="594360" y="3977640"/>
            <a:ext cx="66733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Eigen C++: 1 worker</a:t>
            </a:r>
            <a:endParaRPr b="0" lang="en-US" sz="2100" spc="-1" strike="noStrike">
              <a:solidFill>
                <a:srgbClr val="000000"/>
              </a:solidFill>
              <a:latin typeface="Arial"/>
            </a:endParaRPr>
          </a:p>
        </p:txBody>
      </p:sp>
      <p:sp>
        <p:nvSpPr>
          <p:cNvPr id="184" name="TextBox 175"/>
          <p:cNvSpPr/>
          <p:nvPr/>
        </p:nvSpPr>
        <p:spPr>
          <a:xfrm>
            <a:off x="7543800" y="3977640"/>
            <a:ext cx="20098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0.904 ms</a:t>
            </a:r>
            <a:endParaRPr b="0" lang="en-US" sz="2100" spc="-1" strike="noStrike">
              <a:solidFill>
                <a:srgbClr val="000000"/>
              </a:solidFill>
              <a:latin typeface="Arial"/>
            </a:endParaRPr>
          </a:p>
        </p:txBody>
      </p:sp>
      <p:sp>
        <p:nvSpPr>
          <p:cNvPr id="185" name="TextBox 176"/>
          <p:cNvSpPr/>
          <p:nvPr/>
        </p:nvSpPr>
        <p:spPr>
          <a:xfrm>
            <a:off x="9875520" y="3977640"/>
            <a:ext cx="16441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100" spc="-1" strike="noStrike">
                <a:solidFill>
                  <a:srgbClr val="031424"/>
                </a:solidFill>
                <a:latin typeface="Roboto"/>
              </a:rPr>
              <a:t>43.3×</a:t>
            </a:r>
            <a:endParaRPr b="0" lang="en-US" sz="2100" spc="-1" strike="noStrike">
              <a:solidFill>
                <a:srgbClr val="000000"/>
              </a:solidFill>
              <a:latin typeface="Arial"/>
            </a:endParaRPr>
          </a:p>
        </p:txBody>
      </p:sp>
      <p:sp>
        <p:nvSpPr>
          <p:cNvPr id="186" name="TextBox 177"/>
          <p:cNvSpPr/>
          <p:nvPr/>
        </p:nvSpPr>
        <p:spPr>
          <a:xfrm>
            <a:off x="594360" y="4480560"/>
            <a:ext cx="66733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Eigen C++: 4 workers</a:t>
            </a:r>
            <a:endParaRPr b="0" lang="en-US" sz="2100" spc="-1" strike="noStrike">
              <a:solidFill>
                <a:srgbClr val="000000"/>
              </a:solidFill>
              <a:latin typeface="Arial"/>
            </a:endParaRPr>
          </a:p>
        </p:txBody>
      </p:sp>
      <p:sp>
        <p:nvSpPr>
          <p:cNvPr id="187" name="TextBox 178"/>
          <p:cNvSpPr/>
          <p:nvPr/>
        </p:nvSpPr>
        <p:spPr>
          <a:xfrm>
            <a:off x="7543800" y="4480560"/>
            <a:ext cx="20098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0.450 ms</a:t>
            </a:r>
            <a:endParaRPr b="0" lang="en-US" sz="2100" spc="-1" strike="noStrike">
              <a:solidFill>
                <a:srgbClr val="000000"/>
              </a:solidFill>
              <a:latin typeface="Arial"/>
            </a:endParaRPr>
          </a:p>
        </p:txBody>
      </p:sp>
      <p:sp>
        <p:nvSpPr>
          <p:cNvPr id="188" name="TextBox 179"/>
          <p:cNvSpPr/>
          <p:nvPr/>
        </p:nvSpPr>
        <p:spPr>
          <a:xfrm>
            <a:off x="9875520" y="4480560"/>
            <a:ext cx="16441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87.1×</a:t>
            </a:r>
            <a:endParaRPr b="0" lang="en-US" sz="2100" spc="-1" strike="noStrike">
              <a:solidFill>
                <a:srgbClr val="000000"/>
              </a:solidFill>
              <a:latin typeface="Arial"/>
            </a:endParaRPr>
          </a:p>
        </p:txBody>
      </p:sp>
      <p:sp>
        <p:nvSpPr>
          <p:cNvPr id="189" name="TextBox 180"/>
          <p:cNvSpPr/>
          <p:nvPr/>
        </p:nvSpPr>
        <p:spPr>
          <a:xfrm>
            <a:off x="594360" y="5212080"/>
            <a:ext cx="10971000" cy="3790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900" spc="-1" strike="noStrike">
                <a:solidFill>
                  <a:srgbClr val="031424"/>
                </a:solidFill>
                <a:latin typeface="Roboto"/>
              </a:rPr>
              <a:t>Speedup = Python median ÷ implementation median. Python is the 1× baseline.</a:t>
            </a:r>
            <a:endParaRPr b="0" lang="en-US" sz="1900" spc="-1" strike="noStrike">
              <a:solidFill>
                <a:srgbClr val="000000"/>
              </a:solidFill>
              <a:latin typeface="Arial"/>
            </a:endParaRPr>
          </a:p>
        </p:txBody>
      </p:sp>
      <p:sp>
        <p:nvSpPr>
          <p:cNvPr id="190" name="TextBox 181"/>
          <p:cNvSpPr/>
          <p:nvPr/>
        </p:nvSpPr>
        <p:spPr>
          <a:xfrm>
            <a:off x="594360" y="5715000"/>
            <a:ext cx="1097100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60 calls per method after 5 warmups · randomized order · Core Ultra 9 285H</a:t>
            </a:r>
            <a:endParaRPr b="0" lang="en-US" sz="1700" spc="-1" strike="noStrike">
              <a:solidFill>
                <a:srgbClr val="000000"/>
              </a:solidFill>
              <a:latin typeface="Arial"/>
            </a:endParaRPr>
          </a:p>
        </p:txBody>
      </p:sp>
      <p:sp>
        <p:nvSpPr>
          <p:cNvPr id="191" name="TextBox 182"/>
          <p:cNvSpPr/>
          <p:nvPr/>
        </p:nvSpPr>
        <p:spPr>
          <a:xfrm>
            <a:off x="594360" y="6172200"/>
            <a:ext cx="10971000" cy="3333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600" spc="-1" strike="noStrike">
                <a:solidFill>
                  <a:srgbClr val="031424"/>
                </a:solidFill>
                <a:latin typeface="Roboto"/>
              </a:rPr>
              <a:t>Input conversion and startup excluded. Native output preallocated; Python / NumPy allocate output.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92" name="Picture 5" descr=""/>
          <p:cNvPicPr/>
          <p:nvPr/>
        </p:nvPicPr>
        <p:blipFill>
          <a:blip r:embed="rId1"/>
          <a:stretch/>
        </p:blipFill>
        <p:spPr>
          <a:xfrm>
            <a:off x="10623600" y="345600"/>
            <a:ext cx="1058400" cy="1058400"/>
          </a:xfrm>
          <a:prstGeom prst="rect">
            <a:avLst/>
          </a:prstGeom>
          <a:ln w="0">
            <a:noFill/>
          </a:ln>
        </p:spPr>
      </p:pic>
      <p:cxnSp>
        <p:nvCxnSpPr>
          <p:cNvPr id="193" name="Straight Connector 7"/>
          <p:cNvCxnSpPr/>
          <p:nvPr/>
        </p:nvCxnSpPr>
        <p:spPr>
          <a:xfrm>
            <a:off x="0" y="1134720"/>
            <a:ext cx="4366080" cy="2520"/>
          </a:xfrm>
          <a:prstGeom prst="straightConnector1">
            <a:avLst/>
          </a:prstGeom>
          <a:ln w="38100">
            <a:solidFill>
              <a:srgbClr val="fed021"/>
            </a:solidFill>
            <a:round/>
          </a:ln>
        </p:spPr>
      </p:cxnSp>
      <p:sp>
        <p:nvSpPr>
          <p:cNvPr id="194" name="TextBox 260"/>
          <p:cNvSpPr/>
          <p:nvPr/>
        </p:nvSpPr>
        <p:spPr>
          <a:xfrm>
            <a:off x="502920" y="320040"/>
            <a:ext cx="10148760" cy="5166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800" spc="-1" strike="noStrike">
                <a:solidFill>
                  <a:srgbClr val="031424"/>
                </a:solidFill>
                <a:latin typeface="Roboto"/>
              </a:rPr>
              <a:t>cppyy_kit helpers</a:t>
            </a:r>
            <a:endParaRPr b="0" lang="en-US" sz="2800" spc="-1" strike="noStrike">
              <a:solidFill>
                <a:srgbClr val="000000"/>
              </a:solidFill>
              <a:latin typeface="Arial"/>
            </a:endParaRPr>
          </a:p>
        </p:txBody>
      </p:sp>
      <p:sp>
        <p:nvSpPr>
          <p:cNvPr id="195" name="TextBox 261"/>
          <p:cNvSpPr/>
          <p:nvPr/>
        </p:nvSpPr>
        <p:spPr>
          <a:xfrm>
            <a:off x="594360" y="1280160"/>
            <a:ext cx="4022280" cy="4248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Task</a:t>
            </a:r>
            <a:endParaRPr b="0" lang="en-US" sz="2200" spc="-1" strike="noStrike">
              <a:solidFill>
                <a:srgbClr val="000000"/>
              </a:solidFill>
              <a:latin typeface="Arial"/>
            </a:endParaRPr>
          </a:p>
        </p:txBody>
      </p:sp>
      <p:sp>
        <p:nvSpPr>
          <p:cNvPr id="196" name="TextBox 262"/>
          <p:cNvSpPr/>
          <p:nvPr/>
        </p:nvSpPr>
        <p:spPr>
          <a:xfrm>
            <a:off x="4754880" y="1280160"/>
            <a:ext cx="6856920" cy="4248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API</a:t>
            </a:r>
            <a:endParaRPr b="0" lang="en-US" sz="2200" spc="-1" strike="noStrike">
              <a:solidFill>
                <a:srgbClr val="000000"/>
              </a:solidFill>
              <a:latin typeface="Arial"/>
            </a:endParaRPr>
          </a:p>
        </p:txBody>
      </p:sp>
      <p:sp>
        <p:nvSpPr>
          <p:cNvPr id="197" name="TextBox 263"/>
          <p:cNvSpPr/>
          <p:nvPr/>
        </p:nvSpPr>
        <p:spPr>
          <a:xfrm>
            <a:off x="594360" y="1920240"/>
            <a:ext cx="402228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Keep objects alive</a:t>
            </a:r>
            <a:endParaRPr b="0" lang="en-US" sz="2000" spc="-1" strike="noStrike">
              <a:solidFill>
                <a:srgbClr val="000000"/>
              </a:solidFill>
              <a:latin typeface="Arial"/>
            </a:endParaRPr>
          </a:p>
        </p:txBody>
      </p:sp>
      <p:sp>
        <p:nvSpPr>
          <p:cNvPr id="198" name="TextBox 264"/>
          <p:cNvSpPr/>
          <p:nvPr/>
        </p:nvSpPr>
        <p:spPr>
          <a:xfrm>
            <a:off x="6464160" y="1920240"/>
            <a:ext cx="3438360" cy="665640"/>
          </a:xfrm>
          <a:prstGeom prst="rect">
            <a:avLst/>
          </a:prstGeom>
          <a:noFill/>
          <a:ln w="0">
            <a:noFill/>
          </a:ln>
        </p:spPr>
        <p:style>
          <a:lnRef idx="0"/>
          <a:fillRef idx="0"/>
          <a:effectRef idx="0"/>
          <a:fontRef idx="minor"/>
        </p:style>
        <p:txBody>
          <a:bodyPr wrap="none" lIns="0" rIns="0" tIns="45000" bIns="45000" anchor="t">
            <a:spAutoFit/>
          </a:bodyPr>
          <a:p>
            <a:pPr>
              <a:lnSpc>
                <a:spcPct val="105000"/>
              </a:lnSpc>
            </a:pPr>
            <a:r>
              <a:rPr b="1" lang="en-US" sz="1800" spc="-1" strike="noStrike">
                <a:solidFill>
                  <a:srgbClr val="005cc5"/>
                </a:solidFill>
                <a:latin typeface="DejaVu Sans Mono"/>
              </a:rPr>
              <a:t>keep_alive</a:t>
            </a:r>
            <a:r>
              <a:rPr b="0" lang="en-US" sz="1800" spc="-1" strike="noStrike">
                <a:solidFill>
                  <a:srgbClr val="031424"/>
                </a:solidFill>
                <a:latin typeface="DejaVu Sans Mono"/>
              </a:rPr>
              <a:t>(owner, obj)</a:t>
            </a:r>
            <a:endParaRPr b="0" lang="en-US" sz="1800" spc="-1" strike="noStrike">
              <a:solidFill>
                <a:srgbClr val="000000"/>
              </a:solidFill>
              <a:latin typeface="Arial"/>
            </a:endParaRPr>
          </a:p>
          <a:p>
            <a:pPr>
              <a:lnSpc>
                <a:spcPct val="105000"/>
              </a:lnSpc>
            </a:pPr>
            <a:r>
              <a:rPr b="1" lang="en-US" sz="1800" spc="-1" strike="noStrike">
                <a:solidFill>
                  <a:srgbClr val="005cc5"/>
                </a:solidFill>
                <a:latin typeface="DejaVu Sans Mono"/>
              </a:rPr>
              <a:t>callback</a:t>
            </a:r>
            <a:r>
              <a:rPr b="0" lang="en-US" sz="1800" spc="-1" strike="noStrike">
                <a:solidFill>
                  <a:srgbClr val="031424"/>
                </a:solidFill>
                <a:latin typeface="DejaVu Sans Mono"/>
              </a:rPr>
              <a:t>(fn, owner</a:t>
            </a:r>
            <a:r>
              <a:rPr b="0" lang="en-US" sz="1800" spc="-1" strike="noStrike">
                <a:solidFill>
                  <a:srgbClr val="666666"/>
                </a:solidFill>
                <a:latin typeface="DejaVu Sans Mono"/>
              </a:rPr>
              <a:t>=</a:t>
            </a:r>
            <a:r>
              <a:rPr b="0" lang="en-US" sz="1800" spc="-1" strike="noStrike">
                <a:solidFill>
                  <a:srgbClr val="031424"/>
                </a:solidFill>
                <a:latin typeface="DejaVu Sans Mono"/>
              </a:rPr>
              <a:t>owner)</a:t>
            </a:r>
            <a:endParaRPr b="0" lang="en-US" sz="1800" spc="-1" strike="noStrike">
              <a:solidFill>
                <a:srgbClr val="000000"/>
              </a:solidFill>
              <a:latin typeface="Arial"/>
            </a:endParaRPr>
          </a:p>
        </p:txBody>
      </p:sp>
      <p:sp>
        <p:nvSpPr>
          <p:cNvPr id="199" name="TextBox 265"/>
          <p:cNvSpPr/>
          <p:nvPr/>
        </p:nvSpPr>
        <p:spPr>
          <a:xfrm>
            <a:off x="594360" y="2569320"/>
            <a:ext cx="402228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Check array types and layout</a:t>
            </a:r>
            <a:endParaRPr b="0" lang="en-US" sz="2000" spc="-1" strike="noStrike">
              <a:solidFill>
                <a:srgbClr val="000000"/>
              </a:solidFill>
              <a:latin typeface="Arial"/>
            </a:endParaRPr>
          </a:p>
        </p:txBody>
      </p:sp>
      <p:sp>
        <p:nvSpPr>
          <p:cNvPr id="200" name="TextBox 266"/>
          <p:cNvSpPr/>
          <p:nvPr/>
        </p:nvSpPr>
        <p:spPr>
          <a:xfrm>
            <a:off x="6258240" y="2569320"/>
            <a:ext cx="3849840" cy="377640"/>
          </a:xfrm>
          <a:prstGeom prst="rect">
            <a:avLst/>
          </a:prstGeom>
          <a:noFill/>
          <a:ln w="0">
            <a:noFill/>
          </a:ln>
        </p:spPr>
        <p:style>
          <a:lnRef idx="0"/>
          <a:fillRef idx="0"/>
          <a:effectRef idx="0"/>
          <a:fontRef idx="minor"/>
        </p:style>
        <p:txBody>
          <a:bodyPr wrap="none" lIns="0" rIns="0" tIns="45000" bIns="45000" anchor="t">
            <a:spAutoFit/>
          </a:bodyPr>
          <a:p>
            <a:pPr>
              <a:lnSpc>
                <a:spcPct val="105000"/>
              </a:lnSpc>
            </a:pPr>
            <a:r>
              <a:rPr b="1" lang="en-US" sz="1800" spc="-1" strike="noStrike">
                <a:solidFill>
                  <a:srgbClr val="007c83"/>
                </a:solidFill>
                <a:latin typeface="DejaVu Sans Mono"/>
              </a:rPr>
              <a:t>NDArray</a:t>
            </a:r>
            <a:r>
              <a:rPr b="0" lang="en-US" sz="1800" spc="-1" strike="noStrike">
                <a:solidFill>
                  <a:srgbClr val="031424"/>
                </a:solidFill>
                <a:latin typeface="DejaVu Sans Mono"/>
              </a:rPr>
              <a:t>[T]   </a:t>
            </a:r>
            <a:r>
              <a:rPr b="1" lang="en-US" sz="1800" spc="-1" strike="noStrike">
                <a:solidFill>
                  <a:srgbClr val="007c83"/>
                </a:solidFill>
                <a:latin typeface="DejaVu Sans Mono"/>
              </a:rPr>
              <a:t>ConstNDArray</a:t>
            </a:r>
            <a:r>
              <a:rPr b="0" lang="en-US" sz="1800" spc="-1" strike="noStrike">
                <a:solidFill>
                  <a:srgbClr val="031424"/>
                </a:solidFill>
                <a:latin typeface="DejaVu Sans Mono"/>
              </a:rPr>
              <a:t>[T]</a:t>
            </a:r>
            <a:endParaRPr b="0" lang="en-US" sz="1800" spc="-1" strike="noStrike">
              <a:solidFill>
                <a:srgbClr val="000000"/>
              </a:solidFill>
              <a:latin typeface="Arial"/>
            </a:endParaRPr>
          </a:p>
        </p:txBody>
      </p:sp>
      <p:sp>
        <p:nvSpPr>
          <p:cNvPr id="201" name="TextBox 267"/>
          <p:cNvSpPr/>
          <p:nvPr/>
        </p:nvSpPr>
        <p:spPr>
          <a:xfrm>
            <a:off x="594360" y="3218760"/>
            <a:ext cx="402228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Release the GIL / use asyncio</a:t>
            </a:r>
            <a:endParaRPr b="0" lang="en-US" sz="2000" spc="-1" strike="noStrike">
              <a:solidFill>
                <a:srgbClr val="000000"/>
              </a:solidFill>
              <a:latin typeface="Arial"/>
            </a:endParaRPr>
          </a:p>
        </p:txBody>
      </p:sp>
      <p:sp>
        <p:nvSpPr>
          <p:cNvPr id="202" name="TextBox 268"/>
          <p:cNvSpPr/>
          <p:nvPr/>
        </p:nvSpPr>
        <p:spPr>
          <a:xfrm>
            <a:off x="6051960" y="3218760"/>
            <a:ext cx="4262400" cy="665640"/>
          </a:xfrm>
          <a:prstGeom prst="rect">
            <a:avLst/>
          </a:prstGeom>
          <a:noFill/>
          <a:ln w="0">
            <a:noFill/>
          </a:ln>
        </p:spPr>
        <p:style>
          <a:lnRef idx="0"/>
          <a:fillRef idx="0"/>
          <a:effectRef idx="0"/>
          <a:fontRef idx="minor"/>
        </p:style>
        <p:txBody>
          <a:bodyPr wrap="none" lIns="0" rIns="0" tIns="45000" bIns="45000" anchor="t">
            <a:spAutoFit/>
          </a:bodyPr>
          <a:p>
            <a:pPr>
              <a:lnSpc>
                <a:spcPct val="105000"/>
              </a:lnSpc>
            </a:pPr>
            <a:r>
              <a:rPr b="1" lang="en-US" sz="1800" spc="-1" strike="noStrike">
                <a:solidFill>
                  <a:srgbClr val="555555"/>
                </a:solidFill>
                <a:latin typeface="DejaVu Sans Mono"/>
              </a:rPr>
              <a:t>@cpp</a:t>
            </a:r>
            <a:r>
              <a:rPr b="0" lang="en-US" sz="1800" spc="-1" strike="noStrike">
                <a:solidFill>
                  <a:srgbClr val="031424"/>
                </a:solidFill>
                <a:latin typeface="DejaVu Sans Mono"/>
              </a:rPr>
              <a:t>(</a:t>
            </a:r>
            <a:r>
              <a:rPr b="1" lang="en-US" sz="1800" spc="-1" strike="noStrike">
                <a:solidFill>
                  <a:srgbClr val="005cc5"/>
                </a:solidFill>
                <a:latin typeface="DejaVu Sans Mono"/>
              </a:rPr>
              <a:t>nogil</a:t>
            </a:r>
            <a:r>
              <a:rPr b="0" lang="en-US" sz="1800" spc="-1" strike="noStrike">
                <a:solidFill>
                  <a:srgbClr val="666666"/>
                </a:solidFill>
                <a:latin typeface="DejaVu Sans Mono"/>
              </a:rPr>
              <a:t>=</a:t>
            </a:r>
            <a:r>
              <a:rPr b="1" lang="en-US" sz="1800" spc="-1" strike="noStrike">
                <a:solidFill>
                  <a:srgbClr val="007020"/>
                </a:solidFill>
                <a:latin typeface="DejaVu Sans Mono"/>
              </a:rPr>
              <a:t>True</a:t>
            </a:r>
            <a:r>
              <a:rPr b="0" lang="en-US" sz="1800" spc="-1" strike="noStrike">
                <a:solidFill>
                  <a:srgbClr val="031424"/>
                </a:solidFill>
                <a:latin typeface="DejaVu Sans Mono"/>
              </a:rPr>
              <a:t>)</a:t>
            </a:r>
            <a:endParaRPr b="0" lang="en-US" sz="1800" spc="-1" strike="noStrike">
              <a:solidFill>
                <a:srgbClr val="000000"/>
              </a:solidFill>
              <a:latin typeface="Arial"/>
            </a:endParaRPr>
          </a:p>
          <a:p>
            <a:pPr>
              <a:lnSpc>
                <a:spcPct val="105000"/>
              </a:lnSpc>
            </a:pPr>
            <a:r>
              <a:rPr b="1" lang="en-US" sz="1800" spc="-1" strike="noStrike">
                <a:solidFill>
                  <a:srgbClr val="005cc5"/>
                </a:solidFill>
                <a:latin typeface="DejaVu Sans Mono"/>
              </a:rPr>
              <a:t>nogil</a:t>
            </a:r>
            <a:r>
              <a:rPr b="0" lang="en-US" sz="1800" spc="-1" strike="noStrike">
                <a:solidFill>
                  <a:srgbClr val="031424"/>
                </a:solidFill>
                <a:latin typeface="DejaVu Sans Mono"/>
              </a:rPr>
              <a:t>(fn)   </a:t>
            </a:r>
            <a:r>
              <a:rPr b="1" lang="en-US" sz="1800" spc="-1" strike="noStrike">
                <a:solidFill>
                  <a:srgbClr val="007020"/>
                </a:solidFill>
                <a:latin typeface="DejaVu Sans Mono"/>
              </a:rPr>
              <a:t>await</a:t>
            </a:r>
            <a:r>
              <a:rPr b="0" lang="en-US" sz="1800" spc="-1" strike="noStrike">
                <a:solidFill>
                  <a:srgbClr val="031424"/>
                </a:solidFill>
                <a:latin typeface="DejaVu Sans Mono"/>
              </a:rPr>
              <a:t> </a:t>
            </a:r>
            <a:r>
              <a:rPr b="1" lang="en-US" sz="1800" spc="-1" strike="noStrike">
                <a:solidFill>
                  <a:srgbClr val="005cc5"/>
                </a:solidFill>
                <a:latin typeface="DejaVu Sans Mono"/>
              </a:rPr>
              <a:t>run_async</a:t>
            </a:r>
            <a:r>
              <a:rPr b="0" lang="en-US" sz="1800" spc="-1" strike="noStrike">
                <a:solidFill>
                  <a:srgbClr val="031424"/>
                </a:solidFill>
                <a:latin typeface="DejaVu Sans Mono"/>
              </a:rPr>
              <a:t>(fn)</a:t>
            </a:r>
            <a:endParaRPr b="0" lang="en-US" sz="1800" spc="-1" strike="noStrike">
              <a:solidFill>
                <a:srgbClr val="000000"/>
              </a:solidFill>
              <a:latin typeface="Arial"/>
            </a:endParaRPr>
          </a:p>
        </p:txBody>
      </p:sp>
      <p:sp>
        <p:nvSpPr>
          <p:cNvPr id="203" name="TextBox 269"/>
          <p:cNvSpPr/>
          <p:nvPr/>
        </p:nvSpPr>
        <p:spPr>
          <a:xfrm>
            <a:off x="594360" y="3867840"/>
            <a:ext cx="402228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Reuse compiled code</a:t>
            </a:r>
            <a:endParaRPr b="0" lang="en-US" sz="2000" spc="-1" strike="noStrike">
              <a:solidFill>
                <a:srgbClr val="000000"/>
              </a:solidFill>
              <a:latin typeface="Arial"/>
            </a:endParaRPr>
          </a:p>
        </p:txBody>
      </p:sp>
      <p:sp>
        <p:nvSpPr>
          <p:cNvPr id="204" name="TextBox 270"/>
          <p:cNvSpPr/>
          <p:nvPr/>
        </p:nvSpPr>
        <p:spPr>
          <a:xfrm>
            <a:off x="5984640" y="3867840"/>
            <a:ext cx="4397040" cy="377640"/>
          </a:xfrm>
          <a:prstGeom prst="rect">
            <a:avLst/>
          </a:prstGeom>
          <a:noFill/>
          <a:ln w="0">
            <a:noFill/>
          </a:ln>
        </p:spPr>
        <p:style>
          <a:lnRef idx="0"/>
          <a:fillRef idx="0"/>
          <a:effectRef idx="0"/>
          <a:fontRef idx="minor"/>
        </p:style>
        <p:txBody>
          <a:bodyPr wrap="none" lIns="0" rIns="0" tIns="45000" bIns="45000" anchor="t">
            <a:spAutoFit/>
          </a:bodyPr>
          <a:p>
            <a:pPr>
              <a:lnSpc>
                <a:spcPct val="105000"/>
              </a:lnSpc>
            </a:pPr>
            <a:r>
              <a:rPr b="1" lang="en-US" sz="1800" spc="-1" strike="noStrike">
                <a:solidFill>
                  <a:srgbClr val="005cc5"/>
                </a:solidFill>
                <a:latin typeface="DejaVu Sans Mono"/>
              </a:rPr>
              <a:t>cppdef_cached</a:t>
            </a:r>
            <a:r>
              <a:rPr b="0" lang="en-US" sz="1800" spc="-1" strike="noStrike">
                <a:solidFill>
                  <a:srgbClr val="031424"/>
                </a:solidFill>
                <a:latin typeface="DejaVu Sans Mono"/>
              </a:rPr>
              <a:t>(</a:t>
            </a:r>
            <a:r>
              <a:rPr b="0" lang="en-US" sz="1800" spc="-1" strike="noStrike">
                <a:solidFill>
                  <a:srgbClr val="666666"/>
                </a:solidFill>
                <a:latin typeface="DejaVu Sans Mono"/>
              </a:rPr>
              <a:t>...</a:t>
            </a:r>
            <a:r>
              <a:rPr b="0" lang="en-US" sz="1800" spc="-1" strike="noStrike">
                <a:solidFill>
                  <a:srgbClr val="031424"/>
                </a:solidFill>
                <a:latin typeface="DejaVu Sans Mono"/>
              </a:rPr>
              <a:t>)   </a:t>
            </a:r>
            <a:r>
              <a:rPr b="1" lang="en-US" sz="1800" spc="-1" strike="noStrike">
                <a:solidFill>
                  <a:srgbClr val="005cc5"/>
                </a:solidFill>
                <a:latin typeface="DejaVu Sans Mono"/>
              </a:rPr>
              <a:t>warmup</a:t>
            </a:r>
            <a:r>
              <a:rPr b="0" lang="en-US" sz="1800" spc="-1" strike="noStrike">
                <a:solidFill>
                  <a:srgbClr val="031424"/>
                </a:solidFill>
                <a:latin typeface="DejaVu Sans Mono"/>
              </a:rPr>
              <a:t>(</a:t>
            </a:r>
            <a:r>
              <a:rPr b="0" lang="en-US" sz="1800" spc="-1" strike="noStrike">
                <a:solidFill>
                  <a:srgbClr val="666666"/>
                </a:solidFill>
                <a:latin typeface="DejaVu Sans Mono"/>
              </a:rPr>
              <a:t>...</a:t>
            </a:r>
            <a:r>
              <a:rPr b="0" lang="en-US" sz="1800" spc="-1" strike="noStrike">
                <a:solidFill>
                  <a:srgbClr val="031424"/>
                </a:solidFill>
                <a:latin typeface="DejaVu Sans Mono"/>
              </a:rPr>
              <a:t>)</a:t>
            </a:r>
            <a:endParaRPr b="0" lang="en-US" sz="1800" spc="-1" strike="noStrike">
              <a:solidFill>
                <a:srgbClr val="000000"/>
              </a:solidFill>
              <a:latin typeface="Arial"/>
            </a:endParaRPr>
          </a:p>
        </p:txBody>
      </p:sp>
      <p:sp>
        <p:nvSpPr>
          <p:cNvPr id="205" name="TextBox 271"/>
          <p:cNvSpPr/>
          <p:nvPr/>
        </p:nvSpPr>
        <p:spPr>
          <a:xfrm>
            <a:off x="594360" y="4517280"/>
            <a:ext cx="4022280" cy="6994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Probe compilation without risking the live session</a:t>
            </a:r>
            <a:endParaRPr b="0" lang="en-US" sz="2000" spc="-1" strike="noStrike">
              <a:solidFill>
                <a:srgbClr val="000000"/>
              </a:solidFill>
              <a:latin typeface="Arial"/>
            </a:endParaRPr>
          </a:p>
        </p:txBody>
      </p:sp>
      <p:sp>
        <p:nvSpPr>
          <p:cNvPr id="206" name="TextBox 272"/>
          <p:cNvSpPr/>
          <p:nvPr/>
        </p:nvSpPr>
        <p:spPr>
          <a:xfrm>
            <a:off x="6602040" y="4517280"/>
            <a:ext cx="3162600" cy="377640"/>
          </a:xfrm>
          <a:prstGeom prst="rect">
            <a:avLst/>
          </a:prstGeom>
          <a:noFill/>
          <a:ln w="0">
            <a:noFill/>
          </a:ln>
        </p:spPr>
        <p:style>
          <a:lnRef idx="0"/>
          <a:fillRef idx="0"/>
          <a:effectRef idx="0"/>
          <a:fontRef idx="minor"/>
        </p:style>
        <p:txBody>
          <a:bodyPr wrap="none" lIns="0" rIns="0" tIns="45000" bIns="45000" anchor="t">
            <a:spAutoFit/>
          </a:bodyPr>
          <a:p>
            <a:pPr>
              <a:lnSpc>
                <a:spcPct val="105000"/>
              </a:lnSpc>
            </a:pPr>
            <a:r>
              <a:rPr b="1" lang="en-US" sz="1800" spc="-1" strike="noStrike">
                <a:solidFill>
                  <a:srgbClr val="005cc5"/>
                </a:solidFill>
                <a:latin typeface="DejaVu Sans Mono"/>
              </a:rPr>
              <a:t>probe_cppdef</a:t>
            </a:r>
            <a:r>
              <a:rPr b="0" lang="en-US" sz="1800" spc="-1" strike="noStrike">
                <a:solidFill>
                  <a:srgbClr val="031424"/>
                </a:solidFill>
                <a:latin typeface="DejaVu Sans Mono"/>
              </a:rPr>
              <a:t>(code, </a:t>
            </a:r>
            <a:r>
              <a:rPr b="0" lang="en-US" sz="1800" spc="-1" strike="noStrike">
                <a:solidFill>
                  <a:srgbClr val="666666"/>
                </a:solidFill>
                <a:latin typeface="DejaVu Sans Mono"/>
              </a:rPr>
              <a:t>...</a:t>
            </a:r>
            <a:r>
              <a:rPr b="0" lang="en-US" sz="1800" spc="-1" strike="noStrike">
                <a:solidFill>
                  <a:srgbClr val="031424"/>
                </a:solidFill>
                <a:latin typeface="DejaVu Sans Mono"/>
              </a:rPr>
              <a:t>)</a:t>
            </a:r>
            <a:endParaRPr b="0" lang="en-US" sz="1800" spc="-1" strike="noStrike">
              <a:solidFill>
                <a:srgbClr val="000000"/>
              </a:solidFill>
              <a:latin typeface="Arial"/>
            </a:endParaRPr>
          </a:p>
        </p:txBody>
      </p:sp>
      <p:sp>
        <p:nvSpPr>
          <p:cNvPr id="207" name="TextBox 273"/>
          <p:cNvSpPr/>
          <p:nvPr/>
        </p:nvSpPr>
        <p:spPr>
          <a:xfrm>
            <a:off x="594360" y="5216760"/>
            <a:ext cx="402228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Release resources before exit</a:t>
            </a:r>
            <a:endParaRPr b="0" lang="en-US" sz="2000" spc="-1" strike="noStrike">
              <a:solidFill>
                <a:srgbClr val="000000"/>
              </a:solidFill>
              <a:latin typeface="Arial"/>
            </a:endParaRPr>
          </a:p>
        </p:txBody>
      </p:sp>
      <p:sp>
        <p:nvSpPr>
          <p:cNvPr id="208" name="TextBox 274"/>
          <p:cNvSpPr/>
          <p:nvPr/>
        </p:nvSpPr>
        <p:spPr>
          <a:xfrm>
            <a:off x="6394680" y="5166360"/>
            <a:ext cx="3576960" cy="665640"/>
          </a:xfrm>
          <a:prstGeom prst="rect">
            <a:avLst/>
          </a:prstGeom>
          <a:noFill/>
          <a:ln w="0">
            <a:noFill/>
          </a:ln>
        </p:spPr>
        <p:style>
          <a:lnRef idx="0"/>
          <a:fillRef idx="0"/>
          <a:effectRef idx="0"/>
          <a:fontRef idx="minor"/>
        </p:style>
        <p:txBody>
          <a:bodyPr wrap="none" lIns="0" rIns="0" tIns="45000" bIns="45000" anchor="t">
            <a:spAutoFit/>
          </a:bodyPr>
          <a:p>
            <a:pPr>
              <a:lnSpc>
                <a:spcPct val="105000"/>
              </a:lnSpc>
            </a:pPr>
            <a:r>
              <a:rPr b="1" lang="en-US" sz="1800" spc="-1" strike="noStrike">
                <a:solidFill>
                  <a:srgbClr val="005cc5"/>
                </a:solidFill>
                <a:latin typeface="DejaVu Sans Mono"/>
              </a:rPr>
              <a:t>register_teardown</a:t>
            </a:r>
            <a:r>
              <a:rPr b="0" lang="en-US" sz="1800" spc="-1" strike="noStrike">
                <a:solidFill>
                  <a:srgbClr val="031424"/>
                </a:solidFill>
                <a:latin typeface="DejaVu Sans Mono"/>
              </a:rPr>
              <a:t>(cleanup)</a:t>
            </a:r>
            <a:endParaRPr b="0" lang="en-US" sz="1800" spc="-1" strike="noStrike">
              <a:solidFill>
                <a:srgbClr val="000000"/>
              </a:solidFill>
              <a:latin typeface="Arial"/>
            </a:endParaRPr>
          </a:p>
          <a:p>
            <a:pPr>
              <a:lnSpc>
                <a:spcPct val="105000"/>
              </a:lnSpc>
            </a:pPr>
            <a:r>
              <a:rPr b="1" lang="en-US" sz="1800" spc="-1" strike="noStrike">
                <a:solidFill>
                  <a:srgbClr val="005cc5"/>
                </a:solidFill>
                <a:latin typeface="DejaVu Sans Mono"/>
              </a:rPr>
              <a:t>shutdown</a:t>
            </a:r>
            <a:r>
              <a:rPr b="0" lang="en-US" sz="1800" spc="-1" strike="noStrike">
                <a:solidFill>
                  <a:srgbClr val="031424"/>
                </a:solidFill>
                <a:latin typeface="DejaVu Sans Mono"/>
              </a:rPr>
              <a:t>()</a:t>
            </a:r>
            <a:endParaRPr b="0" lang="en-US" sz="1800" spc="-1" strike="noStrike">
              <a:solidFill>
                <a:srgbClr val="000000"/>
              </a:solidFill>
              <a:latin typeface="Arial"/>
            </a:endParaRPr>
          </a:p>
        </p:txBody>
      </p:sp>
      <p:sp>
        <p:nvSpPr>
          <p:cNvPr id="209" name="TextBox 275"/>
          <p:cNvSpPr/>
          <p:nvPr/>
        </p:nvSpPr>
        <p:spPr>
          <a:xfrm>
            <a:off x="594360" y="6080760"/>
            <a:ext cx="1097172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Library kits also configure include paths, shared libraries and precompiled headers.</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0" name="Picture 5" descr=""/>
          <p:cNvPicPr/>
          <p:nvPr/>
        </p:nvPicPr>
        <p:blipFill>
          <a:blip r:embed="rId1"/>
          <a:stretch/>
        </p:blipFill>
        <p:spPr>
          <a:xfrm>
            <a:off x="10623600" y="345600"/>
            <a:ext cx="1058400" cy="1058400"/>
          </a:xfrm>
          <a:prstGeom prst="rect">
            <a:avLst/>
          </a:prstGeom>
          <a:ln w="0">
            <a:noFill/>
          </a:ln>
        </p:spPr>
      </p:pic>
      <p:cxnSp>
        <p:nvCxnSpPr>
          <p:cNvPr id="211" name="Straight Connector 7"/>
          <p:cNvCxnSpPr/>
          <p:nvPr/>
        </p:nvCxnSpPr>
        <p:spPr>
          <a:xfrm>
            <a:off x="0" y="1134720"/>
            <a:ext cx="4366080" cy="2520"/>
          </a:xfrm>
          <a:prstGeom prst="straightConnector1">
            <a:avLst/>
          </a:prstGeom>
          <a:ln w="38100">
            <a:solidFill>
              <a:srgbClr val="fed021"/>
            </a:solidFill>
            <a:round/>
          </a:ln>
        </p:spPr>
      </p:cxnSp>
      <p:sp>
        <p:nvSpPr>
          <p:cNvPr id="212" name="TextBox 160"/>
          <p:cNvSpPr/>
          <p:nvPr/>
        </p:nvSpPr>
        <p:spPr>
          <a:xfrm>
            <a:off x="502920" y="320040"/>
            <a:ext cx="10148040" cy="5166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800" spc="-1" strike="noStrike">
                <a:solidFill>
                  <a:srgbClr val="031424"/>
                </a:solidFill>
                <a:latin typeface="Roboto"/>
              </a:rPr>
              <a:t>The kits: C++ libraries, ready to use from Python</a:t>
            </a:r>
            <a:endParaRPr b="0" lang="en-US" sz="2800" spc="-1" strike="noStrike">
              <a:solidFill>
                <a:srgbClr val="000000"/>
              </a:solidFill>
              <a:latin typeface="Arial"/>
            </a:endParaRPr>
          </a:p>
        </p:txBody>
      </p:sp>
      <p:sp>
        <p:nvSpPr>
          <p:cNvPr id="213" name="TextBox 161"/>
          <p:cNvSpPr/>
          <p:nvPr/>
        </p:nvSpPr>
        <p:spPr>
          <a:xfrm>
            <a:off x="502920" y="1261800"/>
            <a:ext cx="10971000" cy="4248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Choose the library you need. Reuse its setup, bridges and Python helpers.</a:t>
            </a:r>
            <a:endParaRPr b="0" lang="en-US" sz="2200" spc="-1" strike="noStrike">
              <a:solidFill>
                <a:srgbClr val="000000"/>
              </a:solidFill>
              <a:latin typeface="Arial"/>
            </a:endParaRPr>
          </a:p>
        </p:txBody>
      </p:sp>
      <p:sp>
        <p:nvSpPr>
          <p:cNvPr id="214" name="TextBox 162"/>
          <p:cNvSpPr/>
          <p:nvPr/>
        </p:nvSpPr>
        <p:spPr>
          <a:xfrm>
            <a:off x="594360" y="2706480"/>
            <a:ext cx="52102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pcl_kit</a:t>
            </a:r>
            <a:endParaRPr b="0" lang="en-US" sz="2100" spc="-1" strike="noStrike">
              <a:solidFill>
                <a:srgbClr val="000000"/>
              </a:solidFill>
              <a:latin typeface="Arial"/>
            </a:endParaRPr>
          </a:p>
        </p:txBody>
      </p:sp>
      <p:sp>
        <p:nvSpPr>
          <p:cNvPr id="215" name="TextBox 163"/>
          <p:cNvSpPr/>
          <p:nvPr/>
        </p:nvSpPr>
        <p:spPr>
          <a:xfrm>
            <a:off x="594360" y="3035880"/>
            <a:ext cx="521028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PCL: point-cloud filtering and conversion</a:t>
            </a:r>
            <a:endParaRPr b="0" lang="en-US" sz="1700" spc="-1" strike="noStrike">
              <a:solidFill>
                <a:srgbClr val="000000"/>
              </a:solidFill>
              <a:latin typeface="Arial"/>
            </a:endParaRPr>
          </a:p>
        </p:txBody>
      </p:sp>
      <p:sp>
        <p:nvSpPr>
          <p:cNvPr id="216" name="TextBox 164"/>
          <p:cNvSpPr/>
          <p:nvPr/>
        </p:nvSpPr>
        <p:spPr>
          <a:xfrm>
            <a:off x="594360" y="3474720"/>
            <a:ext cx="52102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cv_kit</a:t>
            </a:r>
            <a:endParaRPr b="0" lang="en-US" sz="2100" spc="-1" strike="noStrike">
              <a:solidFill>
                <a:srgbClr val="000000"/>
              </a:solidFill>
              <a:latin typeface="Arial"/>
            </a:endParaRPr>
          </a:p>
        </p:txBody>
      </p:sp>
      <p:sp>
        <p:nvSpPr>
          <p:cNvPr id="217" name="TextBox 165"/>
          <p:cNvSpPr/>
          <p:nvPr/>
        </p:nvSpPr>
        <p:spPr>
          <a:xfrm>
            <a:off x="594360" y="3803760"/>
            <a:ext cx="521028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OpenCV: images and C++ image buffers</a:t>
            </a:r>
            <a:endParaRPr b="0" lang="en-US" sz="1700" spc="-1" strike="noStrike">
              <a:solidFill>
                <a:srgbClr val="000000"/>
              </a:solidFill>
              <a:latin typeface="Arial"/>
            </a:endParaRPr>
          </a:p>
        </p:txBody>
      </p:sp>
      <p:sp>
        <p:nvSpPr>
          <p:cNvPr id="218" name="TextBox 166"/>
          <p:cNvSpPr/>
          <p:nvPr/>
        </p:nvSpPr>
        <p:spPr>
          <a:xfrm>
            <a:off x="594360" y="4242960"/>
            <a:ext cx="52102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dbow_kit</a:t>
            </a:r>
            <a:endParaRPr b="0" lang="en-US" sz="2100" spc="-1" strike="noStrike">
              <a:solidFill>
                <a:srgbClr val="000000"/>
              </a:solidFill>
              <a:latin typeface="Arial"/>
            </a:endParaRPr>
          </a:p>
        </p:txBody>
      </p:sp>
      <p:sp>
        <p:nvSpPr>
          <p:cNvPr id="219" name="TextBox 167"/>
          <p:cNvSpPr/>
          <p:nvPr/>
        </p:nvSpPr>
        <p:spPr>
          <a:xfrm>
            <a:off x="594360" y="4572000"/>
            <a:ext cx="521028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DBoW2: visual place recognition</a:t>
            </a:r>
            <a:endParaRPr b="0" lang="en-US" sz="1700" spc="-1" strike="noStrike">
              <a:solidFill>
                <a:srgbClr val="000000"/>
              </a:solidFill>
              <a:latin typeface="Arial"/>
            </a:endParaRPr>
          </a:p>
        </p:txBody>
      </p:sp>
      <p:sp>
        <p:nvSpPr>
          <p:cNvPr id="220" name="TextBox 168"/>
          <p:cNvSpPr/>
          <p:nvPr/>
        </p:nvSpPr>
        <p:spPr>
          <a:xfrm>
            <a:off x="594360" y="5010840"/>
            <a:ext cx="52102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bt_kit</a:t>
            </a:r>
            <a:endParaRPr b="0" lang="en-US" sz="2100" spc="-1" strike="noStrike">
              <a:solidFill>
                <a:srgbClr val="000000"/>
              </a:solidFill>
              <a:latin typeface="Arial"/>
            </a:endParaRPr>
          </a:p>
        </p:txBody>
      </p:sp>
      <p:sp>
        <p:nvSpPr>
          <p:cNvPr id="221" name="TextBox 169"/>
          <p:cNvSpPr/>
          <p:nvPr/>
        </p:nvSpPr>
        <p:spPr>
          <a:xfrm>
            <a:off x="594360" y="5340240"/>
            <a:ext cx="521028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BehaviorTree.CPP: trees and Python actions</a:t>
            </a:r>
            <a:endParaRPr b="0" lang="en-US" sz="1700" spc="-1" strike="noStrike">
              <a:solidFill>
                <a:srgbClr val="000000"/>
              </a:solidFill>
              <a:latin typeface="Arial"/>
            </a:endParaRPr>
          </a:p>
        </p:txBody>
      </p:sp>
      <p:sp>
        <p:nvSpPr>
          <p:cNvPr id="222" name="TextBox 170"/>
          <p:cNvSpPr/>
          <p:nvPr/>
        </p:nvSpPr>
        <p:spPr>
          <a:xfrm>
            <a:off x="6355080" y="1938600"/>
            <a:ext cx="52102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ompl_kit</a:t>
            </a:r>
            <a:endParaRPr b="0" lang="en-US" sz="2100" spc="-1" strike="noStrike">
              <a:solidFill>
                <a:srgbClr val="000000"/>
              </a:solidFill>
              <a:latin typeface="Arial"/>
            </a:endParaRPr>
          </a:p>
        </p:txBody>
      </p:sp>
      <p:sp>
        <p:nvSpPr>
          <p:cNvPr id="223" name="TextBox 171"/>
          <p:cNvSpPr/>
          <p:nvPr/>
        </p:nvSpPr>
        <p:spPr>
          <a:xfrm>
            <a:off x="6355080" y="2267640"/>
            <a:ext cx="521028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OMPL: motion planning and validity callbacks</a:t>
            </a:r>
            <a:endParaRPr b="0" lang="en-US" sz="1700" spc="-1" strike="noStrike">
              <a:solidFill>
                <a:srgbClr val="000000"/>
              </a:solidFill>
              <a:latin typeface="Arial"/>
            </a:endParaRPr>
          </a:p>
        </p:txBody>
      </p:sp>
      <p:sp>
        <p:nvSpPr>
          <p:cNvPr id="224" name="TextBox 172"/>
          <p:cNvSpPr/>
          <p:nvPr/>
        </p:nvSpPr>
        <p:spPr>
          <a:xfrm>
            <a:off x="6355080" y="2706480"/>
            <a:ext cx="52102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moveit_kit</a:t>
            </a:r>
            <a:endParaRPr b="0" lang="en-US" sz="2100" spc="-1" strike="noStrike">
              <a:solidFill>
                <a:srgbClr val="000000"/>
              </a:solidFill>
              <a:latin typeface="Arial"/>
            </a:endParaRPr>
          </a:p>
        </p:txBody>
      </p:sp>
      <p:sp>
        <p:nvSpPr>
          <p:cNvPr id="225" name="TextBox 173"/>
          <p:cNvSpPr/>
          <p:nvPr/>
        </p:nvSpPr>
        <p:spPr>
          <a:xfrm>
            <a:off x="6355080" y="3035880"/>
            <a:ext cx="521028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MoveIt: robot models, kinematics and planning</a:t>
            </a:r>
            <a:endParaRPr b="0" lang="en-US" sz="1700" spc="-1" strike="noStrike">
              <a:solidFill>
                <a:srgbClr val="000000"/>
              </a:solidFill>
              <a:latin typeface="Arial"/>
            </a:endParaRPr>
          </a:p>
        </p:txBody>
      </p:sp>
      <p:sp>
        <p:nvSpPr>
          <p:cNvPr id="226" name="TextBox 174"/>
          <p:cNvSpPr/>
          <p:nvPr/>
        </p:nvSpPr>
        <p:spPr>
          <a:xfrm>
            <a:off x="6355080" y="3474720"/>
            <a:ext cx="52102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nav2_kit</a:t>
            </a:r>
            <a:endParaRPr b="0" lang="en-US" sz="2100" spc="-1" strike="noStrike">
              <a:solidFill>
                <a:srgbClr val="000000"/>
              </a:solidFill>
              <a:latin typeface="Arial"/>
            </a:endParaRPr>
          </a:p>
        </p:txBody>
      </p:sp>
      <p:sp>
        <p:nvSpPr>
          <p:cNvPr id="227" name="TextBox 175"/>
          <p:cNvSpPr/>
          <p:nvPr/>
        </p:nvSpPr>
        <p:spPr>
          <a:xfrm>
            <a:off x="6355080" y="3803760"/>
            <a:ext cx="521028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Nav2: write navigation plugins in Python</a:t>
            </a:r>
            <a:endParaRPr b="0" lang="en-US" sz="1700" spc="-1" strike="noStrike">
              <a:solidFill>
                <a:srgbClr val="000000"/>
              </a:solidFill>
              <a:latin typeface="Arial"/>
            </a:endParaRPr>
          </a:p>
        </p:txBody>
      </p:sp>
      <p:sp>
        <p:nvSpPr>
          <p:cNvPr id="228" name="TextBox 176"/>
          <p:cNvSpPr/>
          <p:nvPr/>
        </p:nvSpPr>
        <p:spPr>
          <a:xfrm>
            <a:off x="6355080" y="4242960"/>
            <a:ext cx="52102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control_kit</a:t>
            </a:r>
            <a:endParaRPr b="0" lang="en-US" sz="2100" spc="-1" strike="noStrike">
              <a:solidFill>
                <a:srgbClr val="000000"/>
              </a:solidFill>
              <a:latin typeface="Arial"/>
            </a:endParaRPr>
          </a:p>
        </p:txBody>
      </p:sp>
      <p:sp>
        <p:nvSpPr>
          <p:cNvPr id="229" name="TextBox 177"/>
          <p:cNvSpPr/>
          <p:nvPr/>
        </p:nvSpPr>
        <p:spPr>
          <a:xfrm>
            <a:off x="6355080" y="4572000"/>
            <a:ext cx="521028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ros2_control: write controllers in Python</a:t>
            </a:r>
            <a:endParaRPr b="0" lang="en-US" sz="1700" spc="-1" strike="noStrike">
              <a:solidFill>
                <a:srgbClr val="000000"/>
              </a:solidFill>
              <a:latin typeface="Arial"/>
            </a:endParaRPr>
          </a:p>
        </p:txBody>
      </p:sp>
      <p:sp>
        <p:nvSpPr>
          <p:cNvPr id="230" name="TextBox 178"/>
          <p:cNvSpPr/>
          <p:nvPr/>
        </p:nvSpPr>
        <p:spPr>
          <a:xfrm>
            <a:off x="6355080" y="5010840"/>
            <a:ext cx="52102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wbc_kit</a:t>
            </a:r>
            <a:endParaRPr b="0" lang="en-US" sz="2100" spc="-1" strike="noStrike">
              <a:solidFill>
                <a:srgbClr val="000000"/>
              </a:solidFill>
              <a:latin typeface="Arial"/>
            </a:endParaRPr>
          </a:p>
        </p:txBody>
      </p:sp>
      <p:sp>
        <p:nvSpPr>
          <p:cNvPr id="231" name="TextBox 179"/>
          <p:cNvSpPr/>
          <p:nvPr/>
        </p:nvSpPr>
        <p:spPr>
          <a:xfrm>
            <a:off x="6355080" y="5340240"/>
            <a:ext cx="521028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Crocoddyl: custom action models</a:t>
            </a:r>
            <a:endParaRPr b="0" lang="en-US" sz="1700" spc="-1" strike="noStrike">
              <a:solidFill>
                <a:srgbClr val="000000"/>
              </a:solidFill>
              <a:latin typeface="Arial"/>
            </a:endParaRPr>
          </a:p>
        </p:txBody>
      </p:sp>
      <p:sp>
        <p:nvSpPr>
          <p:cNvPr id="232" name="TextBox 180"/>
          <p:cNvSpPr/>
          <p:nvPr/>
        </p:nvSpPr>
        <p:spPr>
          <a:xfrm>
            <a:off x="594360" y="1938600"/>
            <a:ext cx="521028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rclcpp_kit</a:t>
            </a:r>
            <a:endParaRPr b="0" lang="en-US" sz="2100" spc="-1" strike="noStrike">
              <a:solidFill>
                <a:srgbClr val="000000"/>
              </a:solidFill>
              <a:latin typeface="Arial"/>
            </a:endParaRPr>
          </a:p>
        </p:txBody>
      </p:sp>
      <p:sp>
        <p:nvSpPr>
          <p:cNvPr id="233" name="TextBox 181"/>
          <p:cNvSpPr/>
          <p:nvPr/>
        </p:nvSpPr>
        <p:spPr>
          <a:xfrm>
            <a:off x="594360" y="2267640"/>
            <a:ext cx="5210280" cy="34884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700" spc="-1" strike="noStrike">
                <a:solidFill>
                  <a:srgbClr val="031424"/>
                </a:solidFill>
                <a:latin typeface="Roboto"/>
              </a:rPr>
              <a:t>ROS 2 C++: nodes, messages, TF and bags</a:t>
            </a:r>
            <a:endParaRPr b="0" lang="en-US" sz="1700" spc="-1" strike="noStrike">
              <a:solidFill>
                <a:srgbClr val="000000"/>
              </a:solidFill>
              <a:latin typeface="Arial"/>
            </a:endParaRPr>
          </a:p>
        </p:txBody>
      </p:sp>
      <p:sp>
        <p:nvSpPr>
          <p:cNvPr id="234" name="TextBox 182"/>
          <p:cNvSpPr/>
          <p:nvPr/>
        </p:nvSpPr>
        <p:spPr>
          <a:xfrm>
            <a:off x="594360" y="6099120"/>
            <a:ext cx="10971000" cy="3639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800" spc="-1" strike="noStrike">
                <a:solidFill>
                  <a:srgbClr val="031424"/>
                </a:solidFill>
                <a:latin typeface="Roboto"/>
              </a:rPr>
              <a:t>cppyy_kit provides the shared tools; each kit adds library-specific integration.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5" name="Picture 5" descr=""/>
          <p:cNvPicPr/>
          <p:nvPr/>
        </p:nvPicPr>
        <p:blipFill>
          <a:blip r:embed="rId1"/>
          <a:stretch/>
        </p:blipFill>
        <p:spPr>
          <a:xfrm>
            <a:off x="10623600" y="345600"/>
            <a:ext cx="1058400" cy="1058400"/>
          </a:xfrm>
          <a:prstGeom prst="rect">
            <a:avLst/>
          </a:prstGeom>
          <a:ln w="0">
            <a:noFill/>
          </a:ln>
        </p:spPr>
      </p:pic>
      <p:cxnSp>
        <p:nvCxnSpPr>
          <p:cNvPr id="236" name="Straight Connector 7"/>
          <p:cNvCxnSpPr/>
          <p:nvPr/>
        </p:nvCxnSpPr>
        <p:spPr>
          <a:xfrm>
            <a:off x="0" y="1134720"/>
            <a:ext cx="4366080" cy="2520"/>
          </a:xfrm>
          <a:prstGeom prst="straightConnector1">
            <a:avLst/>
          </a:prstGeom>
          <a:ln w="38100">
            <a:solidFill>
              <a:srgbClr val="fed021"/>
            </a:solidFill>
            <a:round/>
          </a:ln>
        </p:spPr>
      </p:cxnSp>
      <p:sp>
        <p:nvSpPr>
          <p:cNvPr id="237" name="TextBox 160"/>
          <p:cNvSpPr/>
          <p:nvPr/>
        </p:nvSpPr>
        <p:spPr>
          <a:xfrm>
            <a:off x="502920" y="320040"/>
            <a:ext cx="10148040" cy="5166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800" spc="-1" strike="noStrike">
                <a:solidFill>
                  <a:srgbClr val="031424"/>
                </a:solidFill>
                <a:latin typeface="Roboto"/>
              </a:rPr>
              <a:t>rclcppyy: Python ROS code, C++ ROS objects</a:t>
            </a:r>
            <a:endParaRPr b="0" lang="en-US" sz="2800" spc="-1" strike="noStrike">
              <a:solidFill>
                <a:srgbClr val="000000"/>
              </a:solidFill>
              <a:latin typeface="Arial"/>
            </a:endParaRPr>
          </a:p>
        </p:txBody>
      </p:sp>
      <p:sp>
        <p:nvSpPr>
          <p:cNvPr id="238" name="TextBox 161"/>
          <p:cNvSpPr/>
          <p:nvPr/>
        </p:nvSpPr>
        <p:spPr>
          <a:xfrm>
            <a:off x="502920" y="1280160"/>
            <a:ext cx="10971000" cy="43992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300" spc="-1" strike="noStrike">
                <a:solidFill>
                  <a:srgbClr val="031424"/>
                </a:solidFill>
                <a:latin typeface="Roboto"/>
              </a:rPr>
              <a:t>An rclpy-style interface with explicit routes into rclcpp</a:t>
            </a:r>
            <a:endParaRPr b="0" lang="en-US" sz="2300" spc="-1" strike="noStrike">
              <a:solidFill>
                <a:srgbClr val="000000"/>
              </a:solidFill>
              <a:latin typeface="Arial"/>
            </a:endParaRPr>
          </a:p>
        </p:txBody>
      </p:sp>
      <p:sp>
        <p:nvSpPr>
          <p:cNvPr id="239" name="TextBox 162"/>
          <p:cNvSpPr/>
          <p:nvPr/>
        </p:nvSpPr>
        <p:spPr>
          <a:xfrm>
            <a:off x="594360" y="2057400"/>
            <a:ext cx="6856200" cy="4248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Keep messages in C++</a:t>
            </a:r>
            <a:endParaRPr b="0" lang="en-US" sz="2200" spc="-1" strike="noStrike">
              <a:solidFill>
                <a:srgbClr val="000000"/>
              </a:solidFill>
              <a:latin typeface="Arial"/>
            </a:endParaRPr>
          </a:p>
        </p:txBody>
      </p:sp>
      <p:sp>
        <p:nvSpPr>
          <p:cNvPr id="240" name="TextBox 163"/>
          <p:cNvSpPr/>
          <p:nvPr/>
        </p:nvSpPr>
        <p:spPr>
          <a:xfrm>
            <a:off x="594360" y="2496240"/>
            <a:ext cx="6856200" cy="66852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900" spc="-1" strike="noStrike">
                <a:solidFill>
                  <a:srgbClr val="031424"/>
                </a:solidFill>
                <a:latin typeface="Roboto"/>
              </a:rPr>
              <a:t>Pass compatible native objects into C++ libraries and custom kernels.</a:t>
            </a:r>
            <a:endParaRPr b="0" lang="en-US" sz="1900" spc="-1" strike="noStrike">
              <a:solidFill>
                <a:srgbClr val="000000"/>
              </a:solidFill>
              <a:latin typeface="Arial"/>
            </a:endParaRPr>
          </a:p>
        </p:txBody>
      </p:sp>
      <p:sp>
        <p:nvSpPr>
          <p:cNvPr id="241" name="TextBox 164"/>
          <p:cNvSpPr/>
          <p:nvPr/>
        </p:nvSpPr>
        <p:spPr>
          <a:xfrm>
            <a:off x="594360" y="3246120"/>
            <a:ext cx="6856200" cy="4248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Use native ROS facilities</a:t>
            </a:r>
            <a:endParaRPr b="0" lang="en-US" sz="2200" spc="-1" strike="noStrike">
              <a:solidFill>
                <a:srgbClr val="000000"/>
              </a:solidFill>
              <a:latin typeface="Arial"/>
            </a:endParaRPr>
          </a:p>
        </p:txBody>
      </p:sp>
      <p:sp>
        <p:nvSpPr>
          <p:cNvPr id="242" name="TextBox 165"/>
          <p:cNvSpPr/>
          <p:nvPr/>
        </p:nvSpPr>
        <p:spPr>
          <a:xfrm>
            <a:off x="594360" y="3684960"/>
            <a:ext cx="6856200" cy="66852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900" spc="-1" strike="noStrike">
                <a:solidFill>
                  <a:srgbClr val="031424"/>
                </a:solidFill>
                <a:latin typeface="Roboto"/>
              </a:rPr>
              <a:t>Intra-process communication, C++ components and native callbacks.</a:t>
            </a:r>
            <a:endParaRPr b="0" lang="en-US" sz="1900" spc="-1" strike="noStrike">
              <a:solidFill>
                <a:srgbClr val="000000"/>
              </a:solidFill>
              <a:latin typeface="Arial"/>
            </a:endParaRPr>
          </a:p>
        </p:txBody>
      </p:sp>
      <p:sp>
        <p:nvSpPr>
          <p:cNvPr id="243" name="TextBox 166"/>
          <p:cNvSpPr/>
          <p:nvPr/>
        </p:nvSpPr>
        <p:spPr>
          <a:xfrm>
            <a:off x="594360" y="4434840"/>
            <a:ext cx="6856200" cy="4248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Choose the execution path</a:t>
            </a:r>
            <a:endParaRPr b="0" lang="en-US" sz="2200" spc="-1" strike="noStrike">
              <a:solidFill>
                <a:srgbClr val="000000"/>
              </a:solidFill>
              <a:latin typeface="Arial"/>
            </a:endParaRPr>
          </a:p>
        </p:txBody>
      </p:sp>
      <p:sp>
        <p:nvSpPr>
          <p:cNvPr id="244" name="TextBox 167"/>
          <p:cNvSpPr/>
          <p:nvPr/>
        </p:nvSpPr>
        <p:spPr>
          <a:xfrm>
            <a:off x="594360" y="4873680"/>
            <a:ext cx="6856200" cy="66852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900" spc="-1" strike="noStrike">
                <a:solidFill>
                  <a:srgbClr val="031424"/>
                </a:solidFill>
                <a:latin typeface="Roboto"/>
              </a:rPr>
              <a:t>Python for orchestration; selected native paths for the processing work.</a:t>
            </a:r>
            <a:endParaRPr b="0" lang="en-US" sz="1900" spc="-1" strike="noStrike">
              <a:solidFill>
                <a:srgbClr val="000000"/>
              </a:solidFill>
              <a:latin typeface="Arial"/>
            </a:endParaRPr>
          </a:p>
        </p:txBody>
      </p:sp>
      <p:sp>
        <p:nvSpPr>
          <p:cNvPr id="245" name="Rounded Rectangle 168"/>
          <p:cNvSpPr/>
          <p:nvPr/>
        </p:nvSpPr>
        <p:spPr>
          <a:xfrm>
            <a:off x="8001000" y="2148840"/>
            <a:ext cx="3610080" cy="656640"/>
          </a:xfrm>
          <a:prstGeom prst="roundRect">
            <a:avLst>
              <a:gd name="adj" fmla="val 16667"/>
            </a:avLst>
          </a:pr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ptos"/>
            </a:endParaRPr>
          </a:p>
        </p:txBody>
      </p:sp>
      <p:sp>
        <p:nvSpPr>
          <p:cNvPr id="246" name="TextBox 169"/>
          <p:cNvSpPr/>
          <p:nvPr/>
        </p:nvSpPr>
        <p:spPr>
          <a:xfrm>
            <a:off x="8183880" y="2286000"/>
            <a:ext cx="3244320" cy="3790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900" spc="-1" strike="noStrike">
                <a:solidFill>
                  <a:srgbClr val="031424"/>
                </a:solidFill>
                <a:latin typeface="Roboto"/>
              </a:rPr>
              <a:t>Python application</a:t>
            </a:r>
            <a:endParaRPr b="0" lang="en-US" sz="1900" spc="-1" strike="noStrike">
              <a:solidFill>
                <a:srgbClr val="000000"/>
              </a:solidFill>
              <a:latin typeface="Arial"/>
            </a:endParaRPr>
          </a:p>
        </p:txBody>
      </p:sp>
      <p:sp>
        <p:nvSpPr>
          <p:cNvPr id="247" name="Rounded Rectangle 170"/>
          <p:cNvSpPr/>
          <p:nvPr/>
        </p:nvSpPr>
        <p:spPr>
          <a:xfrm>
            <a:off x="8001000" y="3337560"/>
            <a:ext cx="3610080" cy="656640"/>
          </a:xfrm>
          <a:prstGeom prst="roundRect">
            <a:avLst>
              <a:gd name="adj" fmla="val 16667"/>
            </a:avLst>
          </a:pr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ptos"/>
            </a:endParaRPr>
          </a:p>
        </p:txBody>
      </p:sp>
      <p:sp>
        <p:nvSpPr>
          <p:cNvPr id="248" name="TextBox 171"/>
          <p:cNvSpPr/>
          <p:nvPr/>
        </p:nvSpPr>
        <p:spPr>
          <a:xfrm>
            <a:off x="8183880" y="3474720"/>
            <a:ext cx="3244320" cy="3790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900" spc="-1" strike="noStrike">
                <a:solidFill>
                  <a:srgbClr val="031424"/>
                </a:solidFill>
                <a:latin typeface="Roboto"/>
              </a:rPr>
              <a:t>rclcpp objects / messages</a:t>
            </a:r>
            <a:endParaRPr b="0" lang="en-US" sz="1900" spc="-1" strike="noStrike">
              <a:solidFill>
                <a:srgbClr val="000000"/>
              </a:solidFill>
              <a:latin typeface="Arial"/>
            </a:endParaRPr>
          </a:p>
        </p:txBody>
      </p:sp>
      <p:sp>
        <p:nvSpPr>
          <p:cNvPr id="249" name="Rounded Rectangle 172"/>
          <p:cNvSpPr/>
          <p:nvPr/>
        </p:nvSpPr>
        <p:spPr>
          <a:xfrm>
            <a:off x="8001000" y="4526280"/>
            <a:ext cx="3610080" cy="656640"/>
          </a:xfrm>
          <a:prstGeom prst="roundRect">
            <a:avLst>
              <a:gd name="adj" fmla="val 16667"/>
            </a:avLst>
          </a:prstGeom>
          <a:solidFill>
            <a:srgbClr val="fff4cb"/>
          </a:solidFill>
          <a:ln>
            <a:solidFill>
              <a:srgbClr val="c89f1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Aptos"/>
            </a:endParaRPr>
          </a:p>
        </p:txBody>
      </p:sp>
      <p:sp>
        <p:nvSpPr>
          <p:cNvPr id="250" name="TextBox 173"/>
          <p:cNvSpPr/>
          <p:nvPr/>
        </p:nvSpPr>
        <p:spPr>
          <a:xfrm>
            <a:off x="8183880" y="4663440"/>
            <a:ext cx="3244320" cy="3790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1900" spc="-1" strike="noStrike">
                <a:solidFill>
                  <a:srgbClr val="031424"/>
                </a:solidFill>
                <a:latin typeface="Roboto"/>
              </a:rPr>
              <a:t>C++ library / kernel</a:t>
            </a:r>
            <a:endParaRPr b="0" lang="en-US" sz="1900" spc="-1" strike="noStrike">
              <a:solidFill>
                <a:srgbClr val="000000"/>
              </a:solidFill>
              <a:latin typeface="Arial"/>
            </a:endParaRPr>
          </a:p>
        </p:txBody>
      </p:sp>
      <p:sp>
        <p:nvSpPr>
          <p:cNvPr id="251" name="TextBox 174"/>
          <p:cNvSpPr/>
          <p:nvPr/>
        </p:nvSpPr>
        <p:spPr>
          <a:xfrm>
            <a:off x="9601200" y="2834640"/>
            <a:ext cx="546840" cy="4554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400" spc="-1" strike="noStrike">
                <a:solidFill>
                  <a:srgbClr val="031424"/>
                </a:solidFill>
                <a:latin typeface="Roboto"/>
              </a:rPr>
              <a:t>↓</a:t>
            </a:r>
            <a:endParaRPr b="0" lang="en-US" sz="2400" spc="-1" strike="noStrike">
              <a:solidFill>
                <a:srgbClr val="000000"/>
              </a:solidFill>
              <a:latin typeface="Arial"/>
            </a:endParaRPr>
          </a:p>
        </p:txBody>
      </p:sp>
      <p:sp>
        <p:nvSpPr>
          <p:cNvPr id="252" name="TextBox 175"/>
          <p:cNvSpPr/>
          <p:nvPr/>
        </p:nvSpPr>
        <p:spPr>
          <a:xfrm>
            <a:off x="9601200" y="4023360"/>
            <a:ext cx="546840" cy="4554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400" spc="-1" strike="noStrike">
                <a:solidFill>
                  <a:srgbClr val="031424"/>
                </a:solidFill>
                <a:latin typeface="Roboto"/>
              </a:rPr>
              <a:t>↓</a:t>
            </a:r>
            <a:endParaRPr b="0" lang="en-US" sz="2400" spc="-1" strike="noStrike">
              <a:solidFill>
                <a:srgbClr val="000000"/>
              </a:solidFill>
              <a:latin typeface="Arial"/>
            </a:endParaRPr>
          </a:p>
        </p:txBody>
      </p:sp>
      <p:sp>
        <p:nvSpPr>
          <p:cNvPr id="253" name="TextBox 176"/>
          <p:cNvSpPr/>
          <p:nvPr/>
        </p:nvSpPr>
        <p:spPr>
          <a:xfrm>
            <a:off x="594360" y="5806440"/>
            <a:ext cx="1097100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Keep the native representation through the pipeline; convert where the next API requires it.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4" name="Picture 5" descr=""/>
          <p:cNvPicPr/>
          <p:nvPr/>
        </p:nvPicPr>
        <p:blipFill>
          <a:blip r:embed="rId1"/>
          <a:stretch/>
        </p:blipFill>
        <p:spPr>
          <a:xfrm>
            <a:off x="10623600" y="345600"/>
            <a:ext cx="1058400" cy="1058400"/>
          </a:xfrm>
          <a:prstGeom prst="rect">
            <a:avLst/>
          </a:prstGeom>
          <a:ln w="0">
            <a:noFill/>
          </a:ln>
        </p:spPr>
      </p:pic>
      <p:cxnSp>
        <p:nvCxnSpPr>
          <p:cNvPr id="255" name="Straight Connector 7"/>
          <p:cNvCxnSpPr/>
          <p:nvPr/>
        </p:nvCxnSpPr>
        <p:spPr>
          <a:xfrm>
            <a:off x="0" y="1134720"/>
            <a:ext cx="4366080" cy="2520"/>
          </a:xfrm>
          <a:prstGeom prst="straightConnector1">
            <a:avLst/>
          </a:prstGeom>
          <a:ln w="38100">
            <a:solidFill>
              <a:srgbClr val="fed021"/>
            </a:solidFill>
            <a:round/>
          </a:ln>
        </p:spPr>
      </p:cxnSp>
      <p:sp>
        <p:nvSpPr>
          <p:cNvPr id="256" name="TextBox 188"/>
          <p:cNvSpPr/>
          <p:nvPr/>
        </p:nvSpPr>
        <p:spPr>
          <a:xfrm>
            <a:off x="502920" y="320040"/>
            <a:ext cx="10148400" cy="5166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800" spc="-1" strike="noStrike">
                <a:solidFill>
                  <a:srgbClr val="031424"/>
                </a:solidFill>
                <a:latin typeface="Roboto"/>
              </a:rPr>
              <a:t>rclcppyy: lower CPU cost across ROS operations</a:t>
            </a:r>
            <a:endParaRPr b="0" lang="en-US" sz="2800" spc="-1" strike="noStrike">
              <a:solidFill>
                <a:srgbClr val="000000"/>
              </a:solidFill>
              <a:latin typeface="Arial"/>
            </a:endParaRPr>
          </a:p>
        </p:txBody>
      </p:sp>
      <p:sp>
        <p:nvSpPr>
          <p:cNvPr id="257" name="TextBox 189"/>
          <p:cNvSpPr/>
          <p:nvPr/>
        </p:nvSpPr>
        <p:spPr>
          <a:xfrm>
            <a:off x="594360" y="1280160"/>
            <a:ext cx="10971360" cy="4248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Less CPU work across the benchmarks; throughput gains depend on the operation.</a:t>
            </a:r>
            <a:endParaRPr b="0" lang="en-US" sz="2200" spc="-1" strike="noStrike">
              <a:solidFill>
                <a:srgbClr val="000000"/>
              </a:solidFill>
              <a:latin typeface="Arial"/>
            </a:endParaRPr>
          </a:p>
        </p:txBody>
      </p:sp>
      <p:sp>
        <p:nvSpPr>
          <p:cNvPr id="258" name="TextBox 190"/>
          <p:cNvSpPr/>
          <p:nvPr/>
        </p:nvSpPr>
        <p:spPr>
          <a:xfrm>
            <a:off x="594360" y="1938600"/>
            <a:ext cx="671940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ROS operation</a:t>
            </a:r>
            <a:endParaRPr b="0" lang="en-US" sz="2000" spc="-1" strike="noStrike">
              <a:solidFill>
                <a:srgbClr val="000000"/>
              </a:solidFill>
              <a:latin typeface="Arial"/>
            </a:endParaRPr>
          </a:p>
        </p:txBody>
      </p:sp>
      <p:sp>
        <p:nvSpPr>
          <p:cNvPr id="259" name="TextBox 191"/>
          <p:cNvSpPr/>
          <p:nvPr/>
        </p:nvSpPr>
        <p:spPr>
          <a:xfrm>
            <a:off x="7406640" y="1938600"/>
            <a:ext cx="20559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CPU time saved</a:t>
            </a:r>
            <a:endParaRPr b="0" lang="en-US" sz="2000" spc="-1" strike="noStrike">
              <a:solidFill>
                <a:srgbClr val="000000"/>
              </a:solidFill>
              <a:latin typeface="Arial"/>
            </a:endParaRPr>
          </a:p>
        </p:txBody>
      </p:sp>
      <p:sp>
        <p:nvSpPr>
          <p:cNvPr id="260" name="TextBox 192"/>
          <p:cNvSpPr/>
          <p:nvPr/>
        </p:nvSpPr>
        <p:spPr>
          <a:xfrm>
            <a:off x="9784080" y="1938600"/>
            <a:ext cx="18273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Throughput</a:t>
            </a:r>
            <a:endParaRPr b="0" lang="en-US" sz="2000" spc="-1" strike="noStrike">
              <a:solidFill>
                <a:srgbClr val="000000"/>
              </a:solidFill>
              <a:latin typeface="Arial"/>
            </a:endParaRPr>
          </a:p>
        </p:txBody>
      </p:sp>
      <p:sp>
        <p:nvSpPr>
          <p:cNvPr id="261" name="TextBox 193"/>
          <p:cNvSpPr/>
          <p:nvPr/>
        </p:nvSpPr>
        <p:spPr>
          <a:xfrm>
            <a:off x="594360" y="2377440"/>
            <a:ext cx="671940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Pub/sub relays</a:t>
            </a:r>
            <a:endParaRPr b="0" lang="en-US" sz="2000" spc="-1" strike="noStrike">
              <a:solidFill>
                <a:srgbClr val="000000"/>
              </a:solidFill>
              <a:latin typeface="Arial"/>
            </a:endParaRPr>
          </a:p>
        </p:txBody>
      </p:sp>
      <p:sp>
        <p:nvSpPr>
          <p:cNvPr id="262" name="TextBox 194"/>
          <p:cNvSpPr/>
          <p:nvPr/>
        </p:nvSpPr>
        <p:spPr>
          <a:xfrm>
            <a:off x="7406640" y="2377440"/>
            <a:ext cx="20559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77–81%</a:t>
            </a:r>
            <a:endParaRPr b="0" lang="en-US" sz="2000" spc="-1" strike="noStrike">
              <a:solidFill>
                <a:srgbClr val="000000"/>
              </a:solidFill>
              <a:latin typeface="Arial"/>
            </a:endParaRPr>
          </a:p>
        </p:txBody>
      </p:sp>
      <p:sp>
        <p:nvSpPr>
          <p:cNvPr id="263" name="TextBox 195"/>
          <p:cNvSpPr/>
          <p:nvPr/>
        </p:nvSpPr>
        <p:spPr>
          <a:xfrm>
            <a:off x="9784080" y="2377440"/>
            <a:ext cx="18273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2.9–3.0×</a:t>
            </a:r>
            <a:endParaRPr b="0" lang="en-US" sz="2000" spc="-1" strike="noStrike">
              <a:solidFill>
                <a:srgbClr val="000000"/>
              </a:solidFill>
              <a:latin typeface="Arial"/>
            </a:endParaRPr>
          </a:p>
        </p:txBody>
      </p:sp>
      <p:sp>
        <p:nvSpPr>
          <p:cNvPr id="264" name="TextBox 196"/>
          <p:cNvSpPr/>
          <p:nvPr/>
        </p:nvSpPr>
        <p:spPr>
          <a:xfrm>
            <a:off x="594360" y="2816280"/>
            <a:ext cx="671940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Services: client / server</a:t>
            </a:r>
            <a:endParaRPr b="0" lang="en-US" sz="2000" spc="-1" strike="noStrike">
              <a:solidFill>
                <a:srgbClr val="000000"/>
              </a:solidFill>
              <a:latin typeface="Arial"/>
            </a:endParaRPr>
          </a:p>
        </p:txBody>
      </p:sp>
      <p:sp>
        <p:nvSpPr>
          <p:cNvPr id="265" name="TextBox 197"/>
          <p:cNvSpPr/>
          <p:nvPr/>
        </p:nvSpPr>
        <p:spPr>
          <a:xfrm>
            <a:off x="7406640" y="2816280"/>
            <a:ext cx="20559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68–78%</a:t>
            </a:r>
            <a:endParaRPr b="0" lang="en-US" sz="2000" spc="-1" strike="noStrike">
              <a:solidFill>
                <a:srgbClr val="000000"/>
              </a:solidFill>
              <a:latin typeface="Arial"/>
            </a:endParaRPr>
          </a:p>
        </p:txBody>
      </p:sp>
      <p:sp>
        <p:nvSpPr>
          <p:cNvPr id="266" name="TextBox 198"/>
          <p:cNvSpPr/>
          <p:nvPr/>
        </p:nvSpPr>
        <p:spPr>
          <a:xfrm>
            <a:off x="9784080" y="2816280"/>
            <a:ext cx="18273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1.4–2.6×</a:t>
            </a:r>
            <a:endParaRPr b="0" lang="en-US" sz="2000" spc="-1" strike="noStrike">
              <a:solidFill>
                <a:srgbClr val="000000"/>
              </a:solidFill>
              <a:latin typeface="Arial"/>
            </a:endParaRPr>
          </a:p>
        </p:txBody>
      </p:sp>
      <p:sp>
        <p:nvSpPr>
          <p:cNvPr id="267" name="TextBox 199"/>
          <p:cNvSpPr/>
          <p:nvPr/>
        </p:nvSpPr>
        <p:spPr>
          <a:xfrm>
            <a:off x="594360" y="3255120"/>
            <a:ext cx="671940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Actions: client / server</a:t>
            </a:r>
            <a:endParaRPr b="0" lang="en-US" sz="2000" spc="-1" strike="noStrike">
              <a:solidFill>
                <a:srgbClr val="000000"/>
              </a:solidFill>
              <a:latin typeface="Arial"/>
            </a:endParaRPr>
          </a:p>
        </p:txBody>
      </p:sp>
      <p:sp>
        <p:nvSpPr>
          <p:cNvPr id="268" name="TextBox 200"/>
          <p:cNvSpPr/>
          <p:nvPr/>
        </p:nvSpPr>
        <p:spPr>
          <a:xfrm>
            <a:off x="7406640" y="3255120"/>
            <a:ext cx="20559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35–74%</a:t>
            </a:r>
            <a:endParaRPr b="0" lang="en-US" sz="2000" spc="-1" strike="noStrike">
              <a:solidFill>
                <a:srgbClr val="000000"/>
              </a:solidFill>
              <a:latin typeface="Arial"/>
            </a:endParaRPr>
          </a:p>
        </p:txBody>
      </p:sp>
      <p:sp>
        <p:nvSpPr>
          <p:cNvPr id="269" name="TextBox 201"/>
          <p:cNvSpPr/>
          <p:nvPr/>
        </p:nvSpPr>
        <p:spPr>
          <a:xfrm>
            <a:off x="9784080" y="3255120"/>
            <a:ext cx="18273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~1.0×</a:t>
            </a:r>
            <a:endParaRPr b="0" lang="en-US" sz="2000" spc="-1" strike="noStrike">
              <a:solidFill>
                <a:srgbClr val="000000"/>
              </a:solidFill>
              <a:latin typeface="Arial"/>
            </a:endParaRPr>
          </a:p>
        </p:txBody>
      </p:sp>
      <p:sp>
        <p:nvSpPr>
          <p:cNvPr id="270" name="TextBox 202"/>
          <p:cNvSpPr/>
          <p:nvPr/>
        </p:nvSpPr>
        <p:spPr>
          <a:xfrm>
            <a:off x="594360" y="3694320"/>
            <a:ext cx="671940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Remote parameters: get / atomic set</a:t>
            </a:r>
            <a:endParaRPr b="0" lang="en-US" sz="2000" spc="-1" strike="noStrike">
              <a:solidFill>
                <a:srgbClr val="000000"/>
              </a:solidFill>
              <a:latin typeface="Arial"/>
            </a:endParaRPr>
          </a:p>
        </p:txBody>
      </p:sp>
      <p:sp>
        <p:nvSpPr>
          <p:cNvPr id="271" name="TextBox 203"/>
          <p:cNvSpPr/>
          <p:nvPr/>
        </p:nvSpPr>
        <p:spPr>
          <a:xfrm>
            <a:off x="7406640" y="3694320"/>
            <a:ext cx="20559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75–84%</a:t>
            </a:r>
            <a:endParaRPr b="0" lang="en-US" sz="2000" spc="-1" strike="noStrike">
              <a:solidFill>
                <a:srgbClr val="000000"/>
              </a:solidFill>
              <a:latin typeface="Arial"/>
            </a:endParaRPr>
          </a:p>
        </p:txBody>
      </p:sp>
      <p:sp>
        <p:nvSpPr>
          <p:cNvPr id="272" name="TextBox 204"/>
          <p:cNvSpPr/>
          <p:nvPr/>
        </p:nvSpPr>
        <p:spPr>
          <a:xfrm>
            <a:off x="9784080" y="3694320"/>
            <a:ext cx="18273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4.0–6.3×</a:t>
            </a:r>
            <a:endParaRPr b="0" lang="en-US" sz="2000" spc="-1" strike="noStrike">
              <a:solidFill>
                <a:srgbClr val="000000"/>
              </a:solidFill>
              <a:latin typeface="Arial"/>
            </a:endParaRPr>
          </a:p>
        </p:txBody>
      </p:sp>
      <p:sp>
        <p:nvSpPr>
          <p:cNvPr id="273" name="TextBox 205"/>
          <p:cNvSpPr/>
          <p:nvPr/>
        </p:nvSpPr>
        <p:spPr>
          <a:xfrm>
            <a:off x="594360" y="4133160"/>
            <a:ext cx="671940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Local parameters: declare / get / set</a:t>
            </a:r>
            <a:endParaRPr b="0" lang="en-US" sz="2000" spc="-1" strike="noStrike">
              <a:solidFill>
                <a:srgbClr val="000000"/>
              </a:solidFill>
              <a:latin typeface="Arial"/>
            </a:endParaRPr>
          </a:p>
        </p:txBody>
      </p:sp>
      <p:sp>
        <p:nvSpPr>
          <p:cNvPr id="274" name="TextBox 206"/>
          <p:cNvSpPr/>
          <p:nvPr/>
        </p:nvSpPr>
        <p:spPr>
          <a:xfrm>
            <a:off x="7406640" y="4133160"/>
            <a:ext cx="20559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31–49%</a:t>
            </a:r>
            <a:endParaRPr b="0" lang="en-US" sz="2000" spc="-1" strike="noStrike">
              <a:solidFill>
                <a:srgbClr val="000000"/>
              </a:solidFill>
              <a:latin typeface="Arial"/>
            </a:endParaRPr>
          </a:p>
        </p:txBody>
      </p:sp>
      <p:sp>
        <p:nvSpPr>
          <p:cNvPr id="275" name="TextBox 207"/>
          <p:cNvSpPr/>
          <p:nvPr/>
        </p:nvSpPr>
        <p:spPr>
          <a:xfrm>
            <a:off x="9784080" y="4133160"/>
            <a:ext cx="18273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a:t>
            </a:r>
            <a:endParaRPr b="0" lang="en-US" sz="2000" spc="-1" strike="noStrike">
              <a:solidFill>
                <a:srgbClr val="000000"/>
              </a:solidFill>
              <a:latin typeface="Arial"/>
            </a:endParaRPr>
          </a:p>
        </p:txBody>
      </p:sp>
      <p:sp>
        <p:nvSpPr>
          <p:cNvPr id="276" name="TextBox 208"/>
          <p:cNvSpPr/>
          <p:nvPr/>
        </p:nvSpPr>
        <p:spPr>
          <a:xfrm>
            <a:off x="594360" y="4572000"/>
            <a:ext cx="671940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Timers / executor</a:t>
            </a:r>
            <a:endParaRPr b="0" lang="en-US" sz="2000" spc="-1" strike="noStrike">
              <a:solidFill>
                <a:srgbClr val="000000"/>
              </a:solidFill>
              <a:latin typeface="Arial"/>
            </a:endParaRPr>
          </a:p>
        </p:txBody>
      </p:sp>
      <p:sp>
        <p:nvSpPr>
          <p:cNvPr id="277" name="TextBox 209"/>
          <p:cNvSpPr/>
          <p:nvPr/>
        </p:nvSpPr>
        <p:spPr>
          <a:xfrm>
            <a:off x="7406640" y="4572000"/>
            <a:ext cx="20559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74%</a:t>
            </a:r>
            <a:endParaRPr b="0" lang="en-US" sz="2000" spc="-1" strike="noStrike">
              <a:solidFill>
                <a:srgbClr val="000000"/>
              </a:solidFill>
              <a:latin typeface="Arial"/>
            </a:endParaRPr>
          </a:p>
        </p:txBody>
      </p:sp>
      <p:sp>
        <p:nvSpPr>
          <p:cNvPr id="278" name="TextBox 210"/>
          <p:cNvSpPr/>
          <p:nvPr/>
        </p:nvSpPr>
        <p:spPr>
          <a:xfrm>
            <a:off x="9784080" y="4572000"/>
            <a:ext cx="18273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a:t>
            </a:r>
            <a:endParaRPr b="0" lang="en-US" sz="2000" spc="-1" strike="noStrike">
              <a:solidFill>
                <a:srgbClr val="000000"/>
              </a:solidFill>
              <a:latin typeface="Arial"/>
            </a:endParaRPr>
          </a:p>
        </p:txBody>
      </p:sp>
      <p:sp>
        <p:nvSpPr>
          <p:cNvPr id="279" name="TextBox 211"/>
          <p:cNvSpPr/>
          <p:nvPr/>
        </p:nvSpPr>
        <p:spPr>
          <a:xfrm>
            <a:off x="594360" y="5212080"/>
            <a:ext cx="10971360" cy="3945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000" spc="-1" strike="noStrike">
                <a:solidFill>
                  <a:srgbClr val="031424"/>
                </a:solidFill>
                <a:latin typeface="Roboto"/>
              </a:rPr>
              <a:t>Actions illustrate the distinction: less CPU time, similar completion throughput.</a:t>
            </a:r>
            <a:endParaRPr b="0" lang="en-US" sz="2000" spc="-1" strike="noStrike">
              <a:solidFill>
                <a:srgbClr val="000000"/>
              </a:solidFill>
              <a:latin typeface="Arial"/>
            </a:endParaRPr>
          </a:p>
        </p:txBody>
      </p:sp>
      <p:sp>
        <p:nvSpPr>
          <p:cNvPr id="280" name="TextBox 212"/>
          <p:cNvSpPr/>
          <p:nvPr/>
        </p:nvSpPr>
        <p:spPr>
          <a:xfrm>
            <a:off x="594360" y="5760720"/>
            <a:ext cx="10971360" cy="3333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1600" spc="-1" strike="noStrike">
                <a:solidFill>
                  <a:srgbClr val="031424"/>
                </a:solidFill>
                <a:latin typeface="Roboto"/>
              </a:rPr>
              <a:t>Recorded direct C++ paths vs stock rclpy · local x86-64 · Jazzy / CycloneDDS</a:t>
            </a:r>
            <a:endParaRPr b="0" lang="en-US" sz="1600" spc="-1" strike="noStrike">
              <a:solidFill>
                <a:srgbClr val="000000"/>
              </a:solidFill>
              <a:latin typeface="Arial"/>
            </a:endParaRPr>
          </a:p>
        </p:txBody>
      </p:sp>
      <p:sp>
        <p:nvSpPr>
          <p:cNvPr id="281" name="TextBox 213"/>
          <p:cNvSpPr/>
          <p:nvPr/>
        </p:nvSpPr>
        <p:spPr>
          <a:xfrm>
            <a:off x="594360" y="6245280"/>
            <a:ext cx="10971360" cy="3171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2" name="Picture 5" descr=""/>
          <p:cNvPicPr/>
          <p:nvPr/>
        </p:nvPicPr>
        <p:blipFill>
          <a:blip r:embed="rId1"/>
          <a:stretch/>
        </p:blipFill>
        <p:spPr>
          <a:xfrm>
            <a:off x="10623600" y="345600"/>
            <a:ext cx="1058400" cy="1058400"/>
          </a:xfrm>
          <a:prstGeom prst="rect">
            <a:avLst/>
          </a:prstGeom>
          <a:ln w="0">
            <a:noFill/>
          </a:ln>
        </p:spPr>
      </p:pic>
      <p:cxnSp>
        <p:nvCxnSpPr>
          <p:cNvPr id="283" name="Straight Connector 7"/>
          <p:cNvCxnSpPr/>
          <p:nvPr/>
        </p:nvCxnSpPr>
        <p:spPr>
          <a:xfrm>
            <a:off x="0" y="1134720"/>
            <a:ext cx="4366080" cy="2520"/>
          </a:xfrm>
          <a:prstGeom prst="straightConnector1">
            <a:avLst/>
          </a:prstGeom>
          <a:ln w="38100">
            <a:solidFill>
              <a:srgbClr val="fed021"/>
            </a:solidFill>
            <a:round/>
          </a:ln>
        </p:spPr>
      </p:cxnSp>
      <p:sp>
        <p:nvSpPr>
          <p:cNvPr id="284" name="TextBox 273"/>
          <p:cNvSpPr/>
          <p:nvPr/>
        </p:nvSpPr>
        <p:spPr>
          <a:xfrm>
            <a:off x="502920" y="320040"/>
            <a:ext cx="10148760" cy="5166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800" spc="-1" strike="noStrike">
                <a:solidFill>
                  <a:srgbClr val="031424"/>
                </a:solidFill>
                <a:latin typeface="Roboto"/>
              </a:rPr>
              <a:t>Designed to be usable by coding agents</a:t>
            </a:r>
            <a:endParaRPr b="0" lang="en-US" sz="2800" spc="-1" strike="noStrike">
              <a:solidFill>
                <a:srgbClr val="000000"/>
              </a:solidFill>
              <a:latin typeface="Arial"/>
            </a:endParaRPr>
          </a:p>
        </p:txBody>
      </p:sp>
      <p:sp>
        <p:nvSpPr>
          <p:cNvPr id="285" name="TextBox 274"/>
          <p:cNvSpPr/>
          <p:nvPr/>
        </p:nvSpPr>
        <p:spPr>
          <a:xfrm>
            <a:off x="594360" y="1280160"/>
            <a:ext cx="10971720" cy="43992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300" spc="-1" strike="noStrike">
                <a:solidFill>
                  <a:srgbClr val="031424"/>
                </a:solidFill>
                <a:latin typeface="Roboto"/>
              </a:rPr>
              <a:t>Give the agent a small API, useful context and a way to check its work.</a:t>
            </a:r>
            <a:endParaRPr b="0" lang="en-US" sz="2300" spc="-1" strike="noStrike">
              <a:solidFill>
                <a:srgbClr val="000000"/>
              </a:solidFill>
              <a:latin typeface="Arial"/>
            </a:endParaRPr>
          </a:p>
        </p:txBody>
      </p:sp>
      <p:sp>
        <p:nvSpPr>
          <p:cNvPr id="286" name="TextBox 275"/>
          <p:cNvSpPr/>
          <p:nvPr/>
        </p:nvSpPr>
        <p:spPr>
          <a:xfrm>
            <a:off x="594360" y="2148840"/>
            <a:ext cx="3656520" cy="75996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Less integration glue to generate</a:t>
            </a:r>
            <a:endParaRPr b="0" lang="en-US" sz="2200" spc="-1" strike="noStrike">
              <a:solidFill>
                <a:srgbClr val="000000"/>
              </a:solidFill>
              <a:latin typeface="Arial"/>
            </a:endParaRPr>
          </a:p>
        </p:txBody>
      </p:sp>
      <p:sp>
        <p:nvSpPr>
          <p:cNvPr id="287" name="TextBox 276"/>
          <p:cNvSpPr/>
          <p:nvPr/>
        </p:nvSpPr>
        <p:spPr>
          <a:xfrm>
            <a:off x="4480560" y="2148840"/>
            <a:ext cx="7085520" cy="6994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Reuse lifetime, callback and array helpers instead of generating that glue again.</a:t>
            </a:r>
            <a:endParaRPr b="0" lang="en-US" sz="2000" spc="-1" strike="noStrike">
              <a:solidFill>
                <a:srgbClr val="000000"/>
              </a:solidFill>
              <a:latin typeface="Arial"/>
            </a:endParaRPr>
          </a:p>
        </p:txBody>
      </p:sp>
      <p:sp>
        <p:nvSpPr>
          <p:cNvPr id="288" name="TextBox 277"/>
          <p:cNvSpPr/>
          <p:nvPr/>
        </p:nvSpPr>
        <p:spPr>
          <a:xfrm>
            <a:off x="594360" y="2935080"/>
            <a:ext cx="3656520" cy="4248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The right context to read</a:t>
            </a:r>
            <a:endParaRPr b="0" lang="en-US" sz="2200" spc="-1" strike="noStrike">
              <a:solidFill>
                <a:srgbClr val="000000"/>
              </a:solidFill>
              <a:latin typeface="Arial"/>
            </a:endParaRPr>
          </a:p>
        </p:txBody>
      </p:sp>
      <p:sp>
        <p:nvSpPr>
          <p:cNvPr id="289" name="TextBox 278"/>
          <p:cNvSpPr/>
          <p:nvPr/>
        </p:nvSpPr>
        <p:spPr>
          <a:xfrm>
            <a:off x="4480560" y="2935080"/>
            <a:ext cx="7085520" cy="6994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Task guides and kit API references explain supported calls, setup and ownership.</a:t>
            </a:r>
            <a:endParaRPr b="0" lang="en-US" sz="2000" spc="-1" strike="noStrike">
              <a:solidFill>
                <a:srgbClr val="000000"/>
              </a:solidFill>
              <a:latin typeface="Arial"/>
            </a:endParaRPr>
          </a:p>
        </p:txBody>
      </p:sp>
      <p:sp>
        <p:nvSpPr>
          <p:cNvPr id="290" name="TextBox 279"/>
          <p:cNvSpPr/>
          <p:nvPr/>
        </p:nvSpPr>
        <p:spPr>
          <a:xfrm>
            <a:off x="594360" y="3721680"/>
            <a:ext cx="3656520" cy="4248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Concrete examples to adapt</a:t>
            </a:r>
            <a:endParaRPr b="0" lang="en-US" sz="2200" spc="-1" strike="noStrike">
              <a:solidFill>
                <a:srgbClr val="000000"/>
              </a:solidFill>
              <a:latin typeface="Arial"/>
            </a:endParaRPr>
          </a:p>
        </p:txBody>
      </p:sp>
      <p:sp>
        <p:nvSpPr>
          <p:cNvPr id="291" name="TextBox 280"/>
          <p:cNvSpPr/>
          <p:nvPr/>
        </p:nvSpPr>
        <p:spPr>
          <a:xfrm>
            <a:off x="4480560" y="3721680"/>
            <a:ext cx="7085520" cy="6994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Runnable examples show the input, operation and expected result.</a:t>
            </a:r>
            <a:endParaRPr b="0" lang="en-US" sz="2000" spc="-1" strike="noStrike">
              <a:solidFill>
                <a:srgbClr val="000000"/>
              </a:solidFill>
              <a:latin typeface="Arial"/>
            </a:endParaRPr>
          </a:p>
        </p:txBody>
      </p:sp>
      <p:sp>
        <p:nvSpPr>
          <p:cNvPr id="292" name="TextBox 281"/>
          <p:cNvSpPr/>
          <p:nvPr/>
        </p:nvSpPr>
        <p:spPr>
          <a:xfrm>
            <a:off x="594360" y="4507920"/>
            <a:ext cx="3656520" cy="42480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200" spc="-1" strike="noStrike">
                <a:solidFill>
                  <a:srgbClr val="031424"/>
                </a:solidFill>
                <a:latin typeface="Roboto"/>
              </a:rPr>
              <a:t>A short feedback loop</a:t>
            </a:r>
            <a:endParaRPr b="0" lang="en-US" sz="2200" spc="-1" strike="noStrike">
              <a:solidFill>
                <a:srgbClr val="000000"/>
              </a:solidFill>
              <a:latin typeface="Arial"/>
            </a:endParaRPr>
          </a:p>
        </p:txBody>
      </p:sp>
      <p:sp>
        <p:nvSpPr>
          <p:cNvPr id="293" name="TextBox 282"/>
          <p:cNvSpPr/>
          <p:nvPr/>
        </p:nvSpPr>
        <p:spPr>
          <a:xfrm>
            <a:off x="4480560" y="4507920"/>
            <a:ext cx="7085520" cy="6994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0" lang="en-US" sz="2000" spc="-1" strike="noStrike">
                <a:solidFill>
                  <a:srgbClr val="031424"/>
                </a:solidFill>
                <a:latin typeface="Roboto"/>
              </a:rPr>
              <a:t>Run on real data, inspect outputs, compare results and measure performance.</a:t>
            </a:r>
            <a:endParaRPr b="0" lang="en-US" sz="2000" spc="-1" strike="noStrike">
              <a:solidFill>
                <a:srgbClr val="000000"/>
              </a:solidFill>
              <a:latin typeface="Arial"/>
            </a:endParaRPr>
          </a:p>
        </p:txBody>
      </p:sp>
      <p:sp>
        <p:nvSpPr>
          <p:cNvPr id="294" name="TextBox 283"/>
          <p:cNvSpPr/>
          <p:nvPr/>
        </p:nvSpPr>
        <p:spPr>
          <a:xfrm>
            <a:off x="594360" y="5715000"/>
            <a:ext cx="10971720" cy="409680"/>
          </a:xfrm>
          <a:prstGeom prst="rect">
            <a:avLst/>
          </a:prstGeom>
          <a:noFill/>
          <a:ln w="0">
            <a:noFill/>
          </a:ln>
        </p:spPr>
        <p:style>
          <a:lnRef idx="0"/>
          <a:fillRef idx="0"/>
          <a:effectRef idx="0"/>
          <a:fontRef idx="minor"/>
        </p:style>
        <p:txBody>
          <a:bodyPr lIns="0" rIns="0" tIns="45000" bIns="45000" anchor="t">
            <a:spAutoFit/>
          </a:bodyPr>
          <a:p>
            <a:pPr>
              <a:lnSpc>
                <a:spcPct val="100000"/>
              </a:lnSpc>
              <a:spcAft>
                <a:spcPts val="799"/>
              </a:spcAft>
            </a:pPr>
            <a:r>
              <a:rPr b="1" lang="en-US" sz="2100" spc="-1" strike="noStrike">
                <a:solidFill>
                  <a:srgbClr val="031424"/>
                </a:solidFill>
                <a:latin typeface="Roboto"/>
              </a:rPr>
              <a:t>You describe the task. The agent reads the kit, writes a small experiment and verifies it.</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5" name="Picture 5" descr=""/>
          <p:cNvPicPr/>
          <p:nvPr/>
        </p:nvPicPr>
        <p:blipFill>
          <a:blip r:embed="rId1"/>
          <a:stretch/>
        </p:blipFill>
        <p:spPr>
          <a:xfrm>
            <a:off x="10623600" y="345600"/>
            <a:ext cx="1058400" cy="1058400"/>
          </a:xfrm>
          <a:prstGeom prst="rect">
            <a:avLst/>
          </a:prstGeom>
          <a:ln w="0">
            <a:noFill/>
          </a:ln>
        </p:spPr>
      </p:pic>
      <p:cxnSp>
        <p:nvCxnSpPr>
          <p:cNvPr id="296" name="Straight Connector 7"/>
          <p:cNvCxnSpPr/>
          <p:nvPr/>
        </p:nvCxnSpPr>
        <p:spPr>
          <a:xfrm>
            <a:off x="0" y="1134720"/>
            <a:ext cx="4366080" cy="2520"/>
          </a:xfrm>
          <a:prstGeom prst="straightConnector1">
            <a:avLst/>
          </a:prstGeom>
          <a:ln w="38100">
            <a:solidFill>
              <a:srgbClr val="fed021"/>
            </a:solidFill>
            <a:round/>
          </a:ln>
        </p:spPr>
      </p:cxnSp>
      <p:sp>
        <p:nvSpPr>
          <p:cNvPr id="297"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TIAGo Pro: software running in the demos</a:t>
            </a:r>
            <a:endParaRPr b="0" lang="en-US" sz="2800" spc="-1" strike="noStrike">
              <a:solidFill>
                <a:srgbClr val="000000"/>
              </a:solidFill>
              <a:latin typeface="Arial"/>
            </a:endParaRPr>
          </a:p>
        </p:txBody>
      </p:sp>
      <p:cxnSp>
        <p:nvCxnSpPr>
          <p:cNvPr id="298" name="Connector 207"/>
          <p:cNvCxnSpPr/>
          <p:nvPr/>
        </p:nvCxnSpPr>
        <p:spPr>
          <a:xfrm>
            <a:off x="1965960" y="2468880"/>
            <a:ext cx="595080" cy="720"/>
          </a:xfrm>
          <a:prstGeom prst="straightConnector1">
            <a:avLst/>
          </a:prstGeom>
          <a:ln w="22860">
            <a:solidFill>
              <a:srgbClr val="56718a"/>
            </a:solidFill>
            <a:round/>
            <a:tailEnd len="sm" type="triangle" w="sm"/>
          </a:ln>
        </p:spPr>
      </p:cxnSp>
      <p:cxnSp>
        <p:nvCxnSpPr>
          <p:cNvPr id="299" name="Connector 208"/>
          <p:cNvCxnSpPr/>
          <p:nvPr/>
        </p:nvCxnSpPr>
        <p:spPr>
          <a:xfrm>
            <a:off x="5486400" y="2560320"/>
            <a:ext cx="595080" cy="720"/>
          </a:xfrm>
          <a:prstGeom prst="straightConnector1">
            <a:avLst/>
          </a:prstGeom>
          <a:ln w="22860">
            <a:solidFill>
              <a:srgbClr val="56718a"/>
            </a:solidFill>
            <a:round/>
            <a:tailEnd len="sm" type="triangle" w="sm"/>
          </a:ln>
        </p:spPr>
      </p:cxnSp>
      <p:cxnSp>
        <p:nvCxnSpPr>
          <p:cNvPr id="300" name="Connector 209"/>
          <p:cNvCxnSpPr/>
          <p:nvPr/>
        </p:nvCxnSpPr>
        <p:spPr>
          <a:xfrm>
            <a:off x="7635240" y="2560320"/>
            <a:ext cx="595080" cy="720"/>
          </a:xfrm>
          <a:prstGeom prst="straightConnector1">
            <a:avLst/>
          </a:prstGeom>
          <a:ln w="22860">
            <a:solidFill>
              <a:srgbClr val="56718a"/>
            </a:solidFill>
            <a:round/>
            <a:tailEnd len="sm" type="triangle" w="sm"/>
          </a:ln>
        </p:spPr>
      </p:cxnSp>
      <p:cxnSp>
        <p:nvCxnSpPr>
          <p:cNvPr id="301" name="Connector 210"/>
          <p:cNvCxnSpPr/>
          <p:nvPr/>
        </p:nvCxnSpPr>
        <p:spPr>
          <a:xfrm>
            <a:off x="1965960" y="4389120"/>
            <a:ext cx="595080" cy="720"/>
          </a:xfrm>
          <a:prstGeom prst="straightConnector1">
            <a:avLst/>
          </a:prstGeom>
          <a:ln w="22860">
            <a:solidFill>
              <a:srgbClr val="56718a"/>
            </a:solidFill>
            <a:round/>
            <a:tailEnd len="sm" type="triangle" w="sm"/>
          </a:ln>
        </p:spPr>
      </p:cxnSp>
      <p:cxnSp>
        <p:nvCxnSpPr>
          <p:cNvPr id="302" name="Connector 211"/>
          <p:cNvCxnSpPr/>
          <p:nvPr/>
        </p:nvCxnSpPr>
        <p:spPr>
          <a:xfrm>
            <a:off x="5212080" y="4389120"/>
            <a:ext cx="3155400" cy="720"/>
          </a:xfrm>
          <a:prstGeom prst="straightConnector1">
            <a:avLst/>
          </a:prstGeom>
          <a:ln w="22860">
            <a:solidFill>
              <a:srgbClr val="56718a"/>
            </a:solidFill>
            <a:round/>
            <a:tailEnd len="sm" type="triangle" w="sm"/>
          </a:ln>
        </p:spPr>
      </p:cxnSp>
      <p:cxnSp>
        <p:nvCxnSpPr>
          <p:cNvPr id="303" name="Connector 212"/>
          <p:cNvCxnSpPr/>
          <p:nvPr/>
        </p:nvCxnSpPr>
        <p:spPr>
          <a:xfrm flipH="1">
            <a:off x="6858000" y="5394960"/>
            <a:ext cx="1372320" cy="720"/>
          </a:xfrm>
          <a:prstGeom prst="straightConnector1">
            <a:avLst/>
          </a:prstGeom>
          <a:ln w="22860">
            <a:solidFill>
              <a:srgbClr val="56718a"/>
            </a:solidFill>
            <a:round/>
            <a:tailEnd len="sm" type="triangle" w="sm"/>
          </a:ln>
        </p:spPr>
      </p:cxnSp>
      <p:cxnSp>
        <p:nvCxnSpPr>
          <p:cNvPr id="304" name="Connector 213"/>
          <p:cNvCxnSpPr/>
          <p:nvPr/>
        </p:nvCxnSpPr>
        <p:spPr>
          <a:xfrm flipV="1">
            <a:off x="6858000" y="3794760"/>
            <a:ext cx="720" cy="1600920"/>
          </a:xfrm>
          <a:prstGeom prst="straightConnector1">
            <a:avLst/>
          </a:prstGeom>
          <a:ln w="22860">
            <a:solidFill>
              <a:srgbClr val="56718a"/>
            </a:solidFill>
            <a:round/>
            <a:tailEnd len="sm" type="triangle" w="sm"/>
          </a:ln>
        </p:spPr>
      </p:cxnSp>
      <p:cxnSp>
        <p:nvCxnSpPr>
          <p:cNvPr id="305" name="Connector 214"/>
          <p:cNvCxnSpPr/>
          <p:nvPr/>
        </p:nvCxnSpPr>
        <p:spPr>
          <a:xfrm flipH="1">
            <a:off x="5486400" y="3383280"/>
            <a:ext cx="595080" cy="720"/>
          </a:xfrm>
          <a:prstGeom prst="straightConnector1">
            <a:avLst/>
          </a:prstGeom>
          <a:ln w="22860">
            <a:solidFill>
              <a:srgbClr val="56718a"/>
            </a:solidFill>
            <a:round/>
            <a:tailEnd len="sm" type="triangle" w="sm"/>
          </a:ln>
        </p:spPr>
      </p:cxnSp>
      <p:cxnSp>
        <p:nvCxnSpPr>
          <p:cNvPr id="306" name="Connector 215"/>
          <p:cNvCxnSpPr/>
          <p:nvPr/>
        </p:nvCxnSpPr>
        <p:spPr>
          <a:xfrm>
            <a:off x="9966960" y="5943600"/>
            <a:ext cx="720" cy="366480"/>
          </a:xfrm>
          <a:prstGeom prst="straightConnector1">
            <a:avLst/>
          </a:prstGeom>
          <a:ln w="22860">
            <a:solidFill>
              <a:srgbClr val="56718a"/>
            </a:solidFill>
            <a:round/>
            <a:tailEnd len="sm" type="triangle" w="sm"/>
          </a:ln>
        </p:spPr>
      </p:cxnSp>
      <p:cxnSp>
        <p:nvCxnSpPr>
          <p:cNvPr id="307" name="Connector 216"/>
          <p:cNvCxnSpPr/>
          <p:nvPr/>
        </p:nvCxnSpPr>
        <p:spPr>
          <a:xfrm flipH="1">
            <a:off x="1965960" y="6309360"/>
            <a:ext cx="5898600" cy="720"/>
          </a:xfrm>
          <a:prstGeom prst="straightConnector1">
            <a:avLst/>
          </a:prstGeom>
          <a:ln w="22860">
            <a:solidFill>
              <a:srgbClr val="56718a"/>
            </a:solidFill>
            <a:round/>
            <a:tailEnd len="sm" type="triangle" w="sm"/>
          </a:ln>
        </p:spPr>
      </p:cxnSp>
      <p:sp>
        <p:nvSpPr>
          <p:cNvPr id="308" name="Rounded Rectangle 217"/>
          <p:cNvSpPr/>
          <p:nvPr/>
        </p:nvSpPr>
        <p:spPr>
          <a:xfrm>
            <a:off x="411480" y="1828800"/>
            <a:ext cx="1553760" cy="402264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09" name="TextBox 218"/>
          <p:cNvSpPr/>
          <p:nvPr/>
        </p:nvSpPr>
        <p:spPr>
          <a:xfrm>
            <a:off x="493920" y="1901880"/>
            <a:ext cx="1389240" cy="277416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800" spc="-1" strike="noStrike">
                <a:solidFill>
                  <a:srgbClr val="252b35"/>
                </a:solidFill>
                <a:latin typeface="Roboto"/>
              </a:rPr>
              <a:t>RViz</a:t>
            </a:r>
            <a:endParaRPr b="0" lang="en-US" sz="1800" spc="-1" strike="noStrike">
              <a:solidFill>
                <a:srgbClr val="000000"/>
              </a:solidFill>
              <a:latin typeface="Arial"/>
            </a:endParaRPr>
          </a:p>
          <a:p>
            <a:pPr>
              <a:lnSpc>
                <a:spcPct val="100000"/>
              </a:lnSpc>
              <a:spcAft>
                <a:spcPts val="300"/>
              </a:spcAft>
            </a:pPr>
            <a:endParaRPr b="0" lang="en-US" sz="1800" spc="-1" strike="noStrike">
              <a:solidFill>
                <a:srgbClr val="000000"/>
              </a:solidFill>
              <a:latin typeface="Arial"/>
            </a:endParaRPr>
          </a:p>
          <a:p>
            <a:pPr>
              <a:lnSpc>
                <a:spcPct val="100000"/>
              </a:lnSpc>
              <a:spcAft>
                <a:spcPts val="300"/>
              </a:spcAft>
            </a:pPr>
            <a:r>
              <a:rPr b="0" lang="en-US" sz="1800" spc="-1" strike="noStrike">
                <a:solidFill>
                  <a:srgbClr val="252b35"/>
                </a:solidFill>
                <a:latin typeface="Roboto"/>
              </a:rPr>
              <a:t>Nav2 Goal</a:t>
            </a:r>
            <a:endParaRPr b="0" lang="en-US" sz="1800" spc="-1" strike="noStrike">
              <a:solidFill>
                <a:srgbClr val="000000"/>
              </a:solidFill>
              <a:latin typeface="Arial"/>
            </a:endParaRPr>
          </a:p>
          <a:p>
            <a:pPr>
              <a:lnSpc>
                <a:spcPct val="100000"/>
              </a:lnSpc>
              <a:spcAft>
                <a:spcPts val="300"/>
              </a:spcAft>
            </a:pPr>
            <a:endParaRPr b="0" lang="en-US" sz="1800" spc="-1" strike="noStrike">
              <a:solidFill>
                <a:srgbClr val="000000"/>
              </a:solidFill>
              <a:latin typeface="Arial"/>
            </a:endParaRPr>
          </a:p>
          <a:p>
            <a:pPr>
              <a:lnSpc>
                <a:spcPct val="100000"/>
              </a:lnSpc>
              <a:spcAft>
                <a:spcPts val="300"/>
              </a:spcAft>
            </a:pPr>
            <a:endParaRPr b="0" lang="en-US" sz="1800" spc="-1" strike="noStrike">
              <a:solidFill>
                <a:srgbClr val="000000"/>
              </a:solidFill>
              <a:latin typeface="Arial"/>
            </a:endParaRPr>
          </a:p>
          <a:p>
            <a:pPr>
              <a:lnSpc>
                <a:spcPct val="100000"/>
              </a:lnSpc>
              <a:spcAft>
                <a:spcPts val="300"/>
              </a:spcAft>
            </a:pPr>
            <a:r>
              <a:rPr b="0" lang="en-US" sz="1800" spc="-1" strike="noStrike">
                <a:solidFill>
                  <a:srgbClr val="252b35"/>
                </a:solidFill>
                <a:latin typeface="Roboto"/>
              </a:rPr>
              <a:t>Interact</a:t>
            </a:r>
            <a:endParaRPr b="0" lang="en-US" sz="1800" spc="-1" strike="noStrike">
              <a:solidFill>
                <a:srgbClr val="000000"/>
              </a:solidFill>
              <a:latin typeface="Arial"/>
            </a:endParaRPr>
          </a:p>
          <a:p>
            <a:pPr>
              <a:lnSpc>
                <a:spcPct val="100000"/>
              </a:lnSpc>
              <a:spcAft>
                <a:spcPts val="300"/>
              </a:spcAft>
            </a:pPr>
            <a:r>
              <a:rPr b="0" lang="en-US" sz="1800" spc="-1" strike="noStrike">
                <a:solidFill>
                  <a:srgbClr val="252b35"/>
                </a:solidFill>
                <a:latin typeface="Roboto"/>
              </a:rPr>
              <a:t>force handle</a:t>
            </a:r>
            <a:endParaRPr b="0" lang="en-US" sz="1800" spc="-1" strike="noStrike">
              <a:solidFill>
                <a:srgbClr val="000000"/>
              </a:solidFill>
              <a:latin typeface="Arial"/>
            </a:endParaRPr>
          </a:p>
          <a:p>
            <a:pPr>
              <a:lnSpc>
                <a:spcPct val="100000"/>
              </a:lnSpc>
              <a:spcAft>
                <a:spcPts val="300"/>
              </a:spcAft>
            </a:pPr>
            <a:endParaRPr b="0" lang="en-US" sz="1800" spc="-1" strike="noStrike">
              <a:solidFill>
                <a:srgbClr val="000000"/>
              </a:solidFill>
              <a:latin typeface="Arial"/>
            </a:endParaRPr>
          </a:p>
          <a:p>
            <a:pPr>
              <a:lnSpc>
                <a:spcPct val="100000"/>
              </a:lnSpc>
              <a:spcAft>
                <a:spcPts val="300"/>
              </a:spcAft>
            </a:pPr>
            <a:r>
              <a:rPr b="0" lang="en-US" sz="1800" spc="-1" strike="noStrike">
                <a:solidFill>
                  <a:srgbClr val="252b35"/>
                </a:solidFill>
                <a:latin typeface="Roboto"/>
              </a:rPr>
              <a:t>Robot / TF</a:t>
            </a:r>
            <a:endParaRPr b="0" lang="en-US" sz="1800" spc="-1" strike="noStrike">
              <a:solidFill>
                <a:srgbClr val="000000"/>
              </a:solidFill>
              <a:latin typeface="Arial"/>
            </a:endParaRPr>
          </a:p>
        </p:txBody>
      </p:sp>
      <p:sp>
        <p:nvSpPr>
          <p:cNvPr id="310" name="Rounded Rectangle 219"/>
          <p:cNvSpPr/>
          <p:nvPr/>
        </p:nvSpPr>
        <p:spPr>
          <a:xfrm>
            <a:off x="2560320" y="1828800"/>
            <a:ext cx="2925360" cy="196524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11" name="TextBox 220"/>
          <p:cNvSpPr/>
          <p:nvPr/>
        </p:nvSpPr>
        <p:spPr>
          <a:xfrm>
            <a:off x="2642760" y="1901880"/>
            <a:ext cx="2760840" cy="161496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600" spc="-1" strike="noStrike">
                <a:solidFill>
                  <a:srgbClr val="252b35"/>
                </a:solidFill>
                <a:latin typeface="Roboto"/>
              </a:rPr>
              <a:t>Nav2 processes</a:t>
            </a:r>
            <a:endParaRPr b="0" lang="en-US" sz="1600" spc="-1" strike="noStrike">
              <a:solidFill>
                <a:srgbClr val="000000"/>
              </a:solidFill>
              <a:latin typeface="Arial"/>
            </a:endParaRPr>
          </a:p>
          <a:p>
            <a:pPr>
              <a:lnSpc>
                <a:spcPct val="100000"/>
              </a:lnSpc>
              <a:spcAft>
                <a:spcPts val="300"/>
              </a:spcAft>
            </a:pPr>
            <a:r>
              <a:rPr b="0" lang="en-US" sz="1600" spc="-1" strike="noStrike">
                <a:solidFill>
                  <a:srgbClr val="252b35"/>
                </a:solidFill>
                <a:latin typeface="Roboto"/>
              </a:rPr>
              <a:t>bt_navigator</a:t>
            </a:r>
            <a:endParaRPr b="0" lang="en-US" sz="1600" spc="-1" strike="noStrike">
              <a:solidFill>
                <a:srgbClr val="000000"/>
              </a:solidFill>
              <a:latin typeface="Arial"/>
            </a:endParaRPr>
          </a:p>
          <a:p>
            <a:pPr>
              <a:lnSpc>
                <a:spcPct val="100000"/>
              </a:lnSpc>
              <a:spcAft>
                <a:spcPts val="300"/>
              </a:spcAft>
            </a:pPr>
            <a:r>
              <a:rPr b="0" lang="en-US" sz="1600" spc="-1" strike="noStrike">
                <a:solidFill>
                  <a:srgbClr val="252b35"/>
                </a:solidFill>
                <a:latin typeface="Roboto"/>
              </a:rPr>
              <a:t>planner / smoother / behaviors</a:t>
            </a:r>
            <a:endParaRPr b="0" lang="en-US" sz="1600" spc="-1" strike="noStrike">
              <a:solidFill>
                <a:srgbClr val="000000"/>
              </a:solidFill>
              <a:latin typeface="Arial"/>
            </a:endParaRPr>
          </a:p>
          <a:p>
            <a:pPr>
              <a:lnSpc>
                <a:spcPct val="100000"/>
              </a:lnSpc>
              <a:spcAft>
                <a:spcPts val="300"/>
              </a:spcAft>
            </a:pPr>
            <a:r>
              <a:rPr b="0" lang="en-US" sz="1600" spc="-1" strike="noStrike">
                <a:solidFill>
                  <a:srgbClr val="252b35"/>
                </a:solidFill>
                <a:latin typeface="Roboto"/>
              </a:rPr>
              <a:t>controller_server → DWB</a:t>
            </a:r>
            <a:endParaRPr b="0" lang="en-US" sz="1600" spc="-1" strike="noStrike">
              <a:solidFill>
                <a:srgbClr val="000000"/>
              </a:solidFill>
              <a:latin typeface="Arial"/>
            </a:endParaRPr>
          </a:p>
          <a:p>
            <a:pPr>
              <a:lnSpc>
                <a:spcPct val="100000"/>
              </a:lnSpc>
              <a:spcAft>
                <a:spcPts val="300"/>
              </a:spcAft>
            </a:pPr>
            <a:r>
              <a:rPr b="0" lang="en-US" sz="1600" spc="-1" strike="noStrike">
                <a:solidFill>
                  <a:srgbClr val="252b35"/>
                </a:solidFill>
                <a:latin typeface="Roboto"/>
              </a:rPr>
              <a:t>map / costmaps / lifecycle</a:t>
            </a:r>
            <a:endParaRPr b="0" lang="en-US" sz="1600" spc="-1" strike="noStrike">
              <a:solidFill>
                <a:srgbClr val="000000"/>
              </a:solidFill>
              <a:latin typeface="Arial"/>
            </a:endParaRPr>
          </a:p>
        </p:txBody>
      </p:sp>
      <p:sp>
        <p:nvSpPr>
          <p:cNvPr id="312" name="Rounded Rectangle 221"/>
          <p:cNvSpPr/>
          <p:nvPr/>
        </p:nvSpPr>
        <p:spPr>
          <a:xfrm>
            <a:off x="2560320" y="3977640"/>
            <a:ext cx="2651040" cy="91368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13" name="TextBox 222"/>
          <p:cNvSpPr/>
          <p:nvPr/>
        </p:nvSpPr>
        <p:spPr>
          <a:xfrm>
            <a:off x="2642760" y="4050720"/>
            <a:ext cx="2486520" cy="52560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600" spc="-1" strike="noStrike">
                <a:solidFill>
                  <a:srgbClr val="252b35"/>
                </a:solidFill>
                <a:latin typeface="Roboto"/>
              </a:rPr>
              <a:t>Force UI process</a:t>
            </a:r>
            <a:endParaRPr b="0" lang="en-US" sz="1600" spc="-1" strike="noStrike">
              <a:solidFill>
                <a:srgbClr val="000000"/>
              </a:solidFill>
              <a:latin typeface="Arial"/>
            </a:endParaRPr>
          </a:p>
          <a:p>
            <a:pPr>
              <a:lnSpc>
                <a:spcPct val="100000"/>
              </a:lnSpc>
              <a:spcAft>
                <a:spcPts val="300"/>
              </a:spcAft>
            </a:pPr>
            <a:r>
              <a:rPr b="0" lang="en-US" sz="1600" spc="-1" strike="noStrike">
                <a:solidFill>
                  <a:srgbClr val="252b35"/>
                </a:solidFill>
                <a:latin typeface="Roboto"/>
              </a:rPr>
              <a:t>RViz feedback → force [N]</a:t>
            </a:r>
            <a:endParaRPr b="0" lang="en-US" sz="1600" spc="-1" strike="noStrike">
              <a:solidFill>
                <a:srgbClr val="000000"/>
              </a:solidFill>
              <a:latin typeface="Arial"/>
            </a:endParaRPr>
          </a:p>
        </p:txBody>
      </p:sp>
      <p:sp>
        <p:nvSpPr>
          <p:cNvPr id="314" name="Rounded Rectangle 223"/>
          <p:cNvSpPr/>
          <p:nvPr/>
        </p:nvSpPr>
        <p:spPr>
          <a:xfrm>
            <a:off x="6080760" y="1920240"/>
            <a:ext cx="1553760" cy="187380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15" name="TextBox 224"/>
          <p:cNvSpPr/>
          <p:nvPr/>
        </p:nvSpPr>
        <p:spPr>
          <a:xfrm>
            <a:off x="6163200" y="1993320"/>
            <a:ext cx="1389240" cy="14716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400" spc="-1" strike="noStrike">
                <a:solidFill>
                  <a:srgbClr val="252b35"/>
                </a:solidFill>
                <a:latin typeface="Roboto"/>
              </a:rPr>
              <a:t>ros_gz_bridge</a:t>
            </a:r>
            <a:endParaRPr b="0" lang="en-US" sz="1400" spc="-1" strike="noStrike">
              <a:solidFill>
                <a:srgbClr val="000000"/>
              </a:solidFill>
              <a:latin typeface="Arial"/>
            </a:endParaRPr>
          </a:p>
          <a:p>
            <a:pPr>
              <a:lnSpc>
                <a:spcPct val="100000"/>
              </a:lnSpc>
              <a:spcAft>
                <a:spcPts val="300"/>
              </a:spcAft>
            </a:pPr>
            <a:r>
              <a:rPr b="0" lang="en-US" sz="1400" spc="-1" strike="noStrike">
                <a:solidFill>
                  <a:srgbClr val="252b35"/>
                </a:solidFill>
                <a:latin typeface="Roboto"/>
              </a:rPr>
              <a:t>cmd_vel →</a:t>
            </a:r>
            <a:endParaRPr b="0" lang="en-US" sz="1400" spc="-1" strike="noStrike">
              <a:solidFill>
                <a:srgbClr val="000000"/>
              </a:solidFill>
              <a:latin typeface="Arial"/>
            </a:endParaRPr>
          </a:p>
          <a:p>
            <a:pPr>
              <a:lnSpc>
                <a:spcPct val="100000"/>
              </a:lnSpc>
              <a:spcAft>
                <a:spcPts val="300"/>
              </a:spcAft>
            </a:pPr>
            <a:r>
              <a:rPr b="0" lang="en-US" sz="1400" spc="-1" strike="noStrike">
                <a:solidFill>
                  <a:srgbClr val="252b35"/>
                </a:solidFill>
                <a:latin typeface="Roboto"/>
              </a:rPr>
              <a:t>← </a:t>
            </a:r>
            <a:r>
              <a:rPr b="0" lang="en-US" sz="1400" spc="-1" strike="noStrike">
                <a:solidFill>
                  <a:srgbClr val="252b35"/>
                </a:solidFill>
                <a:latin typeface="Roboto"/>
              </a:rPr>
              <a:t>odom / TF</a:t>
            </a:r>
            <a:endParaRPr b="0" lang="en-US" sz="1400" spc="-1" strike="noStrike">
              <a:solidFill>
                <a:srgbClr val="000000"/>
              </a:solidFill>
              <a:latin typeface="Arial"/>
            </a:endParaRPr>
          </a:p>
          <a:p>
            <a:pPr>
              <a:lnSpc>
                <a:spcPct val="100000"/>
              </a:lnSpc>
              <a:spcAft>
                <a:spcPts val="300"/>
              </a:spcAft>
            </a:pPr>
            <a:r>
              <a:rPr b="0" lang="en-US" sz="1400" spc="-1" strike="noStrike">
                <a:solidFill>
                  <a:srgbClr val="252b35"/>
                </a:solidFill>
                <a:latin typeface="Roboto"/>
              </a:rPr>
              <a:t>← </a:t>
            </a:r>
            <a:r>
              <a:rPr b="0" lang="en-US" sz="1400" spc="-1" strike="noStrike">
                <a:solidFill>
                  <a:srgbClr val="252b35"/>
                </a:solidFill>
                <a:latin typeface="Roboto"/>
              </a:rPr>
              <a:t>RGB-D</a:t>
            </a:r>
            <a:endParaRPr b="0" lang="en-US" sz="1400" spc="-1" strike="noStrike">
              <a:solidFill>
                <a:srgbClr val="000000"/>
              </a:solidFill>
              <a:latin typeface="Arial"/>
            </a:endParaRPr>
          </a:p>
          <a:p>
            <a:pPr>
              <a:lnSpc>
                <a:spcPct val="100000"/>
              </a:lnSpc>
              <a:spcAft>
                <a:spcPts val="300"/>
              </a:spcAft>
            </a:pPr>
            <a:r>
              <a:rPr b="0" lang="en-US" sz="1400" spc="-1" strike="noStrike">
                <a:solidFill>
                  <a:srgbClr val="252b35"/>
                </a:solidFill>
                <a:latin typeface="Roboto"/>
              </a:rPr>
              <a:t>← </a:t>
            </a:r>
            <a:r>
              <a:rPr b="0" lang="en-US" sz="1400" spc="-1" strike="noStrike">
                <a:solidFill>
                  <a:srgbClr val="252b35"/>
                </a:solidFill>
                <a:latin typeface="Roboto"/>
              </a:rPr>
              <a:t>laser scans</a:t>
            </a:r>
            <a:endParaRPr b="0" lang="en-US" sz="1400" spc="-1" strike="noStrike">
              <a:solidFill>
                <a:srgbClr val="000000"/>
              </a:solidFill>
              <a:latin typeface="Arial"/>
            </a:endParaRPr>
          </a:p>
          <a:p>
            <a:pPr>
              <a:lnSpc>
                <a:spcPct val="100000"/>
              </a:lnSpc>
              <a:spcAft>
                <a:spcPts val="300"/>
              </a:spcAft>
            </a:pPr>
            <a:r>
              <a:rPr b="0" lang="en-US" sz="1400" spc="-1" strike="noStrike">
                <a:solidFill>
                  <a:srgbClr val="252b35"/>
                </a:solidFill>
                <a:latin typeface="Roboto"/>
              </a:rPr>
              <a:t>← </a:t>
            </a:r>
            <a:r>
              <a:rPr b="0" lang="en-US" sz="1400" spc="-1" strike="noStrike">
                <a:solidFill>
                  <a:srgbClr val="252b35"/>
                </a:solidFill>
                <a:latin typeface="Roboto"/>
              </a:rPr>
              <a:t>clock</a:t>
            </a:r>
            <a:endParaRPr b="0" lang="en-US" sz="1400" spc="-1" strike="noStrike">
              <a:solidFill>
                <a:srgbClr val="000000"/>
              </a:solidFill>
              <a:latin typeface="Arial"/>
            </a:endParaRPr>
          </a:p>
        </p:txBody>
      </p:sp>
      <p:sp>
        <p:nvSpPr>
          <p:cNvPr id="316" name="Rounded Rectangle 225"/>
          <p:cNvSpPr/>
          <p:nvPr/>
        </p:nvSpPr>
        <p:spPr>
          <a:xfrm>
            <a:off x="8229600" y="1828800"/>
            <a:ext cx="3519720" cy="4114080"/>
          </a:xfrm>
          <a:prstGeom prst="roundRect">
            <a:avLst>
              <a:gd name="adj" fmla="val 16667"/>
            </a:avLst>
          </a:prstGeom>
          <a:solidFill>
            <a:srgbClr val="eaf0f5"/>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17" name="TextBox 226"/>
          <p:cNvSpPr/>
          <p:nvPr/>
        </p:nvSpPr>
        <p:spPr>
          <a:xfrm>
            <a:off x="8312040" y="1901880"/>
            <a:ext cx="3355200" cy="2743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800" spc="-1" strike="noStrike">
                <a:solidFill>
                  <a:srgbClr val="252b35"/>
                </a:solidFill>
                <a:latin typeface="Roboto"/>
              </a:rPr>
              <a:t>Gazebo server process</a:t>
            </a:r>
            <a:endParaRPr b="0" lang="en-US" sz="1800" spc="-1" strike="noStrike">
              <a:solidFill>
                <a:srgbClr val="000000"/>
              </a:solidFill>
              <a:latin typeface="Arial"/>
            </a:endParaRPr>
          </a:p>
        </p:txBody>
      </p:sp>
      <p:sp>
        <p:nvSpPr>
          <p:cNvPr id="318" name="Rounded Rectangle 227"/>
          <p:cNvSpPr/>
          <p:nvPr/>
        </p:nvSpPr>
        <p:spPr>
          <a:xfrm>
            <a:off x="8394120" y="2304360"/>
            <a:ext cx="3190680" cy="685080"/>
          </a:xfrm>
          <a:prstGeom prst="roundRect">
            <a:avLst>
              <a:gd name="adj" fmla="val 16667"/>
            </a:avLst>
          </a:prstGeom>
          <a:solidFill>
            <a:srgbClr val="ffffff"/>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19" name="TextBox 228"/>
          <p:cNvSpPr/>
          <p:nvPr/>
        </p:nvSpPr>
        <p:spPr>
          <a:xfrm>
            <a:off x="8476560" y="2377440"/>
            <a:ext cx="3025800" cy="25920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700" spc="-1" strike="noStrike">
                <a:solidFill>
                  <a:srgbClr val="252b35"/>
                </a:solidFill>
                <a:latin typeface="Roboto"/>
              </a:rPr>
              <a:t>VelocityControl → base</a:t>
            </a:r>
            <a:endParaRPr b="0" lang="en-US" sz="1700" spc="-1" strike="noStrike">
              <a:solidFill>
                <a:srgbClr val="000000"/>
              </a:solidFill>
              <a:latin typeface="Arial"/>
            </a:endParaRPr>
          </a:p>
        </p:txBody>
      </p:sp>
      <p:sp>
        <p:nvSpPr>
          <p:cNvPr id="320" name="Rounded Rectangle 229"/>
          <p:cNvSpPr/>
          <p:nvPr/>
        </p:nvSpPr>
        <p:spPr>
          <a:xfrm>
            <a:off x="8394120" y="3200400"/>
            <a:ext cx="3190680" cy="1690920"/>
          </a:xfrm>
          <a:prstGeom prst="roundRect">
            <a:avLst>
              <a:gd name="adj" fmla="val 16667"/>
            </a:avLst>
          </a:prstGeom>
          <a:solidFill>
            <a:srgbClr val="ffffff"/>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21" name="TextBox 230"/>
          <p:cNvSpPr/>
          <p:nvPr/>
        </p:nvSpPr>
        <p:spPr>
          <a:xfrm>
            <a:off x="8476560" y="3273480"/>
            <a:ext cx="3025800" cy="129564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500" spc="-1" strike="noStrike">
                <a:solidFill>
                  <a:srgbClr val="252b35"/>
                </a:solidFill>
                <a:latin typeface="Roboto"/>
              </a:rPr>
              <a:t>gz_ros2_control</a:t>
            </a:r>
            <a:endParaRPr b="0" lang="en-US" sz="1500" spc="-1" strike="noStrike">
              <a:solidFill>
                <a:srgbClr val="000000"/>
              </a:solidFill>
              <a:latin typeface="Arial"/>
            </a:endParaRPr>
          </a:p>
          <a:p>
            <a:pPr>
              <a:lnSpc>
                <a:spcPct val="100000"/>
              </a:lnSpc>
              <a:spcAft>
                <a:spcPts val="300"/>
              </a:spcAft>
            </a:pPr>
            <a:r>
              <a:rPr b="0" lang="en-US" sz="1500" spc="-1" strike="noStrike">
                <a:solidFill>
                  <a:srgbClr val="252b35"/>
                </a:solidFill>
                <a:latin typeface="Roboto"/>
              </a:rPr>
              <a:t>controller_manager</a:t>
            </a:r>
            <a:endParaRPr b="0" lang="en-US" sz="1500" spc="-1" strike="noStrike">
              <a:solidFill>
                <a:srgbClr val="000000"/>
              </a:solidFill>
              <a:latin typeface="Arial"/>
            </a:endParaRPr>
          </a:p>
          <a:p>
            <a:pPr>
              <a:lnSpc>
                <a:spcPct val="100000"/>
              </a:lnSpc>
              <a:spcAft>
                <a:spcPts val="300"/>
              </a:spcAft>
            </a:pPr>
            <a:r>
              <a:rPr b="0" lang="en-US" sz="1500" spc="-1" strike="noStrike">
                <a:solidFill>
                  <a:srgbClr val="252b35"/>
                </a:solidFill>
                <a:latin typeface="Roboto"/>
              </a:rPr>
              <a:t>Arm / head / torso / grippers</a:t>
            </a:r>
            <a:endParaRPr b="0" lang="en-US" sz="1500" spc="-1" strike="noStrike">
              <a:solidFill>
                <a:srgbClr val="000000"/>
              </a:solidFill>
              <a:latin typeface="Arial"/>
            </a:endParaRPr>
          </a:p>
          <a:p>
            <a:pPr>
              <a:lnSpc>
                <a:spcPct val="100000"/>
              </a:lnSpc>
              <a:spcAft>
                <a:spcPts val="300"/>
              </a:spcAft>
            </a:pPr>
            <a:r>
              <a:rPr b="0" lang="en-US" sz="1500" spc="-1" strike="noStrike">
                <a:solidFill>
                  <a:srgbClr val="252b35"/>
                </a:solidFill>
                <a:latin typeface="Roboto"/>
              </a:rPr>
              <a:t>Joint / wrist FT broadcasters</a:t>
            </a:r>
            <a:endParaRPr b="0" lang="en-US" sz="1500" spc="-1" strike="noStrike">
              <a:solidFill>
                <a:srgbClr val="000000"/>
              </a:solidFill>
              <a:latin typeface="Arial"/>
            </a:endParaRPr>
          </a:p>
          <a:p>
            <a:pPr>
              <a:lnSpc>
                <a:spcPct val="100000"/>
              </a:lnSpc>
              <a:spcAft>
                <a:spcPts val="300"/>
              </a:spcAft>
            </a:pPr>
            <a:r>
              <a:rPr b="0" lang="en-US" sz="1500" spc="-1" strike="noStrike">
                <a:solidFill>
                  <a:srgbClr val="252b35"/>
                </a:solidFill>
                <a:latin typeface="Roboto"/>
              </a:rPr>
              <a:t>Position commands → joints</a:t>
            </a:r>
            <a:endParaRPr b="0" lang="en-US" sz="1500" spc="-1" strike="noStrike">
              <a:solidFill>
                <a:srgbClr val="000000"/>
              </a:solidFill>
              <a:latin typeface="Arial"/>
            </a:endParaRPr>
          </a:p>
        </p:txBody>
      </p:sp>
      <p:sp>
        <p:nvSpPr>
          <p:cNvPr id="322" name="Rounded Rectangle 231"/>
          <p:cNvSpPr/>
          <p:nvPr/>
        </p:nvSpPr>
        <p:spPr>
          <a:xfrm>
            <a:off x="8394120" y="5074920"/>
            <a:ext cx="3190680" cy="621000"/>
          </a:xfrm>
          <a:prstGeom prst="roundRect">
            <a:avLst>
              <a:gd name="adj" fmla="val 16667"/>
            </a:avLst>
          </a:prstGeom>
          <a:solidFill>
            <a:srgbClr val="ffffff"/>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23" name="TextBox 232"/>
          <p:cNvSpPr/>
          <p:nvPr/>
        </p:nvSpPr>
        <p:spPr>
          <a:xfrm>
            <a:off x="8476560" y="5148000"/>
            <a:ext cx="3025800" cy="2437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600" spc="-1" strike="noStrike">
                <a:solidFill>
                  <a:srgbClr val="252b35"/>
                </a:solidFill>
                <a:latin typeface="Roboto"/>
              </a:rPr>
              <a:t>Physics + simulated sensors</a:t>
            </a:r>
            <a:endParaRPr b="0" lang="en-US" sz="1600" spc="-1" strike="noStrike">
              <a:solidFill>
                <a:srgbClr val="000000"/>
              </a:solidFill>
              <a:latin typeface="Arial"/>
            </a:endParaRPr>
          </a:p>
        </p:txBody>
      </p:sp>
      <p:sp>
        <p:nvSpPr>
          <p:cNvPr id="324" name="Rounded Rectangle 233"/>
          <p:cNvSpPr/>
          <p:nvPr/>
        </p:nvSpPr>
        <p:spPr>
          <a:xfrm>
            <a:off x="7863840" y="6080760"/>
            <a:ext cx="3885480" cy="50220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25" name="TextBox 234"/>
          <p:cNvSpPr/>
          <p:nvPr/>
        </p:nvSpPr>
        <p:spPr>
          <a:xfrm>
            <a:off x="7946280" y="6153840"/>
            <a:ext cx="3720960" cy="22860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500" spc="-1" strike="noStrike">
                <a:solidFill>
                  <a:srgbClr val="252b35"/>
                </a:solidFill>
                <a:latin typeface="Roboto"/>
              </a:rPr>
              <a:t>robot_state_publisher: joints → TF</a:t>
            </a:r>
            <a:endParaRPr b="0" lang="en-US" sz="1500" spc="-1" strike="noStrike">
              <a:solidFill>
                <a:srgbClr val="000000"/>
              </a:solidFill>
              <a:latin typeface="Arial"/>
            </a:endParaRPr>
          </a:p>
        </p:txBody>
      </p:sp>
      <p:sp>
        <p:nvSpPr>
          <p:cNvPr id="326" name="TextBox 235"/>
          <p:cNvSpPr/>
          <p:nvPr/>
        </p:nvSpPr>
        <p:spPr>
          <a:xfrm>
            <a:off x="3474720" y="6080760"/>
            <a:ext cx="4114080" cy="19836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300" spc="-1" strike="noStrike">
                <a:solidFill>
                  <a:srgbClr val="252b35"/>
                </a:solidFill>
                <a:latin typeface="Roboto"/>
              </a:rPr>
              <a:t>/joint_states → robot_state_publisher → RViz</a:t>
            </a:r>
            <a:endParaRPr b="0" lang="en-US" sz="1300" spc="-1" strike="noStrike">
              <a:solidFill>
                <a:srgbClr val="000000"/>
              </a:solidFill>
              <a:latin typeface="Arial"/>
            </a:endParaRPr>
          </a:p>
        </p:txBody>
      </p:sp>
      <p:sp>
        <p:nvSpPr>
          <p:cNvPr id="327" name="TextBox 236"/>
          <p:cNvSpPr/>
          <p:nvPr/>
        </p:nvSpPr>
        <p:spPr>
          <a:xfrm>
            <a:off x="5486400" y="4005000"/>
            <a:ext cx="2651040" cy="2134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400" spc="-1" strike="noStrike">
                <a:solidFill>
                  <a:srgbClr val="252b35"/>
                </a:solidFill>
                <a:latin typeface="Roboto"/>
              </a:rPr>
              <a:t>ROS force commands →</a:t>
            </a:r>
            <a:endParaRPr b="0" lang="en-US" sz="1400" spc="-1" strike="noStrike">
              <a:solidFill>
                <a:srgbClr val="000000"/>
              </a:solidFill>
              <a:latin typeface="Arial"/>
            </a:endParaRPr>
          </a:p>
        </p:txBody>
      </p:sp>
      <p:sp>
        <p:nvSpPr>
          <p:cNvPr id="328" name="TextBox 237"/>
          <p:cNvSpPr/>
          <p:nvPr/>
        </p:nvSpPr>
        <p:spPr>
          <a:xfrm>
            <a:off x="2578680" y="5120640"/>
            <a:ext cx="3016800" cy="4651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400" spc="-1" strike="noStrike">
                <a:solidFill>
                  <a:srgbClr val="252b35"/>
                </a:solidFill>
                <a:latin typeface="Roboto"/>
              </a:rPr>
              <a:t>Gazebo GUI: separate viewer</a:t>
            </a:r>
            <a:endParaRPr b="0" lang="en-US" sz="1400" spc="-1" strike="noStrike">
              <a:solidFill>
                <a:srgbClr val="000000"/>
              </a:solidFill>
              <a:latin typeface="Arial"/>
            </a:endParaRPr>
          </a:p>
          <a:p>
            <a:pPr>
              <a:lnSpc>
                <a:spcPct val="100000"/>
              </a:lnSpc>
              <a:spcAft>
                <a:spcPts val="300"/>
              </a:spcAft>
            </a:pPr>
            <a:r>
              <a:rPr b="0" lang="en-US" sz="1400" spc="-1" strike="noStrike">
                <a:solidFill>
                  <a:srgbClr val="252b35"/>
                </a:solidFill>
                <a:latin typeface="Roboto"/>
              </a:rPr>
              <a:t>Simulation-truth map → odom TF</a:t>
            </a:r>
            <a:endParaRPr b="0" lang="en-US" sz="1400" spc="-1" strike="noStrike">
              <a:solidFill>
                <a:srgbClr val="000000"/>
              </a:solidFill>
              <a:latin typeface="Arial"/>
            </a:endParaRPr>
          </a:p>
        </p:txBody>
      </p:sp>
      <p:sp>
        <p:nvSpPr>
          <p:cNvPr id="329" name="Rounded Rectangle 238"/>
          <p:cNvSpPr/>
          <p:nvPr/>
        </p:nvSpPr>
        <p:spPr>
          <a:xfrm>
            <a:off x="2560320" y="1051560"/>
            <a:ext cx="2925360" cy="602640"/>
          </a:xfrm>
          <a:prstGeom prst="roundRect">
            <a:avLst>
              <a:gd name="adj" fmla="val 16667"/>
            </a:avLst>
          </a:prstGeom>
          <a:solidFill>
            <a:srgbClr val="fff0b7"/>
          </a:solidFill>
          <a:ln>
            <a:solidFill>
              <a:srgbClr val="c2922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30" name="TextBox 239"/>
          <p:cNvSpPr/>
          <p:nvPr/>
        </p:nvSpPr>
        <p:spPr>
          <a:xfrm>
            <a:off x="2642760" y="1124640"/>
            <a:ext cx="2760840" cy="25920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700" spc="-1" strike="noStrike">
                <a:solidFill>
                  <a:srgbClr val="252b35"/>
                </a:solidFill>
                <a:latin typeface="Roboto"/>
              </a:rPr>
              <a:t>1  Add Python DWB critic</a:t>
            </a:r>
            <a:endParaRPr b="0" lang="en-US" sz="1700" spc="-1" strike="noStrike">
              <a:solidFill>
                <a:srgbClr val="000000"/>
              </a:solidFill>
              <a:latin typeface="Arial"/>
            </a:endParaRPr>
          </a:p>
        </p:txBody>
      </p:sp>
      <p:cxnSp>
        <p:nvCxnSpPr>
          <p:cNvPr id="331" name="Connector 240"/>
          <p:cNvCxnSpPr/>
          <p:nvPr/>
        </p:nvCxnSpPr>
        <p:spPr>
          <a:xfrm>
            <a:off x="4023360" y="1654920"/>
            <a:ext cx="720" cy="174600"/>
          </a:xfrm>
          <a:prstGeom prst="straightConnector1">
            <a:avLst/>
          </a:prstGeom>
          <a:ln w="22860">
            <a:solidFill>
              <a:srgbClr val="c29226"/>
            </a:solidFill>
            <a:round/>
            <a:tailEnd len="sm" type="triangle" w="sm"/>
          </a:ln>
        </p:spPr>
      </p:cxnSp>
      <p:sp>
        <p:nvSpPr>
          <p:cNvPr id="332" name="Rounded Rectangle 241"/>
          <p:cNvSpPr/>
          <p:nvPr/>
        </p:nvSpPr>
        <p:spPr>
          <a:xfrm>
            <a:off x="7726680" y="1051560"/>
            <a:ext cx="4022640" cy="602640"/>
          </a:xfrm>
          <a:prstGeom prst="roundRect">
            <a:avLst>
              <a:gd name="adj" fmla="val 16667"/>
            </a:avLst>
          </a:prstGeom>
          <a:solidFill>
            <a:srgbClr val="fff0b7"/>
          </a:solidFill>
          <a:ln>
            <a:solidFill>
              <a:srgbClr val="c2922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33" name="TextBox 242"/>
          <p:cNvSpPr/>
          <p:nvPr/>
        </p:nvSpPr>
        <p:spPr>
          <a:xfrm>
            <a:off x="7809120" y="1124640"/>
            <a:ext cx="3858120" cy="25920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700" spc="-1" strike="noStrike">
                <a:solidFill>
                  <a:srgbClr val="252b35"/>
                </a:solidFill>
                <a:latin typeface="Roboto"/>
              </a:rPr>
              <a:t>2  Replace left-arm controller</a:t>
            </a:r>
            <a:endParaRPr b="0" lang="en-US" sz="1700" spc="-1" strike="noStrike">
              <a:solidFill>
                <a:srgbClr val="000000"/>
              </a:solidFill>
              <a:latin typeface="Arial"/>
            </a:endParaRPr>
          </a:p>
        </p:txBody>
      </p:sp>
      <p:cxnSp>
        <p:nvCxnSpPr>
          <p:cNvPr id="334" name="Connector 243"/>
          <p:cNvCxnSpPr/>
          <p:nvPr/>
        </p:nvCxnSpPr>
        <p:spPr>
          <a:xfrm>
            <a:off x="9738360" y="1654920"/>
            <a:ext cx="720" cy="174600"/>
          </a:xfrm>
          <a:prstGeom prst="straightConnector1">
            <a:avLst/>
          </a:prstGeom>
          <a:ln w="22860">
            <a:solidFill>
              <a:srgbClr val="c29226"/>
            </a:solidFill>
            <a:round/>
            <a:tailEnd len="sm" type="triangle" w="sm"/>
          </a:ln>
        </p:spPr>
      </p:cxn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5" name="Picture 5" descr=""/>
          <p:cNvPicPr/>
          <p:nvPr/>
        </p:nvPicPr>
        <p:blipFill>
          <a:blip r:embed="rId1"/>
          <a:stretch/>
        </p:blipFill>
        <p:spPr>
          <a:xfrm>
            <a:off x="10623600" y="345600"/>
            <a:ext cx="1058400" cy="1058400"/>
          </a:xfrm>
          <a:prstGeom prst="rect">
            <a:avLst/>
          </a:prstGeom>
          <a:ln w="0">
            <a:noFill/>
          </a:ln>
        </p:spPr>
      </p:pic>
      <p:cxnSp>
        <p:nvCxnSpPr>
          <p:cNvPr id="336" name="Straight Connector 7"/>
          <p:cNvCxnSpPr/>
          <p:nvPr/>
        </p:nvCxnSpPr>
        <p:spPr>
          <a:xfrm>
            <a:off x="0" y="1134720"/>
            <a:ext cx="4366080" cy="2520"/>
          </a:xfrm>
          <a:prstGeom prst="straightConnector1">
            <a:avLst/>
          </a:prstGeom>
          <a:ln w="38100">
            <a:solidFill>
              <a:srgbClr val="fed021"/>
            </a:solidFill>
            <a:round/>
          </a:ln>
        </p:spPr>
      </p:cxnSp>
      <p:sp>
        <p:nvSpPr>
          <p:cNvPr id="337"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spcAft>
                <a:spcPts val="499"/>
              </a:spcAft>
            </a:pPr>
            <a:r>
              <a:rPr b="0" lang="en-US" sz="2800" spc="-1" strike="noStrike">
                <a:solidFill>
                  <a:srgbClr val="031424"/>
                </a:solidFill>
                <a:latin typeface="Roboto"/>
              </a:rPr>
              <a:t>Navigation: the base can move sideways</a:t>
            </a:r>
            <a:endParaRPr b="0" lang="en-US" sz="2800" spc="-1" strike="noStrike">
              <a:solidFill>
                <a:srgbClr val="000000"/>
              </a:solidFill>
              <a:latin typeface="Arial"/>
            </a:endParaRPr>
          </a:p>
        </p:txBody>
      </p:sp>
      <p:sp>
        <p:nvSpPr>
          <p:cNvPr id="338" name="TextBox 210"/>
          <p:cNvSpPr/>
          <p:nvPr/>
        </p:nvSpPr>
        <p:spPr>
          <a:xfrm>
            <a:off x="640080" y="5897880"/>
            <a:ext cx="10972080" cy="456480"/>
          </a:xfrm>
          <a:prstGeom prst="rect">
            <a:avLst/>
          </a:prstGeom>
          <a:noFill/>
          <a:ln w="0">
            <a:noFill/>
          </a:ln>
        </p:spPr>
        <p:style>
          <a:lnRef idx="0"/>
          <a:fillRef idx="0"/>
          <a:effectRef idx="0"/>
          <a:fontRef idx="minor"/>
        </p:style>
        <p:txBody>
          <a:bodyPr lIns="0" rIns="0" tIns="45000" bIns="45000" anchor="t">
            <a:noAutofit/>
          </a:bodyPr>
          <a:p>
            <a:pPr>
              <a:lnSpc>
                <a:spcPct val="104000"/>
              </a:lnSpc>
              <a:tabLst>
                <a:tab algn="l" pos="0"/>
              </a:tabLst>
            </a:pPr>
            <a:r>
              <a:rPr b="0" lang="en-US" sz="1800" spc="-1" strike="noStrike">
                <a:solidFill>
                  <a:srgbClr val="031424"/>
                </a:solidFill>
                <a:latin typeface="DejaVu Sans Mono"/>
              </a:rPr>
              <a:t>./roscon_uk_2026/run_robot_demo.sh</a:t>
            </a:r>
            <a:r>
              <a:rPr b="0" lang="en-US" sz="1800" spc="-1" strike="noStrike">
                <a:solidFill>
                  <a:srgbClr val="bbbbbb"/>
                </a:solidFill>
                <a:latin typeface="DejaVu Sans Mono"/>
              </a:rPr>
              <a:t> </a:t>
            </a:r>
            <a:r>
              <a:rPr b="0" lang="en-US" sz="1800" spc="-1" strike="noStrike">
                <a:solidFill>
                  <a:srgbClr val="031424"/>
                </a:solidFill>
                <a:latin typeface="DejaVu Sans Mono"/>
              </a:rPr>
              <a:t>baseline</a:t>
            </a:r>
            <a:endParaRPr b="0" lang="en-US" sz="1800" spc="-1" strike="noStrike">
              <a:solidFill>
                <a:srgbClr val="000000"/>
              </a:solidFill>
              <a:latin typeface="Arial"/>
            </a:endParaRPr>
          </a:p>
          <a:p>
            <a:pPr>
              <a:lnSpc>
                <a:spcPct val="104000"/>
              </a:lnSpc>
              <a:tabLst>
                <a:tab algn="l" pos="0"/>
              </a:tabLst>
            </a:pPr>
            <a:endParaRPr b="0" lang="en-US" sz="1800" spc="-1" strike="noStrike">
              <a:solidFill>
                <a:srgbClr val="000000"/>
              </a:solidFill>
              <a:latin typeface="Arial"/>
            </a:endParaRPr>
          </a:p>
        </p:txBody>
      </p:sp>
      <p:pic>
        <p:nvPicPr>
          <p:cNvPr id="339" name="" descr="">
            <a:hlinkClick r:id="" action="ppaction://media"/>
          </p:cNvPr>
          <p:cNvPicPr/>
          <p:nvPr>
            <a:videoFile r:link="rId2"/>
            <p:extLst>
              <p:ext uri="{DAA4B4D4-6D71-4841-9C94-3DE7FCFB9230}">
                <p14:media r:embed="rId3"/>
              </p:ext>
            </p:extLst>
          </p:nvPr>
        </p:nvPicPr>
        <p:blipFill>
          <a:blip r:embed="rId4"/>
          <a:stretch>
            <a:fillRect/>
          </a:stretch>
        </p:blipFill>
        <p:spPr>
          <a:xfrm>
            <a:off x="1828800" y="817560"/>
            <a:ext cx="8458200" cy="528588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video>
              <p:cMediaNode>
                <p:cTn>
                  <p:stCondLst>
                    <p:cond delay="indefinite"/>
                  </p:stCondLst>
                </p:cTn>
                <p:tgtEl>
                  <p:spTgt spid="339"/>
                </p:tgtEl>
              </p:cMediaNode>
            </p:vide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0" name="Picture 5" descr=""/>
          <p:cNvPicPr/>
          <p:nvPr/>
        </p:nvPicPr>
        <p:blipFill>
          <a:blip r:embed="rId1"/>
          <a:stretch/>
        </p:blipFill>
        <p:spPr>
          <a:xfrm>
            <a:off x="10623600" y="345600"/>
            <a:ext cx="1058400" cy="1058400"/>
          </a:xfrm>
          <a:prstGeom prst="rect">
            <a:avLst/>
          </a:prstGeom>
          <a:ln w="0">
            <a:noFill/>
          </a:ln>
        </p:spPr>
      </p:pic>
      <p:cxnSp>
        <p:nvCxnSpPr>
          <p:cNvPr id="341" name="Straight Connector 7"/>
          <p:cNvCxnSpPr/>
          <p:nvPr/>
        </p:nvCxnSpPr>
        <p:spPr>
          <a:xfrm>
            <a:off x="0" y="1134720"/>
            <a:ext cx="4366080" cy="2520"/>
          </a:xfrm>
          <a:prstGeom prst="straightConnector1">
            <a:avLst/>
          </a:prstGeom>
          <a:ln w="38100">
            <a:solidFill>
              <a:srgbClr val="fed021"/>
            </a:solidFill>
            <a:round/>
          </a:ln>
        </p:spPr>
      </p:cxnSp>
      <p:sp>
        <p:nvSpPr>
          <p:cNvPr id="342"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Nav2 example: what we write</a:t>
            </a:r>
            <a:endParaRPr b="0" lang="en-US" sz="2800" spc="-1" strike="noStrike">
              <a:solidFill>
                <a:srgbClr val="000000"/>
              </a:solidFill>
              <a:latin typeface="Arial"/>
            </a:endParaRPr>
          </a:p>
        </p:txBody>
      </p:sp>
      <p:sp>
        <p:nvSpPr>
          <p:cNvPr id="343" name="TextBox 207"/>
          <p:cNvSpPr/>
          <p:nvPr/>
        </p:nvSpPr>
        <p:spPr>
          <a:xfrm>
            <a:off x="640080" y="150876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185b91"/>
                </a:solidFill>
                <a:latin typeface="Courier New"/>
              </a:rPr>
              <a:t>navigation/nav.launch.py</a:t>
            </a:r>
            <a:endParaRPr b="0" lang="en-US" sz="2000" spc="-1" strike="noStrike">
              <a:solidFill>
                <a:srgbClr val="000000"/>
              </a:solidFill>
              <a:latin typeface="Arial"/>
            </a:endParaRPr>
          </a:p>
        </p:txBody>
      </p:sp>
      <p:sp>
        <p:nvSpPr>
          <p:cNvPr id="344" name="TextBox 208"/>
          <p:cNvSpPr/>
          <p:nvPr/>
        </p:nvSpPr>
        <p:spPr>
          <a:xfrm>
            <a:off x="640080" y="196596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Add the kit export call and policy parameters to the existing launch file.</a:t>
            </a:r>
            <a:endParaRPr b="0" lang="en-US" sz="2000" spc="-1" strike="noStrike">
              <a:solidFill>
                <a:srgbClr val="000000"/>
              </a:solidFill>
              <a:latin typeface="Arial"/>
            </a:endParaRPr>
          </a:p>
        </p:txBody>
      </p:sp>
      <p:sp>
        <p:nvSpPr>
          <p:cNvPr id="345" name="TextBox 209"/>
          <p:cNvSpPr/>
          <p:nvPr/>
        </p:nvSpPr>
        <p:spPr>
          <a:xfrm>
            <a:off x="640080" y="274320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185b91"/>
                </a:solidFill>
                <a:latin typeface="Courier New"/>
              </a:rPr>
              <a:t>forward_camera_policy.py</a:t>
            </a:r>
            <a:endParaRPr b="0" lang="en-US" sz="2000" spc="-1" strike="noStrike">
              <a:solidFill>
                <a:srgbClr val="000000"/>
              </a:solidFill>
              <a:latin typeface="Arial"/>
            </a:endParaRPr>
          </a:p>
        </p:txBody>
      </p:sp>
      <p:sp>
        <p:nvSpPr>
          <p:cNvPr id="346" name="TextBox 210"/>
          <p:cNvSpPr/>
          <p:nvPr/>
        </p:nvSpPr>
        <p:spPr>
          <a:xfrm>
            <a:off x="640080" y="320040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Write a Python class with configure(), prepare() and score().</a:t>
            </a:r>
            <a:endParaRPr b="0" lang="en-US" sz="2000" spc="-1" strike="noStrike">
              <a:solidFill>
                <a:srgbClr val="000000"/>
              </a:solidFill>
              <a:latin typeface="Arial"/>
            </a:endParaRPr>
          </a:p>
        </p:txBody>
      </p:sp>
      <p:sp>
        <p:nvSpPr>
          <p:cNvPr id="347" name="TextBox 211"/>
          <p:cNvSpPr/>
          <p:nvPr/>
        </p:nvSpPr>
        <p:spPr>
          <a:xfrm>
            <a:off x="640080" y="397764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185b91"/>
                </a:solidFill>
                <a:latin typeface="Courier New"/>
              </a:rPr>
              <a:t>nav2_kit</a:t>
            </a:r>
            <a:endParaRPr b="0" lang="en-US" sz="2000" spc="-1" strike="noStrike">
              <a:solidFill>
                <a:srgbClr val="000000"/>
              </a:solidFill>
              <a:latin typeface="Arial"/>
            </a:endParaRPr>
          </a:p>
        </p:txBody>
      </p:sp>
      <p:sp>
        <p:nvSpPr>
          <p:cNvPr id="348" name="TextBox 212"/>
          <p:cNvSpPr/>
          <p:nvPr/>
        </p:nvSpPr>
        <p:spPr>
          <a:xfrm>
            <a:off x="640080" y="443484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Supplies the C++ DWB adapter, build/cache and pluginlib registration.</a:t>
            </a:r>
            <a:endParaRPr b="0" lang="en-US" sz="2000" spc="-1" strike="noStrike">
              <a:solidFill>
                <a:srgbClr val="000000"/>
              </a:solidFill>
              <a:latin typeface="Arial"/>
            </a:endParaRPr>
          </a:p>
        </p:txBody>
      </p:sp>
      <p:sp>
        <p:nvSpPr>
          <p:cNvPr id="349" name="Rounded Rectangle 213"/>
          <p:cNvSpPr/>
          <p:nvPr/>
        </p:nvSpPr>
        <p:spPr>
          <a:xfrm>
            <a:off x="640080" y="5577840"/>
            <a:ext cx="10880640" cy="776520"/>
          </a:xfrm>
          <a:prstGeom prst="roundRect">
            <a:avLst>
              <a:gd name="adj" fmla="val 16667"/>
            </a:avLst>
          </a:prstGeom>
          <a:solidFill>
            <a:srgbClr val="fff0b7"/>
          </a:solidFill>
          <a:ln>
            <a:solidFill>
              <a:srgbClr val="c2922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50" name="TextBox 214"/>
          <p:cNvSpPr/>
          <p:nvPr/>
        </p:nvSpPr>
        <p:spPr>
          <a:xfrm>
            <a:off x="722520" y="5650920"/>
            <a:ext cx="10716120" cy="28944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900" spc="-1" strike="noStrike">
                <a:solidFill>
                  <a:srgbClr val="252b35"/>
                </a:solidFill>
                <a:latin typeface="Roboto"/>
              </a:rPr>
              <a:t>Launch configures Nav2 → DWB calls the Python policy inside controller_server</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1" name="Picture 5" descr=""/>
          <p:cNvPicPr/>
          <p:nvPr/>
        </p:nvPicPr>
        <p:blipFill>
          <a:blip r:embed="rId1"/>
          <a:stretch/>
        </p:blipFill>
        <p:spPr>
          <a:xfrm>
            <a:off x="10623600" y="345600"/>
            <a:ext cx="1058400" cy="1058400"/>
          </a:xfrm>
          <a:prstGeom prst="rect">
            <a:avLst/>
          </a:prstGeom>
          <a:ln w="0">
            <a:noFill/>
          </a:ln>
        </p:spPr>
      </p:pic>
      <p:cxnSp>
        <p:nvCxnSpPr>
          <p:cNvPr id="352" name="Straight Connector 7"/>
          <p:cNvCxnSpPr/>
          <p:nvPr/>
        </p:nvCxnSpPr>
        <p:spPr>
          <a:xfrm>
            <a:off x="0" y="1134720"/>
            <a:ext cx="4366080" cy="2520"/>
          </a:xfrm>
          <a:prstGeom prst="straightConnector1">
            <a:avLst/>
          </a:prstGeom>
          <a:ln w="38100">
            <a:solidFill>
              <a:srgbClr val="fed021"/>
            </a:solidFill>
            <a:round/>
          </a:ln>
        </p:spPr>
      </p:cxnSp>
      <p:sp>
        <p:nvSpPr>
          <p:cNvPr id="353"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Nav2: register the adapter and select our policy</a:t>
            </a:r>
            <a:endParaRPr b="0" lang="en-US" sz="2800" spc="-1" strike="noStrike">
              <a:solidFill>
                <a:srgbClr val="000000"/>
              </a:solidFill>
              <a:latin typeface="Arial"/>
            </a:endParaRPr>
          </a:p>
        </p:txBody>
      </p:sp>
      <p:sp>
        <p:nvSpPr>
          <p:cNvPr id="354" name="TextBox 207"/>
          <p:cNvSpPr/>
          <p:nvPr/>
        </p:nvSpPr>
        <p:spPr>
          <a:xfrm>
            <a:off x="640080" y="1234440"/>
            <a:ext cx="10972080" cy="2743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800" spc="-1" strike="noStrike">
                <a:solidFill>
                  <a:srgbClr val="252b35"/>
                </a:solidFill>
                <a:latin typeface="Roboto"/>
              </a:rPr>
              <a:t>In the existing ROS launch file, before starting Nav2:</a:t>
            </a:r>
            <a:endParaRPr b="0" lang="en-US" sz="1800" spc="-1" strike="noStrike">
              <a:solidFill>
                <a:srgbClr val="000000"/>
              </a:solidFill>
              <a:latin typeface="Arial"/>
            </a:endParaRPr>
          </a:p>
        </p:txBody>
      </p:sp>
      <p:sp>
        <p:nvSpPr>
          <p:cNvPr id="355" name="Rectangle 208"/>
          <p:cNvSpPr/>
          <p:nvPr/>
        </p:nvSpPr>
        <p:spPr>
          <a:xfrm>
            <a:off x="640080" y="1737360"/>
            <a:ext cx="10880640" cy="1553760"/>
          </a:xfrm>
          <a:prstGeom prst="rect">
            <a:avLst/>
          </a:prstGeom>
          <a:solidFill>
            <a:srgbClr val="f3f6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56" name="TextBox 209"/>
          <p:cNvSpPr/>
          <p:nvPr/>
        </p:nvSpPr>
        <p:spPr>
          <a:xfrm>
            <a:off x="749880" y="1828800"/>
            <a:ext cx="10661040" cy="1257120"/>
          </a:xfrm>
          <a:prstGeom prst="rect">
            <a:avLst/>
          </a:prstGeom>
          <a:noFill/>
          <a:ln w="0">
            <a:noFill/>
          </a:ln>
        </p:spPr>
        <p:style>
          <a:lnRef idx="0"/>
          <a:fillRef idx="0"/>
          <a:effectRef idx="0"/>
          <a:fontRef idx="minor"/>
        </p:style>
        <p:txBody>
          <a:bodyPr lIns="0" rIns="0" tIns="0" bIns="0" anchor="t">
            <a:spAutoFit/>
          </a:bodyPr>
          <a:p>
            <a:pPr>
              <a:lnSpc>
                <a:spcPts val="1650"/>
              </a:lnSpc>
            </a:pPr>
            <a:r>
              <a:rPr b="0" lang="en-US" sz="1500" spc="-1" strike="noStrike">
                <a:solidFill>
                  <a:srgbClr val="007020"/>
                </a:solidFill>
                <a:latin typeface="Courier New"/>
              </a:rPr>
              <a:t>import</a:t>
            </a:r>
            <a:r>
              <a:rPr b="0" lang="en-US" sz="1500" spc="-1" strike="noStrike">
                <a:solidFill>
                  <a:srgbClr val="bbbbbb"/>
                </a:solidFill>
                <a:latin typeface="Courier New"/>
              </a:rPr>
              <a:t> </a:t>
            </a:r>
            <a:r>
              <a:rPr b="0" lang="en-US" sz="1500" spc="-1" strike="noStrike">
                <a:solidFill>
                  <a:srgbClr val="0e84b5"/>
                </a:solidFill>
                <a:latin typeface="Courier New"/>
              </a:rPr>
              <a:t>os</a:t>
            </a:r>
            <a:endParaRPr b="0" lang="en-US" sz="1500" spc="-1" strike="noStrike">
              <a:solidFill>
                <a:srgbClr val="000000"/>
              </a:solidFill>
              <a:latin typeface="Arial"/>
            </a:endParaRPr>
          </a:p>
          <a:p>
            <a:pPr>
              <a:lnSpc>
                <a:spcPts val="1650"/>
              </a:lnSpc>
            </a:pPr>
            <a:r>
              <a:rPr b="0" lang="en-US" sz="1500" spc="-1" strike="noStrike">
                <a:solidFill>
                  <a:srgbClr val="007020"/>
                </a:solidFill>
                <a:latin typeface="Courier New"/>
              </a:rPr>
              <a:t>from</a:t>
            </a:r>
            <a:r>
              <a:rPr b="0" lang="en-US" sz="1500" spc="-1" strike="noStrike">
                <a:solidFill>
                  <a:srgbClr val="bbbbbb"/>
                </a:solidFill>
                <a:latin typeface="Courier New"/>
              </a:rPr>
              <a:t> </a:t>
            </a:r>
            <a:r>
              <a:rPr b="0" lang="en-US" sz="1500" spc="-1" strike="noStrike">
                <a:solidFill>
                  <a:srgbClr val="0e84b5"/>
                </a:solidFill>
                <a:latin typeface="Courier New"/>
              </a:rPr>
              <a:t>nav2_kit.python_critic</a:t>
            </a:r>
            <a:r>
              <a:rPr b="0" lang="en-US" sz="1500" spc="-1" strike="noStrike">
                <a:solidFill>
                  <a:srgbClr val="bbbbbb"/>
                </a:solidFill>
                <a:latin typeface="Courier New"/>
              </a:rPr>
              <a:t> </a:t>
            </a:r>
            <a:r>
              <a:rPr b="0" lang="en-US" sz="1500" spc="-1" strike="noStrike">
                <a:solidFill>
                  <a:srgbClr val="007020"/>
                </a:solidFill>
                <a:latin typeface="Courier New"/>
              </a:rPr>
              <a:t>import</a:t>
            </a:r>
            <a:r>
              <a:rPr b="0" lang="en-US" sz="1500" spc="-1" strike="noStrike">
                <a:solidFill>
                  <a:srgbClr val="202632"/>
                </a:solidFill>
                <a:latin typeface="Courier New"/>
              </a:rPr>
              <a:t> install_python_critic_plugin</a:t>
            </a:r>
            <a:endParaRPr b="0" lang="en-US" sz="1500" spc="-1" strike="noStrike">
              <a:solidFill>
                <a:srgbClr val="000000"/>
              </a:solidFill>
              <a:latin typeface="Arial"/>
            </a:endParaRPr>
          </a:p>
          <a:p>
            <a:pPr>
              <a:lnSpc>
                <a:spcPts val="1650"/>
              </a:lnSpc>
            </a:pPr>
            <a:endParaRPr b="0" lang="en-US" sz="1500" spc="-1" strike="noStrike">
              <a:solidFill>
                <a:srgbClr val="000000"/>
              </a:solidFill>
              <a:latin typeface="Arial"/>
            </a:endParaRPr>
          </a:p>
          <a:p>
            <a:pPr>
              <a:lnSpc>
                <a:spcPts val="1650"/>
              </a:lnSpc>
            </a:pPr>
            <a:r>
              <a:rPr b="0" lang="en-US" sz="1500" spc="-1" strike="noStrike">
                <a:solidFill>
                  <a:srgbClr val="202632"/>
                </a:solidFill>
                <a:latin typeface="Courier New"/>
              </a:rPr>
              <a:t>prefix </a:t>
            </a:r>
            <a:r>
              <a:rPr b="0" lang="en-US" sz="1500" spc="-1" strike="noStrike">
                <a:solidFill>
                  <a:srgbClr val="666666"/>
                </a:solidFill>
                <a:latin typeface="Courier New"/>
              </a:rPr>
              <a:t>=</a:t>
            </a:r>
            <a:r>
              <a:rPr b="0" lang="en-US" sz="1500" spc="-1" strike="noStrike">
                <a:solidFill>
                  <a:srgbClr val="202632"/>
                </a:solidFill>
                <a:latin typeface="Courier New"/>
              </a:rPr>
              <a:t> install_python_critic_plugin(</a:t>
            </a:r>
            <a:r>
              <a:rPr b="0" lang="en-US" sz="1500" spc="-1" strike="noStrike">
                <a:solidFill>
                  <a:srgbClr val="4070a0"/>
                </a:solidFill>
                <a:latin typeface="Courier New"/>
              </a:rPr>
              <a:t>"./plugin_overlay"</a:t>
            </a:r>
            <a:r>
              <a:rPr b="0" lang="en-US" sz="1500" spc="-1" strike="noStrike">
                <a:solidFill>
                  <a:srgbClr val="202632"/>
                </a:solidFill>
                <a:latin typeface="Courier New"/>
              </a:rPr>
              <a:t>)</a:t>
            </a:r>
            <a:endParaRPr b="0" lang="en-US" sz="1500" spc="-1" strike="noStrike">
              <a:solidFill>
                <a:srgbClr val="000000"/>
              </a:solidFill>
              <a:latin typeface="Arial"/>
            </a:endParaRPr>
          </a:p>
          <a:p>
            <a:pPr>
              <a:lnSpc>
                <a:spcPts val="1650"/>
              </a:lnSpc>
            </a:pPr>
            <a:r>
              <a:rPr b="0" lang="en-US" sz="1500" spc="-1" strike="noStrike">
                <a:solidFill>
                  <a:srgbClr val="202632"/>
                </a:solidFill>
                <a:latin typeface="Courier New"/>
              </a:rPr>
              <a:t>os</a:t>
            </a:r>
            <a:r>
              <a:rPr b="0" lang="en-US" sz="1500" spc="-1" strike="noStrike">
                <a:solidFill>
                  <a:srgbClr val="666666"/>
                </a:solidFill>
                <a:latin typeface="Courier New"/>
              </a:rPr>
              <a:t>.</a:t>
            </a:r>
            <a:r>
              <a:rPr b="0" lang="en-US" sz="1500" spc="-1" strike="noStrike">
                <a:solidFill>
                  <a:srgbClr val="202632"/>
                </a:solidFill>
                <a:latin typeface="Courier New"/>
              </a:rPr>
              <a:t>environ[</a:t>
            </a:r>
            <a:r>
              <a:rPr b="0" lang="en-US" sz="1500" spc="-1" strike="noStrike">
                <a:solidFill>
                  <a:srgbClr val="4070a0"/>
                </a:solidFill>
                <a:latin typeface="Courier New"/>
              </a:rPr>
              <a:t>"AMENT_PREFIX_PATH"</a:t>
            </a:r>
            <a:r>
              <a:rPr b="0" lang="en-US" sz="1500" spc="-1" strike="noStrike">
                <a:solidFill>
                  <a:srgbClr val="202632"/>
                </a:solidFill>
                <a:latin typeface="Courier New"/>
              </a:rPr>
              <a:t>] </a:t>
            </a:r>
            <a:r>
              <a:rPr b="0" lang="en-US" sz="1500" spc="-1" strike="noStrike">
                <a:solidFill>
                  <a:srgbClr val="666666"/>
                </a:solidFill>
                <a:latin typeface="Courier New"/>
              </a:rPr>
              <a:t>=</a:t>
            </a:r>
            <a:r>
              <a:rPr b="0" lang="en-US" sz="1500" spc="-1" strike="noStrike">
                <a:solidFill>
                  <a:srgbClr val="202632"/>
                </a:solidFill>
                <a:latin typeface="Courier New"/>
              </a:rPr>
              <a:t> prefix </a:t>
            </a:r>
            <a:r>
              <a:rPr b="0" lang="en-US" sz="1500" spc="-1" strike="noStrike">
                <a:solidFill>
                  <a:srgbClr val="666666"/>
                </a:solidFill>
                <a:latin typeface="Courier New"/>
              </a:rPr>
              <a:t>+</a:t>
            </a:r>
            <a:r>
              <a:rPr b="0" lang="en-US" sz="1500" spc="-1" strike="noStrike">
                <a:solidFill>
                  <a:srgbClr val="202632"/>
                </a:solidFill>
                <a:latin typeface="Courier New"/>
              </a:rPr>
              <a:t> </a:t>
            </a:r>
            <a:r>
              <a:rPr b="0" lang="en-US" sz="1500" spc="-1" strike="noStrike">
                <a:solidFill>
                  <a:srgbClr val="4070a0"/>
                </a:solidFill>
                <a:latin typeface="Courier New"/>
              </a:rPr>
              <a:t>":"</a:t>
            </a:r>
            <a:r>
              <a:rPr b="0" lang="en-US" sz="1500" spc="-1" strike="noStrike">
                <a:solidFill>
                  <a:srgbClr val="202632"/>
                </a:solidFill>
                <a:latin typeface="Courier New"/>
              </a:rPr>
              <a:t> </a:t>
            </a:r>
            <a:r>
              <a:rPr b="0" lang="en-US" sz="1500" spc="-1" strike="noStrike">
                <a:solidFill>
                  <a:srgbClr val="666666"/>
                </a:solidFill>
                <a:latin typeface="Courier New"/>
              </a:rPr>
              <a:t>+</a:t>
            </a:r>
            <a:r>
              <a:rPr b="0" lang="en-US" sz="1500" spc="-1" strike="noStrike">
                <a:solidFill>
                  <a:srgbClr val="202632"/>
                </a:solidFill>
                <a:latin typeface="Courier New"/>
              </a:rPr>
              <a:t> os</a:t>
            </a:r>
            <a:r>
              <a:rPr b="0" lang="en-US" sz="1500" spc="-1" strike="noStrike">
                <a:solidFill>
                  <a:srgbClr val="666666"/>
                </a:solidFill>
                <a:latin typeface="Courier New"/>
              </a:rPr>
              <a:t>.</a:t>
            </a:r>
            <a:r>
              <a:rPr b="0" lang="en-US" sz="1500" spc="-1" strike="noStrike">
                <a:solidFill>
                  <a:srgbClr val="202632"/>
                </a:solidFill>
                <a:latin typeface="Courier New"/>
              </a:rPr>
              <a:t>environ[</a:t>
            </a:r>
            <a:r>
              <a:rPr b="0" lang="en-US" sz="1500" spc="-1" strike="noStrike">
                <a:solidFill>
                  <a:srgbClr val="4070a0"/>
                </a:solidFill>
                <a:latin typeface="Courier New"/>
              </a:rPr>
              <a:t>"AMENT_PREFIX_PATH"</a:t>
            </a:r>
            <a:r>
              <a:rPr b="0" lang="en-US" sz="1500" spc="-1" strike="noStrike">
                <a:solidFill>
                  <a:srgbClr val="202632"/>
                </a:solidFill>
                <a:latin typeface="Courier New"/>
              </a:rPr>
              <a:t>]</a:t>
            </a:r>
            <a:endParaRPr b="0" lang="en-US" sz="1500" spc="-1" strike="noStrike">
              <a:solidFill>
                <a:srgbClr val="000000"/>
              </a:solidFill>
              <a:latin typeface="Arial"/>
            </a:endParaRPr>
          </a:p>
          <a:p>
            <a:pPr>
              <a:lnSpc>
                <a:spcPts val="1650"/>
              </a:lnSpc>
            </a:pPr>
            <a:endParaRPr b="0" lang="en-US" sz="1500" spc="-1" strike="noStrike">
              <a:solidFill>
                <a:srgbClr val="000000"/>
              </a:solidFill>
              <a:latin typeface="Arial"/>
            </a:endParaRPr>
          </a:p>
        </p:txBody>
      </p:sp>
      <p:sp>
        <p:nvSpPr>
          <p:cNvPr id="357" name="TextBox 210"/>
          <p:cNvSpPr/>
          <p:nvPr/>
        </p:nvSpPr>
        <p:spPr>
          <a:xfrm>
            <a:off x="640080" y="3474720"/>
            <a:ext cx="10972080" cy="2743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800" spc="-1" strike="noStrike">
                <a:solidFill>
                  <a:srgbClr val="252b35"/>
                </a:solidFill>
                <a:latin typeface="Roboto"/>
              </a:rPr>
              <a:t>Add to controller_server → ros__parameters → FollowPath:</a:t>
            </a:r>
            <a:endParaRPr b="0" lang="en-US" sz="1800" spc="-1" strike="noStrike">
              <a:solidFill>
                <a:srgbClr val="000000"/>
              </a:solidFill>
              <a:latin typeface="Arial"/>
            </a:endParaRPr>
          </a:p>
        </p:txBody>
      </p:sp>
      <p:sp>
        <p:nvSpPr>
          <p:cNvPr id="358" name="Rectangle 211"/>
          <p:cNvSpPr/>
          <p:nvPr/>
        </p:nvSpPr>
        <p:spPr>
          <a:xfrm>
            <a:off x="640080" y="3931920"/>
            <a:ext cx="10880640" cy="2331000"/>
          </a:xfrm>
          <a:prstGeom prst="rect">
            <a:avLst/>
          </a:prstGeom>
          <a:solidFill>
            <a:srgbClr val="f3f6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59" name="TextBox 212"/>
          <p:cNvSpPr/>
          <p:nvPr/>
        </p:nvSpPr>
        <p:spPr>
          <a:xfrm>
            <a:off x="749880" y="4023360"/>
            <a:ext cx="10661040" cy="1776960"/>
          </a:xfrm>
          <a:prstGeom prst="rect">
            <a:avLst/>
          </a:prstGeom>
          <a:noFill/>
          <a:ln w="0">
            <a:noFill/>
          </a:ln>
        </p:spPr>
        <p:style>
          <a:lnRef idx="0"/>
          <a:fillRef idx="0"/>
          <a:effectRef idx="0"/>
          <a:fontRef idx="minor"/>
        </p:style>
        <p:txBody>
          <a:bodyPr lIns="0" rIns="0" tIns="0" bIns="0" anchor="t">
            <a:spAutoFit/>
          </a:bodyPr>
          <a:p>
            <a:pPr>
              <a:lnSpc>
                <a:spcPts val="1749"/>
              </a:lnSpc>
            </a:pPr>
            <a:r>
              <a:rPr b="0" lang="en-US" sz="1600" spc="-1" strike="noStrike">
                <a:solidFill>
                  <a:srgbClr val="60a0b0"/>
                </a:solidFill>
                <a:latin typeface="Courier New"/>
              </a:rPr>
              <a:t># Append ForwardCamera to the existing critics list.</a:t>
            </a:r>
            <a:endParaRPr b="0" lang="en-US" sz="1600" spc="-1" strike="noStrike">
              <a:solidFill>
                <a:srgbClr val="000000"/>
              </a:solidFill>
              <a:latin typeface="Arial"/>
            </a:endParaRPr>
          </a:p>
          <a:p>
            <a:pPr>
              <a:lnSpc>
                <a:spcPts val="1749"/>
              </a:lnSpc>
            </a:pPr>
            <a:r>
              <a:rPr b="0" lang="en-US" sz="1600" spc="-1" strike="noStrike">
                <a:solidFill>
                  <a:srgbClr val="062873"/>
                </a:solidFill>
                <a:latin typeface="Courier New"/>
              </a:rPr>
              <a:t>ForwardCamera.class</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nav2_kit_python::PythonCritic</a:t>
            </a:r>
            <a:endParaRPr b="0" lang="en-US" sz="1600" spc="-1" strike="noStrike">
              <a:solidFill>
                <a:srgbClr val="000000"/>
              </a:solidFill>
              <a:latin typeface="Arial"/>
            </a:endParaRPr>
          </a:p>
          <a:p>
            <a:pPr>
              <a:lnSpc>
                <a:spcPts val="1749"/>
              </a:lnSpc>
            </a:pPr>
            <a:r>
              <a:rPr b="0" lang="en-US" sz="1600" spc="-1" strike="noStrike">
                <a:solidFill>
                  <a:srgbClr val="062873"/>
                </a:solidFill>
                <a:latin typeface="Courier New"/>
              </a:rPr>
              <a:t>ForwardCamera.scale</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1.0</a:t>
            </a:r>
            <a:endParaRPr b="0" lang="en-US" sz="1600" spc="-1" strike="noStrike">
              <a:solidFill>
                <a:srgbClr val="000000"/>
              </a:solidFill>
              <a:latin typeface="Arial"/>
            </a:endParaRPr>
          </a:p>
          <a:p>
            <a:pPr>
              <a:lnSpc>
                <a:spcPts val="1749"/>
              </a:lnSpc>
            </a:pPr>
            <a:r>
              <a:rPr b="0" lang="en-US" sz="1600" spc="-1" strike="noStrike">
                <a:solidFill>
                  <a:srgbClr val="062873"/>
                </a:solidFill>
                <a:latin typeface="Courier New"/>
              </a:rPr>
              <a:t>ForwardCamera.python_module</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forward_camera_policy</a:t>
            </a:r>
            <a:endParaRPr b="0" lang="en-US" sz="1600" spc="-1" strike="noStrike">
              <a:solidFill>
                <a:srgbClr val="000000"/>
              </a:solidFill>
              <a:latin typeface="Arial"/>
            </a:endParaRPr>
          </a:p>
          <a:p>
            <a:pPr>
              <a:lnSpc>
                <a:spcPts val="1749"/>
              </a:lnSpc>
            </a:pPr>
            <a:r>
              <a:rPr b="0" lang="en-US" sz="1600" spc="-1" strike="noStrike">
                <a:solidFill>
                  <a:srgbClr val="062873"/>
                </a:solidFill>
                <a:latin typeface="Courier New"/>
              </a:rPr>
              <a:t>ForwardCamera.python_class</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ForwardCameraPolicy</a:t>
            </a:r>
            <a:endParaRPr b="0" lang="en-US" sz="1600" spc="-1" strike="noStrike">
              <a:solidFill>
                <a:srgbClr val="000000"/>
              </a:solidFill>
              <a:latin typeface="Arial"/>
            </a:endParaRPr>
          </a:p>
          <a:p>
            <a:pPr>
              <a:lnSpc>
                <a:spcPts val="1749"/>
              </a:lnSpc>
            </a:pPr>
            <a:r>
              <a:rPr b="0" lang="en-US" sz="1600" spc="-1" strike="noStrike">
                <a:solidFill>
                  <a:srgbClr val="062873"/>
                </a:solidFill>
                <a:latin typeface="Courier New"/>
              </a:rPr>
              <a:t>ForwardCamera.python_path</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/absolute/path/to/your/policy</a:t>
            </a:r>
            <a:endParaRPr b="0" lang="en-US" sz="1600" spc="-1" strike="noStrike">
              <a:solidFill>
                <a:srgbClr val="000000"/>
              </a:solidFill>
              <a:latin typeface="Arial"/>
            </a:endParaRPr>
          </a:p>
          <a:p>
            <a:pPr>
              <a:lnSpc>
                <a:spcPts val="1749"/>
              </a:lnSpc>
            </a:pPr>
            <a:r>
              <a:rPr b="0" lang="en-US" sz="1600" spc="-1" strike="noStrike">
                <a:solidFill>
                  <a:srgbClr val="062873"/>
                </a:solidFill>
                <a:latin typeface="Courier New"/>
              </a:rPr>
              <a:t>min_vel_x</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0.0</a:t>
            </a:r>
            <a:r>
              <a:rPr b="0" lang="en-US" sz="1600" spc="-1" strike="noStrike">
                <a:solidFill>
                  <a:srgbClr val="bbbbbb"/>
                </a:solidFill>
                <a:latin typeface="Courier New"/>
              </a:rPr>
              <a:t>  </a:t>
            </a:r>
            <a:r>
              <a:rPr b="0" lang="en-US" sz="1600" spc="-1" strike="noStrike">
                <a:solidFill>
                  <a:srgbClr val="60a0b0"/>
                </a:solidFill>
                <a:latin typeface="Courier New"/>
              </a:rPr>
              <a:t># Include turn-in-place candidates.</a:t>
            </a:r>
            <a:endParaRPr b="0" lang="en-US" sz="1600" spc="-1" strike="noStrike">
              <a:solidFill>
                <a:srgbClr val="000000"/>
              </a:solidFill>
              <a:latin typeface="Arial"/>
            </a:endParaRPr>
          </a:p>
          <a:p>
            <a:pPr>
              <a:lnSpc>
                <a:spcPts val="1749"/>
              </a:lnSpc>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0" name="Picture 5" descr=""/>
          <p:cNvPicPr/>
          <p:nvPr/>
        </p:nvPicPr>
        <p:blipFill>
          <a:blip r:embed="rId1"/>
          <a:stretch/>
        </p:blipFill>
        <p:spPr>
          <a:xfrm>
            <a:off x="10623600" y="345600"/>
            <a:ext cx="1058400" cy="1058400"/>
          </a:xfrm>
          <a:prstGeom prst="rect">
            <a:avLst/>
          </a:prstGeom>
          <a:ln w="0">
            <a:noFill/>
          </a:ln>
        </p:spPr>
      </p:pic>
      <p:cxnSp>
        <p:nvCxnSpPr>
          <p:cNvPr id="361" name="Straight Connector 7"/>
          <p:cNvCxnSpPr/>
          <p:nvPr/>
        </p:nvCxnSpPr>
        <p:spPr>
          <a:xfrm>
            <a:off x="0" y="1134720"/>
            <a:ext cx="4366080" cy="2520"/>
          </a:xfrm>
          <a:prstGeom prst="straightConnector1">
            <a:avLst/>
          </a:prstGeom>
          <a:ln w="38100">
            <a:solidFill>
              <a:srgbClr val="fed021"/>
            </a:solidFill>
            <a:round/>
          </a:ln>
        </p:spPr>
      </p:cxnSp>
      <p:sp>
        <p:nvSpPr>
          <p:cNvPr id="362"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Nav2: write the Python policy</a:t>
            </a:r>
            <a:endParaRPr b="0" lang="en-US" sz="2800" spc="-1" strike="noStrike">
              <a:solidFill>
                <a:srgbClr val="000000"/>
              </a:solidFill>
              <a:latin typeface="Arial"/>
            </a:endParaRPr>
          </a:p>
        </p:txBody>
      </p:sp>
      <p:sp>
        <p:nvSpPr>
          <p:cNvPr id="363" name="Rectangle 207"/>
          <p:cNvSpPr/>
          <p:nvPr/>
        </p:nvSpPr>
        <p:spPr>
          <a:xfrm>
            <a:off x="640080" y="1371600"/>
            <a:ext cx="10880640" cy="5348520"/>
          </a:xfrm>
          <a:prstGeom prst="rect">
            <a:avLst/>
          </a:prstGeom>
          <a:solidFill>
            <a:srgbClr val="f3f6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64" name="TextBox 208"/>
          <p:cNvSpPr/>
          <p:nvPr/>
        </p:nvSpPr>
        <p:spPr>
          <a:xfrm>
            <a:off x="749880" y="1463040"/>
            <a:ext cx="10661040" cy="5108760"/>
          </a:xfrm>
          <a:prstGeom prst="rect">
            <a:avLst/>
          </a:prstGeom>
          <a:noFill/>
          <a:ln w="0">
            <a:noFill/>
          </a:ln>
        </p:spPr>
        <p:style>
          <a:lnRef idx="0"/>
          <a:fillRef idx="0"/>
          <a:effectRef idx="0"/>
          <a:fontRef idx="minor"/>
        </p:style>
        <p:txBody>
          <a:bodyPr lIns="0" rIns="0" tIns="0" bIns="0" anchor="t">
            <a:spAutoFit/>
          </a:bodyPr>
          <a:p>
            <a:pPr>
              <a:lnSpc>
                <a:spcPts val="1749"/>
              </a:lnSpc>
            </a:pPr>
            <a:r>
              <a:rPr b="0" lang="en-US" sz="1600" spc="-1" strike="noStrike">
                <a:solidFill>
                  <a:srgbClr val="007020"/>
                </a:solidFill>
                <a:latin typeface="Courier New"/>
              </a:rPr>
              <a:t>import</a:t>
            </a:r>
            <a:r>
              <a:rPr b="0" lang="en-US" sz="1600" spc="-1" strike="noStrike">
                <a:solidFill>
                  <a:srgbClr val="bbbbbb"/>
                </a:solidFill>
                <a:latin typeface="Courier New"/>
              </a:rPr>
              <a:t> </a:t>
            </a:r>
            <a:r>
              <a:rPr b="0" lang="en-US" sz="1600" spc="-1" strike="noStrike">
                <a:solidFill>
                  <a:srgbClr val="0e84b5"/>
                </a:solidFill>
                <a:latin typeface="Courier New"/>
              </a:rPr>
              <a:t>math</a:t>
            </a:r>
            <a:endParaRPr b="0" lang="en-US" sz="1600" spc="-1" strike="noStrike">
              <a:solidFill>
                <a:srgbClr val="000000"/>
              </a:solidFill>
              <a:latin typeface="Arial"/>
            </a:endParaRPr>
          </a:p>
          <a:p>
            <a:pPr>
              <a:lnSpc>
                <a:spcPts val="1749"/>
              </a:lnSpc>
            </a:pPr>
            <a:endParaRPr b="0" lang="en-US" sz="1600" spc="-1" strike="noStrike">
              <a:solidFill>
                <a:srgbClr val="000000"/>
              </a:solidFill>
              <a:latin typeface="Arial"/>
            </a:endParaRPr>
          </a:p>
          <a:p>
            <a:pPr>
              <a:lnSpc>
                <a:spcPts val="1749"/>
              </a:lnSpc>
            </a:pPr>
            <a:r>
              <a:rPr b="0" lang="en-US" sz="1600" spc="-1" strike="noStrike">
                <a:solidFill>
                  <a:srgbClr val="007020"/>
                </a:solidFill>
                <a:latin typeface="Courier New"/>
              </a:rPr>
              <a:t>def</a:t>
            </a:r>
            <a:r>
              <a:rPr b="0" lang="en-US" sz="1600" spc="-1" strike="noStrike">
                <a:solidFill>
                  <a:srgbClr val="bbbbbb"/>
                </a:solidFill>
                <a:latin typeface="Courier New"/>
              </a:rPr>
              <a:t> </a:t>
            </a:r>
            <a:r>
              <a:rPr b="0" lang="en-US" sz="1600" spc="-1" strike="noStrike">
                <a:solidFill>
                  <a:srgbClr val="06287e"/>
                </a:solidFill>
                <a:latin typeface="Courier New"/>
              </a:rPr>
              <a:t>angle</a:t>
            </a:r>
            <a:r>
              <a:rPr b="0" lang="en-US" sz="1600" spc="-1" strike="noStrike">
                <a:solidFill>
                  <a:srgbClr val="202632"/>
                </a:solidFill>
                <a:latin typeface="Courier New"/>
              </a:rPr>
              <a:t>(x):</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return</a:t>
            </a:r>
            <a:r>
              <a:rPr b="0" lang="en-US" sz="1600" spc="-1" strike="noStrike">
                <a:solidFill>
                  <a:srgbClr val="202632"/>
                </a:solidFill>
                <a:latin typeface="Courier New"/>
              </a:rPr>
              <a:t> math</a:t>
            </a:r>
            <a:r>
              <a:rPr b="0" lang="en-US" sz="1600" spc="-1" strike="noStrike">
                <a:solidFill>
                  <a:srgbClr val="666666"/>
                </a:solidFill>
                <a:latin typeface="Courier New"/>
              </a:rPr>
              <a:t>.</a:t>
            </a:r>
            <a:r>
              <a:rPr b="0" lang="en-US" sz="1600" spc="-1" strike="noStrike">
                <a:solidFill>
                  <a:srgbClr val="202632"/>
                </a:solidFill>
                <a:latin typeface="Courier New"/>
              </a:rPr>
              <a:t>atan2(math</a:t>
            </a:r>
            <a:r>
              <a:rPr b="0" lang="en-US" sz="1600" spc="-1" strike="noStrike">
                <a:solidFill>
                  <a:srgbClr val="666666"/>
                </a:solidFill>
                <a:latin typeface="Courier New"/>
              </a:rPr>
              <a:t>.</a:t>
            </a:r>
            <a:r>
              <a:rPr b="0" lang="en-US" sz="1600" spc="-1" strike="noStrike">
                <a:solidFill>
                  <a:srgbClr val="202632"/>
                </a:solidFill>
                <a:latin typeface="Courier New"/>
              </a:rPr>
              <a:t>sin(x), math</a:t>
            </a:r>
            <a:r>
              <a:rPr b="0" lang="en-US" sz="1600" spc="-1" strike="noStrike">
                <a:solidFill>
                  <a:srgbClr val="666666"/>
                </a:solidFill>
                <a:latin typeface="Courier New"/>
              </a:rPr>
              <a:t>.</a:t>
            </a:r>
            <a:r>
              <a:rPr b="0" lang="en-US" sz="1600" spc="-1" strike="noStrike">
                <a:solidFill>
                  <a:srgbClr val="202632"/>
                </a:solidFill>
                <a:latin typeface="Courier New"/>
              </a:rPr>
              <a:t>cos(x))</a:t>
            </a:r>
            <a:endParaRPr b="0" lang="en-US" sz="1600" spc="-1" strike="noStrike">
              <a:solidFill>
                <a:srgbClr val="000000"/>
              </a:solidFill>
              <a:latin typeface="Arial"/>
            </a:endParaRPr>
          </a:p>
          <a:p>
            <a:pPr>
              <a:lnSpc>
                <a:spcPts val="1749"/>
              </a:lnSpc>
            </a:pPr>
            <a:endParaRPr b="0" lang="en-US" sz="1600" spc="-1" strike="noStrike">
              <a:solidFill>
                <a:srgbClr val="000000"/>
              </a:solidFill>
              <a:latin typeface="Arial"/>
            </a:endParaRPr>
          </a:p>
          <a:p>
            <a:pPr>
              <a:lnSpc>
                <a:spcPts val="1749"/>
              </a:lnSpc>
            </a:pPr>
            <a:r>
              <a:rPr b="0" lang="en-US" sz="1600" spc="-1" strike="noStrike">
                <a:solidFill>
                  <a:srgbClr val="007020"/>
                </a:solidFill>
                <a:latin typeface="Courier New"/>
              </a:rPr>
              <a:t>class</a:t>
            </a:r>
            <a:r>
              <a:rPr b="0" lang="en-US" sz="1600" spc="-1" strike="noStrike">
                <a:solidFill>
                  <a:srgbClr val="bbbbbb"/>
                </a:solidFill>
                <a:latin typeface="Courier New"/>
              </a:rPr>
              <a:t> </a:t>
            </a:r>
            <a:r>
              <a:rPr b="0" lang="en-US" sz="1600" spc="-1" strike="noStrike">
                <a:solidFill>
                  <a:srgbClr val="0e84b5"/>
                </a:solidFill>
                <a:latin typeface="Courier New"/>
              </a:rPr>
              <a:t>ForwardCameraPolicy</a:t>
            </a:r>
            <a:r>
              <a:rPr b="0" lang="en-US" sz="1600" spc="-1" strike="noStrike">
                <a:solidFill>
                  <a:srgbClr val="202632"/>
                </a:solidFill>
                <a:latin typeface="Courier New"/>
              </a:rPr>
              <a:t>:</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def</a:t>
            </a:r>
            <a:r>
              <a:rPr b="0" lang="en-US" sz="1600" spc="-1" strike="noStrike">
                <a:solidFill>
                  <a:srgbClr val="bbbbbb"/>
                </a:solidFill>
                <a:latin typeface="Courier New"/>
              </a:rPr>
              <a:t> </a:t>
            </a:r>
            <a:r>
              <a:rPr b="0" lang="en-US" sz="1600" spc="-1" strike="noStrike">
                <a:solidFill>
                  <a:srgbClr val="06287e"/>
                </a:solidFill>
                <a:latin typeface="Courier New"/>
              </a:rPr>
              <a:t>configure</a:t>
            </a:r>
            <a:r>
              <a:rPr b="0" lang="en-US" sz="1600" spc="-1" strike="noStrike">
                <a:solidFill>
                  <a:srgbClr val="202632"/>
                </a:solidFill>
                <a:latin typeface="Courier New"/>
              </a:rPr>
              <a:t>(</a:t>
            </a:r>
            <a:r>
              <a:rPr b="0" lang="en-US" sz="1600" spc="-1" strike="noStrike">
                <a:solidFill>
                  <a:srgbClr val="007020"/>
                </a:solidFill>
                <a:latin typeface="Courier New"/>
              </a:rPr>
              <a:t>self</a:t>
            </a:r>
            <a:r>
              <a:rPr b="0" lang="en-US" sz="1600" spc="-1" strike="noStrike">
                <a:solidFill>
                  <a:srgbClr val="202632"/>
                </a:solidFill>
                <a:latin typeface="Courier New"/>
              </a:rPr>
              <a:t>, options):</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self</a:t>
            </a:r>
            <a:r>
              <a:rPr b="0" lang="en-US" sz="1600" spc="-1" strike="noStrike">
                <a:solidFill>
                  <a:srgbClr val="666666"/>
                </a:solidFill>
                <a:latin typeface="Courier New"/>
              </a:rPr>
              <a:t>.</a:t>
            </a:r>
            <a:r>
              <a:rPr b="0" lang="en-US" sz="1600" spc="-1" strike="noStrike">
                <a:solidFill>
                  <a:srgbClr val="202632"/>
                </a:solidFill>
                <a:latin typeface="Courier New"/>
              </a:rPr>
              <a:t>cone </a:t>
            </a:r>
            <a:r>
              <a:rPr b="0" lang="en-US" sz="1600" spc="-1" strike="noStrike">
                <a:solidFill>
                  <a:srgbClr val="666666"/>
                </a:solidFill>
                <a:latin typeface="Courier New"/>
              </a:rPr>
              <a:t>=</a:t>
            </a:r>
            <a:r>
              <a:rPr b="0" lang="en-US" sz="1600" spc="-1" strike="noStrike">
                <a:solidFill>
                  <a:srgbClr val="202632"/>
                </a:solidFill>
                <a:latin typeface="Courier New"/>
              </a:rPr>
              <a:t> math</a:t>
            </a:r>
            <a:r>
              <a:rPr b="0" lang="en-US" sz="1600" spc="-1" strike="noStrike">
                <a:solidFill>
                  <a:srgbClr val="666666"/>
                </a:solidFill>
                <a:latin typeface="Courier New"/>
              </a:rPr>
              <a:t>.</a:t>
            </a:r>
            <a:r>
              <a:rPr b="0" lang="en-US" sz="1600" spc="-1" strike="noStrike">
                <a:solidFill>
                  <a:srgbClr val="202632"/>
                </a:solidFill>
                <a:latin typeface="Courier New"/>
              </a:rPr>
              <a:t>pi </a:t>
            </a:r>
            <a:r>
              <a:rPr b="0" lang="en-US" sz="1600" spc="-1" strike="noStrike">
                <a:solidFill>
                  <a:srgbClr val="666666"/>
                </a:solidFill>
                <a:latin typeface="Courier New"/>
              </a:rPr>
              <a:t>/</a:t>
            </a:r>
            <a:r>
              <a:rPr b="0" lang="en-US" sz="1600" spc="-1" strike="noStrike">
                <a:solidFill>
                  <a:srgbClr val="202632"/>
                </a:solidFill>
                <a:latin typeface="Courier New"/>
              </a:rPr>
              <a:t> </a:t>
            </a:r>
            <a:r>
              <a:rPr b="0" lang="en-US" sz="1600" spc="-1" strike="noStrike">
                <a:solidFill>
                  <a:srgbClr val="40a070"/>
                </a:solidFill>
                <a:latin typeface="Courier New"/>
              </a:rPr>
              <a:t>6</a:t>
            </a:r>
            <a:r>
              <a:rPr b="0" lang="en-US" sz="1600" spc="-1" strike="noStrike">
                <a:solidFill>
                  <a:srgbClr val="202632"/>
                </a:solidFill>
                <a:latin typeface="Courier New"/>
              </a:rPr>
              <a:t>  </a:t>
            </a:r>
            <a:r>
              <a:rPr b="0" lang="en-US" sz="1600" spc="-1" strike="noStrike">
                <a:solidFill>
                  <a:srgbClr val="60a0b0"/>
                </a:solidFill>
                <a:latin typeface="Courier New"/>
              </a:rPr>
              <a:t># 30 degrees</a:t>
            </a:r>
            <a:endParaRPr b="0" lang="en-US" sz="1600" spc="-1" strike="noStrike">
              <a:solidFill>
                <a:srgbClr val="000000"/>
              </a:solidFill>
              <a:latin typeface="Arial"/>
            </a:endParaRPr>
          </a:p>
          <a:p>
            <a:pPr>
              <a:lnSpc>
                <a:spcPts val="1749"/>
              </a:lnSpc>
            </a:pP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def</a:t>
            </a:r>
            <a:r>
              <a:rPr b="0" lang="en-US" sz="1600" spc="-1" strike="noStrike">
                <a:solidFill>
                  <a:srgbClr val="bbbbbb"/>
                </a:solidFill>
                <a:latin typeface="Courier New"/>
              </a:rPr>
              <a:t> </a:t>
            </a:r>
            <a:r>
              <a:rPr b="0" lang="en-US" sz="1600" spc="-1" strike="noStrike">
                <a:solidFill>
                  <a:srgbClr val="06287e"/>
                </a:solidFill>
                <a:latin typeface="Courier New"/>
              </a:rPr>
              <a:t>prepare</a:t>
            </a:r>
            <a:r>
              <a:rPr b="0" lang="en-US" sz="1600" spc="-1" strike="noStrike">
                <a:solidFill>
                  <a:srgbClr val="202632"/>
                </a:solidFill>
                <a:latin typeface="Courier New"/>
              </a:rPr>
              <a:t>(</a:t>
            </a:r>
            <a:r>
              <a:rPr b="0" lang="en-US" sz="1600" spc="-1" strike="noStrike">
                <a:solidFill>
                  <a:srgbClr val="007020"/>
                </a:solidFill>
                <a:latin typeface="Courier New"/>
              </a:rPr>
              <a:t>self</a:t>
            </a:r>
            <a:r>
              <a:rPr b="0" lang="en-US" sz="1600" spc="-1" strike="noStrike">
                <a:solidFill>
                  <a:srgbClr val="202632"/>
                </a:solidFill>
                <a:latin typeface="Courier New"/>
              </a:rPr>
              <a:t>, yaw, path_heading, goal_distance):</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self</a:t>
            </a:r>
            <a:r>
              <a:rPr b="0" lang="en-US" sz="1600" spc="-1" strike="noStrike">
                <a:solidFill>
                  <a:srgbClr val="666666"/>
                </a:solidFill>
                <a:latin typeface="Courier New"/>
              </a:rPr>
              <a:t>.</a:t>
            </a:r>
            <a:r>
              <a:rPr b="0" lang="en-US" sz="1600" spc="-1" strike="noStrike">
                <a:solidFill>
                  <a:srgbClr val="202632"/>
                </a:solidFill>
                <a:latin typeface="Courier New"/>
              </a:rPr>
              <a:t>yaw, </a:t>
            </a:r>
            <a:r>
              <a:rPr b="0" lang="en-US" sz="1600" spc="-1" strike="noStrike">
                <a:solidFill>
                  <a:srgbClr val="007020"/>
                </a:solidFill>
                <a:latin typeface="Courier New"/>
              </a:rPr>
              <a:t>self</a:t>
            </a:r>
            <a:r>
              <a:rPr b="0" lang="en-US" sz="1600" spc="-1" strike="noStrike">
                <a:solidFill>
                  <a:srgbClr val="666666"/>
                </a:solidFill>
                <a:latin typeface="Courier New"/>
              </a:rPr>
              <a:t>.</a:t>
            </a:r>
            <a:r>
              <a:rPr b="0" lang="en-US" sz="1600" spc="-1" strike="noStrike">
                <a:solidFill>
                  <a:srgbClr val="202632"/>
                </a:solidFill>
                <a:latin typeface="Courier New"/>
              </a:rPr>
              <a:t>heading </a:t>
            </a:r>
            <a:r>
              <a:rPr b="0" lang="en-US" sz="1600" spc="-1" strike="noStrike">
                <a:solidFill>
                  <a:srgbClr val="666666"/>
                </a:solidFill>
                <a:latin typeface="Courier New"/>
              </a:rPr>
              <a:t>=</a:t>
            </a:r>
            <a:r>
              <a:rPr b="0" lang="en-US" sz="1600" spc="-1" strike="noStrike">
                <a:solidFill>
                  <a:srgbClr val="202632"/>
                </a:solidFill>
                <a:latin typeface="Courier New"/>
              </a:rPr>
              <a:t> yaw, path_heading</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self</a:t>
            </a:r>
            <a:r>
              <a:rPr b="0" lang="en-US" sz="1600" spc="-1" strike="noStrike">
                <a:solidFill>
                  <a:srgbClr val="666666"/>
                </a:solidFill>
                <a:latin typeface="Courier New"/>
              </a:rPr>
              <a:t>.</a:t>
            </a:r>
            <a:r>
              <a:rPr b="0" lang="en-US" sz="1600" spc="-1" strike="noStrike">
                <a:solidFill>
                  <a:srgbClr val="202632"/>
                </a:solidFill>
                <a:latin typeface="Courier New"/>
              </a:rPr>
              <a:t>near_goal </a:t>
            </a:r>
            <a:r>
              <a:rPr b="0" lang="en-US" sz="1600" spc="-1" strike="noStrike">
                <a:solidFill>
                  <a:srgbClr val="666666"/>
                </a:solidFill>
                <a:latin typeface="Courier New"/>
              </a:rPr>
              <a:t>=</a:t>
            </a:r>
            <a:r>
              <a:rPr b="0" lang="en-US" sz="1600" spc="-1" strike="noStrike">
                <a:solidFill>
                  <a:srgbClr val="202632"/>
                </a:solidFill>
                <a:latin typeface="Courier New"/>
              </a:rPr>
              <a:t> goal_distance </a:t>
            </a:r>
            <a:r>
              <a:rPr b="0" lang="en-US" sz="1600" spc="-1" strike="noStrike">
                <a:solidFill>
                  <a:srgbClr val="666666"/>
                </a:solidFill>
                <a:latin typeface="Courier New"/>
              </a:rPr>
              <a:t>&lt;=</a:t>
            </a:r>
            <a:r>
              <a:rPr b="0" lang="en-US" sz="1600" spc="-1" strike="noStrike">
                <a:solidFill>
                  <a:srgbClr val="202632"/>
                </a:solidFill>
                <a:latin typeface="Courier New"/>
              </a:rPr>
              <a:t> </a:t>
            </a:r>
            <a:r>
              <a:rPr b="0" lang="en-US" sz="1600" spc="-1" strike="noStrike">
                <a:solidFill>
                  <a:srgbClr val="40a070"/>
                </a:solidFill>
                <a:latin typeface="Courier New"/>
              </a:rPr>
              <a:t>0.25</a:t>
            </a:r>
            <a:endParaRPr b="0" lang="en-US" sz="1600" spc="-1" strike="noStrike">
              <a:solidFill>
                <a:srgbClr val="000000"/>
              </a:solidFill>
              <a:latin typeface="Arial"/>
            </a:endParaRPr>
          </a:p>
          <a:p>
            <a:pPr>
              <a:lnSpc>
                <a:spcPts val="1749"/>
              </a:lnSpc>
            </a:pP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def</a:t>
            </a:r>
            <a:r>
              <a:rPr b="0" lang="en-US" sz="1600" spc="-1" strike="noStrike">
                <a:solidFill>
                  <a:srgbClr val="bbbbbb"/>
                </a:solidFill>
                <a:latin typeface="Courier New"/>
              </a:rPr>
              <a:t> </a:t>
            </a:r>
            <a:r>
              <a:rPr b="0" lang="en-US" sz="1600" spc="-1" strike="noStrike">
                <a:solidFill>
                  <a:srgbClr val="06287e"/>
                </a:solidFill>
                <a:latin typeface="Courier New"/>
              </a:rPr>
              <a:t>score</a:t>
            </a:r>
            <a:r>
              <a:rPr b="0" lang="en-US" sz="1600" spc="-1" strike="noStrike">
                <a:solidFill>
                  <a:srgbClr val="202632"/>
                </a:solidFill>
                <a:latin typeface="Courier New"/>
              </a:rPr>
              <a:t>(</a:t>
            </a:r>
            <a:r>
              <a:rPr b="0" lang="en-US" sz="1600" spc="-1" strike="noStrike">
                <a:solidFill>
                  <a:srgbClr val="007020"/>
                </a:solidFill>
                <a:latin typeface="Courier New"/>
              </a:rPr>
              <a:t>self</a:t>
            </a:r>
            <a:r>
              <a:rPr b="0" lang="en-US" sz="1600" spc="-1" strike="noStrike">
                <a:solidFill>
                  <a:srgbClr val="202632"/>
                </a:solidFill>
                <a:latin typeface="Courier New"/>
              </a:rPr>
              <a:t>, vx, vy, wz, final_heading):</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202632"/>
                </a:solidFill>
                <a:latin typeface="Courier New"/>
              </a:rPr>
              <a:t>moving </a:t>
            </a:r>
            <a:r>
              <a:rPr b="0" lang="en-US" sz="1600" spc="-1" strike="noStrike">
                <a:solidFill>
                  <a:srgbClr val="666666"/>
                </a:solidFill>
                <a:latin typeface="Courier New"/>
              </a:rPr>
              <a:t>=</a:t>
            </a:r>
            <a:r>
              <a:rPr b="0" lang="en-US" sz="1600" spc="-1" strike="noStrike">
                <a:solidFill>
                  <a:srgbClr val="202632"/>
                </a:solidFill>
                <a:latin typeface="Courier New"/>
              </a:rPr>
              <a:t> math</a:t>
            </a:r>
            <a:r>
              <a:rPr b="0" lang="en-US" sz="1600" spc="-1" strike="noStrike">
                <a:solidFill>
                  <a:srgbClr val="666666"/>
                </a:solidFill>
                <a:latin typeface="Courier New"/>
              </a:rPr>
              <a:t>.</a:t>
            </a:r>
            <a:r>
              <a:rPr b="0" lang="en-US" sz="1600" spc="-1" strike="noStrike">
                <a:solidFill>
                  <a:srgbClr val="202632"/>
                </a:solidFill>
                <a:latin typeface="Courier New"/>
              </a:rPr>
              <a:t>hypot(vx, vy) </a:t>
            </a:r>
            <a:r>
              <a:rPr b="0" lang="en-US" sz="1600" spc="-1" strike="noStrike">
                <a:solidFill>
                  <a:srgbClr val="666666"/>
                </a:solidFill>
                <a:latin typeface="Courier New"/>
              </a:rPr>
              <a:t>&gt;</a:t>
            </a:r>
            <a:r>
              <a:rPr b="0" lang="en-US" sz="1600" spc="-1" strike="noStrike">
                <a:solidFill>
                  <a:srgbClr val="202632"/>
                </a:solidFill>
                <a:latin typeface="Courier New"/>
              </a:rPr>
              <a:t> </a:t>
            </a:r>
            <a:r>
              <a:rPr b="0" lang="en-US" sz="1600" spc="-1" strike="noStrike">
                <a:solidFill>
                  <a:srgbClr val="40a070"/>
                </a:solidFill>
                <a:latin typeface="Courier New"/>
              </a:rPr>
              <a:t>0.0001</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if</a:t>
            </a:r>
            <a:r>
              <a:rPr b="0" lang="en-US" sz="1600" spc="-1" strike="noStrike">
                <a:solidFill>
                  <a:srgbClr val="202632"/>
                </a:solidFill>
                <a:latin typeface="Courier New"/>
              </a:rPr>
              <a:t> moving </a:t>
            </a:r>
            <a:r>
              <a:rPr b="0" lang="en-US" sz="1600" spc="-1" strike="noStrike">
                <a:solidFill>
                  <a:srgbClr val="007020"/>
                </a:solidFill>
                <a:latin typeface="Courier New"/>
              </a:rPr>
              <a:t>and</a:t>
            </a:r>
            <a:r>
              <a:rPr b="0" lang="en-US" sz="1600" spc="-1" strike="noStrike">
                <a:solidFill>
                  <a:srgbClr val="202632"/>
                </a:solidFill>
                <a:latin typeface="Courier New"/>
              </a:rPr>
              <a:t> </a:t>
            </a:r>
            <a:r>
              <a:rPr b="0" lang="en-US" sz="1600" spc="-1" strike="noStrike">
                <a:solidFill>
                  <a:srgbClr val="007020"/>
                </a:solidFill>
                <a:latin typeface="Courier New"/>
              </a:rPr>
              <a:t>abs</a:t>
            </a:r>
            <a:r>
              <a:rPr b="0" lang="en-US" sz="1600" spc="-1" strike="noStrike">
                <a:solidFill>
                  <a:srgbClr val="202632"/>
                </a:solidFill>
                <a:latin typeface="Courier New"/>
              </a:rPr>
              <a:t>(math</a:t>
            </a:r>
            <a:r>
              <a:rPr b="0" lang="en-US" sz="1600" spc="-1" strike="noStrike">
                <a:solidFill>
                  <a:srgbClr val="666666"/>
                </a:solidFill>
                <a:latin typeface="Courier New"/>
              </a:rPr>
              <a:t>.</a:t>
            </a:r>
            <a:r>
              <a:rPr b="0" lang="en-US" sz="1600" spc="-1" strike="noStrike">
                <a:solidFill>
                  <a:srgbClr val="202632"/>
                </a:solidFill>
                <a:latin typeface="Courier New"/>
              </a:rPr>
              <a:t>atan2(vy, vx)) </a:t>
            </a:r>
            <a:r>
              <a:rPr b="0" lang="en-US" sz="1600" spc="-1" strike="noStrike">
                <a:solidFill>
                  <a:srgbClr val="666666"/>
                </a:solidFill>
                <a:latin typeface="Courier New"/>
              </a:rPr>
              <a:t>&gt;</a:t>
            </a:r>
            <a:r>
              <a:rPr b="0" lang="en-US" sz="1600" spc="-1" strike="noStrike">
                <a:solidFill>
                  <a:srgbClr val="202632"/>
                </a:solidFill>
                <a:latin typeface="Courier New"/>
              </a:rPr>
              <a:t> </a:t>
            </a:r>
            <a:r>
              <a:rPr b="0" lang="en-US" sz="1600" spc="-1" strike="noStrike">
                <a:solidFill>
                  <a:srgbClr val="007020"/>
                </a:solidFill>
                <a:latin typeface="Courier New"/>
              </a:rPr>
              <a:t>self</a:t>
            </a:r>
            <a:r>
              <a:rPr b="0" lang="en-US" sz="1600" spc="-1" strike="noStrike">
                <a:solidFill>
                  <a:srgbClr val="666666"/>
                </a:solidFill>
                <a:latin typeface="Courier New"/>
              </a:rPr>
              <a:t>.</a:t>
            </a:r>
            <a:r>
              <a:rPr b="0" lang="en-US" sz="1600" spc="-1" strike="noStrike">
                <a:solidFill>
                  <a:srgbClr val="202632"/>
                </a:solidFill>
                <a:latin typeface="Courier New"/>
              </a:rPr>
              <a:t>cone:</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return</a:t>
            </a:r>
            <a:r>
              <a:rPr b="0" lang="en-US" sz="1600" spc="-1" strike="noStrike">
                <a:solidFill>
                  <a:srgbClr val="202632"/>
                </a:solidFill>
                <a:latin typeface="Courier New"/>
              </a:rPr>
              <a:t> </a:t>
            </a:r>
            <a:r>
              <a:rPr b="0" lang="en-US" sz="1600" spc="-1" strike="noStrike">
                <a:solidFill>
                  <a:srgbClr val="007020"/>
                </a:solidFill>
                <a:latin typeface="Courier New"/>
              </a:rPr>
              <a:t>None</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if</a:t>
            </a:r>
            <a:r>
              <a:rPr b="0" lang="en-US" sz="1600" spc="-1" strike="noStrike">
                <a:solidFill>
                  <a:srgbClr val="202632"/>
                </a:solidFill>
                <a:latin typeface="Courier New"/>
              </a:rPr>
              <a:t> </a:t>
            </a:r>
            <a:r>
              <a:rPr b="0" lang="en-US" sz="1600" spc="-1" strike="noStrike">
                <a:solidFill>
                  <a:srgbClr val="007020"/>
                </a:solidFill>
                <a:latin typeface="Courier New"/>
              </a:rPr>
              <a:t>self</a:t>
            </a:r>
            <a:r>
              <a:rPr b="0" lang="en-US" sz="1600" spc="-1" strike="noStrike">
                <a:solidFill>
                  <a:srgbClr val="666666"/>
                </a:solidFill>
                <a:latin typeface="Courier New"/>
              </a:rPr>
              <a:t>.</a:t>
            </a:r>
            <a:r>
              <a:rPr b="0" lang="en-US" sz="1600" spc="-1" strike="noStrike">
                <a:solidFill>
                  <a:srgbClr val="202632"/>
                </a:solidFill>
                <a:latin typeface="Courier New"/>
              </a:rPr>
              <a:t>near_goal:</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return</a:t>
            </a:r>
            <a:r>
              <a:rPr b="0" lang="en-US" sz="1600" spc="-1" strike="noStrike">
                <a:solidFill>
                  <a:srgbClr val="202632"/>
                </a:solidFill>
                <a:latin typeface="Courier New"/>
              </a:rPr>
              <a:t> </a:t>
            </a:r>
            <a:r>
              <a:rPr b="0" lang="en-US" sz="1600" spc="-1" strike="noStrike">
                <a:solidFill>
                  <a:srgbClr val="40a070"/>
                </a:solidFill>
                <a:latin typeface="Courier New"/>
              </a:rPr>
              <a:t>0.0</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if</a:t>
            </a:r>
            <a:r>
              <a:rPr b="0" lang="en-US" sz="1600" spc="-1" strike="noStrike">
                <a:solidFill>
                  <a:srgbClr val="202632"/>
                </a:solidFill>
                <a:latin typeface="Courier New"/>
              </a:rPr>
              <a:t> moving </a:t>
            </a:r>
            <a:r>
              <a:rPr b="0" lang="en-US" sz="1600" spc="-1" strike="noStrike">
                <a:solidFill>
                  <a:srgbClr val="007020"/>
                </a:solidFill>
                <a:latin typeface="Courier New"/>
              </a:rPr>
              <a:t>and</a:t>
            </a:r>
            <a:r>
              <a:rPr b="0" lang="en-US" sz="1600" spc="-1" strike="noStrike">
                <a:solidFill>
                  <a:srgbClr val="202632"/>
                </a:solidFill>
                <a:latin typeface="Courier New"/>
              </a:rPr>
              <a:t> </a:t>
            </a:r>
            <a:r>
              <a:rPr b="0" lang="en-US" sz="1600" spc="-1" strike="noStrike">
                <a:solidFill>
                  <a:srgbClr val="007020"/>
                </a:solidFill>
                <a:latin typeface="Courier New"/>
              </a:rPr>
              <a:t>abs</a:t>
            </a:r>
            <a:r>
              <a:rPr b="0" lang="en-US" sz="1600" spc="-1" strike="noStrike">
                <a:solidFill>
                  <a:srgbClr val="202632"/>
                </a:solidFill>
                <a:latin typeface="Courier New"/>
              </a:rPr>
              <a:t>(angle(</a:t>
            </a:r>
            <a:r>
              <a:rPr b="0" lang="en-US" sz="1600" spc="-1" strike="noStrike">
                <a:solidFill>
                  <a:srgbClr val="007020"/>
                </a:solidFill>
                <a:latin typeface="Courier New"/>
              </a:rPr>
              <a:t>self</a:t>
            </a:r>
            <a:r>
              <a:rPr b="0" lang="en-US" sz="1600" spc="-1" strike="noStrike">
                <a:solidFill>
                  <a:srgbClr val="666666"/>
                </a:solidFill>
                <a:latin typeface="Courier New"/>
              </a:rPr>
              <a:t>.</a:t>
            </a:r>
            <a:r>
              <a:rPr b="0" lang="en-US" sz="1600" spc="-1" strike="noStrike">
                <a:solidFill>
                  <a:srgbClr val="202632"/>
                </a:solidFill>
                <a:latin typeface="Courier New"/>
              </a:rPr>
              <a:t>heading </a:t>
            </a:r>
            <a:r>
              <a:rPr b="0" lang="en-US" sz="1600" spc="-1" strike="noStrike">
                <a:solidFill>
                  <a:srgbClr val="666666"/>
                </a:solidFill>
                <a:latin typeface="Courier New"/>
              </a:rPr>
              <a:t>-</a:t>
            </a:r>
            <a:r>
              <a:rPr b="0" lang="en-US" sz="1600" spc="-1" strike="noStrike">
                <a:solidFill>
                  <a:srgbClr val="202632"/>
                </a:solidFill>
                <a:latin typeface="Courier New"/>
              </a:rPr>
              <a:t> </a:t>
            </a:r>
            <a:r>
              <a:rPr b="0" lang="en-US" sz="1600" spc="-1" strike="noStrike">
                <a:solidFill>
                  <a:srgbClr val="007020"/>
                </a:solidFill>
                <a:latin typeface="Courier New"/>
              </a:rPr>
              <a:t>self</a:t>
            </a:r>
            <a:r>
              <a:rPr b="0" lang="en-US" sz="1600" spc="-1" strike="noStrike">
                <a:solidFill>
                  <a:srgbClr val="666666"/>
                </a:solidFill>
                <a:latin typeface="Courier New"/>
              </a:rPr>
              <a:t>.</a:t>
            </a:r>
            <a:r>
              <a:rPr b="0" lang="en-US" sz="1600" spc="-1" strike="noStrike">
                <a:solidFill>
                  <a:srgbClr val="202632"/>
                </a:solidFill>
                <a:latin typeface="Courier New"/>
              </a:rPr>
              <a:t>yaw)) </a:t>
            </a:r>
            <a:r>
              <a:rPr b="0" lang="en-US" sz="1600" spc="-1" strike="noStrike">
                <a:solidFill>
                  <a:srgbClr val="666666"/>
                </a:solidFill>
                <a:latin typeface="Courier New"/>
              </a:rPr>
              <a:t>&gt;</a:t>
            </a:r>
            <a:r>
              <a:rPr b="0" lang="en-US" sz="1600" spc="-1" strike="noStrike">
                <a:solidFill>
                  <a:srgbClr val="202632"/>
                </a:solidFill>
                <a:latin typeface="Courier New"/>
              </a:rPr>
              <a:t> </a:t>
            </a:r>
            <a:r>
              <a:rPr b="0" lang="en-US" sz="1600" spc="-1" strike="noStrike">
                <a:solidFill>
                  <a:srgbClr val="007020"/>
                </a:solidFill>
                <a:latin typeface="Courier New"/>
              </a:rPr>
              <a:t>self</a:t>
            </a:r>
            <a:r>
              <a:rPr b="0" lang="en-US" sz="1600" spc="-1" strike="noStrike">
                <a:solidFill>
                  <a:srgbClr val="666666"/>
                </a:solidFill>
                <a:latin typeface="Courier New"/>
              </a:rPr>
              <a:t>.</a:t>
            </a:r>
            <a:r>
              <a:rPr b="0" lang="en-US" sz="1600" spc="-1" strike="noStrike">
                <a:solidFill>
                  <a:srgbClr val="202632"/>
                </a:solidFill>
                <a:latin typeface="Courier New"/>
              </a:rPr>
              <a:t>cone:</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return</a:t>
            </a:r>
            <a:r>
              <a:rPr b="0" lang="en-US" sz="1600" spc="-1" strike="noStrike">
                <a:solidFill>
                  <a:srgbClr val="202632"/>
                </a:solidFill>
                <a:latin typeface="Courier New"/>
              </a:rPr>
              <a:t> </a:t>
            </a:r>
            <a:r>
              <a:rPr b="0" lang="en-US" sz="1600" spc="-1" strike="noStrike">
                <a:solidFill>
                  <a:srgbClr val="007020"/>
                </a:solidFill>
                <a:latin typeface="Courier New"/>
              </a:rPr>
              <a:t>None</a:t>
            </a:r>
            <a:endParaRPr b="0" lang="en-US" sz="1600" spc="-1" strike="noStrike">
              <a:solidFill>
                <a:srgbClr val="000000"/>
              </a:solidFill>
              <a:latin typeface="Arial"/>
            </a:endParaRPr>
          </a:p>
          <a:p>
            <a:pPr>
              <a:lnSpc>
                <a:spcPts val="1749"/>
              </a:lnSpc>
            </a:pPr>
            <a:r>
              <a:rPr b="0" lang="en-US" sz="1600" spc="-1" strike="noStrike">
                <a:solidFill>
                  <a:srgbClr val="202632"/>
                </a:solidFill>
                <a:latin typeface="Courier New"/>
              </a:rPr>
              <a:t>        </a:t>
            </a:r>
            <a:r>
              <a:rPr b="0" lang="en-US" sz="1600" spc="-1" strike="noStrike">
                <a:solidFill>
                  <a:srgbClr val="007020"/>
                </a:solidFill>
                <a:latin typeface="Courier New"/>
              </a:rPr>
              <a:t>return</a:t>
            </a:r>
            <a:r>
              <a:rPr b="0" lang="en-US" sz="1600" spc="-1" strike="noStrike">
                <a:solidFill>
                  <a:srgbClr val="202632"/>
                </a:solidFill>
                <a:latin typeface="Courier New"/>
              </a:rPr>
              <a:t> </a:t>
            </a:r>
            <a:r>
              <a:rPr b="0" lang="en-US" sz="1600" spc="-1" strike="noStrike">
                <a:solidFill>
                  <a:srgbClr val="40a070"/>
                </a:solidFill>
                <a:latin typeface="Courier New"/>
              </a:rPr>
              <a:t>80.0</a:t>
            </a:r>
            <a:r>
              <a:rPr b="0" lang="en-US" sz="1600" spc="-1" strike="noStrike">
                <a:solidFill>
                  <a:srgbClr val="202632"/>
                </a:solidFill>
                <a:latin typeface="Courier New"/>
              </a:rPr>
              <a:t> </a:t>
            </a:r>
            <a:r>
              <a:rPr b="0" lang="en-US" sz="1600" spc="-1" strike="noStrike">
                <a:solidFill>
                  <a:srgbClr val="666666"/>
                </a:solidFill>
                <a:latin typeface="Courier New"/>
              </a:rPr>
              <a:t>*</a:t>
            </a:r>
            <a:r>
              <a:rPr b="0" lang="en-US" sz="1600" spc="-1" strike="noStrike">
                <a:solidFill>
                  <a:srgbClr val="202632"/>
                </a:solidFill>
                <a:latin typeface="Courier New"/>
              </a:rPr>
              <a:t> angle(</a:t>
            </a:r>
            <a:r>
              <a:rPr b="0" lang="en-US" sz="1600" spc="-1" strike="noStrike">
                <a:solidFill>
                  <a:srgbClr val="007020"/>
                </a:solidFill>
                <a:latin typeface="Courier New"/>
              </a:rPr>
              <a:t>self</a:t>
            </a:r>
            <a:r>
              <a:rPr b="0" lang="en-US" sz="1600" spc="-1" strike="noStrike">
                <a:solidFill>
                  <a:srgbClr val="666666"/>
                </a:solidFill>
                <a:latin typeface="Courier New"/>
              </a:rPr>
              <a:t>.</a:t>
            </a:r>
            <a:r>
              <a:rPr b="0" lang="en-US" sz="1600" spc="-1" strike="noStrike">
                <a:solidFill>
                  <a:srgbClr val="202632"/>
                </a:solidFill>
                <a:latin typeface="Courier New"/>
              </a:rPr>
              <a:t>heading </a:t>
            </a:r>
            <a:r>
              <a:rPr b="0" lang="en-US" sz="1600" spc="-1" strike="noStrike">
                <a:solidFill>
                  <a:srgbClr val="666666"/>
                </a:solidFill>
                <a:latin typeface="Courier New"/>
              </a:rPr>
              <a:t>-</a:t>
            </a:r>
            <a:r>
              <a:rPr b="0" lang="en-US" sz="1600" spc="-1" strike="noStrike">
                <a:solidFill>
                  <a:srgbClr val="202632"/>
                </a:solidFill>
                <a:latin typeface="Courier New"/>
              </a:rPr>
              <a:t> final_heading)</a:t>
            </a:r>
            <a:r>
              <a:rPr b="0" lang="en-US" sz="1600" spc="-1" strike="noStrike">
                <a:solidFill>
                  <a:srgbClr val="666666"/>
                </a:solidFill>
                <a:latin typeface="Courier New"/>
              </a:rPr>
              <a:t>**</a:t>
            </a:r>
            <a:r>
              <a:rPr b="0" lang="en-US" sz="1600" spc="-1" strike="noStrike">
                <a:solidFill>
                  <a:srgbClr val="40a070"/>
                </a:solidFill>
                <a:latin typeface="Courier New"/>
              </a:rPr>
              <a:t>2</a:t>
            </a:r>
            <a:endParaRPr b="0" lang="en-US" sz="1600" spc="-1" strike="noStrike">
              <a:solidFill>
                <a:srgbClr val="000000"/>
              </a:solidFill>
              <a:latin typeface="Arial"/>
            </a:endParaRPr>
          </a:p>
          <a:p>
            <a:pPr>
              <a:lnSpc>
                <a:spcPts val="1749"/>
              </a:lnSpc>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5" name="Picture 5" descr=""/>
          <p:cNvPicPr/>
          <p:nvPr/>
        </p:nvPicPr>
        <p:blipFill>
          <a:blip r:embed="rId1"/>
          <a:stretch/>
        </p:blipFill>
        <p:spPr>
          <a:xfrm>
            <a:off x="10623600" y="345600"/>
            <a:ext cx="1058400" cy="1058400"/>
          </a:xfrm>
          <a:prstGeom prst="rect">
            <a:avLst/>
          </a:prstGeom>
          <a:ln w="0">
            <a:noFill/>
          </a:ln>
        </p:spPr>
      </p:pic>
      <p:cxnSp>
        <p:nvCxnSpPr>
          <p:cNvPr id="366" name="Straight Connector 7"/>
          <p:cNvCxnSpPr/>
          <p:nvPr/>
        </p:nvCxnSpPr>
        <p:spPr>
          <a:xfrm>
            <a:off x="0" y="1134720"/>
            <a:ext cx="4366080" cy="2520"/>
          </a:xfrm>
          <a:prstGeom prst="straightConnector1">
            <a:avLst/>
          </a:prstGeom>
          <a:ln w="38100">
            <a:solidFill>
              <a:srgbClr val="fed021"/>
            </a:solidFill>
            <a:round/>
          </a:ln>
        </p:spPr>
      </p:cxnSp>
      <p:sp>
        <p:nvSpPr>
          <p:cNvPr id="367"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spcAft>
                <a:spcPts val="499"/>
              </a:spcAft>
            </a:pPr>
            <a:r>
              <a:rPr b="0" lang="en-US" sz="2800" spc="-1" strike="noStrike">
                <a:solidFill>
                  <a:srgbClr val="031424"/>
                </a:solidFill>
                <a:latin typeface="Roboto"/>
              </a:rPr>
              <a:t>Navigation: turn first, then move forward</a:t>
            </a:r>
            <a:endParaRPr b="0" lang="en-US" sz="2800" spc="-1" strike="noStrike">
              <a:solidFill>
                <a:srgbClr val="000000"/>
              </a:solidFill>
              <a:latin typeface="Arial"/>
            </a:endParaRPr>
          </a:p>
        </p:txBody>
      </p:sp>
      <p:sp>
        <p:nvSpPr>
          <p:cNvPr id="368" name="TextBox 210"/>
          <p:cNvSpPr/>
          <p:nvPr/>
        </p:nvSpPr>
        <p:spPr>
          <a:xfrm>
            <a:off x="640080" y="5897880"/>
            <a:ext cx="10972080" cy="456480"/>
          </a:xfrm>
          <a:prstGeom prst="rect">
            <a:avLst/>
          </a:prstGeom>
          <a:noFill/>
          <a:ln w="0">
            <a:noFill/>
          </a:ln>
        </p:spPr>
        <p:style>
          <a:lnRef idx="0"/>
          <a:fillRef idx="0"/>
          <a:effectRef idx="0"/>
          <a:fontRef idx="minor"/>
        </p:style>
        <p:txBody>
          <a:bodyPr lIns="0" rIns="0" tIns="45000" bIns="45000" anchor="t">
            <a:noAutofit/>
          </a:bodyPr>
          <a:p>
            <a:pPr>
              <a:lnSpc>
                <a:spcPct val="104000"/>
              </a:lnSpc>
              <a:tabLst>
                <a:tab algn="l" pos="0"/>
              </a:tabLst>
            </a:pPr>
            <a:r>
              <a:rPr b="0" lang="en-US" sz="1800" spc="-1" strike="noStrike">
                <a:solidFill>
                  <a:srgbClr val="031424"/>
                </a:solidFill>
                <a:latin typeface="DejaVu Sans Mono"/>
              </a:rPr>
              <a:t>./roscon_uk_2026/run_robot_demo.sh</a:t>
            </a:r>
            <a:r>
              <a:rPr b="0" lang="en-US" sz="1800" spc="-1" strike="noStrike">
                <a:solidFill>
                  <a:srgbClr val="bbbbbb"/>
                </a:solidFill>
                <a:latin typeface="DejaVu Sans Mono"/>
              </a:rPr>
              <a:t> </a:t>
            </a:r>
            <a:r>
              <a:rPr b="0" lang="en-US" sz="1800" spc="-1" strike="noStrike">
                <a:solidFill>
                  <a:srgbClr val="031424"/>
                </a:solidFill>
                <a:latin typeface="DejaVu Sans Mono"/>
              </a:rPr>
              <a:t>forward</a:t>
            </a:r>
            <a:endParaRPr b="0" lang="en-US" sz="1800" spc="-1" strike="noStrike">
              <a:solidFill>
                <a:srgbClr val="000000"/>
              </a:solidFill>
              <a:latin typeface="Arial"/>
            </a:endParaRPr>
          </a:p>
          <a:p>
            <a:pPr>
              <a:lnSpc>
                <a:spcPct val="104000"/>
              </a:lnSpc>
              <a:tabLst>
                <a:tab algn="l" pos="0"/>
              </a:tabLst>
            </a:pPr>
            <a:endParaRPr b="0" lang="en-US" sz="1800" spc="-1" strike="noStrike">
              <a:solidFill>
                <a:srgbClr val="000000"/>
              </a:solidFill>
              <a:latin typeface="Arial"/>
            </a:endParaRPr>
          </a:p>
        </p:txBody>
      </p:sp>
      <p:pic>
        <p:nvPicPr>
          <p:cNvPr id="369" name="" descr="">
            <a:hlinkClick r:id="" action="ppaction://media"/>
          </p:cNvPr>
          <p:cNvPicPr/>
          <p:nvPr>
            <a:videoFile r:link="rId2"/>
            <p:extLst>
              <p:ext uri="{DAA4B4D4-6D71-4841-9C94-3DE7FCFB9230}">
                <p14:media r:embed="rId3"/>
              </p:ext>
            </p:extLst>
          </p:nvPr>
        </p:nvPicPr>
        <p:blipFill>
          <a:blip r:embed="rId4"/>
          <a:stretch>
            <a:fillRect/>
          </a:stretch>
        </p:blipFill>
        <p:spPr>
          <a:xfrm>
            <a:off x="1828800" y="817200"/>
            <a:ext cx="8229600" cy="5143320"/>
          </a:xfrm>
          <a:prstGeom prst="rect">
            <a:avLst/>
          </a:prstGeom>
          <a:ln w="0">
            <a:noFill/>
          </a:ln>
        </p:spPr>
      </p:pic>
    </p:spTree>
  </p:cSld>
  <mc:AlternateContent>
    <mc:Choice Requires="p14">
      <p:transition spd="slow" p14:dur="2000"/>
    </mc:Choice>
    <mc:Fallback>
      <p:transition spd="slow"/>
    </mc:Fallback>
  </mc:AlternateContent>
  <p:timing>
    <p:tnLst>
      <p:par>
        <p:cTn id="2" dur="indefinite" restart="never" nodeType="tmRoot">
          <p:childTnLst>
            <p:video>
              <p:cMediaNode>
                <p:cTn>
                  <p:stCondLst>
                    <p:cond delay="indefinite"/>
                  </p:stCondLst>
                </p:cTn>
                <p:tgtEl>
                  <p:spTgt spid="369"/>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0" name="Picture 5" descr=""/>
          <p:cNvPicPr/>
          <p:nvPr/>
        </p:nvPicPr>
        <p:blipFill>
          <a:blip r:embed="rId1"/>
          <a:stretch/>
        </p:blipFill>
        <p:spPr>
          <a:xfrm>
            <a:off x="10623600" y="345600"/>
            <a:ext cx="1058400" cy="1058400"/>
          </a:xfrm>
          <a:prstGeom prst="rect">
            <a:avLst/>
          </a:prstGeom>
          <a:ln w="0">
            <a:noFill/>
          </a:ln>
        </p:spPr>
      </p:pic>
      <p:cxnSp>
        <p:nvCxnSpPr>
          <p:cNvPr id="371" name="Straight Connector 7"/>
          <p:cNvCxnSpPr/>
          <p:nvPr/>
        </p:nvCxnSpPr>
        <p:spPr>
          <a:xfrm>
            <a:off x="0" y="1134720"/>
            <a:ext cx="4366080" cy="2520"/>
          </a:xfrm>
          <a:prstGeom prst="straightConnector1">
            <a:avLst/>
          </a:prstGeom>
          <a:ln w="38100">
            <a:solidFill>
              <a:srgbClr val="fed021"/>
            </a:solidFill>
            <a:round/>
          </a:ln>
        </p:spPr>
      </p:cxnSp>
      <p:sp>
        <p:nvSpPr>
          <p:cNvPr id="372"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Python controller: what we write</a:t>
            </a:r>
            <a:endParaRPr b="0" lang="en-US" sz="2800" spc="-1" strike="noStrike">
              <a:solidFill>
                <a:srgbClr val="000000"/>
              </a:solidFill>
              <a:latin typeface="Arial"/>
            </a:endParaRPr>
          </a:p>
        </p:txBody>
      </p:sp>
      <p:sp>
        <p:nvSpPr>
          <p:cNvPr id="373" name="TextBox 207"/>
          <p:cNvSpPr/>
          <p:nvPr/>
        </p:nvSpPr>
        <p:spPr>
          <a:xfrm>
            <a:off x="640080" y="150876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185b91"/>
                </a:solidFill>
                <a:latin typeface="Courier New"/>
              </a:rPr>
              <a:t>Existing launcher + controller parameters</a:t>
            </a:r>
            <a:endParaRPr b="0" lang="en-US" sz="2000" spc="-1" strike="noStrike">
              <a:solidFill>
                <a:srgbClr val="000000"/>
              </a:solidFill>
              <a:latin typeface="Arial"/>
            </a:endParaRPr>
          </a:p>
        </p:txBody>
      </p:sp>
      <p:sp>
        <p:nvSpPr>
          <p:cNvPr id="374" name="TextBox 208"/>
          <p:cNvSpPr/>
          <p:nvPr/>
        </p:nvSpPr>
        <p:spPr>
          <a:xfrm>
            <a:off x="640080" y="196596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Export the kit adapter; select the Python module, class and joints.</a:t>
            </a:r>
            <a:endParaRPr b="0" lang="en-US" sz="2000" spc="-1" strike="noStrike">
              <a:solidFill>
                <a:srgbClr val="000000"/>
              </a:solidFill>
              <a:latin typeface="Arial"/>
            </a:endParaRPr>
          </a:p>
        </p:txBody>
      </p:sp>
      <p:sp>
        <p:nvSpPr>
          <p:cNvPr id="375" name="TextBox 209"/>
          <p:cNvSpPr/>
          <p:nvPr/>
        </p:nvSpPr>
        <p:spPr>
          <a:xfrm>
            <a:off x="640080" y="274320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185b91"/>
                </a:solidFill>
                <a:latin typeface="Courier New"/>
              </a:rPr>
              <a:t>hold_position.py</a:t>
            </a:r>
            <a:endParaRPr b="0" lang="en-US" sz="2000" spc="-1" strike="noStrike">
              <a:solidFill>
                <a:srgbClr val="000000"/>
              </a:solidFill>
              <a:latin typeface="Arial"/>
            </a:endParaRPr>
          </a:p>
        </p:txBody>
      </p:sp>
      <p:sp>
        <p:nvSpPr>
          <p:cNvPr id="376" name="TextBox 210"/>
          <p:cNvSpPr/>
          <p:nvPr/>
        </p:nvSpPr>
        <p:spPr>
          <a:xfrm>
            <a:off x="640080" y="320040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A complete small controller: capture joint positions and keep commanding them.</a:t>
            </a:r>
            <a:endParaRPr b="0" lang="en-US" sz="2000" spc="-1" strike="noStrike">
              <a:solidFill>
                <a:srgbClr val="000000"/>
              </a:solidFill>
              <a:latin typeface="Arial"/>
            </a:endParaRPr>
          </a:p>
        </p:txBody>
      </p:sp>
      <p:sp>
        <p:nvSpPr>
          <p:cNvPr id="377" name="TextBox 211"/>
          <p:cNvSpPr/>
          <p:nvPr/>
        </p:nvSpPr>
        <p:spPr>
          <a:xfrm>
            <a:off x="640080" y="397764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185b91"/>
                </a:solidFill>
                <a:latin typeface="Courier New"/>
              </a:rPr>
              <a:t>control_kit</a:t>
            </a:r>
            <a:endParaRPr b="0" lang="en-US" sz="2000" spc="-1" strike="noStrike">
              <a:solidFill>
                <a:srgbClr val="000000"/>
              </a:solidFill>
              <a:latin typeface="Arial"/>
            </a:endParaRPr>
          </a:p>
        </p:txBody>
      </p:sp>
      <p:sp>
        <p:nvSpPr>
          <p:cNvPr id="378" name="TextBox 212"/>
          <p:cNvSpPr/>
          <p:nvPr/>
        </p:nvSpPr>
        <p:spPr>
          <a:xfrm>
            <a:off x="640080" y="4434840"/>
            <a:ext cx="1078920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Supplies ControllerInterface, plugin export, lifecycle and joint-interface access.</a:t>
            </a:r>
            <a:endParaRPr b="0" lang="en-US" sz="2000" spc="-1" strike="noStrike">
              <a:solidFill>
                <a:srgbClr val="000000"/>
              </a:solidFill>
              <a:latin typeface="Arial"/>
            </a:endParaRPr>
          </a:p>
        </p:txBody>
      </p:sp>
      <p:sp>
        <p:nvSpPr>
          <p:cNvPr id="379" name="Rounded Rectangle 213"/>
          <p:cNvSpPr/>
          <p:nvPr/>
        </p:nvSpPr>
        <p:spPr>
          <a:xfrm>
            <a:off x="640080" y="5577840"/>
            <a:ext cx="10880640" cy="776520"/>
          </a:xfrm>
          <a:prstGeom prst="roundRect">
            <a:avLst>
              <a:gd name="adj" fmla="val 16667"/>
            </a:avLst>
          </a:prstGeom>
          <a:solidFill>
            <a:srgbClr val="fff0b7"/>
          </a:solidFill>
          <a:ln>
            <a:solidFill>
              <a:srgbClr val="c2922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80" name="TextBox 214"/>
          <p:cNvSpPr/>
          <p:nvPr/>
        </p:nvSpPr>
        <p:spPr>
          <a:xfrm>
            <a:off x="722520" y="5650920"/>
            <a:ext cx="10716120" cy="28944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900" spc="-1" strike="noStrike">
                <a:solidFill>
                  <a:srgbClr val="252b35"/>
                </a:solidFill>
                <a:latin typeface="Roboto"/>
              </a:rPr>
              <a:t>Manager loads the adapter → the adapter calls our Python class in the same process</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1" name="Picture 5" descr=""/>
          <p:cNvPicPr/>
          <p:nvPr/>
        </p:nvPicPr>
        <p:blipFill>
          <a:blip r:embed="rId1"/>
          <a:stretch/>
        </p:blipFill>
        <p:spPr>
          <a:xfrm>
            <a:off x="10623600" y="345600"/>
            <a:ext cx="1058400" cy="1058400"/>
          </a:xfrm>
          <a:prstGeom prst="rect">
            <a:avLst/>
          </a:prstGeom>
          <a:ln w="0">
            <a:noFill/>
          </a:ln>
        </p:spPr>
      </p:pic>
      <p:cxnSp>
        <p:nvCxnSpPr>
          <p:cNvPr id="382" name="Straight Connector 7"/>
          <p:cNvCxnSpPr/>
          <p:nvPr/>
        </p:nvCxnSpPr>
        <p:spPr>
          <a:xfrm>
            <a:off x="0" y="1134720"/>
            <a:ext cx="4366080" cy="2520"/>
          </a:xfrm>
          <a:prstGeom prst="straightConnector1">
            <a:avLst/>
          </a:prstGeom>
          <a:ln w="38100">
            <a:solidFill>
              <a:srgbClr val="fed021"/>
            </a:solidFill>
            <a:round/>
          </a:ln>
        </p:spPr>
      </p:cxnSp>
      <p:sp>
        <p:nvSpPr>
          <p:cNvPr id="383"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ros2_control: register the adapter and select our class</a:t>
            </a:r>
            <a:endParaRPr b="0" lang="en-US" sz="2800" spc="-1" strike="noStrike">
              <a:solidFill>
                <a:srgbClr val="000000"/>
              </a:solidFill>
              <a:latin typeface="Arial"/>
            </a:endParaRPr>
          </a:p>
        </p:txBody>
      </p:sp>
      <p:sp>
        <p:nvSpPr>
          <p:cNvPr id="384" name="TextBox 207"/>
          <p:cNvSpPr/>
          <p:nvPr/>
        </p:nvSpPr>
        <p:spPr>
          <a:xfrm>
            <a:off x="640080" y="1234440"/>
            <a:ext cx="10972080" cy="2743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800" spc="-1" strike="noStrike">
                <a:solidFill>
                  <a:srgbClr val="252b35"/>
                </a:solidFill>
                <a:latin typeface="Roboto"/>
              </a:rPr>
              <a:t>In the launcher, before starting Gazebo / controller_manager:</a:t>
            </a:r>
            <a:endParaRPr b="0" lang="en-US" sz="1800" spc="-1" strike="noStrike">
              <a:solidFill>
                <a:srgbClr val="000000"/>
              </a:solidFill>
              <a:latin typeface="Arial"/>
            </a:endParaRPr>
          </a:p>
        </p:txBody>
      </p:sp>
      <p:sp>
        <p:nvSpPr>
          <p:cNvPr id="385" name="Rectangle 208"/>
          <p:cNvSpPr/>
          <p:nvPr/>
        </p:nvSpPr>
        <p:spPr>
          <a:xfrm>
            <a:off x="640080" y="1737360"/>
            <a:ext cx="10880640" cy="1553760"/>
          </a:xfrm>
          <a:prstGeom prst="rect">
            <a:avLst/>
          </a:prstGeom>
          <a:solidFill>
            <a:srgbClr val="f3f6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86" name="TextBox 209"/>
          <p:cNvSpPr/>
          <p:nvPr/>
        </p:nvSpPr>
        <p:spPr>
          <a:xfrm>
            <a:off x="749880" y="1828800"/>
            <a:ext cx="10661040" cy="1257120"/>
          </a:xfrm>
          <a:prstGeom prst="rect">
            <a:avLst/>
          </a:prstGeom>
          <a:noFill/>
          <a:ln w="0">
            <a:noFill/>
          </a:ln>
        </p:spPr>
        <p:style>
          <a:lnRef idx="0"/>
          <a:fillRef idx="0"/>
          <a:effectRef idx="0"/>
          <a:fontRef idx="minor"/>
        </p:style>
        <p:txBody>
          <a:bodyPr lIns="0" rIns="0" tIns="0" bIns="0" anchor="t">
            <a:spAutoFit/>
          </a:bodyPr>
          <a:p>
            <a:pPr>
              <a:lnSpc>
                <a:spcPts val="1650"/>
              </a:lnSpc>
            </a:pPr>
            <a:r>
              <a:rPr b="0" lang="en-US" sz="1500" spc="-1" strike="noStrike">
                <a:solidFill>
                  <a:srgbClr val="007020"/>
                </a:solidFill>
                <a:latin typeface="Courier New"/>
              </a:rPr>
              <a:t>import</a:t>
            </a:r>
            <a:r>
              <a:rPr b="0" lang="en-US" sz="1500" spc="-1" strike="noStrike">
                <a:solidFill>
                  <a:srgbClr val="bbbbbb"/>
                </a:solidFill>
                <a:latin typeface="Courier New"/>
              </a:rPr>
              <a:t> </a:t>
            </a:r>
            <a:r>
              <a:rPr b="0" lang="en-US" sz="1500" spc="-1" strike="noStrike">
                <a:solidFill>
                  <a:srgbClr val="0e84b5"/>
                </a:solidFill>
                <a:latin typeface="Courier New"/>
              </a:rPr>
              <a:t>os</a:t>
            </a:r>
            <a:endParaRPr b="0" lang="en-US" sz="1500" spc="-1" strike="noStrike">
              <a:solidFill>
                <a:srgbClr val="000000"/>
              </a:solidFill>
              <a:latin typeface="Arial"/>
            </a:endParaRPr>
          </a:p>
          <a:p>
            <a:pPr>
              <a:lnSpc>
                <a:spcPts val="1650"/>
              </a:lnSpc>
            </a:pPr>
            <a:r>
              <a:rPr b="0" lang="en-US" sz="1500" spc="-1" strike="noStrike">
                <a:solidFill>
                  <a:srgbClr val="007020"/>
                </a:solidFill>
                <a:latin typeface="Courier New"/>
              </a:rPr>
              <a:t>from</a:t>
            </a:r>
            <a:r>
              <a:rPr b="0" lang="en-US" sz="1500" spc="-1" strike="noStrike">
                <a:solidFill>
                  <a:srgbClr val="bbbbbb"/>
                </a:solidFill>
                <a:latin typeface="Courier New"/>
              </a:rPr>
              <a:t> </a:t>
            </a:r>
            <a:r>
              <a:rPr b="0" lang="en-US" sz="1500" spc="-1" strike="noStrike">
                <a:solidFill>
                  <a:srgbClr val="0e84b5"/>
                </a:solidFill>
                <a:latin typeface="Courier New"/>
              </a:rPr>
              <a:t>control_kit.python_control</a:t>
            </a:r>
            <a:r>
              <a:rPr b="0" lang="en-US" sz="1500" spc="-1" strike="noStrike">
                <a:solidFill>
                  <a:srgbClr val="bbbbbb"/>
                </a:solidFill>
                <a:latin typeface="Courier New"/>
              </a:rPr>
              <a:t> </a:t>
            </a:r>
            <a:r>
              <a:rPr b="0" lang="en-US" sz="1500" spc="-1" strike="noStrike">
                <a:solidFill>
                  <a:srgbClr val="007020"/>
                </a:solidFill>
                <a:latin typeface="Courier New"/>
              </a:rPr>
              <a:t>import</a:t>
            </a:r>
            <a:r>
              <a:rPr b="0" lang="en-US" sz="1500" spc="-1" strike="noStrike">
                <a:solidFill>
                  <a:srgbClr val="202632"/>
                </a:solidFill>
                <a:latin typeface="Courier New"/>
              </a:rPr>
              <a:t> install_python_controller_plugin</a:t>
            </a:r>
            <a:endParaRPr b="0" lang="en-US" sz="1500" spc="-1" strike="noStrike">
              <a:solidFill>
                <a:srgbClr val="000000"/>
              </a:solidFill>
              <a:latin typeface="Arial"/>
            </a:endParaRPr>
          </a:p>
          <a:p>
            <a:pPr>
              <a:lnSpc>
                <a:spcPts val="1650"/>
              </a:lnSpc>
            </a:pPr>
            <a:endParaRPr b="0" lang="en-US" sz="1500" spc="-1" strike="noStrike">
              <a:solidFill>
                <a:srgbClr val="000000"/>
              </a:solidFill>
              <a:latin typeface="Arial"/>
            </a:endParaRPr>
          </a:p>
          <a:p>
            <a:pPr>
              <a:lnSpc>
                <a:spcPts val="1650"/>
              </a:lnSpc>
            </a:pPr>
            <a:r>
              <a:rPr b="0" lang="en-US" sz="1500" spc="-1" strike="noStrike">
                <a:solidFill>
                  <a:srgbClr val="202632"/>
                </a:solidFill>
                <a:latin typeface="Courier New"/>
              </a:rPr>
              <a:t>prefix </a:t>
            </a:r>
            <a:r>
              <a:rPr b="0" lang="en-US" sz="1500" spc="-1" strike="noStrike">
                <a:solidFill>
                  <a:srgbClr val="666666"/>
                </a:solidFill>
                <a:latin typeface="Courier New"/>
              </a:rPr>
              <a:t>=</a:t>
            </a:r>
            <a:r>
              <a:rPr b="0" lang="en-US" sz="1500" spc="-1" strike="noStrike">
                <a:solidFill>
                  <a:srgbClr val="202632"/>
                </a:solidFill>
                <a:latin typeface="Courier New"/>
              </a:rPr>
              <a:t> install_python_controller_plugin(</a:t>
            </a:r>
            <a:r>
              <a:rPr b="0" lang="en-US" sz="1500" spc="-1" strike="noStrike">
                <a:solidFill>
                  <a:srgbClr val="4070a0"/>
                </a:solidFill>
                <a:latin typeface="Courier New"/>
              </a:rPr>
              <a:t>"./plugin_overlay"</a:t>
            </a:r>
            <a:r>
              <a:rPr b="0" lang="en-US" sz="1500" spc="-1" strike="noStrike">
                <a:solidFill>
                  <a:srgbClr val="202632"/>
                </a:solidFill>
                <a:latin typeface="Courier New"/>
              </a:rPr>
              <a:t>)</a:t>
            </a:r>
            <a:endParaRPr b="0" lang="en-US" sz="1500" spc="-1" strike="noStrike">
              <a:solidFill>
                <a:srgbClr val="000000"/>
              </a:solidFill>
              <a:latin typeface="Arial"/>
            </a:endParaRPr>
          </a:p>
          <a:p>
            <a:pPr>
              <a:lnSpc>
                <a:spcPts val="1650"/>
              </a:lnSpc>
            </a:pPr>
            <a:r>
              <a:rPr b="0" lang="en-US" sz="1500" spc="-1" strike="noStrike">
                <a:solidFill>
                  <a:srgbClr val="202632"/>
                </a:solidFill>
                <a:latin typeface="Courier New"/>
              </a:rPr>
              <a:t>os</a:t>
            </a:r>
            <a:r>
              <a:rPr b="0" lang="en-US" sz="1500" spc="-1" strike="noStrike">
                <a:solidFill>
                  <a:srgbClr val="666666"/>
                </a:solidFill>
                <a:latin typeface="Courier New"/>
              </a:rPr>
              <a:t>.</a:t>
            </a:r>
            <a:r>
              <a:rPr b="0" lang="en-US" sz="1500" spc="-1" strike="noStrike">
                <a:solidFill>
                  <a:srgbClr val="202632"/>
                </a:solidFill>
                <a:latin typeface="Courier New"/>
              </a:rPr>
              <a:t>environ[</a:t>
            </a:r>
            <a:r>
              <a:rPr b="0" lang="en-US" sz="1500" spc="-1" strike="noStrike">
                <a:solidFill>
                  <a:srgbClr val="4070a0"/>
                </a:solidFill>
                <a:latin typeface="Courier New"/>
              </a:rPr>
              <a:t>"AMENT_PREFIX_PATH"</a:t>
            </a:r>
            <a:r>
              <a:rPr b="0" lang="en-US" sz="1500" spc="-1" strike="noStrike">
                <a:solidFill>
                  <a:srgbClr val="202632"/>
                </a:solidFill>
                <a:latin typeface="Courier New"/>
              </a:rPr>
              <a:t>] </a:t>
            </a:r>
            <a:r>
              <a:rPr b="0" lang="en-US" sz="1500" spc="-1" strike="noStrike">
                <a:solidFill>
                  <a:srgbClr val="666666"/>
                </a:solidFill>
                <a:latin typeface="Courier New"/>
              </a:rPr>
              <a:t>=</a:t>
            </a:r>
            <a:r>
              <a:rPr b="0" lang="en-US" sz="1500" spc="-1" strike="noStrike">
                <a:solidFill>
                  <a:srgbClr val="202632"/>
                </a:solidFill>
                <a:latin typeface="Courier New"/>
              </a:rPr>
              <a:t> prefix </a:t>
            </a:r>
            <a:r>
              <a:rPr b="0" lang="en-US" sz="1500" spc="-1" strike="noStrike">
                <a:solidFill>
                  <a:srgbClr val="666666"/>
                </a:solidFill>
                <a:latin typeface="Courier New"/>
              </a:rPr>
              <a:t>+</a:t>
            </a:r>
            <a:r>
              <a:rPr b="0" lang="en-US" sz="1500" spc="-1" strike="noStrike">
                <a:solidFill>
                  <a:srgbClr val="202632"/>
                </a:solidFill>
                <a:latin typeface="Courier New"/>
              </a:rPr>
              <a:t> </a:t>
            </a:r>
            <a:r>
              <a:rPr b="0" lang="en-US" sz="1500" spc="-1" strike="noStrike">
                <a:solidFill>
                  <a:srgbClr val="4070a0"/>
                </a:solidFill>
                <a:latin typeface="Courier New"/>
              </a:rPr>
              <a:t>":"</a:t>
            </a:r>
            <a:r>
              <a:rPr b="0" lang="en-US" sz="1500" spc="-1" strike="noStrike">
                <a:solidFill>
                  <a:srgbClr val="202632"/>
                </a:solidFill>
                <a:latin typeface="Courier New"/>
              </a:rPr>
              <a:t> </a:t>
            </a:r>
            <a:r>
              <a:rPr b="0" lang="en-US" sz="1500" spc="-1" strike="noStrike">
                <a:solidFill>
                  <a:srgbClr val="666666"/>
                </a:solidFill>
                <a:latin typeface="Courier New"/>
              </a:rPr>
              <a:t>+</a:t>
            </a:r>
            <a:r>
              <a:rPr b="0" lang="en-US" sz="1500" spc="-1" strike="noStrike">
                <a:solidFill>
                  <a:srgbClr val="202632"/>
                </a:solidFill>
                <a:latin typeface="Courier New"/>
              </a:rPr>
              <a:t> os</a:t>
            </a:r>
            <a:r>
              <a:rPr b="0" lang="en-US" sz="1500" spc="-1" strike="noStrike">
                <a:solidFill>
                  <a:srgbClr val="666666"/>
                </a:solidFill>
                <a:latin typeface="Courier New"/>
              </a:rPr>
              <a:t>.</a:t>
            </a:r>
            <a:r>
              <a:rPr b="0" lang="en-US" sz="1500" spc="-1" strike="noStrike">
                <a:solidFill>
                  <a:srgbClr val="202632"/>
                </a:solidFill>
                <a:latin typeface="Courier New"/>
              </a:rPr>
              <a:t>environ[</a:t>
            </a:r>
            <a:r>
              <a:rPr b="0" lang="en-US" sz="1500" spc="-1" strike="noStrike">
                <a:solidFill>
                  <a:srgbClr val="4070a0"/>
                </a:solidFill>
                <a:latin typeface="Courier New"/>
              </a:rPr>
              <a:t>"AMENT_PREFIX_PATH"</a:t>
            </a:r>
            <a:r>
              <a:rPr b="0" lang="en-US" sz="1500" spc="-1" strike="noStrike">
                <a:solidFill>
                  <a:srgbClr val="202632"/>
                </a:solidFill>
                <a:latin typeface="Courier New"/>
              </a:rPr>
              <a:t>]</a:t>
            </a:r>
            <a:endParaRPr b="0" lang="en-US" sz="1500" spc="-1" strike="noStrike">
              <a:solidFill>
                <a:srgbClr val="000000"/>
              </a:solidFill>
              <a:latin typeface="Arial"/>
            </a:endParaRPr>
          </a:p>
          <a:p>
            <a:pPr>
              <a:lnSpc>
                <a:spcPts val="1650"/>
              </a:lnSpc>
            </a:pPr>
            <a:endParaRPr b="0" lang="en-US" sz="1500" spc="-1" strike="noStrike">
              <a:solidFill>
                <a:srgbClr val="000000"/>
              </a:solidFill>
              <a:latin typeface="Arial"/>
            </a:endParaRPr>
          </a:p>
        </p:txBody>
      </p:sp>
      <p:sp>
        <p:nvSpPr>
          <p:cNvPr id="387" name="TextBox 210"/>
          <p:cNvSpPr/>
          <p:nvPr/>
        </p:nvSpPr>
        <p:spPr>
          <a:xfrm>
            <a:off x="640080" y="3474720"/>
            <a:ext cx="10972080" cy="2743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800" spc="-1" strike="noStrike">
                <a:solidFill>
                  <a:srgbClr val="252b35"/>
                </a:solidFill>
                <a:latin typeface="Roboto"/>
              </a:rPr>
              <a:t>Controller parameters (hold.yaml):</a:t>
            </a:r>
            <a:endParaRPr b="0" lang="en-US" sz="1800" spc="-1" strike="noStrike">
              <a:solidFill>
                <a:srgbClr val="000000"/>
              </a:solidFill>
              <a:latin typeface="Arial"/>
            </a:endParaRPr>
          </a:p>
        </p:txBody>
      </p:sp>
      <p:sp>
        <p:nvSpPr>
          <p:cNvPr id="388" name="Rectangle 211"/>
          <p:cNvSpPr/>
          <p:nvPr/>
        </p:nvSpPr>
        <p:spPr>
          <a:xfrm>
            <a:off x="640080" y="3931920"/>
            <a:ext cx="10880640" cy="2422440"/>
          </a:xfrm>
          <a:prstGeom prst="rect">
            <a:avLst/>
          </a:prstGeom>
          <a:solidFill>
            <a:srgbClr val="f3f6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89" name="TextBox 212"/>
          <p:cNvSpPr/>
          <p:nvPr/>
        </p:nvSpPr>
        <p:spPr>
          <a:xfrm>
            <a:off x="749880" y="4023360"/>
            <a:ext cx="10661040" cy="1776960"/>
          </a:xfrm>
          <a:prstGeom prst="rect">
            <a:avLst/>
          </a:prstGeom>
          <a:noFill/>
          <a:ln w="0">
            <a:noFill/>
          </a:ln>
        </p:spPr>
        <p:style>
          <a:lnRef idx="0"/>
          <a:fillRef idx="0"/>
          <a:effectRef idx="0"/>
          <a:fontRef idx="minor"/>
        </p:style>
        <p:txBody>
          <a:bodyPr lIns="0" rIns="0" tIns="0" bIns="0" anchor="t">
            <a:spAutoFit/>
          </a:bodyPr>
          <a:p>
            <a:pPr>
              <a:lnSpc>
                <a:spcPts val="1749"/>
              </a:lnSpc>
            </a:pPr>
            <a:r>
              <a:rPr b="0" lang="en-US" sz="1600" spc="-1" strike="noStrike">
                <a:solidFill>
                  <a:srgbClr val="062873"/>
                </a:solidFill>
                <a:latin typeface="Courier New"/>
              </a:rPr>
              <a:t>hold</a:t>
            </a:r>
            <a:r>
              <a:rPr b="0" lang="en-US" sz="1600" spc="-1" strike="noStrike">
                <a:solidFill>
                  <a:srgbClr val="202632"/>
                </a:solidFill>
                <a:latin typeface="Courier New"/>
              </a:rPr>
              <a:t>:</a:t>
            </a:r>
            <a:endParaRPr b="0" lang="en-US" sz="1600" spc="-1" strike="noStrike">
              <a:solidFill>
                <a:srgbClr val="000000"/>
              </a:solidFill>
              <a:latin typeface="Arial"/>
            </a:endParaRPr>
          </a:p>
          <a:p>
            <a:pPr>
              <a:lnSpc>
                <a:spcPts val="1749"/>
              </a:lnSpc>
            </a:pPr>
            <a:r>
              <a:rPr b="0" lang="en-US" sz="1600" spc="-1" strike="noStrike">
                <a:solidFill>
                  <a:srgbClr val="bbbbbb"/>
                </a:solidFill>
                <a:latin typeface="Courier New"/>
              </a:rPr>
              <a:t>  </a:t>
            </a:r>
            <a:r>
              <a:rPr b="0" lang="en-US" sz="1600" spc="-1" strike="noStrike">
                <a:solidFill>
                  <a:srgbClr val="062873"/>
                </a:solidFill>
                <a:latin typeface="Courier New"/>
              </a:rPr>
              <a:t>ros__parameters</a:t>
            </a:r>
            <a:r>
              <a:rPr b="0" lang="en-US" sz="1600" spc="-1" strike="noStrike">
                <a:solidFill>
                  <a:srgbClr val="202632"/>
                </a:solidFill>
                <a:latin typeface="Courier New"/>
              </a:rPr>
              <a:t>:</a:t>
            </a:r>
            <a:endParaRPr b="0" lang="en-US" sz="1600" spc="-1" strike="noStrike">
              <a:solidFill>
                <a:srgbClr val="000000"/>
              </a:solidFill>
              <a:latin typeface="Arial"/>
            </a:endParaRPr>
          </a:p>
          <a:p>
            <a:pPr>
              <a:lnSpc>
                <a:spcPts val="1749"/>
              </a:lnSpc>
            </a:pPr>
            <a:r>
              <a:rPr b="0" lang="en-US" sz="1600" spc="-1" strike="noStrike">
                <a:solidFill>
                  <a:srgbClr val="bbbbbb"/>
                </a:solidFill>
                <a:latin typeface="Courier New"/>
              </a:rPr>
              <a:t>    </a:t>
            </a:r>
            <a:r>
              <a:rPr b="0" lang="en-US" sz="1600" spc="-1" strike="noStrike">
                <a:solidFill>
                  <a:srgbClr val="062873"/>
                </a:solidFill>
                <a:latin typeface="Courier New"/>
              </a:rPr>
              <a:t>type</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control_kit_python/PythonController</a:t>
            </a:r>
            <a:endParaRPr b="0" lang="en-US" sz="1600" spc="-1" strike="noStrike">
              <a:solidFill>
                <a:srgbClr val="000000"/>
              </a:solidFill>
              <a:latin typeface="Arial"/>
            </a:endParaRPr>
          </a:p>
          <a:p>
            <a:pPr>
              <a:lnSpc>
                <a:spcPts val="1749"/>
              </a:lnSpc>
            </a:pPr>
            <a:r>
              <a:rPr b="0" lang="en-US" sz="1600" spc="-1" strike="noStrike">
                <a:solidFill>
                  <a:srgbClr val="bbbbbb"/>
                </a:solidFill>
                <a:latin typeface="Courier New"/>
              </a:rPr>
              <a:t>    </a:t>
            </a:r>
            <a:r>
              <a:rPr b="0" lang="en-US" sz="1600" spc="-1" strike="noStrike">
                <a:solidFill>
                  <a:srgbClr val="062873"/>
                </a:solidFill>
                <a:latin typeface="Courier New"/>
              </a:rPr>
              <a:t>joints</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a:t>
            </a:r>
            <a:r>
              <a:rPr b="0" lang="en-US" sz="1600" spc="-1" strike="noStrike">
                <a:solidFill>
                  <a:srgbClr val="bb60d5"/>
                </a:solidFill>
                <a:latin typeface="Courier New"/>
              </a:rPr>
              <a:t>joint_1</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bb60d5"/>
                </a:solidFill>
                <a:latin typeface="Courier New"/>
              </a:rPr>
              <a:t>joint_2</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60a0b0"/>
                </a:solidFill>
                <a:latin typeface="Courier New"/>
              </a:rPr>
              <a:t># Your position-controlled joints.</a:t>
            </a:r>
            <a:endParaRPr b="0" lang="en-US" sz="1600" spc="-1" strike="noStrike">
              <a:solidFill>
                <a:srgbClr val="000000"/>
              </a:solidFill>
              <a:latin typeface="Arial"/>
            </a:endParaRPr>
          </a:p>
          <a:p>
            <a:pPr>
              <a:lnSpc>
                <a:spcPts val="1749"/>
              </a:lnSpc>
            </a:pPr>
            <a:r>
              <a:rPr b="0" lang="en-US" sz="1600" spc="-1" strike="noStrike">
                <a:solidFill>
                  <a:srgbClr val="bbbbbb"/>
                </a:solidFill>
                <a:latin typeface="Courier New"/>
              </a:rPr>
              <a:t>    </a:t>
            </a:r>
            <a:r>
              <a:rPr b="0" lang="en-US" sz="1600" spc="-1" strike="noStrike">
                <a:solidFill>
                  <a:srgbClr val="062873"/>
                </a:solidFill>
                <a:latin typeface="Courier New"/>
              </a:rPr>
              <a:t>python_module</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hold_position</a:t>
            </a:r>
            <a:endParaRPr b="0" lang="en-US" sz="1600" spc="-1" strike="noStrike">
              <a:solidFill>
                <a:srgbClr val="000000"/>
              </a:solidFill>
              <a:latin typeface="Arial"/>
            </a:endParaRPr>
          </a:p>
          <a:p>
            <a:pPr>
              <a:lnSpc>
                <a:spcPts val="1749"/>
              </a:lnSpc>
            </a:pPr>
            <a:r>
              <a:rPr b="0" lang="en-US" sz="1600" spc="-1" strike="noStrike">
                <a:solidFill>
                  <a:srgbClr val="bbbbbb"/>
                </a:solidFill>
                <a:latin typeface="Courier New"/>
              </a:rPr>
              <a:t>    </a:t>
            </a:r>
            <a:r>
              <a:rPr b="0" lang="en-US" sz="1600" spc="-1" strike="noStrike">
                <a:solidFill>
                  <a:srgbClr val="062873"/>
                </a:solidFill>
                <a:latin typeface="Courier New"/>
              </a:rPr>
              <a:t>python_class</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HoldPosition</a:t>
            </a:r>
            <a:endParaRPr b="0" lang="en-US" sz="1600" spc="-1" strike="noStrike">
              <a:solidFill>
                <a:srgbClr val="000000"/>
              </a:solidFill>
              <a:latin typeface="Arial"/>
            </a:endParaRPr>
          </a:p>
          <a:p>
            <a:pPr>
              <a:lnSpc>
                <a:spcPts val="1749"/>
              </a:lnSpc>
            </a:pPr>
            <a:r>
              <a:rPr b="0" lang="en-US" sz="1600" spc="-1" strike="noStrike">
                <a:solidFill>
                  <a:srgbClr val="bbbbbb"/>
                </a:solidFill>
                <a:latin typeface="Courier New"/>
              </a:rPr>
              <a:t>    </a:t>
            </a:r>
            <a:r>
              <a:rPr b="0" lang="en-US" sz="1600" spc="-1" strike="noStrike">
                <a:solidFill>
                  <a:srgbClr val="062873"/>
                </a:solidFill>
                <a:latin typeface="Courier New"/>
              </a:rPr>
              <a:t>python_path</a:t>
            </a:r>
            <a:r>
              <a:rPr b="0" lang="en-US" sz="1600" spc="-1" strike="noStrike">
                <a:solidFill>
                  <a:srgbClr val="202632"/>
                </a:solidFill>
                <a:latin typeface="Courier New"/>
              </a:rPr>
              <a:t>:</a:t>
            </a:r>
            <a:r>
              <a:rPr b="0" lang="en-US" sz="1600" spc="-1" strike="noStrike">
                <a:solidFill>
                  <a:srgbClr val="bbbbbb"/>
                </a:solidFill>
                <a:latin typeface="Courier New"/>
              </a:rPr>
              <a:t> </a:t>
            </a:r>
            <a:r>
              <a:rPr b="0" lang="en-US" sz="1600" spc="-1" strike="noStrike">
                <a:solidFill>
                  <a:srgbClr val="202632"/>
                </a:solidFill>
                <a:latin typeface="Courier New"/>
              </a:rPr>
              <a:t>/absolute/path/to/your/controller</a:t>
            </a:r>
            <a:endParaRPr b="0" lang="en-US" sz="1600" spc="-1" strike="noStrike">
              <a:solidFill>
                <a:srgbClr val="000000"/>
              </a:solidFill>
              <a:latin typeface="Arial"/>
            </a:endParaRPr>
          </a:p>
          <a:p>
            <a:pPr>
              <a:lnSpc>
                <a:spcPts val="1749"/>
              </a:lnSpc>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0" name="Picture 5" descr=""/>
          <p:cNvPicPr/>
          <p:nvPr/>
        </p:nvPicPr>
        <p:blipFill>
          <a:blip r:embed="rId1"/>
          <a:stretch/>
        </p:blipFill>
        <p:spPr>
          <a:xfrm>
            <a:off x="10623600" y="345600"/>
            <a:ext cx="1058400" cy="1058400"/>
          </a:xfrm>
          <a:prstGeom prst="rect">
            <a:avLst/>
          </a:prstGeom>
          <a:ln w="0">
            <a:noFill/>
          </a:ln>
        </p:spPr>
      </p:pic>
      <p:cxnSp>
        <p:nvCxnSpPr>
          <p:cNvPr id="391" name="Straight Connector 7"/>
          <p:cNvCxnSpPr/>
          <p:nvPr/>
        </p:nvCxnSpPr>
        <p:spPr>
          <a:xfrm>
            <a:off x="0" y="1134720"/>
            <a:ext cx="4366080" cy="2520"/>
          </a:xfrm>
          <a:prstGeom prst="straightConnector1">
            <a:avLst/>
          </a:prstGeom>
          <a:ln w="38100">
            <a:solidFill>
              <a:srgbClr val="fed021"/>
            </a:solidFill>
            <a:round/>
          </a:ln>
        </p:spPr>
      </p:cxnSp>
      <p:sp>
        <p:nvSpPr>
          <p:cNvPr id="392"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ros2_control: a complete Python controller</a:t>
            </a:r>
            <a:endParaRPr b="0" lang="en-US" sz="2800" spc="-1" strike="noStrike">
              <a:solidFill>
                <a:srgbClr val="000000"/>
              </a:solidFill>
              <a:latin typeface="Arial"/>
            </a:endParaRPr>
          </a:p>
        </p:txBody>
      </p:sp>
      <p:sp>
        <p:nvSpPr>
          <p:cNvPr id="393" name="Rectangle 207"/>
          <p:cNvSpPr/>
          <p:nvPr/>
        </p:nvSpPr>
        <p:spPr>
          <a:xfrm>
            <a:off x="640080" y="1371600"/>
            <a:ext cx="10880640" cy="4068360"/>
          </a:xfrm>
          <a:prstGeom prst="rect">
            <a:avLst/>
          </a:prstGeom>
          <a:solidFill>
            <a:srgbClr val="f3f6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94" name="TextBox 208"/>
          <p:cNvSpPr/>
          <p:nvPr/>
        </p:nvSpPr>
        <p:spPr>
          <a:xfrm>
            <a:off x="749880" y="1463040"/>
            <a:ext cx="10661040" cy="3383640"/>
          </a:xfrm>
          <a:prstGeom prst="rect">
            <a:avLst/>
          </a:prstGeom>
          <a:noFill/>
          <a:ln w="0">
            <a:noFill/>
          </a:ln>
        </p:spPr>
        <p:style>
          <a:lnRef idx="0"/>
          <a:fillRef idx="0"/>
          <a:effectRef idx="0"/>
          <a:fontRef idx="minor"/>
        </p:style>
        <p:txBody>
          <a:bodyPr lIns="0" rIns="0" tIns="0" bIns="0" anchor="t">
            <a:spAutoFit/>
          </a:bodyPr>
          <a:p>
            <a:pPr>
              <a:lnSpc>
                <a:spcPts val="2049"/>
              </a:lnSpc>
            </a:pPr>
            <a:r>
              <a:rPr b="0" lang="en-US" sz="1900" spc="-1" strike="noStrike">
                <a:solidFill>
                  <a:srgbClr val="007020"/>
                </a:solidFill>
                <a:latin typeface="Courier New"/>
              </a:rPr>
              <a:t>class</a:t>
            </a:r>
            <a:r>
              <a:rPr b="0" lang="en-US" sz="1900" spc="-1" strike="noStrike">
                <a:solidFill>
                  <a:srgbClr val="bbbbbb"/>
                </a:solidFill>
                <a:latin typeface="Courier New"/>
              </a:rPr>
              <a:t> </a:t>
            </a:r>
            <a:r>
              <a:rPr b="0" lang="en-US" sz="1900" spc="-1" strike="noStrike">
                <a:solidFill>
                  <a:srgbClr val="0e84b5"/>
                </a:solidFill>
                <a:latin typeface="Courier New"/>
              </a:rPr>
              <a:t>HoldPosition</a:t>
            </a:r>
            <a:r>
              <a:rPr b="0" lang="en-US" sz="1900" spc="-1" strike="noStrike">
                <a:solidFill>
                  <a:srgbClr val="202632"/>
                </a:solidFill>
                <a:latin typeface="Courier New"/>
              </a:rPr>
              <a:t>:</a:t>
            </a:r>
            <a:endParaRPr b="0" lang="en-US" sz="1900" spc="-1" strike="noStrike">
              <a:solidFill>
                <a:srgbClr val="000000"/>
              </a:solidFill>
              <a:latin typeface="Arial"/>
            </a:endParaRPr>
          </a:p>
          <a:p>
            <a:pPr>
              <a:lnSpc>
                <a:spcPts val="2049"/>
              </a:lnSpc>
            </a:pPr>
            <a:r>
              <a:rPr b="0" lang="en-US" sz="1900" spc="-1" strike="noStrike">
                <a:solidFill>
                  <a:srgbClr val="202632"/>
                </a:solidFill>
                <a:latin typeface="Courier New"/>
              </a:rPr>
              <a:t>    </a:t>
            </a:r>
            <a:r>
              <a:rPr b="0" lang="en-US" sz="1900" spc="-1" strike="noStrike">
                <a:solidFill>
                  <a:srgbClr val="007020"/>
                </a:solidFill>
                <a:latin typeface="Courier New"/>
              </a:rPr>
              <a:t>def</a:t>
            </a:r>
            <a:r>
              <a:rPr b="0" lang="en-US" sz="1900" spc="-1" strike="noStrike">
                <a:solidFill>
                  <a:srgbClr val="bbbbbb"/>
                </a:solidFill>
                <a:latin typeface="Courier New"/>
              </a:rPr>
              <a:t> </a:t>
            </a:r>
            <a:r>
              <a:rPr b="0" lang="en-US" sz="1900" spc="-1" strike="noStrike">
                <a:solidFill>
                  <a:srgbClr val="06287e"/>
                </a:solidFill>
                <a:latin typeface="Courier New"/>
              </a:rPr>
              <a:t>configure</a:t>
            </a:r>
            <a:r>
              <a:rPr b="0" lang="en-US" sz="1900" spc="-1" strike="noStrike">
                <a:solidFill>
                  <a:srgbClr val="202632"/>
                </a:solidFill>
                <a:latin typeface="Courier New"/>
              </a:rPr>
              <a:t>(</a:t>
            </a:r>
            <a:r>
              <a:rPr b="0" lang="en-US" sz="1900" spc="-1" strike="noStrike">
                <a:solidFill>
                  <a:srgbClr val="007020"/>
                </a:solidFill>
                <a:latin typeface="Courier New"/>
              </a:rPr>
              <a:t>self</a:t>
            </a:r>
            <a:r>
              <a:rPr b="0" lang="en-US" sz="1900" spc="-1" strike="noStrike">
                <a:solidFill>
                  <a:srgbClr val="202632"/>
                </a:solidFill>
                <a:latin typeface="Courier New"/>
              </a:rPr>
              <a:t>, joints, options):</a:t>
            </a:r>
            <a:endParaRPr b="0" lang="en-US" sz="1900" spc="-1" strike="noStrike">
              <a:solidFill>
                <a:srgbClr val="000000"/>
              </a:solidFill>
              <a:latin typeface="Arial"/>
            </a:endParaRPr>
          </a:p>
          <a:p>
            <a:pPr>
              <a:lnSpc>
                <a:spcPts val="2049"/>
              </a:lnSpc>
            </a:pPr>
            <a:r>
              <a:rPr b="0" lang="en-US" sz="1900" spc="-1" strike="noStrike">
                <a:solidFill>
                  <a:srgbClr val="202632"/>
                </a:solidFill>
                <a:latin typeface="Courier New"/>
              </a:rPr>
              <a:t>        </a:t>
            </a:r>
            <a:r>
              <a:rPr b="0" lang="en-US" sz="1900" spc="-1" strike="noStrike">
                <a:solidFill>
                  <a:srgbClr val="007020"/>
                </a:solidFill>
                <a:latin typeface="Courier New"/>
              </a:rPr>
              <a:t>pass</a:t>
            </a:r>
            <a:endParaRPr b="0" lang="en-US" sz="1900" spc="-1" strike="noStrike">
              <a:solidFill>
                <a:srgbClr val="000000"/>
              </a:solidFill>
              <a:latin typeface="Arial"/>
            </a:endParaRPr>
          </a:p>
          <a:p>
            <a:pPr>
              <a:lnSpc>
                <a:spcPts val="2049"/>
              </a:lnSpc>
            </a:pPr>
            <a:endParaRPr b="0" lang="en-US" sz="1900" spc="-1" strike="noStrike">
              <a:solidFill>
                <a:srgbClr val="000000"/>
              </a:solidFill>
              <a:latin typeface="Arial"/>
            </a:endParaRPr>
          </a:p>
          <a:p>
            <a:pPr>
              <a:lnSpc>
                <a:spcPts val="2049"/>
              </a:lnSpc>
            </a:pPr>
            <a:r>
              <a:rPr b="0" lang="en-US" sz="1900" spc="-1" strike="noStrike">
                <a:solidFill>
                  <a:srgbClr val="202632"/>
                </a:solidFill>
                <a:latin typeface="Courier New"/>
              </a:rPr>
              <a:t>    </a:t>
            </a:r>
            <a:r>
              <a:rPr b="0" lang="en-US" sz="1900" spc="-1" strike="noStrike">
                <a:solidFill>
                  <a:srgbClr val="007020"/>
                </a:solidFill>
                <a:latin typeface="Courier New"/>
              </a:rPr>
              <a:t>def</a:t>
            </a:r>
            <a:r>
              <a:rPr b="0" lang="en-US" sz="1900" spc="-1" strike="noStrike">
                <a:solidFill>
                  <a:srgbClr val="bbbbbb"/>
                </a:solidFill>
                <a:latin typeface="Courier New"/>
              </a:rPr>
              <a:t> </a:t>
            </a:r>
            <a:r>
              <a:rPr b="0" lang="en-US" sz="1900" spc="-1" strike="noStrike">
                <a:solidFill>
                  <a:srgbClr val="06287e"/>
                </a:solidFill>
                <a:latin typeface="Courier New"/>
              </a:rPr>
              <a:t>activate</a:t>
            </a:r>
            <a:r>
              <a:rPr b="0" lang="en-US" sz="1900" spc="-1" strike="noStrike">
                <a:solidFill>
                  <a:srgbClr val="202632"/>
                </a:solidFill>
                <a:latin typeface="Courier New"/>
              </a:rPr>
              <a:t>(</a:t>
            </a:r>
            <a:r>
              <a:rPr b="0" lang="en-US" sz="1900" spc="-1" strike="noStrike">
                <a:solidFill>
                  <a:srgbClr val="007020"/>
                </a:solidFill>
                <a:latin typeface="Courier New"/>
              </a:rPr>
              <a:t>self</a:t>
            </a:r>
            <a:r>
              <a:rPr b="0" lang="en-US" sz="1900" spc="-1" strike="noStrike">
                <a:solidFill>
                  <a:srgbClr val="202632"/>
                </a:solidFill>
                <a:latin typeface="Courier New"/>
              </a:rPr>
              <a:t>, measured_positions):</a:t>
            </a:r>
            <a:endParaRPr b="0" lang="en-US" sz="1900" spc="-1" strike="noStrike">
              <a:solidFill>
                <a:srgbClr val="000000"/>
              </a:solidFill>
              <a:latin typeface="Arial"/>
            </a:endParaRPr>
          </a:p>
          <a:p>
            <a:pPr>
              <a:lnSpc>
                <a:spcPts val="2049"/>
              </a:lnSpc>
            </a:pPr>
            <a:r>
              <a:rPr b="0" lang="en-US" sz="1900" spc="-1" strike="noStrike">
                <a:solidFill>
                  <a:srgbClr val="202632"/>
                </a:solidFill>
                <a:latin typeface="Courier New"/>
              </a:rPr>
              <a:t>        </a:t>
            </a:r>
            <a:r>
              <a:rPr b="0" lang="en-US" sz="1900" spc="-1" strike="noStrike">
                <a:solidFill>
                  <a:srgbClr val="007020"/>
                </a:solidFill>
                <a:latin typeface="Courier New"/>
              </a:rPr>
              <a:t>self</a:t>
            </a:r>
            <a:r>
              <a:rPr b="0" lang="en-US" sz="1900" spc="-1" strike="noStrike">
                <a:solidFill>
                  <a:srgbClr val="666666"/>
                </a:solidFill>
                <a:latin typeface="Courier New"/>
              </a:rPr>
              <a:t>.</a:t>
            </a:r>
            <a:r>
              <a:rPr b="0" lang="en-US" sz="1900" spc="-1" strike="noStrike">
                <a:solidFill>
                  <a:srgbClr val="202632"/>
                </a:solidFill>
                <a:latin typeface="Courier New"/>
              </a:rPr>
              <a:t>reference </a:t>
            </a:r>
            <a:r>
              <a:rPr b="0" lang="en-US" sz="1900" spc="-1" strike="noStrike">
                <a:solidFill>
                  <a:srgbClr val="666666"/>
                </a:solidFill>
                <a:latin typeface="Courier New"/>
              </a:rPr>
              <a:t>=</a:t>
            </a:r>
            <a:r>
              <a:rPr b="0" lang="en-US" sz="1900" spc="-1" strike="noStrike">
                <a:solidFill>
                  <a:srgbClr val="202632"/>
                </a:solidFill>
                <a:latin typeface="Courier New"/>
              </a:rPr>
              <a:t> </a:t>
            </a:r>
            <a:r>
              <a:rPr b="0" lang="en-US" sz="1900" spc="-1" strike="noStrike">
                <a:solidFill>
                  <a:srgbClr val="007020"/>
                </a:solidFill>
                <a:latin typeface="Courier New"/>
              </a:rPr>
              <a:t>list</a:t>
            </a:r>
            <a:r>
              <a:rPr b="0" lang="en-US" sz="1900" spc="-1" strike="noStrike">
                <a:solidFill>
                  <a:srgbClr val="202632"/>
                </a:solidFill>
                <a:latin typeface="Courier New"/>
              </a:rPr>
              <a:t>(measured_positions)</a:t>
            </a:r>
            <a:endParaRPr b="0" lang="en-US" sz="1900" spc="-1" strike="noStrike">
              <a:solidFill>
                <a:srgbClr val="000000"/>
              </a:solidFill>
              <a:latin typeface="Arial"/>
            </a:endParaRPr>
          </a:p>
          <a:p>
            <a:pPr>
              <a:lnSpc>
                <a:spcPts val="2049"/>
              </a:lnSpc>
            </a:pPr>
            <a:endParaRPr b="0" lang="en-US" sz="1900" spc="-1" strike="noStrike">
              <a:solidFill>
                <a:srgbClr val="000000"/>
              </a:solidFill>
              <a:latin typeface="Arial"/>
            </a:endParaRPr>
          </a:p>
          <a:p>
            <a:pPr>
              <a:lnSpc>
                <a:spcPts val="2049"/>
              </a:lnSpc>
            </a:pPr>
            <a:r>
              <a:rPr b="0" lang="en-US" sz="1900" spc="-1" strike="noStrike">
                <a:solidFill>
                  <a:srgbClr val="202632"/>
                </a:solidFill>
                <a:latin typeface="Courier New"/>
              </a:rPr>
              <a:t>    </a:t>
            </a:r>
            <a:r>
              <a:rPr b="0" lang="en-US" sz="1900" spc="-1" strike="noStrike">
                <a:solidFill>
                  <a:srgbClr val="007020"/>
                </a:solidFill>
                <a:latin typeface="Courier New"/>
              </a:rPr>
              <a:t>def</a:t>
            </a:r>
            <a:r>
              <a:rPr b="0" lang="en-US" sz="1900" spc="-1" strike="noStrike">
                <a:solidFill>
                  <a:srgbClr val="bbbbbb"/>
                </a:solidFill>
                <a:latin typeface="Courier New"/>
              </a:rPr>
              <a:t> </a:t>
            </a:r>
            <a:r>
              <a:rPr b="0" lang="en-US" sz="1900" spc="-1" strike="noStrike">
                <a:solidFill>
                  <a:srgbClr val="06287e"/>
                </a:solidFill>
                <a:latin typeface="Courier New"/>
              </a:rPr>
              <a:t>update</a:t>
            </a:r>
            <a:r>
              <a:rPr b="0" lang="en-US" sz="1900" spc="-1" strike="noStrike">
                <a:solidFill>
                  <a:srgbClr val="202632"/>
                </a:solidFill>
                <a:latin typeface="Courier New"/>
              </a:rPr>
              <a:t>(</a:t>
            </a:r>
            <a:r>
              <a:rPr b="0" lang="en-US" sz="1900" spc="-1" strike="noStrike">
                <a:solidFill>
                  <a:srgbClr val="007020"/>
                </a:solidFill>
                <a:latin typeface="Courier New"/>
              </a:rPr>
              <a:t>self</a:t>
            </a:r>
            <a:r>
              <a:rPr b="0" lang="en-US" sz="1900" spc="-1" strike="noStrike">
                <a:solidFill>
                  <a:srgbClr val="202632"/>
                </a:solidFill>
                <a:latin typeface="Courier New"/>
              </a:rPr>
              <a:t>, measured_positions, dt):</a:t>
            </a:r>
            <a:endParaRPr b="0" lang="en-US" sz="1900" spc="-1" strike="noStrike">
              <a:solidFill>
                <a:srgbClr val="000000"/>
              </a:solidFill>
              <a:latin typeface="Arial"/>
            </a:endParaRPr>
          </a:p>
          <a:p>
            <a:pPr>
              <a:lnSpc>
                <a:spcPts val="2049"/>
              </a:lnSpc>
            </a:pPr>
            <a:r>
              <a:rPr b="0" lang="en-US" sz="1900" spc="-1" strike="noStrike">
                <a:solidFill>
                  <a:srgbClr val="202632"/>
                </a:solidFill>
                <a:latin typeface="Courier New"/>
              </a:rPr>
              <a:t>        </a:t>
            </a:r>
            <a:r>
              <a:rPr b="0" lang="en-US" sz="1900" spc="-1" strike="noStrike">
                <a:solidFill>
                  <a:srgbClr val="007020"/>
                </a:solidFill>
                <a:latin typeface="Courier New"/>
              </a:rPr>
              <a:t>return</a:t>
            </a:r>
            <a:r>
              <a:rPr b="0" lang="en-US" sz="1900" spc="-1" strike="noStrike">
                <a:solidFill>
                  <a:srgbClr val="202632"/>
                </a:solidFill>
                <a:latin typeface="Courier New"/>
              </a:rPr>
              <a:t> </a:t>
            </a:r>
            <a:r>
              <a:rPr b="0" lang="en-US" sz="1900" spc="-1" strike="noStrike">
                <a:solidFill>
                  <a:srgbClr val="007020"/>
                </a:solidFill>
                <a:latin typeface="Courier New"/>
              </a:rPr>
              <a:t>self</a:t>
            </a:r>
            <a:r>
              <a:rPr b="0" lang="en-US" sz="1900" spc="-1" strike="noStrike">
                <a:solidFill>
                  <a:srgbClr val="666666"/>
                </a:solidFill>
                <a:latin typeface="Courier New"/>
              </a:rPr>
              <a:t>.</a:t>
            </a:r>
            <a:r>
              <a:rPr b="0" lang="en-US" sz="1900" spc="-1" strike="noStrike">
                <a:solidFill>
                  <a:srgbClr val="202632"/>
                </a:solidFill>
                <a:latin typeface="Courier New"/>
              </a:rPr>
              <a:t>reference</a:t>
            </a:r>
            <a:endParaRPr b="0" lang="en-US" sz="1900" spc="-1" strike="noStrike">
              <a:solidFill>
                <a:srgbClr val="000000"/>
              </a:solidFill>
              <a:latin typeface="Arial"/>
            </a:endParaRPr>
          </a:p>
          <a:p>
            <a:pPr>
              <a:lnSpc>
                <a:spcPts val="2049"/>
              </a:lnSpc>
            </a:pPr>
            <a:endParaRPr b="0" lang="en-US" sz="1900" spc="-1" strike="noStrike">
              <a:solidFill>
                <a:srgbClr val="000000"/>
              </a:solidFill>
              <a:latin typeface="Arial"/>
            </a:endParaRPr>
          </a:p>
          <a:p>
            <a:pPr>
              <a:lnSpc>
                <a:spcPts val="2049"/>
              </a:lnSpc>
            </a:pPr>
            <a:r>
              <a:rPr b="0" lang="en-US" sz="1900" spc="-1" strike="noStrike">
                <a:solidFill>
                  <a:srgbClr val="202632"/>
                </a:solidFill>
                <a:latin typeface="Courier New"/>
              </a:rPr>
              <a:t>    </a:t>
            </a:r>
            <a:r>
              <a:rPr b="0" lang="en-US" sz="1900" spc="-1" strike="noStrike">
                <a:solidFill>
                  <a:srgbClr val="007020"/>
                </a:solidFill>
                <a:latin typeface="Courier New"/>
              </a:rPr>
              <a:t>def</a:t>
            </a:r>
            <a:r>
              <a:rPr b="0" lang="en-US" sz="1900" spc="-1" strike="noStrike">
                <a:solidFill>
                  <a:srgbClr val="bbbbbb"/>
                </a:solidFill>
                <a:latin typeface="Courier New"/>
              </a:rPr>
              <a:t> </a:t>
            </a:r>
            <a:r>
              <a:rPr b="0" lang="en-US" sz="1900" spc="-1" strike="noStrike">
                <a:solidFill>
                  <a:srgbClr val="06287e"/>
                </a:solidFill>
                <a:latin typeface="Courier New"/>
              </a:rPr>
              <a:t>set_target</a:t>
            </a:r>
            <a:r>
              <a:rPr b="0" lang="en-US" sz="1900" spc="-1" strike="noStrike">
                <a:solidFill>
                  <a:srgbClr val="202632"/>
                </a:solidFill>
                <a:latin typeface="Courier New"/>
              </a:rPr>
              <a:t>(</a:t>
            </a:r>
            <a:r>
              <a:rPr b="0" lang="en-US" sz="1900" spc="-1" strike="noStrike">
                <a:solidFill>
                  <a:srgbClr val="007020"/>
                </a:solidFill>
                <a:latin typeface="Courier New"/>
              </a:rPr>
              <a:t>self</a:t>
            </a:r>
            <a:r>
              <a:rPr b="0" lang="en-US" sz="1900" spc="-1" strike="noStrike">
                <a:solidFill>
                  <a:srgbClr val="202632"/>
                </a:solidFill>
                <a:latin typeface="Courier New"/>
              </a:rPr>
              <a:t>, values):</a:t>
            </a:r>
            <a:endParaRPr b="0" lang="en-US" sz="1900" spc="-1" strike="noStrike">
              <a:solidFill>
                <a:srgbClr val="000000"/>
              </a:solidFill>
              <a:latin typeface="Arial"/>
            </a:endParaRPr>
          </a:p>
          <a:p>
            <a:pPr>
              <a:lnSpc>
                <a:spcPts val="2049"/>
              </a:lnSpc>
            </a:pPr>
            <a:r>
              <a:rPr b="0" lang="en-US" sz="1900" spc="-1" strike="noStrike">
                <a:solidFill>
                  <a:srgbClr val="202632"/>
                </a:solidFill>
                <a:latin typeface="Courier New"/>
              </a:rPr>
              <a:t>        </a:t>
            </a:r>
            <a:r>
              <a:rPr b="0" lang="en-US" sz="1900" spc="-1" strike="noStrike">
                <a:solidFill>
                  <a:srgbClr val="007020"/>
                </a:solidFill>
                <a:latin typeface="Courier New"/>
              </a:rPr>
              <a:t>return</a:t>
            </a:r>
            <a:r>
              <a:rPr b="0" lang="en-US" sz="1900" spc="-1" strike="noStrike">
                <a:solidFill>
                  <a:srgbClr val="202632"/>
                </a:solidFill>
                <a:latin typeface="Courier New"/>
              </a:rPr>
              <a:t> </a:t>
            </a:r>
            <a:r>
              <a:rPr b="0" lang="en-US" sz="1900" spc="-1" strike="noStrike">
                <a:solidFill>
                  <a:srgbClr val="007020"/>
                </a:solidFill>
                <a:latin typeface="Courier New"/>
              </a:rPr>
              <a:t>False</a:t>
            </a:r>
            <a:r>
              <a:rPr b="0" lang="en-US" sz="1900" spc="-1" strike="noStrike">
                <a:solidFill>
                  <a:srgbClr val="202632"/>
                </a:solidFill>
                <a:latin typeface="Courier New"/>
              </a:rPr>
              <a:t>  </a:t>
            </a:r>
            <a:r>
              <a:rPr b="0" lang="en-US" sz="1900" spc="-1" strike="noStrike">
                <a:solidFill>
                  <a:srgbClr val="60a0b0"/>
                </a:solidFill>
                <a:latin typeface="Courier New"/>
              </a:rPr>
              <a:t># This example holds its activation pose.</a:t>
            </a:r>
            <a:endParaRPr b="0" lang="en-US" sz="1900" spc="-1" strike="noStrike">
              <a:solidFill>
                <a:srgbClr val="000000"/>
              </a:solidFill>
              <a:latin typeface="Arial"/>
            </a:endParaRPr>
          </a:p>
          <a:p>
            <a:pPr>
              <a:lnSpc>
                <a:spcPts val="2049"/>
              </a:lnSpc>
            </a:pPr>
            <a:endParaRPr b="0" lang="en-US" sz="1900" spc="-1" strike="noStrike">
              <a:solidFill>
                <a:srgbClr val="000000"/>
              </a:solidFill>
              <a:latin typeface="Arial"/>
            </a:endParaRPr>
          </a:p>
        </p:txBody>
      </p:sp>
      <p:sp>
        <p:nvSpPr>
          <p:cNvPr id="395" name="TextBox 209"/>
          <p:cNvSpPr/>
          <p:nvPr/>
        </p:nvSpPr>
        <p:spPr>
          <a:xfrm>
            <a:off x="640080" y="5577840"/>
            <a:ext cx="10972080" cy="25920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700" spc="-1" strike="noStrike">
                <a:solidFill>
                  <a:srgbClr val="252b35"/>
                </a:solidFill>
                <a:latin typeface="Roboto"/>
              </a:rPr>
              <a:t>Load and activate through the standard controller manager:</a:t>
            </a:r>
            <a:endParaRPr b="0" lang="en-US" sz="1700" spc="-1" strike="noStrike">
              <a:solidFill>
                <a:srgbClr val="000000"/>
              </a:solidFill>
              <a:latin typeface="Arial"/>
            </a:endParaRPr>
          </a:p>
        </p:txBody>
      </p:sp>
      <p:sp>
        <p:nvSpPr>
          <p:cNvPr id="396" name="Rectangle 210"/>
          <p:cNvSpPr/>
          <p:nvPr/>
        </p:nvSpPr>
        <p:spPr>
          <a:xfrm>
            <a:off x="640080" y="5989320"/>
            <a:ext cx="10880640" cy="593640"/>
          </a:xfrm>
          <a:prstGeom prst="rect">
            <a:avLst/>
          </a:prstGeom>
          <a:solidFill>
            <a:srgbClr val="f3f6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397" name="TextBox 211"/>
          <p:cNvSpPr/>
          <p:nvPr/>
        </p:nvSpPr>
        <p:spPr>
          <a:xfrm>
            <a:off x="749880" y="6080760"/>
            <a:ext cx="10661040" cy="444240"/>
          </a:xfrm>
          <a:prstGeom prst="rect">
            <a:avLst/>
          </a:prstGeom>
          <a:noFill/>
          <a:ln w="0">
            <a:noFill/>
          </a:ln>
        </p:spPr>
        <p:style>
          <a:lnRef idx="0"/>
          <a:fillRef idx="0"/>
          <a:effectRef idx="0"/>
          <a:fontRef idx="minor"/>
        </p:style>
        <p:txBody>
          <a:bodyPr lIns="0" rIns="0" tIns="0" bIns="0" anchor="t">
            <a:spAutoFit/>
          </a:bodyPr>
          <a:p>
            <a:pPr>
              <a:lnSpc>
                <a:spcPts val="1749"/>
              </a:lnSpc>
            </a:pPr>
            <a:r>
              <a:rPr b="0" lang="en-US" sz="1600" spc="-1" strike="noStrike">
                <a:solidFill>
                  <a:srgbClr val="202632"/>
                </a:solidFill>
                <a:latin typeface="Courier New"/>
              </a:rPr>
              <a:t>ros2</a:t>
            </a:r>
            <a:r>
              <a:rPr b="0" lang="en-US" sz="1600" spc="-1" strike="noStrike">
                <a:solidFill>
                  <a:srgbClr val="bbbbbb"/>
                </a:solidFill>
                <a:latin typeface="Courier New"/>
              </a:rPr>
              <a:t> </a:t>
            </a:r>
            <a:r>
              <a:rPr b="0" lang="en-US" sz="1600" spc="-1" strike="noStrike">
                <a:solidFill>
                  <a:srgbClr val="202632"/>
                </a:solidFill>
                <a:latin typeface="Courier New"/>
              </a:rPr>
              <a:t>run</a:t>
            </a:r>
            <a:r>
              <a:rPr b="0" lang="en-US" sz="1600" spc="-1" strike="noStrike">
                <a:solidFill>
                  <a:srgbClr val="bbbbbb"/>
                </a:solidFill>
                <a:latin typeface="Courier New"/>
              </a:rPr>
              <a:t> </a:t>
            </a:r>
            <a:r>
              <a:rPr b="0" lang="en-US" sz="1600" spc="-1" strike="noStrike">
                <a:solidFill>
                  <a:srgbClr val="202632"/>
                </a:solidFill>
                <a:latin typeface="Courier New"/>
              </a:rPr>
              <a:t>controller_manager</a:t>
            </a:r>
            <a:r>
              <a:rPr b="0" lang="en-US" sz="1600" spc="-1" strike="noStrike">
                <a:solidFill>
                  <a:srgbClr val="bbbbbb"/>
                </a:solidFill>
                <a:latin typeface="Courier New"/>
              </a:rPr>
              <a:t> </a:t>
            </a:r>
            <a:r>
              <a:rPr b="0" lang="en-US" sz="1600" spc="-1" strike="noStrike">
                <a:solidFill>
                  <a:srgbClr val="202632"/>
                </a:solidFill>
                <a:latin typeface="Courier New"/>
              </a:rPr>
              <a:t>spawner</a:t>
            </a:r>
            <a:r>
              <a:rPr b="0" lang="en-US" sz="1600" spc="-1" strike="noStrike">
                <a:solidFill>
                  <a:srgbClr val="bbbbbb"/>
                </a:solidFill>
                <a:latin typeface="Courier New"/>
              </a:rPr>
              <a:t> </a:t>
            </a:r>
            <a:r>
              <a:rPr b="0" lang="en-US" sz="1600" spc="-1" strike="noStrike">
                <a:solidFill>
                  <a:srgbClr val="202632"/>
                </a:solidFill>
                <a:latin typeface="Courier New"/>
              </a:rPr>
              <a:t>hold</a:t>
            </a:r>
            <a:r>
              <a:rPr b="0" lang="en-US" sz="1600" spc="-1" strike="noStrike">
                <a:solidFill>
                  <a:srgbClr val="bbbbbb"/>
                </a:solidFill>
                <a:latin typeface="Courier New"/>
              </a:rPr>
              <a:t> </a:t>
            </a:r>
            <a:r>
              <a:rPr b="0" lang="en-US" sz="1600" spc="-1" strike="noStrike">
                <a:solidFill>
                  <a:srgbClr val="202632"/>
                </a:solidFill>
                <a:latin typeface="Courier New"/>
              </a:rPr>
              <a:t>-p</a:t>
            </a:r>
            <a:r>
              <a:rPr b="0" lang="en-US" sz="1600" spc="-1" strike="noStrike">
                <a:solidFill>
                  <a:srgbClr val="bbbbbb"/>
                </a:solidFill>
                <a:latin typeface="Courier New"/>
              </a:rPr>
              <a:t> </a:t>
            </a:r>
            <a:r>
              <a:rPr b="0" lang="en-US" sz="1600" spc="-1" strike="noStrike">
                <a:solidFill>
                  <a:srgbClr val="202632"/>
                </a:solidFill>
                <a:latin typeface="Courier New"/>
              </a:rPr>
              <a:t>hold.yaml</a:t>
            </a:r>
            <a:endParaRPr b="0" lang="en-US" sz="1600" spc="-1" strike="noStrike">
              <a:solidFill>
                <a:srgbClr val="000000"/>
              </a:solidFill>
              <a:latin typeface="Arial"/>
            </a:endParaRPr>
          </a:p>
          <a:p>
            <a:pPr>
              <a:lnSpc>
                <a:spcPts val="1749"/>
              </a:lnSpc>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8" name="Picture 5" descr=""/>
          <p:cNvPicPr/>
          <p:nvPr/>
        </p:nvPicPr>
        <p:blipFill>
          <a:blip r:embed="rId1"/>
          <a:stretch/>
        </p:blipFill>
        <p:spPr>
          <a:xfrm>
            <a:off x="10623600" y="345600"/>
            <a:ext cx="1058400" cy="1058400"/>
          </a:xfrm>
          <a:prstGeom prst="rect">
            <a:avLst/>
          </a:prstGeom>
          <a:ln w="0">
            <a:noFill/>
          </a:ln>
        </p:spPr>
      </p:pic>
      <p:cxnSp>
        <p:nvCxnSpPr>
          <p:cNvPr id="399" name="Straight Connector 7"/>
          <p:cNvCxnSpPr/>
          <p:nvPr/>
        </p:nvCxnSpPr>
        <p:spPr>
          <a:xfrm>
            <a:off x="0" y="1134720"/>
            <a:ext cx="4366080" cy="2520"/>
          </a:xfrm>
          <a:prstGeom prst="straightConnector1">
            <a:avLst/>
          </a:prstGeom>
          <a:ln w="38100">
            <a:solidFill>
              <a:srgbClr val="fed021"/>
            </a:solidFill>
            <a:round/>
          </a:ln>
        </p:spPr>
      </p:cxnSp>
      <p:sp>
        <p:nvSpPr>
          <p:cNvPr id="400"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gn="l">
              <a:lnSpc>
                <a:spcPct val="100000"/>
              </a:lnSpc>
              <a:spcAft>
                <a:spcPts val="499"/>
              </a:spcAft>
            </a:pPr>
            <a:r>
              <a:rPr b="0" lang="en-US" sz="2800" spc="-1" strike="noStrike">
                <a:solidFill>
                  <a:srgbClr val="031424"/>
                </a:solidFill>
                <a:latin typeface="Roboto"/>
              </a:rPr>
              <a:t>Same Python interface: arm admittance</a:t>
            </a:r>
            <a:endParaRPr b="0" lang="en-US" sz="2800" spc="-1" strike="noStrike">
              <a:solidFill>
                <a:srgbClr val="000000"/>
              </a:solidFill>
              <a:latin typeface="Arial"/>
            </a:endParaRPr>
          </a:p>
        </p:txBody>
      </p:sp>
      <p:sp>
        <p:nvSpPr>
          <p:cNvPr id="401" name="TextBox 210"/>
          <p:cNvSpPr/>
          <p:nvPr/>
        </p:nvSpPr>
        <p:spPr>
          <a:xfrm>
            <a:off x="640080" y="5897880"/>
            <a:ext cx="10972080" cy="456480"/>
          </a:xfrm>
          <a:prstGeom prst="rect">
            <a:avLst/>
          </a:prstGeom>
          <a:noFill/>
          <a:ln w="0">
            <a:noFill/>
          </a:ln>
        </p:spPr>
        <p:style>
          <a:lnRef idx="0"/>
          <a:fillRef idx="0"/>
          <a:effectRef idx="0"/>
          <a:fontRef idx="minor"/>
        </p:style>
        <p:txBody>
          <a:bodyPr lIns="0" rIns="0" tIns="45000" bIns="45000" anchor="t">
            <a:noAutofit/>
          </a:bodyPr>
          <a:p>
            <a:pPr algn="l">
              <a:lnSpc>
                <a:spcPct val="104000"/>
              </a:lnSpc>
              <a:tabLst>
                <a:tab algn="l" pos="0"/>
              </a:tabLst>
            </a:pPr>
            <a:r>
              <a:rPr b="0" lang="en-US" sz="1800" spc="-1" strike="noStrike">
                <a:solidFill>
                  <a:srgbClr val="031424"/>
                </a:solidFill>
                <a:latin typeface="DejaVu Sans Mono"/>
              </a:rPr>
              <a:t>./roscon_uk_2026/run_robot_demo.sh</a:t>
            </a:r>
            <a:r>
              <a:rPr b="0" lang="en-US" sz="1800" spc="-1" strike="noStrike">
                <a:solidFill>
                  <a:srgbClr val="bbbbbb"/>
                </a:solidFill>
                <a:latin typeface="DejaVu Sans Mono"/>
              </a:rPr>
              <a:t> </a:t>
            </a:r>
            <a:r>
              <a:rPr b="0" lang="en-US" sz="1800" spc="-1" strike="noStrike">
                <a:solidFill>
                  <a:srgbClr val="031424"/>
                </a:solidFill>
                <a:latin typeface="DejaVu Sans Mono"/>
              </a:rPr>
              <a:t>admittance</a:t>
            </a:r>
            <a:endParaRPr b="0" lang="en-US" sz="1800" spc="-1" strike="noStrike">
              <a:solidFill>
                <a:srgbClr val="000000"/>
              </a:solidFill>
              <a:latin typeface="Arial"/>
            </a:endParaRPr>
          </a:p>
          <a:p>
            <a:pPr algn="l">
              <a:lnSpc>
                <a:spcPct val="104000"/>
              </a:lnSpc>
              <a:tabLst>
                <a:tab algn="l" pos="0"/>
              </a:tabLst>
            </a:pPr>
            <a:endParaRPr b="0" lang="en-US" sz="1800" spc="-1" strike="noStrike">
              <a:solidFill>
                <a:srgbClr val="000000"/>
              </a:solidFill>
              <a:latin typeface="Arial"/>
            </a:endParaRPr>
          </a:p>
        </p:txBody>
      </p:sp>
      <p:pic>
        <p:nvPicPr>
          <p:cNvPr id="402" name="" descr="">
            <a:hlinkClick r:id="" action="ppaction://media"/>
          </p:cNvPr>
          <p:cNvPicPr/>
          <p:nvPr>
            <a:videoFile r:link="rId2"/>
            <p:extLst>
              <p:ext uri="{DAA4B4D4-6D71-4841-9C94-3DE7FCFB9230}">
                <p14:media r:embed="rId3"/>
              </p:ext>
            </p:extLst>
          </p:nvPr>
        </p:nvPicPr>
        <p:blipFill>
          <a:blip r:embed="rId4"/>
          <a:stretch>
            <a:fillRect/>
          </a:stretch>
        </p:blipFill>
        <p:spPr>
          <a:xfrm>
            <a:off x="1982880" y="913680"/>
            <a:ext cx="8075520" cy="5046840"/>
          </a:xfrm>
          <a:prstGeom prst="rect">
            <a:avLst/>
          </a:prstGeom>
          <a:ln w="0">
            <a:noFill/>
          </a:ln>
        </p:spPr>
      </p:pic>
    </p:spTree>
  </p:cSld>
  <mc:AlternateContent>
    <mc:Choice Requires="p14">
      <p:transition spd="slow" p14:dur="2000"/>
    </mc:Choice>
    <mc:Fallback>
      <p:transition spd="slow"/>
    </mc:Fallback>
  </mc:AlternateContent>
  <p:timing>
    <p:tnLst>
      <p:par>
        <p:cTn id="3" dur="indefinite" restart="never" nodeType="tmRoot">
          <p:childTnLst>
            <p:video>
              <p:cMediaNode>
                <p:cTn>
                  <p:stCondLst>
                    <p:cond delay="indefinite"/>
                  </p:stCondLst>
                </p:cTn>
                <p:tgtEl>
                  <p:spTgt spid="402"/>
                </p:tgtEl>
              </p:cMediaNode>
            </p:video>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3" name="Picture 5" descr=""/>
          <p:cNvPicPr/>
          <p:nvPr/>
        </p:nvPicPr>
        <p:blipFill>
          <a:blip r:embed="rId1"/>
          <a:stretch/>
        </p:blipFill>
        <p:spPr>
          <a:xfrm>
            <a:off x="10623600" y="345600"/>
            <a:ext cx="1058400" cy="1058400"/>
          </a:xfrm>
          <a:prstGeom prst="rect">
            <a:avLst/>
          </a:prstGeom>
          <a:ln w="0">
            <a:noFill/>
          </a:ln>
        </p:spPr>
      </p:pic>
      <p:cxnSp>
        <p:nvCxnSpPr>
          <p:cNvPr id="404" name="Straight Connector 7"/>
          <p:cNvCxnSpPr/>
          <p:nvPr/>
        </p:nvCxnSpPr>
        <p:spPr>
          <a:xfrm>
            <a:off x="0" y="1134720"/>
            <a:ext cx="4366080" cy="2520"/>
          </a:xfrm>
          <a:prstGeom prst="straightConnector1">
            <a:avLst/>
          </a:prstGeom>
          <a:ln w="38100">
            <a:solidFill>
              <a:srgbClr val="fed021"/>
            </a:solidFill>
            <a:round/>
          </a:ln>
        </p:spPr>
      </p:cxnSp>
      <p:sp>
        <p:nvSpPr>
          <p:cNvPr id="405"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We can generate code. How do we check the idea?</a:t>
            </a:r>
            <a:endParaRPr b="0" lang="en-US" sz="2800" spc="-1" strike="noStrike">
              <a:solidFill>
                <a:srgbClr val="000000"/>
              </a:solidFill>
              <a:latin typeface="Arial"/>
            </a:endParaRPr>
          </a:p>
        </p:txBody>
      </p:sp>
      <p:sp>
        <p:nvSpPr>
          <p:cNvPr id="406" name="TextBox 207"/>
          <p:cNvSpPr/>
          <p:nvPr/>
        </p:nvSpPr>
        <p:spPr>
          <a:xfrm>
            <a:off x="685800" y="1554480"/>
            <a:ext cx="10697760" cy="86184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700" spc="-1" strike="noStrike">
                <a:solidFill>
                  <a:srgbClr val="252b35"/>
                </a:solidFill>
                <a:latin typeface="Roboto"/>
              </a:rPr>
              <a:t>An agent can write the extension and its build files.</a:t>
            </a:r>
            <a:endParaRPr b="0" lang="en-US" sz="2700" spc="-1" strike="noStrike">
              <a:solidFill>
                <a:srgbClr val="000000"/>
              </a:solidFill>
              <a:latin typeface="Arial"/>
            </a:endParaRPr>
          </a:p>
          <a:p>
            <a:pPr>
              <a:lnSpc>
                <a:spcPct val="100000"/>
              </a:lnSpc>
              <a:spcAft>
                <a:spcPts val="300"/>
              </a:spcAft>
            </a:pPr>
            <a:r>
              <a:rPr b="0" lang="en-US" sz="2700" spc="-1" strike="noStrike">
                <a:solidFill>
                  <a:srgbClr val="252b35"/>
                </a:solidFill>
                <a:latin typeface="Roboto"/>
              </a:rPr>
              <a:t>I want a shorter loop with the actual data.</a:t>
            </a:r>
            <a:endParaRPr b="0" lang="en-US" sz="2700" spc="-1" strike="noStrike">
              <a:solidFill>
                <a:srgbClr val="000000"/>
              </a:solidFill>
              <a:latin typeface="Arial"/>
            </a:endParaRPr>
          </a:p>
        </p:txBody>
      </p:sp>
      <p:sp>
        <p:nvSpPr>
          <p:cNvPr id="407" name="Rounded Rectangle 208"/>
          <p:cNvSpPr/>
          <p:nvPr/>
        </p:nvSpPr>
        <p:spPr>
          <a:xfrm>
            <a:off x="685800" y="3063240"/>
            <a:ext cx="3336840" cy="127944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08" name="TextBox 209"/>
          <p:cNvSpPr/>
          <p:nvPr/>
        </p:nvSpPr>
        <p:spPr>
          <a:xfrm>
            <a:off x="768240" y="3136320"/>
            <a:ext cx="3172320" cy="3808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500" spc="-1" strike="noStrike">
                <a:solidFill>
                  <a:srgbClr val="252b35"/>
                </a:solidFill>
                <a:latin typeface="Roboto"/>
              </a:rPr>
              <a:t>Ask for a change</a:t>
            </a:r>
            <a:endParaRPr b="0" lang="en-US" sz="2500" spc="-1" strike="noStrike">
              <a:solidFill>
                <a:srgbClr val="000000"/>
              </a:solidFill>
              <a:latin typeface="Arial"/>
            </a:endParaRPr>
          </a:p>
        </p:txBody>
      </p:sp>
      <p:sp>
        <p:nvSpPr>
          <p:cNvPr id="409" name="Rounded Rectangle 210"/>
          <p:cNvSpPr/>
          <p:nvPr/>
        </p:nvSpPr>
        <p:spPr>
          <a:xfrm>
            <a:off x="4434840" y="3063240"/>
            <a:ext cx="3336840" cy="127944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10" name="TextBox 211"/>
          <p:cNvSpPr/>
          <p:nvPr/>
        </p:nvSpPr>
        <p:spPr>
          <a:xfrm>
            <a:off x="4517280" y="3136320"/>
            <a:ext cx="3172320" cy="3808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500" spc="-1" strike="noStrike">
                <a:solidFill>
                  <a:srgbClr val="252b35"/>
                </a:solidFill>
                <a:latin typeface="Roboto"/>
              </a:rPr>
              <a:t>See it running</a:t>
            </a:r>
            <a:endParaRPr b="0" lang="en-US" sz="2500" spc="-1" strike="noStrike">
              <a:solidFill>
                <a:srgbClr val="000000"/>
              </a:solidFill>
              <a:latin typeface="Arial"/>
            </a:endParaRPr>
          </a:p>
        </p:txBody>
      </p:sp>
      <p:sp>
        <p:nvSpPr>
          <p:cNvPr id="411" name="Rounded Rectangle 212"/>
          <p:cNvSpPr/>
          <p:nvPr/>
        </p:nvSpPr>
        <p:spPr>
          <a:xfrm>
            <a:off x="8183880" y="3063240"/>
            <a:ext cx="3336840" cy="127944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12" name="TextBox 213"/>
          <p:cNvSpPr/>
          <p:nvPr/>
        </p:nvSpPr>
        <p:spPr>
          <a:xfrm>
            <a:off x="8266320" y="3136320"/>
            <a:ext cx="3172320" cy="3808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500" spc="-1" strike="noStrike">
                <a:solidFill>
                  <a:srgbClr val="252b35"/>
                </a:solidFill>
                <a:latin typeface="Roboto"/>
              </a:rPr>
              <a:t>Check and refine</a:t>
            </a:r>
            <a:endParaRPr b="0" lang="en-US" sz="2500" spc="-1" strike="noStrike">
              <a:solidFill>
                <a:srgbClr val="000000"/>
              </a:solidFill>
              <a:latin typeface="Arial"/>
            </a:endParaRPr>
          </a:p>
        </p:txBody>
      </p:sp>
      <p:cxnSp>
        <p:nvCxnSpPr>
          <p:cNvPr id="413" name="Connector 214"/>
          <p:cNvCxnSpPr/>
          <p:nvPr/>
        </p:nvCxnSpPr>
        <p:spPr>
          <a:xfrm>
            <a:off x="4023360" y="3703320"/>
            <a:ext cx="412200" cy="720"/>
          </a:xfrm>
          <a:prstGeom prst="straightConnector1">
            <a:avLst/>
          </a:prstGeom>
          <a:ln w="22860">
            <a:solidFill>
              <a:srgbClr val="56718a"/>
            </a:solidFill>
            <a:round/>
            <a:tailEnd len="sm" type="triangle" w="sm"/>
          </a:ln>
        </p:spPr>
      </p:cxnSp>
      <p:cxnSp>
        <p:nvCxnSpPr>
          <p:cNvPr id="414" name="Connector 215"/>
          <p:cNvCxnSpPr/>
          <p:nvPr/>
        </p:nvCxnSpPr>
        <p:spPr>
          <a:xfrm>
            <a:off x="7772400" y="3703320"/>
            <a:ext cx="411840" cy="720"/>
          </a:xfrm>
          <a:prstGeom prst="straightConnector1">
            <a:avLst/>
          </a:prstGeom>
          <a:ln w="22860">
            <a:solidFill>
              <a:srgbClr val="56718a"/>
            </a:solidFill>
            <a:round/>
            <a:tailEnd len="sm" type="triangle" w="sm"/>
          </a:ln>
        </p:spPr>
      </p:cxnSp>
      <p:sp>
        <p:nvSpPr>
          <p:cNvPr id="415" name="TextBox 216"/>
          <p:cNvSpPr/>
          <p:nvPr/>
        </p:nvSpPr>
        <p:spPr>
          <a:xfrm>
            <a:off x="685800" y="5074920"/>
            <a:ext cx="10697760" cy="7696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400" spc="-1" strike="noStrike">
                <a:solidFill>
                  <a:srgbClr val="252b35"/>
                </a:solidFill>
                <a:latin typeface="Roboto"/>
              </a:rPr>
              <a:t>Keep the interpreter, camera and models alive.</a:t>
            </a:r>
            <a:endParaRPr b="0" lang="en-US" sz="2400" spc="-1" strike="noStrike">
              <a:solidFill>
                <a:srgbClr val="000000"/>
              </a:solidFill>
              <a:latin typeface="Arial"/>
            </a:endParaRPr>
          </a:p>
          <a:p>
            <a:pPr>
              <a:lnSpc>
                <a:spcPct val="100000"/>
              </a:lnSpc>
              <a:spcAft>
                <a:spcPts val="300"/>
              </a:spcAft>
            </a:pPr>
            <a:r>
              <a:rPr b="0" lang="en-US" sz="2400" spc="-1" strike="noStrike">
                <a:solidFill>
                  <a:srgbClr val="252b35"/>
                </a:solidFill>
                <a:latin typeface="Roboto"/>
              </a:rPr>
              <a:t>Change the processing while the stream continues.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6" name="Picture 5" descr=""/>
          <p:cNvPicPr/>
          <p:nvPr/>
        </p:nvPicPr>
        <p:blipFill>
          <a:blip r:embed="rId1"/>
          <a:stretch/>
        </p:blipFill>
        <p:spPr>
          <a:xfrm>
            <a:off x="10623600" y="345600"/>
            <a:ext cx="1058400" cy="1058400"/>
          </a:xfrm>
          <a:prstGeom prst="rect">
            <a:avLst/>
          </a:prstGeom>
          <a:ln w="0">
            <a:noFill/>
          </a:ln>
        </p:spPr>
      </p:pic>
      <p:cxnSp>
        <p:nvCxnSpPr>
          <p:cNvPr id="417" name="Straight Connector 7"/>
          <p:cNvCxnSpPr/>
          <p:nvPr/>
        </p:nvCxnSpPr>
        <p:spPr>
          <a:xfrm>
            <a:off x="0" y="1134720"/>
            <a:ext cx="4366080" cy="2520"/>
          </a:xfrm>
          <a:prstGeom prst="straightConnector1">
            <a:avLst/>
          </a:prstGeom>
          <a:ln w="38100">
            <a:solidFill>
              <a:srgbClr val="fed021"/>
            </a:solidFill>
            <a:round/>
          </a:ln>
        </p:spPr>
      </p:cxnSp>
      <p:sp>
        <p:nvSpPr>
          <p:cNvPr id="418"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One live interpreter, two views</a:t>
            </a:r>
            <a:endParaRPr b="0" lang="en-US" sz="2800" spc="-1" strike="noStrike">
              <a:solidFill>
                <a:srgbClr val="000000"/>
              </a:solidFill>
              <a:latin typeface="Arial"/>
            </a:endParaRPr>
          </a:p>
        </p:txBody>
      </p:sp>
      <p:sp>
        <p:nvSpPr>
          <p:cNvPr id="419" name="Rounded Rectangle 207"/>
          <p:cNvSpPr/>
          <p:nvPr/>
        </p:nvSpPr>
        <p:spPr>
          <a:xfrm>
            <a:off x="640080" y="1508760"/>
            <a:ext cx="3748320" cy="105084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20" name="TextBox 208"/>
          <p:cNvSpPr/>
          <p:nvPr/>
        </p:nvSpPr>
        <p:spPr>
          <a:xfrm>
            <a:off x="722520" y="1581840"/>
            <a:ext cx="3583800" cy="997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100" spc="-1" strike="noStrike">
                <a:solidFill>
                  <a:srgbClr val="252b35"/>
                </a:solidFill>
                <a:latin typeface="Roboto"/>
              </a:rPr>
              <a:t>LEFT: agent terminal</a:t>
            </a:r>
            <a:endParaRPr b="0" lang="en-US" sz="2100" spc="-1" strike="noStrike">
              <a:solidFill>
                <a:srgbClr val="000000"/>
              </a:solidFill>
              <a:latin typeface="Arial"/>
            </a:endParaRPr>
          </a:p>
          <a:p>
            <a:pPr>
              <a:lnSpc>
                <a:spcPct val="100000"/>
              </a:lnSpc>
              <a:spcAft>
                <a:spcPts val="300"/>
              </a:spcAft>
            </a:pPr>
            <a:r>
              <a:rPr b="0" lang="en-US" sz="2100" spc="-1" strike="noStrike">
                <a:solidFill>
                  <a:srgbClr val="252b35"/>
                </a:solidFill>
                <a:latin typeface="Roboto"/>
              </a:rPr>
              <a:t>Inspect state; edit processing cells</a:t>
            </a:r>
            <a:endParaRPr b="0" lang="en-US" sz="2100" spc="-1" strike="noStrike">
              <a:solidFill>
                <a:srgbClr val="000000"/>
              </a:solidFill>
              <a:latin typeface="Arial"/>
            </a:endParaRPr>
          </a:p>
        </p:txBody>
      </p:sp>
      <p:sp>
        <p:nvSpPr>
          <p:cNvPr id="421" name="Rounded Rectangle 209"/>
          <p:cNvSpPr/>
          <p:nvPr/>
        </p:nvSpPr>
        <p:spPr>
          <a:xfrm>
            <a:off x="7772400" y="1508760"/>
            <a:ext cx="3748320" cy="105084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22" name="TextBox 210"/>
          <p:cNvSpPr/>
          <p:nvPr/>
        </p:nvSpPr>
        <p:spPr>
          <a:xfrm>
            <a:off x="7854840" y="1581840"/>
            <a:ext cx="3583800" cy="67824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100" spc="-1" strike="noStrike">
                <a:solidFill>
                  <a:srgbClr val="252b35"/>
                </a:solidFill>
                <a:latin typeface="Roboto"/>
              </a:rPr>
              <a:t>RIGHT: Viser viewer</a:t>
            </a:r>
            <a:endParaRPr b="0" lang="en-US" sz="2100" spc="-1" strike="noStrike">
              <a:solidFill>
                <a:srgbClr val="000000"/>
              </a:solidFill>
              <a:latin typeface="Arial"/>
            </a:endParaRPr>
          </a:p>
          <a:p>
            <a:pPr>
              <a:lnSpc>
                <a:spcPct val="100000"/>
              </a:lnSpc>
              <a:spcAft>
                <a:spcPts val="300"/>
              </a:spcAft>
            </a:pPr>
            <a:r>
              <a:rPr b="0" lang="en-US" sz="2100" spc="-1" strike="noStrike">
                <a:solidFill>
                  <a:srgbClr val="252b35"/>
                </a:solidFill>
                <a:latin typeface="Roboto"/>
              </a:rPr>
              <a:t>Image, results and controls</a:t>
            </a:r>
            <a:endParaRPr b="0" lang="en-US" sz="2100" spc="-1" strike="noStrike">
              <a:solidFill>
                <a:srgbClr val="000000"/>
              </a:solidFill>
              <a:latin typeface="Arial"/>
            </a:endParaRPr>
          </a:p>
        </p:txBody>
      </p:sp>
      <p:sp>
        <p:nvSpPr>
          <p:cNvPr id="423" name="Rounded Rectangle 211"/>
          <p:cNvSpPr/>
          <p:nvPr/>
        </p:nvSpPr>
        <p:spPr>
          <a:xfrm>
            <a:off x="2743200" y="3200400"/>
            <a:ext cx="6674400" cy="196524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24" name="TextBox 212"/>
          <p:cNvSpPr/>
          <p:nvPr/>
        </p:nvSpPr>
        <p:spPr>
          <a:xfrm>
            <a:off x="2825640" y="3273480"/>
            <a:ext cx="6509880" cy="179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200" spc="-1" strike="noStrike">
                <a:solidFill>
                  <a:srgbClr val="252b35"/>
                </a:solidFill>
                <a:latin typeface="Roboto"/>
              </a:rPr>
              <a:t>marimo: persistent Python interpreter</a:t>
            </a:r>
            <a:endParaRPr b="0" lang="en-US" sz="2200" spc="-1" strike="noStrike">
              <a:solidFill>
                <a:srgbClr val="000000"/>
              </a:solidFill>
              <a:latin typeface="Arial"/>
            </a:endParaRPr>
          </a:p>
          <a:p>
            <a:pPr>
              <a:lnSpc>
                <a:spcPct val="100000"/>
              </a:lnSpc>
              <a:spcAft>
                <a:spcPts val="300"/>
              </a:spcAft>
            </a:pPr>
            <a:endParaRPr b="0" lang="en-US" sz="2200" spc="-1" strike="noStrike">
              <a:solidFill>
                <a:srgbClr val="000000"/>
              </a:solidFill>
              <a:latin typeface="Arial"/>
            </a:endParaRPr>
          </a:p>
          <a:p>
            <a:pPr>
              <a:lnSpc>
                <a:spcPct val="100000"/>
              </a:lnSpc>
              <a:spcAft>
                <a:spcPts val="300"/>
              </a:spcAft>
            </a:pPr>
            <a:r>
              <a:rPr b="0" lang="en-US" sz="2200" spc="-1" strike="noStrike">
                <a:solidFill>
                  <a:srgbClr val="252b35"/>
                </a:solidFill>
                <a:latin typeface="Roboto"/>
              </a:rPr>
              <a:t>Camera + processing state + models added as needed</a:t>
            </a:r>
            <a:endParaRPr b="0" lang="en-US" sz="2200" spc="-1" strike="noStrike">
              <a:solidFill>
                <a:srgbClr val="000000"/>
              </a:solidFill>
              <a:latin typeface="Arial"/>
            </a:endParaRPr>
          </a:p>
          <a:p>
            <a:pPr>
              <a:lnSpc>
                <a:spcPct val="100000"/>
              </a:lnSpc>
              <a:spcAft>
                <a:spcPts val="300"/>
              </a:spcAft>
            </a:pPr>
            <a:r>
              <a:rPr b="0" lang="en-US" sz="2200" spc="-1" strike="noStrike">
                <a:solidFill>
                  <a:srgbClr val="252b35"/>
                </a:solidFill>
                <a:latin typeface="Roboto"/>
              </a:rPr>
              <a:t>Python processing + cppyy_kit C++ kernels</a:t>
            </a:r>
            <a:endParaRPr b="0" lang="en-US" sz="2200" spc="-1" strike="noStrike">
              <a:solidFill>
                <a:srgbClr val="000000"/>
              </a:solidFill>
              <a:latin typeface="Arial"/>
            </a:endParaRPr>
          </a:p>
        </p:txBody>
      </p:sp>
      <p:cxnSp>
        <p:nvCxnSpPr>
          <p:cNvPr id="425" name="Connector 213"/>
          <p:cNvCxnSpPr/>
          <p:nvPr/>
        </p:nvCxnSpPr>
        <p:spPr>
          <a:xfrm>
            <a:off x="2514600" y="2560320"/>
            <a:ext cx="1234800" cy="640800"/>
          </a:xfrm>
          <a:prstGeom prst="straightConnector1">
            <a:avLst/>
          </a:prstGeom>
          <a:ln w="22860">
            <a:solidFill>
              <a:srgbClr val="56718a"/>
            </a:solidFill>
            <a:round/>
            <a:tailEnd len="sm" type="triangle" w="sm"/>
          </a:ln>
        </p:spPr>
      </p:cxnSp>
      <p:cxnSp>
        <p:nvCxnSpPr>
          <p:cNvPr id="426" name="Connector 214"/>
          <p:cNvCxnSpPr/>
          <p:nvPr/>
        </p:nvCxnSpPr>
        <p:spPr>
          <a:xfrm flipV="1">
            <a:off x="8412480" y="2560320"/>
            <a:ext cx="1235160" cy="640800"/>
          </a:xfrm>
          <a:prstGeom prst="straightConnector1">
            <a:avLst/>
          </a:prstGeom>
          <a:ln w="22860">
            <a:solidFill>
              <a:srgbClr val="56718a"/>
            </a:solidFill>
            <a:round/>
            <a:tailEnd len="sm" type="triangle" w="sm"/>
          </a:ln>
        </p:spPr>
      </p:cxnSp>
      <p:sp>
        <p:nvSpPr>
          <p:cNvPr id="427" name="TextBox 215"/>
          <p:cNvSpPr/>
          <p:nvPr/>
        </p:nvSpPr>
        <p:spPr>
          <a:xfrm>
            <a:off x="685800" y="5623560"/>
            <a:ext cx="1097208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300" spc="-1" strike="noStrike">
                <a:solidFill>
                  <a:srgbClr val="252b35"/>
                </a:solidFill>
                <a:latin typeface="Roboto"/>
              </a:rPr>
              <a:t>Edit processing → inspect the live result → keep the accepted code</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8" name="Picture 5" descr=""/>
          <p:cNvPicPr/>
          <p:nvPr/>
        </p:nvPicPr>
        <p:blipFill>
          <a:blip r:embed="rId1"/>
          <a:stretch/>
        </p:blipFill>
        <p:spPr>
          <a:xfrm>
            <a:off x="10623600" y="345600"/>
            <a:ext cx="1058400" cy="1058400"/>
          </a:xfrm>
          <a:prstGeom prst="rect">
            <a:avLst/>
          </a:prstGeom>
          <a:ln w="0">
            <a:noFill/>
          </a:ln>
        </p:spPr>
      </p:pic>
      <p:cxnSp>
        <p:nvCxnSpPr>
          <p:cNvPr id="429" name="Straight Connector 7"/>
          <p:cNvCxnSpPr/>
          <p:nvPr/>
        </p:nvCxnSpPr>
        <p:spPr>
          <a:xfrm>
            <a:off x="0" y="1134720"/>
            <a:ext cx="4366080" cy="2520"/>
          </a:xfrm>
          <a:prstGeom prst="straightConnector1">
            <a:avLst/>
          </a:prstGeom>
          <a:ln w="38100">
            <a:solidFill>
              <a:srgbClr val="fed021"/>
            </a:solidFill>
            <a:round/>
          </a:ln>
        </p:spPr>
      </p:cxnSp>
      <p:sp>
        <p:nvSpPr>
          <p:cNvPr id="430"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Live coding: build it against the webcam</a:t>
            </a:r>
            <a:endParaRPr b="0" lang="en-US" sz="2800" spc="-1" strike="noStrike">
              <a:solidFill>
                <a:srgbClr val="000000"/>
              </a:solidFill>
              <a:latin typeface="Arial"/>
            </a:endParaRPr>
          </a:p>
        </p:txBody>
      </p:sp>
      <p:sp>
        <p:nvSpPr>
          <p:cNvPr id="431" name="Rounded Rectangle 207"/>
          <p:cNvSpPr/>
          <p:nvPr/>
        </p:nvSpPr>
        <p:spPr>
          <a:xfrm>
            <a:off x="640080" y="1508760"/>
            <a:ext cx="5211360" cy="356544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32" name="TextBox 208"/>
          <p:cNvSpPr/>
          <p:nvPr/>
        </p:nvSpPr>
        <p:spPr>
          <a:xfrm>
            <a:off x="722520" y="1581840"/>
            <a:ext cx="504684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LEFT: AGENT TERMINAL</a:t>
            </a:r>
            <a:endParaRPr b="0" lang="en-US" sz="2000" spc="-1" strike="noStrike">
              <a:solidFill>
                <a:srgbClr val="000000"/>
              </a:solidFill>
              <a:latin typeface="Arial"/>
            </a:endParaRPr>
          </a:p>
        </p:txBody>
      </p:sp>
      <p:sp>
        <p:nvSpPr>
          <p:cNvPr id="433" name="TextBox 209"/>
          <p:cNvSpPr/>
          <p:nvPr/>
        </p:nvSpPr>
        <p:spPr>
          <a:xfrm>
            <a:off x="868680" y="2331720"/>
            <a:ext cx="4754160" cy="163800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500" spc="-1" strike="noStrike">
                <a:solidFill>
                  <a:srgbClr val="252b35"/>
                </a:solidFill>
                <a:latin typeface="Roboto"/>
              </a:rPr>
              <a:t>Choose a task from the scene.</a:t>
            </a:r>
            <a:endParaRPr b="0" lang="en-US" sz="2500" spc="-1" strike="noStrike">
              <a:solidFill>
                <a:srgbClr val="000000"/>
              </a:solidFill>
              <a:latin typeface="Arial"/>
            </a:endParaRPr>
          </a:p>
          <a:p>
            <a:pPr>
              <a:lnSpc>
                <a:spcPct val="100000"/>
              </a:lnSpc>
              <a:spcAft>
                <a:spcPts val="300"/>
              </a:spcAft>
            </a:pPr>
            <a:r>
              <a:rPr b="0" lang="en-US" sz="2500" spc="-1" strike="noStrike">
                <a:solidFill>
                  <a:srgbClr val="252b35"/>
                </a:solidFill>
                <a:latin typeface="Roboto"/>
              </a:rPr>
              <a:t>Implement it in the live session.</a:t>
            </a:r>
            <a:endParaRPr b="0" lang="en-US" sz="2500" spc="-1" strike="noStrike">
              <a:solidFill>
                <a:srgbClr val="000000"/>
              </a:solidFill>
              <a:latin typeface="Arial"/>
            </a:endParaRPr>
          </a:p>
          <a:p>
            <a:pPr>
              <a:lnSpc>
                <a:spcPct val="100000"/>
              </a:lnSpc>
              <a:spcAft>
                <a:spcPts val="300"/>
              </a:spcAft>
            </a:pPr>
            <a:r>
              <a:rPr b="0" lang="en-US" sz="2500" spc="-1" strike="noStrike">
                <a:solidFill>
                  <a:srgbClr val="252b35"/>
                </a:solidFill>
                <a:latin typeface="Roboto"/>
              </a:rPr>
              <a:t>Inspect the result.</a:t>
            </a:r>
            <a:endParaRPr b="0" lang="en-US" sz="2500" spc="-1" strike="noStrike">
              <a:solidFill>
                <a:srgbClr val="000000"/>
              </a:solidFill>
              <a:latin typeface="Arial"/>
            </a:endParaRPr>
          </a:p>
          <a:p>
            <a:pPr>
              <a:lnSpc>
                <a:spcPct val="100000"/>
              </a:lnSpc>
              <a:spcAft>
                <a:spcPts val="300"/>
              </a:spcAft>
            </a:pPr>
            <a:r>
              <a:rPr b="0" lang="en-US" sz="2500" spc="-1" strike="noStrike">
                <a:solidFill>
                  <a:srgbClr val="252b35"/>
                </a:solidFill>
                <a:latin typeface="Roboto"/>
              </a:rPr>
              <a:t>Refine the behavior.</a:t>
            </a:r>
            <a:endParaRPr b="0" lang="en-US" sz="2500" spc="-1" strike="noStrike">
              <a:solidFill>
                <a:srgbClr val="000000"/>
              </a:solidFill>
              <a:latin typeface="Arial"/>
            </a:endParaRPr>
          </a:p>
        </p:txBody>
      </p:sp>
      <p:sp>
        <p:nvSpPr>
          <p:cNvPr id="434" name="Rounded Rectangle 210"/>
          <p:cNvSpPr/>
          <p:nvPr/>
        </p:nvSpPr>
        <p:spPr>
          <a:xfrm>
            <a:off x="6263640" y="1508760"/>
            <a:ext cx="5211360" cy="356544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35" name="TextBox 211"/>
          <p:cNvSpPr/>
          <p:nvPr/>
        </p:nvSpPr>
        <p:spPr>
          <a:xfrm>
            <a:off x="6346080" y="1581840"/>
            <a:ext cx="504684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RIGHT: LIVE VIEWER</a:t>
            </a:r>
            <a:endParaRPr b="0" lang="en-US" sz="2000" spc="-1" strike="noStrike">
              <a:solidFill>
                <a:srgbClr val="000000"/>
              </a:solidFill>
              <a:latin typeface="Arial"/>
            </a:endParaRPr>
          </a:p>
        </p:txBody>
      </p:sp>
      <p:sp>
        <p:nvSpPr>
          <p:cNvPr id="436" name="TextBox 212"/>
          <p:cNvSpPr/>
          <p:nvPr/>
        </p:nvSpPr>
        <p:spPr>
          <a:xfrm>
            <a:off x="6492240" y="2331720"/>
            <a:ext cx="4754160" cy="1943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400" spc="-1" strike="noStrike">
                <a:solidFill>
                  <a:srgbClr val="252b35"/>
                </a:solidFill>
                <a:latin typeface="Roboto"/>
              </a:rPr>
              <a:t>Camera keeps running.</a:t>
            </a:r>
            <a:endParaRPr b="0" lang="en-US" sz="2400" spc="-1" strike="noStrike">
              <a:solidFill>
                <a:srgbClr val="000000"/>
              </a:solidFill>
              <a:latin typeface="Arial"/>
            </a:endParaRPr>
          </a:p>
          <a:p>
            <a:pPr>
              <a:lnSpc>
                <a:spcPct val="100000"/>
              </a:lnSpc>
              <a:spcAft>
                <a:spcPts val="300"/>
              </a:spcAft>
            </a:pPr>
            <a:r>
              <a:rPr b="0" lang="en-US" sz="2400" spc="-1" strike="noStrike">
                <a:solidFill>
                  <a:srgbClr val="252b35"/>
                </a:solidFill>
                <a:latin typeface="Roboto"/>
              </a:rPr>
              <a:t>Results appear on the stream.</a:t>
            </a:r>
            <a:endParaRPr b="0" lang="en-US" sz="2400" spc="-1" strike="noStrike">
              <a:solidFill>
                <a:srgbClr val="000000"/>
              </a:solidFill>
              <a:latin typeface="Arial"/>
            </a:endParaRPr>
          </a:p>
          <a:p>
            <a:pPr>
              <a:lnSpc>
                <a:spcPct val="100000"/>
              </a:lnSpc>
              <a:spcAft>
                <a:spcPts val="300"/>
              </a:spcAft>
            </a:pPr>
            <a:r>
              <a:rPr b="0" lang="en-US" sz="2400" spc="-1" strike="noStrike">
                <a:solidFill>
                  <a:srgbClr val="252b35"/>
                </a:solidFill>
                <a:latin typeface="Roboto"/>
              </a:rPr>
              <a:t>Controls help us explore.</a:t>
            </a:r>
            <a:endParaRPr b="0" lang="en-US" sz="2400" spc="-1" strike="noStrike">
              <a:solidFill>
                <a:srgbClr val="000000"/>
              </a:solidFill>
              <a:latin typeface="Arial"/>
            </a:endParaRPr>
          </a:p>
          <a:p>
            <a:pPr>
              <a:lnSpc>
                <a:spcPct val="100000"/>
              </a:lnSpc>
              <a:spcAft>
                <a:spcPts val="300"/>
              </a:spcAft>
            </a:pPr>
            <a:r>
              <a:rPr b="0" lang="en-US" sz="2400" spc="-1" strike="noStrike">
                <a:solidFill>
                  <a:srgbClr val="252b35"/>
                </a:solidFill>
                <a:latin typeface="Roboto"/>
              </a:rPr>
              <a:t>Accepted edits stay in the notebook.</a:t>
            </a:r>
            <a:endParaRPr b="0" lang="en-US" sz="2400" spc="-1" strike="noStrike">
              <a:solidFill>
                <a:srgbClr val="000000"/>
              </a:solidFill>
              <a:latin typeface="Arial"/>
            </a:endParaRPr>
          </a:p>
        </p:txBody>
      </p:sp>
      <p:sp>
        <p:nvSpPr>
          <p:cNvPr id="437" name="TextBox 213"/>
          <p:cNvSpPr/>
          <p:nvPr/>
        </p:nvSpPr>
        <p:spPr>
          <a:xfrm>
            <a:off x="731520" y="5577840"/>
            <a:ext cx="10697760" cy="42696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800" spc="-1" strike="noStrike">
                <a:solidFill>
                  <a:srgbClr val="185b91"/>
                </a:solidFill>
                <a:latin typeface="Roboto"/>
              </a:rPr>
              <a:t>Ask → implement → observe → adjust</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8" name="Picture 5" descr=""/>
          <p:cNvPicPr/>
          <p:nvPr/>
        </p:nvPicPr>
        <p:blipFill>
          <a:blip r:embed="rId1"/>
          <a:stretch/>
        </p:blipFill>
        <p:spPr>
          <a:xfrm>
            <a:off x="10623600" y="345600"/>
            <a:ext cx="1058400" cy="1058400"/>
          </a:xfrm>
          <a:prstGeom prst="rect">
            <a:avLst/>
          </a:prstGeom>
          <a:ln w="0">
            <a:noFill/>
          </a:ln>
        </p:spPr>
      </p:pic>
      <p:cxnSp>
        <p:nvCxnSpPr>
          <p:cNvPr id="439" name="Straight Connector 7"/>
          <p:cNvCxnSpPr/>
          <p:nvPr/>
        </p:nvCxnSpPr>
        <p:spPr>
          <a:xfrm>
            <a:off x="0" y="1134720"/>
            <a:ext cx="4366080" cy="2520"/>
          </a:xfrm>
          <a:prstGeom prst="straightConnector1">
            <a:avLst/>
          </a:prstGeom>
          <a:ln w="38100">
            <a:solidFill>
              <a:srgbClr val="fed021"/>
            </a:solidFill>
            <a:round/>
          </a:ln>
        </p:spPr>
      </p:cxnSp>
      <p:sp>
        <p:nvSpPr>
          <p:cNvPr id="440"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Add native code where the task needs it</a:t>
            </a:r>
            <a:endParaRPr b="0" lang="en-US" sz="2800" spc="-1" strike="noStrike">
              <a:solidFill>
                <a:srgbClr val="000000"/>
              </a:solidFill>
              <a:latin typeface="Arial"/>
            </a:endParaRPr>
          </a:p>
        </p:txBody>
      </p:sp>
      <p:sp>
        <p:nvSpPr>
          <p:cNvPr id="441" name="TextBox 207"/>
          <p:cNvSpPr/>
          <p:nvPr/>
        </p:nvSpPr>
        <p:spPr>
          <a:xfrm>
            <a:off x="640080" y="1463040"/>
            <a:ext cx="10880640" cy="36576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400" spc="-1" strike="noStrike">
                <a:solidFill>
                  <a:srgbClr val="252b35"/>
                </a:solidFill>
                <a:latin typeface="Roboto"/>
              </a:rPr>
              <a:t>Example: depth → points with @cpp(nogil=True)</a:t>
            </a:r>
            <a:endParaRPr b="0" lang="en-US" sz="2400" spc="-1" strike="noStrike">
              <a:solidFill>
                <a:srgbClr val="000000"/>
              </a:solidFill>
              <a:latin typeface="Arial"/>
            </a:endParaRPr>
          </a:p>
        </p:txBody>
      </p:sp>
      <p:sp>
        <p:nvSpPr>
          <p:cNvPr id="442" name="Rectangle 208"/>
          <p:cNvSpPr/>
          <p:nvPr/>
        </p:nvSpPr>
        <p:spPr>
          <a:xfrm>
            <a:off x="640080" y="2240280"/>
            <a:ext cx="10880640" cy="2651040"/>
          </a:xfrm>
          <a:prstGeom prst="rect">
            <a:avLst/>
          </a:prstGeom>
          <a:solidFill>
            <a:srgbClr val="f3f6fa"/>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43" name="TextBox 209"/>
          <p:cNvSpPr/>
          <p:nvPr/>
        </p:nvSpPr>
        <p:spPr>
          <a:xfrm>
            <a:off x="749880" y="2331720"/>
            <a:ext cx="10661040" cy="2350800"/>
          </a:xfrm>
          <a:prstGeom prst="rect">
            <a:avLst/>
          </a:prstGeom>
          <a:noFill/>
          <a:ln w="0">
            <a:noFill/>
          </a:ln>
        </p:spPr>
        <p:style>
          <a:lnRef idx="0"/>
          <a:fillRef idx="0"/>
          <a:effectRef idx="0"/>
          <a:fontRef idx="minor"/>
        </p:style>
        <p:txBody>
          <a:bodyPr lIns="0" rIns="0" tIns="0" bIns="0" anchor="t">
            <a:spAutoFit/>
          </a:bodyPr>
          <a:p>
            <a:pPr>
              <a:lnSpc>
                <a:spcPts val="1851"/>
              </a:lnSpc>
            </a:pPr>
            <a:r>
              <a:rPr b="0" lang="en-US" sz="1700" spc="-1" strike="noStrike">
                <a:solidFill>
                  <a:srgbClr val="007020"/>
                </a:solidFill>
                <a:latin typeface="Courier New"/>
              </a:rPr>
              <a:t>for</a:t>
            </a:r>
            <a:r>
              <a:rPr b="0" lang="en-US" sz="1700" spc="-1" strike="noStrike">
                <a:solidFill>
                  <a:srgbClr val="bbbbbb"/>
                </a:solidFill>
                <a:latin typeface="Courier New"/>
              </a:rPr>
              <a:t> </a:t>
            </a:r>
            <a:r>
              <a:rPr b="0" lang="en-US" sz="1700" spc="-1" strike="noStrike">
                <a:solidFill>
                  <a:srgbClr val="202632"/>
                </a:solidFill>
                <a:latin typeface="Courier New"/>
              </a:rPr>
              <a:t>(std</a:t>
            </a:r>
            <a:r>
              <a:rPr b="0" lang="en-US" sz="1700" spc="-1" strike="noStrike">
                <a:solidFill>
                  <a:srgbClr val="666666"/>
                </a:solidFill>
                <a:latin typeface="Courier New"/>
              </a:rPr>
              <a:t>::</a:t>
            </a:r>
            <a:r>
              <a:rPr b="0" lang="en-US" sz="1700" spc="-1" strike="noStrike">
                <a:solidFill>
                  <a:srgbClr val="902000"/>
                </a:solidFill>
                <a:latin typeface="Courier New"/>
              </a:rPr>
              <a:t>size_t</a:t>
            </a:r>
            <a:r>
              <a:rPr b="0" lang="en-US" sz="1700" spc="-1" strike="noStrike">
                <a:solidFill>
                  <a:srgbClr val="bbbbbb"/>
                </a:solidFill>
                <a:latin typeface="Courier New"/>
              </a:rPr>
              <a:t> </a:t>
            </a:r>
            <a:r>
              <a:rPr b="0" lang="en-US" sz="1700" spc="-1" strike="noStrike">
                <a:solidFill>
                  <a:srgbClr val="202632"/>
                </a:solidFill>
                <a:latin typeface="Courier New"/>
              </a:rPr>
              <a:t>i</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40a070"/>
                </a:solidFill>
                <a:latin typeface="Courier New"/>
              </a:rPr>
              <a:t>0</a:t>
            </a:r>
            <a:r>
              <a:rPr b="0" lang="en-US" sz="1700" spc="-1" strike="noStrike">
                <a:solidFill>
                  <a:srgbClr val="202632"/>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i</a:t>
            </a:r>
            <a:r>
              <a:rPr b="0" lang="en-US" sz="1700" spc="-1" strike="noStrike">
                <a:solidFill>
                  <a:srgbClr val="bbbbbb"/>
                </a:solidFill>
                <a:latin typeface="Courier New"/>
              </a:rPr>
              <a:t> </a:t>
            </a:r>
            <a:r>
              <a:rPr b="0" lang="en-US" sz="1700" spc="-1" strike="noStrike">
                <a:solidFill>
                  <a:srgbClr val="666666"/>
                </a:solidFill>
                <a:latin typeface="Courier New"/>
              </a:rPr>
              <a:t>&lt;</a:t>
            </a:r>
            <a:r>
              <a:rPr b="0" lang="en-US" sz="1700" spc="-1" strike="noStrike">
                <a:solidFill>
                  <a:srgbClr val="bbbbbb"/>
                </a:solidFill>
                <a:latin typeface="Courier New"/>
              </a:rPr>
              <a:t> </a:t>
            </a:r>
            <a:r>
              <a:rPr b="0" lang="en-US" sz="1700" spc="-1" strike="noStrike">
                <a:solidFill>
                  <a:srgbClr val="202632"/>
                </a:solidFill>
                <a:latin typeface="Courier New"/>
              </a:rPr>
              <a:t>depth_size;</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202632"/>
                </a:solidFill>
                <a:latin typeface="Courier New"/>
              </a:rPr>
              <a:t>i)</a:t>
            </a:r>
            <a:r>
              <a:rPr b="0" lang="en-US" sz="1700" spc="-1" strike="noStrike">
                <a:solidFill>
                  <a:srgbClr val="bbbbbb"/>
                </a:solidFill>
                <a:latin typeface="Courier New"/>
              </a:rPr>
              <a:t> </a:t>
            </a:r>
            <a:r>
              <a:rPr b="0" lang="en-US" sz="1700" spc="-1" strike="noStrike">
                <a:solidFill>
                  <a:srgbClr val="202632"/>
                </a:solidFill>
                <a:latin typeface="Courier New"/>
              </a:rPr>
              <a:t>{</a:t>
            </a:r>
            <a:endParaRPr b="0" lang="en-US" sz="1700" spc="-1" strike="noStrike">
              <a:solidFill>
                <a:srgbClr val="000000"/>
              </a:solidFill>
              <a:latin typeface="Arial"/>
            </a:endParaRPr>
          </a:p>
          <a:p>
            <a:pPr>
              <a:lnSpc>
                <a:spcPts val="1851"/>
              </a:lnSpc>
            </a:pPr>
            <a:r>
              <a:rPr b="0" lang="en-US" sz="1700" spc="-1" strike="noStrike">
                <a:solidFill>
                  <a:srgbClr val="bbbbbb"/>
                </a:solidFill>
                <a:latin typeface="Courier New"/>
              </a:rPr>
              <a:t>    </a:t>
            </a:r>
            <a:r>
              <a:rPr b="0" lang="en-US" sz="1700" spc="-1" strike="noStrike">
                <a:solidFill>
                  <a:srgbClr val="007020"/>
                </a:solidFill>
                <a:latin typeface="Courier New"/>
              </a:rPr>
              <a:t>const</a:t>
            </a:r>
            <a:r>
              <a:rPr b="0" lang="en-US" sz="1700" spc="-1" strike="noStrike">
                <a:solidFill>
                  <a:srgbClr val="bbbbbb"/>
                </a:solidFill>
                <a:latin typeface="Courier New"/>
              </a:rPr>
              <a:t> </a:t>
            </a:r>
            <a:r>
              <a:rPr b="0" lang="en-US" sz="1700" spc="-1" strike="noStrike">
                <a:solidFill>
                  <a:srgbClr val="902000"/>
                </a:solidFill>
                <a:latin typeface="Courier New"/>
              </a:rPr>
              <a:t>float</a:t>
            </a:r>
            <a:r>
              <a:rPr b="0" lang="en-US" sz="1700" spc="-1" strike="noStrike">
                <a:solidFill>
                  <a:srgbClr val="bbbbbb"/>
                </a:solidFill>
                <a:latin typeface="Courier New"/>
              </a:rPr>
              <a:t> </a:t>
            </a:r>
            <a:r>
              <a:rPr b="0" lang="en-US" sz="1700" spc="-1" strike="noStrike">
                <a:solidFill>
                  <a:srgbClr val="202632"/>
                </a:solidFill>
                <a:latin typeface="Courier New"/>
              </a:rPr>
              <a:t>z</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depth[i];</a:t>
            </a:r>
            <a:endParaRPr b="0" lang="en-US" sz="1700" spc="-1" strike="noStrike">
              <a:solidFill>
                <a:srgbClr val="000000"/>
              </a:solidFill>
              <a:latin typeface="Arial"/>
            </a:endParaRPr>
          </a:p>
          <a:p>
            <a:pPr>
              <a:lnSpc>
                <a:spcPts val="1851"/>
              </a:lnSpc>
            </a:pPr>
            <a:r>
              <a:rPr b="0" lang="en-US" sz="1700" spc="-1" strike="noStrike">
                <a:solidFill>
                  <a:srgbClr val="bbbbbb"/>
                </a:solidFill>
                <a:latin typeface="Courier New"/>
              </a:rPr>
              <a:t>    </a:t>
            </a:r>
            <a:r>
              <a:rPr b="0" lang="en-US" sz="1700" spc="-1" strike="noStrike">
                <a:solidFill>
                  <a:srgbClr val="007020"/>
                </a:solidFill>
                <a:latin typeface="Courier New"/>
              </a:rPr>
              <a:t>if</a:t>
            </a:r>
            <a:r>
              <a:rPr b="0" lang="en-US" sz="1700" spc="-1" strike="noStrike">
                <a:solidFill>
                  <a:srgbClr val="bbbbbb"/>
                </a:solidFill>
                <a:latin typeface="Courier New"/>
              </a:rPr>
              <a:t> </a:t>
            </a:r>
            <a:r>
              <a:rPr b="0" lang="en-US" sz="1700" spc="-1" strike="noStrike">
                <a:solidFill>
                  <a:srgbClr val="202632"/>
                </a:solidFill>
                <a:latin typeface="Courier New"/>
              </a:rPr>
              <a:t>(</a:t>
            </a:r>
            <a:r>
              <a:rPr b="0" lang="en-US" sz="1700" spc="-1" strike="noStrike">
                <a:solidFill>
                  <a:srgbClr val="666666"/>
                </a:solidFill>
                <a:latin typeface="Courier New"/>
              </a:rPr>
              <a:t>!</a:t>
            </a:r>
            <a:r>
              <a:rPr b="0" lang="en-US" sz="1700" spc="-1" strike="noStrike">
                <a:solidFill>
                  <a:srgbClr val="202632"/>
                </a:solidFill>
                <a:latin typeface="Courier New"/>
              </a:rPr>
              <a:t>mask[i]</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202632"/>
                </a:solidFill>
                <a:latin typeface="Courier New"/>
              </a:rPr>
              <a:t>(z</a:t>
            </a:r>
            <a:r>
              <a:rPr b="0" lang="en-US" sz="1700" spc="-1" strike="noStrike">
                <a:solidFill>
                  <a:srgbClr val="bbbbbb"/>
                </a:solidFill>
                <a:latin typeface="Courier New"/>
              </a:rPr>
              <a:t> </a:t>
            </a:r>
            <a:r>
              <a:rPr b="0" lang="en-US" sz="1700" spc="-1" strike="noStrike">
                <a:solidFill>
                  <a:srgbClr val="666666"/>
                </a:solidFill>
                <a:latin typeface="Courier New"/>
              </a:rPr>
              <a:t>&gt;</a:t>
            </a:r>
            <a:r>
              <a:rPr b="0" lang="en-US" sz="1700" spc="-1" strike="noStrike">
                <a:solidFill>
                  <a:srgbClr val="bbbbbb"/>
                </a:solidFill>
                <a:latin typeface="Courier New"/>
              </a:rPr>
              <a:t> </a:t>
            </a:r>
            <a:r>
              <a:rPr b="0" lang="en-US" sz="1700" spc="-1" strike="noStrike">
                <a:solidFill>
                  <a:srgbClr val="202632"/>
                </a:solidFill>
                <a:latin typeface="Courier New"/>
              </a:rPr>
              <a:t>near</a:t>
            </a:r>
            <a:r>
              <a:rPr b="0" lang="en-US" sz="1700" spc="-1" strike="noStrike">
                <a:solidFill>
                  <a:srgbClr val="bbbbbb"/>
                </a:solidFill>
                <a:latin typeface="Courier New"/>
              </a:rPr>
              <a:t> </a:t>
            </a:r>
            <a:r>
              <a:rPr b="0" lang="en-US" sz="1700" spc="-1" strike="noStrike">
                <a:solidFill>
                  <a:srgbClr val="666666"/>
                </a:solidFill>
                <a:latin typeface="Courier New"/>
              </a:rPr>
              <a:t>&amp;&amp;</a:t>
            </a:r>
            <a:r>
              <a:rPr b="0" lang="en-US" sz="1700" spc="-1" strike="noStrike">
                <a:solidFill>
                  <a:srgbClr val="bbbbbb"/>
                </a:solidFill>
                <a:latin typeface="Courier New"/>
              </a:rPr>
              <a:t> </a:t>
            </a:r>
            <a:r>
              <a:rPr b="0" lang="en-US" sz="1700" spc="-1" strike="noStrike">
                <a:solidFill>
                  <a:srgbClr val="202632"/>
                </a:solidFill>
                <a:latin typeface="Courier New"/>
              </a:rPr>
              <a:t>z</a:t>
            </a:r>
            <a:r>
              <a:rPr b="0" lang="en-US" sz="1700" spc="-1" strike="noStrike">
                <a:solidFill>
                  <a:srgbClr val="bbbbbb"/>
                </a:solidFill>
                <a:latin typeface="Courier New"/>
              </a:rPr>
              <a:t> </a:t>
            </a:r>
            <a:r>
              <a:rPr b="0" lang="en-US" sz="1700" spc="-1" strike="noStrike">
                <a:solidFill>
                  <a:srgbClr val="666666"/>
                </a:solidFill>
                <a:latin typeface="Courier New"/>
              </a:rPr>
              <a:t>&lt;</a:t>
            </a:r>
            <a:r>
              <a:rPr b="0" lang="en-US" sz="1700" spc="-1" strike="noStrike">
                <a:solidFill>
                  <a:srgbClr val="bbbbbb"/>
                </a:solidFill>
                <a:latin typeface="Courier New"/>
              </a:rPr>
              <a:t> </a:t>
            </a:r>
            <a:r>
              <a:rPr b="0" lang="en-US" sz="1700" spc="-1" strike="noStrike">
                <a:solidFill>
                  <a:srgbClr val="202632"/>
                </a:solidFill>
                <a:latin typeface="Courier New"/>
              </a:rPr>
              <a:t>far))</a:t>
            </a:r>
            <a:r>
              <a:rPr b="0" lang="en-US" sz="1700" spc="-1" strike="noStrike">
                <a:solidFill>
                  <a:srgbClr val="bbbbbb"/>
                </a:solidFill>
                <a:latin typeface="Courier New"/>
              </a:rPr>
              <a:t> </a:t>
            </a:r>
            <a:r>
              <a:rPr b="0" lang="en-US" sz="1700" spc="-1" strike="noStrike">
                <a:solidFill>
                  <a:srgbClr val="007020"/>
                </a:solidFill>
                <a:latin typeface="Courier New"/>
              </a:rPr>
              <a:t>continue</a:t>
            </a:r>
            <a:r>
              <a:rPr b="0" lang="en-US" sz="1700" spc="-1" strike="noStrike">
                <a:solidFill>
                  <a:srgbClr val="202632"/>
                </a:solidFill>
                <a:latin typeface="Courier New"/>
              </a:rPr>
              <a:t>;</a:t>
            </a:r>
            <a:endParaRPr b="0" lang="en-US" sz="1700" spc="-1" strike="noStrike">
              <a:solidFill>
                <a:srgbClr val="000000"/>
              </a:solidFill>
              <a:latin typeface="Arial"/>
            </a:endParaRPr>
          </a:p>
          <a:p>
            <a:pPr>
              <a:lnSpc>
                <a:spcPts val="1851"/>
              </a:lnSpc>
            </a:pPr>
            <a:r>
              <a:rPr b="0" lang="en-US" sz="1700" spc="-1" strike="noStrike">
                <a:solidFill>
                  <a:srgbClr val="bbbbbb"/>
                </a:solidFill>
                <a:latin typeface="Courier New"/>
              </a:rPr>
              <a:t>    </a:t>
            </a:r>
            <a:r>
              <a:rPr b="0" lang="en-US" sz="1700" spc="-1" strike="noStrike">
                <a:solidFill>
                  <a:srgbClr val="202632"/>
                </a:solidFill>
                <a:latin typeface="Courier New"/>
              </a:rPr>
              <a:t>xyz[</a:t>
            </a:r>
            <a:r>
              <a:rPr b="0" lang="en-US" sz="1700" spc="-1" strike="noStrike">
                <a:solidFill>
                  <a:srgbClr val="40a070"/>
                </a:solidFill>
                <a:latin typeface="Courier New"/>
              </a:rPr>
              <a:t>3</a:t>
            </a:r>
            <a:r>
              <a:rPr b="0" lang="en-US" sz="1700" spc="-1" strike="noStrike">
                <a:solidFill>
                  <a:srgbClr val="666666"/>
                </a:solidFill>
                <a:latin typeface="Courier New"/>
              </a:rPr>
              <a:t>*</a:t>
            </a:r>
            <a:r>
              <a:rPr b="0" lang="en-US" sz="1700" spc="-1" strike="noStrike">
                <a:solidFill>
                  <a:srgbClr val="202632"/>
                </a:solidFill>
                <a:latin typeface="Courier New"/>
              </a:rPr>
              <a:t>count]</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a:t>
            </a:r>
            <a:r>
              <a:rPr b="0" lang="en-US" sz="1700" spc="-1" strike="noStrike">
                <a:solidFill>
                  <a:srgbClr val="902000"/>
                </a:solidFill>
                <a:latin typeface="Courier New"/>
              </a:rPr>
              <a:t>double</a:t>
            </a:r>
            <a:r>
              <a:rPr b="0" lang="en-US" sz="1700" spc="-1" strike="noStrike">
                <a:solidFill>
                  <a:srgbClr val="202632"/>
                </a:solidFill>
                <a:latin typeface="Courier New"/>
              </a:rPr>
              <a:t>(i</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width)</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cx)</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z</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fx;</a:t>
            </a:r>
            <a:endParaRPr b="0" lang="en-US" sz="1700" spc="-1" strike="noStrike">
              <a:solidFill>
                <a:srgbClr val="000000"/>
              </a:solidFill>
              <a:latin typeface="Arial"/>
            </a:endParaRPr>
          </a:p>
          <a:p>
            <a:pPr>
              <a:lnSpc>
                <a:spcPts val="1851"/>
              </a:lnSpc>
            </a:pPr>
            <a:r>
              <a:rPr b="0" lang="en-US" sz="1700" spc="-1" strike="noStrike">
                <a:solidFill>
                  <a:srgbClr val="bbbbbb"/>
                </a:solidFill>
                <a:latin typeface="Courier New"/>
              </a:rPr>
              <a:t>    </a:t>
            </a:r>
            <a:r>
              <a:rPr b="0" lang="en-US" sz="1700" spc="-1" strike="noStrike">
                <a:solidFill>
                  <a:srgbClr val="202632"/>
                </a:solidFill>
                <a:latin typeface="Courier New"/>
              </a:rPr>
              <a:t>xyz[</a:t>
            </a:r>
            <a:r>
              <a:rPr b="0" lang="en-US" sz="1700" spc="-1" strike="noStrike">
                <a:solidFill>
                  <a:srgbClr val="40a070"/>
                </a:solidFill>
                <a:latin typeface="Courier New"/>
              </a:rPr>
              <a:t>3</a:t>
            </a:r>
            <a:r>
              <a:rPr b="0" lang="en-US" sz="1700" spc="-1" strike="noStrike">
                <a:solidFill>
                  <a:srgbClr val="666666"/>
                </a:solidFill>
                <a:latin typeface="Courier New"/>
              </a:rPr>
              <a:t>*</a:t>
            </a:r>
            <a:r>
              <a:rPr b="0" lang="en-US" sz="1700" spc="-1" strike="noStrike">
                <a:solidFill>
                  <a:srgbClr val="202632"/>
                </a:solidFill>
                <a:latin typeface="Courier New"/>
              </a:rPr>
              <a:t>count</a:t>
            </a:r>
            <a:r>
              <a:rPr b="0" lang="en-US" sz="1700" spc="-1" strike="noStrike">
                <a:solidFill>
                  <a:srgbClr val="666666"/>
                </a:solidFill>
                <a:latin typeface="Courier New"/>
              </a:rPr>
              <a:t>+</a:t>
            </a:r>
            <a:r>
              <a:rPr b="0" lang="en-US" sz="1700" spc="-1" strike="noStrike">
                <a:solidFill>
                  <a:srgbClr val="40a070"/>
                </a:solidFill>
                <a:latin typeface="Courier New"/>
              </a:rPr>
              <a:t>1</a:t>
            </a:r>
            <a:r>
              <a:rPr b="0" lang="en-US" sz="1700" spc="-1" strike="noStrike">
                <a:solidFill>
                  <a:srgbClr val="202632"/>
                </a:solidFill>
                <a:latin typeface="Courier New"/>
              </a:rPr>
              <a:t>]</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a:t>
            </a:r>
            <a:r>
              <a:rPr b="0" lang="en-US" sz="1700" spc="-1" strike="noStrike">
                <a:solidFill>
                  <a:srgbClr val="902000"/>
                </a:solidFill>
                <a:latin typeface="Courier New"/>
              </a:rPr>
              <a:t>double</a:t>
            </a:r>
            <a:r>
              <a:rPr b="0" lang="en-US" sz="1700" spc="-1" strike="noStrike">
                <a:solidFill>
                  <a:srgbClr val="202632"/>
                </a:solidFill>
                <a:latin typeface="Courier New"/>
              </a:rPr>
              <a:t>(i</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width)</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cy)</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z</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fy;</a:t>
            </a:r>
            <a:endParaRPr b="0" lang="en-US" sz="1700" spc="-1" strike="noStrike">
              <a:solidFill>
                <a:srgbClr val="000000"/>
              </a:solidFill>
              <a:latin typeface="Arial"/>
            </a:endParaRPr>
          </a:p>
          <a:p>
            <a:pPr>
              <a:lnSpc>
                <a:spcPts val="1851"/>
              </a:lnSpc>
            </a:pPr>
            <a:r>
              <a:rPr b="0" lang="en-US" sz="1700" spc="-1" strike="noStrike">
                <a:solidFill>
                  <a:srgbClr val="bbbbbb"/>
                </a:solidFill>
                <a:latin typeface="Courier New"/>
              </a:rPr>
              <a:t>    </a:t>
            </a:r>
            <a:r>
              <a:rPr b="0" lang="en-US" sz="1700" spc="-1" strike="noStrike">
                <a:solidFill>
                  <a:srgbClr val="202632"/>
                </a:solidFill>
                <a:latin typeface="Courier New"/>
              </a:rPr>
              <a:t>xyz[</a:t>
            </a:r>
            <a:r>
              <a:rPr b="0" lang="en-US" sz="1700" spc="-1" strike="noStrike">
                <a:solidFill>
                  <a:srgbClr val="40a070"/>
                </a:solidFill>
                <a:latin typeface="Courier New"/>
              </a:rPr>
              <a:t>3</a:t>
            </a:r>
            <a:r>
              <a:rPr b="0" lang="en-US" sz="1700" spc="-1" strike="noStrike">
                <a:solidFill>
                  <a:srgbClr val="666666"/>
                </a:solidFill>
                <a:latin typeface="Courier New"/>
              </a:rPr>
              <a:t>*</a:t>
            </a:r>
            <a:r>
              <a:rPr b="0" lang="en-US" sz="1700" spc="-1" strike="noStrike">
                <a:solidFill>
                  <a:srgbClr val="202632"/>
                </a:solidFill>
                <a:latin typeface="Courier New"/>
              </a:rPr>
              <a:t>count</a:t>
            </a:r>
            <a:r>
              <a:rPr b="0" lang="en-US" sz="1700" spc="-1" strike="noStrike">
                <a:solidFill>
                  <a:srgbClr val="666666"/>
                </a:solidFill>
                <a:latin typeface="Courier New"/>
              </a:rPr>
              <a:t>+</a:t>
            </a:r>
            <a:r>
              <a:rPr b="0" lang="en-US" sz="1700" spc="-1" strike="noStrike">
                <a:solidFill>
                  <a:srgbClr val="40a070"/>
                </a:solidFill>
                <a:latin typeface="Courier New"/>
              </a:rPr>
              <a:t>2</a:t>
            </a:r>
            <a:r>
              <a:rPr b="0" lang="en-US" sz="1700" spc="-1" strike="noStrike">
                <a:solidFill>
                  <a:srgbClr val="202632"/>
                </a:solidFill>
                <a:latin typeface="Courier New"/>
              </a:rPr>
              <a:t>]</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z;</a:t>
            </a:r>
            <a:endParaRPr b="0" lang="en-US" sz="1700" spc="-1" strike="noStrike">
              <a:solidFill>
                <a:srgbClr val="000000"/>
              </a:solidFill>
              <a:latin typeface="Arial"/>
            </a:endParaRPr>
          </a:p>
          <a:p>
            <a:pPr>
              <a:lnSpc>
                <a:spcPts val="1851"/>
              </a:lnSpc>
            </a:pPr>
            <a:r>
              <a:rPr b="0" lang="en-US" sz="1700" spc="-1" strike="noStrike">
                <a:solidFill>
                  <a:srgbClr val="bbbbbb"/>
                </a:solidFill>
                <a:latin typeface="Courier New"/>
              </a:rPr>
              <a:t>    </a:t>
            </a:r>
            <a:r>
              <a:rPr b="0" lang="en-US" sz="1700" spc="-1" strike="noStrike">
                <a:solidFill>
                  <a:srgbClr val="202632"/>
                </a:solidFill>
                <a:latin typeface="Courier New"/>
              </a:rPr>
              <a:t>pixels[count]</a:t>
            </a: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bbbbbb"/>
                </a:solidFill>
                <a:latin typeface="Courier New"/>
              </a:rPr>
              <a:t> </a:t>
            </a:r>
            <a:r>
              <a:rPr b="0" lang="en-US" sz="1700" spc="-1" strike="noStrike">
                <a:solidFill>
                  <a:srgbClr val="202632"/>
                </a:solidFill>
                <a:latin typeface="Courier New"/>
              </a:rPr>
              <a:t>i;</a:t>
            </a:r>
            <a:endParaRPr b="0" lang="en-US" sz="1700" spc="-1" strike="noStrike">
              <a:solidFill>
                <a:srgbClr val="000000"/>
              </a:solidFill>
              <a:latin typeface="Arial"/>
            </a:endParaRPr>
          </a:p>
          <a:p>
            <a:pPr>
              <a:lnSpc>
                <a:spcPts val="1851"/>
              </a:lnSpc>
            </a:pPr>
            <a:r>
              <a:rPr b="0" lang="en-US" sz="1700" spc="-1" strike="noStrike">
                <a:solidFill>
                  <a:srgbClr val="bbbbbb"/>
                </a:solidFill>
                <a:latin typeface="Courier New"/>
              </a:rPr>
              <a:t>    </a:t>
            </a:r>
            <a:r>
              <a:rPr b="0" lang="en-US" sz="1700" spc="-1" strike="noStrike">
                <a:solidFill>
                  <a:srgbClr val="666666"/>
                </a:solidFill>
                <a:latin typeface="Courier New"/>
              </a:rPr>
              <a:t>++</a:t>
            </a:r>
            <a:r>
              <a:rPr b="0" lang="en-US" sz="1700" spc="-1" strike="noStrike">
                <a:solidFill>
                  <a:srgbClr val="202632"/>
                </a:solidFill>
                <a:latin typeface="Courier New"/>
              </a:rPr>
              <a:t>count;</a:t>
            </a:r>
            <a:endParaRPr b="0" lang="en-US" sz="1700" spc="-1" strike="noStrike">
              <a:solidFill>
                <a:srgbClr val="000000"/>
              </a:solidFill>
              <a:latin typeface="Arial"/>
            </a:endParaRPr>
          </a:p>
          <a:p>
            <a:pPr>
              <a:lnSpc>
                <a:spcPts val="1851"/>
              </a:lnSpc>
            </a:pPr>
            <a:r>
              <a:rPr b="0" lang="en-US" sz="1700" spc="-1" strike="noStrike">
                <a:solidFill>
                  <a:srgbClr val="202632"/>
                </a:solidFill>
                <a:latin typeface="Courier New"/>
              </a:rPr>
              <a:t>}</a:t>
            </a:r>
            <a:endParaRPr b="0" lang="en-US" sz="1700" spc="-1" strike="noStrike">
              <a:solidFill>
                <a:srgbClr val="000000"/>
              </a:solidFill>
              <a:latin typeface="Arial"/>
            </a:endParaRPr>
          </a:p>
          <a:p>
            <a:pPr>
              <a:lnSpc>
                <a:spcPts val="1851"/>
              </a:lnSpc>
            </a:pPr>
            <a:endParaRPr b="0" lang="en-US" sz="1700" spc="-1" strike="noStrike">
              <a:solidFill>
                <a:srgbClr val="000000"/>
              </a:solidFill>
              <a:latin typeface="Arial"/>
            </a:endParaRPr>
          </a:p>
        </p:txBody>
      </p:sp>
      <p:sp>
        <p:nvSpPr>
          <p:cNvPr id="444" name="TextBox 210"/>
          <p:cNvSpPr/>
          <p:nvPr/>
        </p:nvSpPr>
        <p:spPr>
          <a:xfrm>
            <a:off x="685800" y="5212080"/>
            <a:ext cx="10789200" cy="7084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200" spc="-1" strike="noStrike">
                <a:solidFill>
                  <a:srgbClr val="252b35"/>
                </a:solidFill>
                <a:latin typeface="Roboto"/>
              </a:rPr>
              <a:t>Choose the native operation from the live task.</a:t>
            </a:r>
            <a:endParaRPr b="0" lang="en-US" sz="2200" spc="-1" strike="noStrike">
              <a:solidFill>
                <a:srgbClr val="000000"/>
              </a:solidFill>
              <a:latin typeface="Arial"/>
            </a:endParaRPr>
          </a:p>
          <a:p>
            <a:pPr>
              <a:lnSpc>
                <a:spcPct val="100000"/>
              </a:lnSpc>
              <a:spcAft>
                <a:spcPts val="300"/>
              </a:spcAft>
            </a:pPr>
            <a:r>
              <a:rPr b="0" lang="en-US" sz="2200" spc="-1" strike="noStrike">
                <a:solidFill>
                  <a:srgbClr val="252b35"/>
                </a:solidFill>
                <a:latin typeface="Roboto"/>
              </a:rPr>
              <a:t>Models: PyTorch / OpenCV / MediaPipe. UI: marimo + Viser.</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5" name="Picture 5" descr=""/>
          <p:cNvPicPr/>
          <p:nvPr/>
        </p:nvPicPr>
        <p:blipFill>
          <a:blip r:embed="rId1"/>
          <a:stretch/>
        </p:blipFill>
        <p:spPr>
          <a:xfrm>
            <a:off x="10623600" y="345600"/>
            <a:ext cx="1058400" cy="1058400"/>
          </a:xfrm>
          <a:prstGeom prst="rect">
            <a:avLst/>
          </a:prstGeom>
          <a:ln w="0">
            <a:noFill/>
          </a:ln>
        </p:spPr>
      </p:pic>
      <p:cxnSp>
        <p:nvCxnSpPr>
          <p:cNvPr id="446" name="Straight Connector 7"/>
          <p:cNvCxnSpPr/>
          <p:nvPr/>
        </p:nvCxnSpPr>
        <p:spPr>
          <a:xfrm>
            <a:off x="0" y="1134720"/>
            <a:ext cx="4366080" cy="2520"/>
          </a:xfrm>
          <a:prstGeom prst="straightConnector1">
            <a:avLst/>
          </a:prstGeom>
          <a:ln w="38100">
            <a:solidFill>
              <a:srgbClr val="fed021"/>
            </a:solidFill>
            <a:round/>
          </a:ln>
        </p:spPr>
      </p:cxnSp>
      <p:sp>
        <p:nvSpPr>
          <p:cNvPr id="447"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The interactive process has a cost</a:t>
            </a:r>
            <a:endParaRPr b="0" lang="en-US" sz="2800" spc="-1" strike="noStrike">
              <a:solidFill>
                <a:srgbClr val="000000"/>
              </a:solidFill>
              <a:latin typeface="Arial"/>
            </a:endParaRPr>
          </a:p>
        </p:txBody>
      </p:sp>
      <p:sp>
        <p:nvSpPr>
          <p:cNvPr id="448" name="TextBox 207"/>
          <p:cNvSpPr/>
          <p:nvPr/>
        </p:nvSpPr>
        <p:spPr>
          <a:xfrm>
            <a:off x="685800" y="1463040"/>
            <a:ext cx="10789200" cy="39600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600" spc="-1" strike="noStrike">
                <a:solidFill>
                  <a:srgbClr val="252b35"/>
                </a:solidFill>
                <a:latin typeface="Roboto"/>
              </a:rPr>
              <a:t>Cling and its compiler state stay in the process.</a:t>
            </a:r>
            <a:endParaRPr b="0" lang="en-US" sz="2600" spc="-1" strike="noStrike">
              <a:solidFill>
                <a:srgbClr val="000000"/>
              </a:solidFill>
              <a:latin typeface="Arial"/>
            </a:endParaRPr>
          </a:p>
        </p:txBody>
      </p:sp>
      <p:sp>
        <p:nvSpPr>
          <p:cNvPr id="449" name="TextBox 208"/>
          <p:cNvSpPr/>
          <p:nvPr/>
        </p:nvSpPr>
        <p:spPr>
          <a:xfrm>
            <a:off x="822960" y="2423160"/>
            <a:ext cx="749736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300" spc="-1" strike="noStrike">
                <a:solidFill>
                  <a:srgbClr val="252b35"/>
                </a:solidFill>
                <a:latin typeface="Roboto"/>
              </a:rPr>
              <a:t>Eigen via vanilla cppyy</a:t>
            </a:r>
            <a:endParaRPr b="0" lang="en-US" sz="2300" spc="-1" strike="noStrike">
              <a:solidFill>
                <a:srgbClr val="000000"/>
              </a:solidFill>
              <a:latin typeface="Arial"/>
            </a:endParaRPr>
          </a:p>
        </p:txBody>
      </p:sp>
      <p:sp>
        <p:nvSpPr>
          <p:cNvPr id="450" name="TextBox 209"/>
          <p:cNvSpPr/>
          <p:nvPr/>
        </p:nvSpPr>
        <p:spPr>
          <a:xfrm>
            <a:off x="8641080" y="2423160"/>
            <a:ext cx="228528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1" lang="en-US" sz="2300" spc="-1" strike="noStrike">
                <a:solidFill>
                  <a:srgbClr val="185b91"/>
                </a:solidFill>
                <a:latin typeface="Roboto"/>
              </a:rPr>
              <a:t>367 MiB</a:t>
            </a:r>
            <a:endParaRPr b="0" lang="en-US" sz="2300" spc="-1" strike="noStrike">
              <a:solidFill>
                <a:srgbClr val="000000"/>
              </a:solidFill>
              <a:latin typeface="Arial"/>
            </a:endParaRPr>
          </a:p>
        </p:txBody>
      </p:sp>
      <p:sp>
        <p:nvSpPr>
          <p:cNvPr id="451" name="TextBox 210"/>
          <p:cNvSpPr/>
          <p:nvPr/>
        </p:nvSpPr>
        <p:spPr>
          <a:xfrm>
            <a:off x="822960" y="3063240"/>
            <a:ext cx="749736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300" spc="-1" strike="noStrike">
                <a:solidFill>
                  <a:srgbClr val="252b35"/>
                </a:solidFill>
                <a:latin typeface="Roboto"/>
              </a:rPr>
              <a:t>Eigen via prepared kit cache</a:t>
            </a:r>
            <a:endParaRPr b="0" lang="en-US" sz="2300" spc="-1" strike="noStrike">
              <a:solidFill>
                <a:srgbClr val="000000"/>
              </a:solidFill>
              <a:latin typeface="Arial"/>
            </a:endParaRPr>
          </a:p>
        </p:txBody>
      </p:sp>
      <p:sp>
        <p:nvSpPr>
          <p:cNvPr id="452" name="TextBox 211"/>
          <p:cNvSpPr/>
          <p:nvPr/>
        </p:nvSpPr>
        <p:spPr>
          <a:xfrm>
            <a:off x="8641080" y="3063240"/>
            <a:ext cx="228528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1" lang="en-US" sz="2300" spc="-1" strike="noStrike">
                <a:solidFill>
                  <a:srgbClr val="185b91"/>
                </a:solidFill>
                <a:latin typeface="Roboto"/>
              </a:rPr>
              <a:t>203 MiB</a:t>
            </a:r>
            <a:endParaRPr b="0" lang="en-US" sz="2300" spc="-1" strike="noStrike">
              <a:solidFill>
                <a:srgbClr val="000000"/>
              </a:solidFill>
              <a:latin typeface="Arial"/>
            </a:endParaRPr>
          </a:p>
        </p:txBody>
      </p:sp>
      <p:sp>
        <p:nvSpPr>
          <p:cNvPr id="453" name="TextBox 212"/>
          <p:cNvSpPr/>
          <p:nvPr/>
        </p:nvSpPr>
        <p:spPr>
          <a:xfrm>
            <a:off x="822960" y="3703320"/>
            <a:ext cx="749736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300" spc="-1" strike="noStrike">
                <a:solidFill>
                  <a:srgbClr val="252b35"/>
                </a:solidFill>
                <a:latin typeface="Roboto"/>
              </a:rPr>
              <a:t>Compiled Python extension</a:t>
            </a:r>
            <a:endParaRPr b="0" lang="en-US" sz="2300" spc="-1" strike="noStrike">
              <a:solidFill>
                <a:srgbClr val="000000"/>
              </a:solidFill>
              <a:latin typeface="Arial"/>
            </a:endParaRPr>
          </a:p>
        </p:txBody>
      </p:sp>
      <p:sp>
        <p:nvSpPr>
          <p:cNvPr id="454" name="TextBox 213"/>
          <p:cNvSpPr/>
          <p:nvPr/>
        </p:nvSpPr>
        <p:spPr>
          <a:xfrm>
            <a:off x="8641080" y="3703320"/>
            <a:ext cx="228528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1" lang="en-US" sz="2300" spc="-1" strike="noStrike">
                <a:solidFill>
                  <a:srgbClr val="185b91"/>
                </a:solidFill>
                <a:latin typeface="Roboto"/>
              </a:rPr>
              <a:t>~37 MiB</a:t>
            </a:r>
            <a:endParaRPr b="0" lang="en-US" sz="2300" spc="-1" strike="noStrike">
              <a:solidFill>
                <a:srgbClr val="000000"/>
              </a:solidFill>
              <a:latin typeface="Arial"/>
            </a:endParaRPr>
          </a:p>
        </p:txBody>
      </p:sp>
      <p:sp>
        <p:nvSpPr>
          <p:cNvPr id="455" name="TextBox 214"/>
          <p:cNvSpPr/>
          <p:nvPr/>
        </p:nvSpPr>
        <p:spPr>
          <a:xfrm>
            <a:off x="777240" y="4617720"/>
            <a:ext cx="10697760" cy="2437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1600" spc="-1" strike="noStrike">
                <a:solidFill>
                  <a:srgbClr val="596675"/>
                </a:solidFill>
                <a:latin typeface="Roboto"/>
              </a:rPr>
              <a:t>Process RSS after first call · separate Eigen experiment · this laptop</a:t>
            </a:r>
            <a:endParaRPr b="0" lang="en-US" sz="1600" spc="-1" strike="noStrike">
              <a:solidFill>
                <a:srgbClr val="000000"/>
              </a:solidFill>
              <a:latin typeface="Arial"/>
            </a:endParaRPr>
          </a:p>
        </p:txBody>
      </p:sp>
      <p:sp>
        <p:nvSpPr>
          <p:cNvPr id="456" name="TextBox 215"/>
          <p:cNvSpPr/>
          <p:nvPr/>
        </p:nvSpPr>
        <p:spPr>
          <a:xfrm>
            <a:off x="777240" y="5486400"/>
            <a:ext cx="10697760" cy="7387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300" spc="-1" strike="noStrike">
                <a:solidFill>
                  <a:srgbClr val="252b35"/>
                </a:solidFill>
                <a:latin typeface="Roboto"/>
              </a:rPr>
              <a:t>First use can trigger more compilation.</a:t>
            </a:r>
            <a:endParaRPr b="0" lang="en-US" sz="2300" spc="-1" strike="noStrike">
              <a:solidFill>
                <a:srgbClr val="000000"/>
              </a:solidFill>
              <a:latin typeface="Arial"/>
            </a:endParaRPr>
          </a:p>
          <a:p>
            <a:pPr>
              <a:lnSpc>
                <a:spcPct val="100000"/>
              </a:lnSpc>
              <a:spcAft>
                <a:spcPts val="300"/>
              </a:spcAft>
            </a:pPr>
            <a:r>
              <a:rPr b="0" lang="en-US" sz="2300" spc="-1" strike="noStrike">
                <a:solidFill>
                  <a:srgbClr val="252b35"/>
                </a:solidFill>
                <a:latin typeface="Roboto"/>
              </a:rPr>
              <a:t>Measure startup, warmed work, memory and behavior separately.</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7" name="Picture 5" descr=""/>
          <p:cNvPicPr/>
          <p:nvPr/>
        </p:nvPicPr>
        <p:blipFill>
          <a:blip r:embed="rId1"/>
          <a:stretch/>
        </p:blipFill>
        <p:spPr>
          <a:xfrm>
            <a:off x="10623600" y="345600"/>
            <a:ext cx="1058400" cy="1058400"/>
          </a:xfrm>
          <a:prstGeom prst="rect">
            <a:avLst/>
          </a:prstGeom>
          <a:ln w="0">
            <a:noFill/>
          </a:ln>
        </p:spPr>
      </p:pic>
      <p:cxnSp>
        <p:nvCxnSpPr>
          <p:cNvPr id="458" name="Straight Connector 7"/>
          <p:cNvCxnSpPr/>
          <p:nvPr/>
        </p:nvCxnSpPr>
        <p:spPr>
          <a:xfrm>
            <a:off x="0" y="1134720"/>
            <a:ext cx="4366080" cy="2520"/>
          </a:xfrm>
          <a:prstGeom prst="straightConnector1">
            <a:avLst/>
          </a:prstGeom>
          <a:ln w="38100">
            <a:solidFill>
              <a:srgbClr val="fed021"/>
            </a:solidFill>
            <a:round/>
          </a:ln>
        </p:spPr>
      </p:cxnSp>
      <p:sp>
        <p:nvSpPr>
          <p:cNvPr id="459"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Give the implementation agent more than a prompt</a:t>
            </a:r>
            <a:endParaRPr b="0" lang="en-US" sz="2800" spc="-1" strike="noStrike">
              <a:solidFill>
                <a:srgbClr val="000000"/>
              </a:solidFill>
              <a:latin typeface="Arial"/>
            </a:endParaRPr>
          </a:p>
        </p:txBody>
      </p:sp>
      <p:sp>
        <p:nvSpPr>
          <p:cNvPr id="460" name="TextBox 207"/>
          <p:cNvSpPr/>
          <p:nvPr/>
        </p:nvSpPr>
        <p:spPr>
          <a:xfrm>
            <a:off x="731520" y="1463040"/>
            <a:ext cx="1069776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1" lang="en-US" sz="2300" spc="-1" strike="noStrike">
                <a:solidFill>
                  <a:srgbClr val="185b91"/>
                </a:solidFill>
                <a:latin typeface="Roboto"/>
              </a:rPr>
              <a:t>Inputs and expected results</a:t>
            </a:r>
            <a:endParaRPr b="0" lang="en-US" sz="2300" spc="-1" strike="noStrike">
              <a:solidFill>
                <a:srgbClr val="000000"/>
              </a:solidFill>
              <a:latin typeface="Arial"/>
            </a:endParaRPr>
          </a:p>
        </p:txBody>
      </p:sp>
      <p:sp>
        <p:nvSpPr>
          <p:cNvPr id="461" name="TextBox 208"/>
          <p:cNvSpPr/>
          <p:nvPr/>
        </p:nvSpPr>
        <p:spPr>
          <a:xfrm>
            <a:off x="731520" y="1874520"/>
            <a:ext cx="1069776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Saved frames, reviewed outputs and tolerances</a:t>
            </a:r>
            <a:endParaRPr b="0" lang="en-US" sz="2000" spc="-1" strike="noStrike">
              <a:solidFill>
                <a:srgbClr val="000000"/>
              </a:solidFill>
              <a:latin typeface="Arial"/>
            </a:endParaRPr>
          </a:p>
        </p:txBody>
      </p:sp>
      <p:sp>
        <p:nvSpPr>
          <p:cNvPr id="462" name="TextBox 209"/>
          <p:cNvSpPr/>
          <p:nvPr/>
        </p:nvSpPr>
        <p:spPr>
          <a:xfrm>
            <a:off x="731520" y="2395800"/>
            <a:ext cx="1069776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1" lang="en-US" sz="2300" spc="-1" strike="noStrike">
                <a:solidFill>
                  <a:srgbClr val="185b91"/>
                </a:solidFill>
                <a:latin typeface="Roboto"/>
              </a:rPr>
              <a:t>Failure cases</a:t>
            </a:r>
            <a:endParaRPr b="0" lang="en-US" sz="2300" spc="-1" strike="noStrike">
              <a:solidFill>
                <a:srgbClr val="000000"/>
              </a:solidFill>
              <a:latin typeface="Arial"/>
            </a:endParaRPr>
          </a:p>
        </p:txBody>
      </p:sp>
      <p:sp>
        <p:nvSpPr>
          <p:cNvPr id="463" name="TextBox 210"/>
          <p:cNvSpPr/>
          <p:nvPr/>
        </p:nvSpPr>
        <p:spPr>
          <a:xfrm>
            <a:off x="731520" y="2807280"/>
            <a:ext cx="1069776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Occlusion, target loss, false detections and changing conditions</a:t>
            </a:r>
            <a:endParaRPr b="0" lang="en-US" sz="2000" spc="-1" strike="noStrike">
              <a:solidFill>
                <a:srgbClr val="000000"/>
              </a:solidFill>
              <a:latin typeface="Arial"/>
            </a:endParaRPr>
          </a:p>
        </p:txBody>
      </p:sp>
      <p:sp>
        <p:nvSpPr>
          <p:cNvPr id="464" name="TextBox 211"/>
          <p:cNvSpPr/>
          <p:nvPr/>
        </p:nvSpPr>
        <p:spPr>
          <a:xfrm>
            <a:off x="731520" y="3328560"/>
            <a:ext cx="1069776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1" lang="en-US" sz="2300" spc="-1" strike="noStrike">
                <a:solidFill>
                  <a:srgbClr val="185b91"/>
                </a:solidFill>
                <a:latin typeface="Roboto"/>
              </a:rPr>
              <a:t>Working reference</a:t>
            </a:r>
            <a:endParaRPr b="0" lang="en-US" sz="2300" spc="-1" strike="noStrike">
              <a:solidFill>
                <a:srgbClr val="000000"/>
              </a:solidFill>
              <a:latin typeface="Arial"/>
            </a:endParaRPr>
          </a:p>
        </p:txBody>
      </p:sp>
      <p:sp>
        <p:nvSpPr>
          <p:cNvPr id="465" name="TextBox 212"/>
          <p:cNvSpPr/>
          <p:nvPr/>
        </p:nvSpPr>
        <p:spPr>
          <a:xfrm>
            <a:off x="731520" y="3740040"/>
            <a:ext cx="1069776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Accepted code, dependencies and data contracts</a:t>
            </a:r>
            <a:endParaRPr b="0" lang="en-US" sz="2000" spc="-1" strike="noStrike">
              <a:solidFill>
                <a:srgbClr val="000000"/>
              </a:solidFill>
              <a:latin typeface="Arial"/>
            </a:endParaRPr>
          </a:p>
        </p:txBody>
      </p:sp>
      <p:sp>
        <p:nvSpPr>
          <p:cNvPr id="466" name="TextBox 213"/>
          <p:cNvSpPr/>
          <p:nvPr/>
        </p:nvSpPr>
        <p:spPr>
          <a:xfrm>
            <a:off x="731520" y="4260960"/>
            <a:ext cx="10697760" cy="35028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1" lang="en-US" sz="2300" spc="-1" strike="noStrike">
                <a:solidFill>
                  <a:srgbClr val="185b91"/>
                </a:solidFill>
                <a:latin typeface="Roboto"/>
              </a:rPr>
              <a:t>Deployment requirements</a:t>
            </a:r>
            <a:endParaRPr b="0" lang="en-US" sz="2300" spc="-1" strike="noStrike">
              <a:solidFill>
                <a:srgbClr val="000000"/>
              </a:solidFill>
              <a:latin typeface="Arial"/>
            </a:endParaRPr>
          </a:p>
        </p:txBody>
      </p:sp>
      <p:sp>
        <p:nvSpPr>
          <p:cNvPr id="467" name="TextBox 214"/>
          <p:cNvSpPr/>
          <p:nvPr/>
        </p:nvSpPr>
        <p:spPr>
          <a:xfrm>
            <a:off x="731520" y="4672440"/>
            <a:ext cx="10697760" cy="304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000" spc="-1" strike="noStrike">
                <a:solidFill>
                  <a:srgbClr val="252b35"/>
                </a:solidFill>
                <a:latin typeface="Roboto"/>
              </a:rPr>
              <a:t>Hardware, latency, memory and verification criteria</a:t>
            </a:r>
            <a:endParaRPr b="0" lang="en-US" sz="2000" spc="-1" strike="noStrike">
              <a:solidFill>
                <a:srgbClr val="000000"/>
              </a:solidFill>
              <a:latin typeface="Arial"/>
            </a:endParaRPr>
          </a:p>
        </p:txBody>
      </p:sp>
      <p:sp>
        <p:nvSpPr>
          <p:cNvPr id="468" name="Rounded Rectangle 215"/>
          <p:cNvSpPr/>
          <p:nvPr/>
        </p:nvSpPr>
        <p:spPr>
          <a:xfrm>
            <a:off x="685800" y="5596200"/>
            <a:ext cx="10834920" cy="867960"/>
          </a:xfrm>
          <a:prstGeom prst="roundRect">
            <a:avLst>
              <a:gd name="adj" fmla="val 16667"/>
            </a:avLst>
          </a:prstGeom>
          <a:solidFill>
            <a:srgbClr val="fff0b7"/>
          </a:solidFill>
          <a:ln>
            <a:solidFill>
              <a:srgbClr val="c29226"/>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69" name="TextBox 216"/>
          <p:cNvSpPr/>
          <p:nvPr/>
        </p:nvSpPr>
        <p:spPr>
          <a:xfrm>
            <a:off x="768240" y="5669280"/>
            <a:ext cx="10670400" cy="32004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100" spc="-1" strike="noStrike">
                <a:solidFill>
                  <a:srgbClr val="252b35"/>
                </a:solidFill>
                <a:latin typeface="Roboto"/>
              </a:rPr>
              <a:t>Implement → compare against the reference → evaluate on held-out cases</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0" name="Picture 6" descr="U.K.-based startup Humanoid unveils HMND 01 Alpha mobile manipulator - The  Robot Report"/>
          <p:cNvPicPr/>
          <p:nvPr/>
        </p:nvPicPr>
        <p:blipFill>
          <a:blip r:embed="rId1"/>
          <a:srcRect l="97706" t="0" r="0" b="0"/>
          <a:stretch/>
        </p:blipFill>
        <p:spPr>
          <a:xfrm>
            <a:off x="7296840" y="0"/>
            <a:ext cx="5011920" cy="6855480"/>
          </a:xfrm>
          <a:prstGeom prst="rect">
            <a:avLst/>
          </a:prstGeom>
          <a:ln w="0">
            <a:noFill/>
          </a:ln>
        </p:spPr>
      </p:pic>
      <p:pic>
        <p:nvPicPr>
          <p:cNvPr id="471" name="Picture 7" descr="U.K.-based startup Humanoid unveils HMND 01 Alpha mobile manipulator - The  Robot Report"/>
          <p:cNvPicPr/>
          <p:nvPr/>
        </p:nvPicPr>
        <p:blipFill>
          <a:blip r:embed="rId2"/>
          <a:srcRect l="18551" t="0" r="0" b="0"/>
          <a:stretch/>
        </p:blipFill>
        <p:spPr>
          <a:xfrm>
            <a:off x="0" y="0"/>
            <a:ext cx="8589240" cy="6855480"/>
          </a:xfrm>
          <a:prstGeom prst="rect">
            <a:avLst/>
          </a:prstGeom>
          <a:ln w="0">
            <a:noFill/>
          </a:ln>
        </p:spPr>
      </p:pic>
      <p:sp>
        <p:nvSpPr>
          <p:cNvPr id="472" name="Rectangle 2"/>
          <p:cNvSpPr/>
          <p:nvPr/>
        </p:nvSpPr>
        <p:spPr>
          <a:xfrm>
            <a:off x="0" y="0"/>
            <a:ext cx="12308760" cy="6855480"/>
          </a:xfrm>
          <a:prstGeom prst="rect">
            <a:avLst/>
          </a:prstGeom>
          <a:gradFill rotWithShape="0">
            <a:gsLst>
              <a:gs pos="27000">
                <a:srgbClr val="183964"/>
              </a:gs>
              <a:gs pos="100000">
                <a:srgbClr val="031424">
                  <a:alpha val="56000"/>
                </a:srgbClr>
              </a:gs>
            </a:gsLst>
            <a:path path="rect">
              <a:fillToRect l="100000" t="100000" r="0" b="0"/>
            </a:path>
          </a:gra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endParaRPr b="0" lang="en-US" sz="1800" spc="-1" strike="noStrike">
              <a:solidFill>
                <a:schemeClr val="lt1"/>
              </a:solidFill>
              <a:latin typeface="Aptos"/>
            </a:endParaRPr>
          </a:p>
        </p:txBody>
      </p:sp>
      <p:pic>
        <p:nvPicPr>
          <p:cNvPr id="473" name="Picture 8" descr=""/>
          <p:cNvPicPr/>
          <p:nvPr/>
        </p:nvPicPr>
        <p:blipFill>
          <a:blip r:embed="rId3"/>
          <a:stretch/>
        </p:blipFill>
        <p:spPr>
          <a:xfrm>
            <a:off x="10413720" y="5175360"/>
            <a:ext cx="1515240" cy="1515240"/>
          </a:xfrm>
          <a:prstGeom prst="rect">
            <a:avLst/>
          </a:prstGeom>
          <a:ln w="0">
            <a:noFill/>
          </a:ln>
        </p:spPr>
      </p:pic>
      <p:sp>
        <p:nvSpPr>
          <p:cNvPr id="474" name=""/>
          <p:cNvSpPr txBox="1"/>
          <p:nvPr/>
        </p:nvSpPr>
        <p:spPr>
          <a:xfrm>
            <a:off x="5029200" y="914400"/>
            <a:ext cx="6400800" cy="4114800"/>
          </a:xfrm>
          <a:prstGeom prst="rect">
            <a:avLst/>
          </a:prstGeom>
          <a:noFill/>
          <a:ln w="0">
            <a:noFill/>
          </a:ln>
        </p:spPr>
        <p:txBody>
          <a:bodyPr lIns="90000" rIns="90000" tIns="45000" bIns="45000" anchor="t">
            <a:noAutofit/>
          </a:bodyPr>
          <a:p>
            <a:r>
              <a:rPr b="0" lang="en-US" sz="2400" spc="-1" strike="noStrike">
                <a:solidFill>
                  <a:srgbClr val="ffffff"/>
                </a:solidFill>
                <a:latin typeface="Roboto"/>
              </a:rPr>
              <a:t>Thanks!</a:t>
            </a:r>
            <a:br>
              <a:rPr sz="2400"/>
            </a:br>
            <a:r>
              <a:rPr b="0" lang="en-US" sz="2400" spc="-1" strike="noStrike">
                <a:solidFill>
                  <a:srgbClr val="ffffff"/>
                </a:solidFill>
                <a:latin typeface="Roboto"/>
              </a:rPr>
              <a:t>Questions?</a:t>
            </a:r>
            <a:br>
              <a:rPr sz="2400"/>
            </a:br>
            <a:r>
              <a:rPr b="0" lang="en-US" sz="2400" spc="-1" strike="noStrike">
                <a:solidFill>
                  <a:srgbClr val="ffffff"/>
                </a:solidFill>
                <a:latin typeface="Roboto"/>
              </a:rPr>
              <a:t>Discussion?</a:t>
            </a:r>
            <a:endParaRPr b="0" lang="en-US" sz="2400" spc="-1" strike="noStrike">
              <a:solidFill>
                <a:srgbClr val="ffffff"/>
              </a:solidFill>
              <a:latin typeface="Roboto"/>
            </a:endParaRPr>
          </a:p>
        </p:txBody>
      </p:sp>
      <p:sp>
        <p:nvSpPr>
          <p:cNvPr id="475" name=""/>
          <p:cNvSpPr txBox="1"/>
          <p:nvPr/>
        </p:nvSpPr>
        <p:spPr>
          <a:xfrm>
            <a:off x="1371600" y="6169680"/>
            <a:ext cx="8686800" cy="685800"/>
          </a:xfrm>
          <a:prstGeom prst="rect">
            <a:avLst/>
          </a:prstGeom>
          <a:noFill/>
          <a:ln w="0">
            <a:noFill/>
          </a:ln>
        </p:spPr>
        <p:txBody>
          <a:bodyPr lIns="90000" rIns="90000" tIns="45000" bIns="45000" anchor="t">
            <a:noAutofit/>
          </a:bodyPr>
          <a:p>
            <a:r>
              <a:rPr b="0" lang="en-US" sz="5000" spc="-1" strike="noStrike">
                <a:solidFill>
                  <a:srgbClr val="ffffff"/>
                </a:solidFill>
                <a:latin typeface="Roboto"/>
              </a:rPr>
              <a:t>https://awesomebytes.github.io/cppyy_kit/</a:t>
            </a:r>
            <a:endParaRPr b="0" lang="en-US" sz="5000" spc="-1" strike="noStrike">
              <a:solidFill>
                <a:srgbClr val="ffffff"/>
              </a:solidFill>
              <a:latin typeface="Roboto"/>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476" name="Picture 5" descr=""/>
          <p:cNvPicPr/>
          <p:nvPr/>
        </p:nvPicPr>
        <p:blipFill>
          <a:blip r:embed="rId1"/>
          <a:stretch/>
        </p:blipFill>
        <p:spPr>
          <a:xfrm>
            <a:off x="10623600" y="345600"/>
            <a:ext cx="1058400" cy="1058400"/>
          </a:xfrm>
          <a:prstGeom prst="rect">
            <a:avLst/>
          </a:prstGeom>
          <a:ln w="0">
            <a:noFill/>
          </a:ln>
        </p:spPr>
      </p:pic>
      <p:cxnSp>
        <p:nvCxnSpPr>
          <p:cNvPr id="477" name="Straight Connector 7"/>
          <p:cNvCxnSpPr/>
          <p:nvPr/>
        </p:nvCxnSpPr>
        <p:spPr>
          <a:xfrm>
            <a:off x="0" y="1134720"/>
            <a:ext cx="4366080" cy="2520"/>
          </a:xfrm>
          <a:prstGeom prst="straightConnector1">
            <a:avLst/>
          </a:prstGeom>
          <a:ln w="38100">
            <a:solidFill>
              <a:srgbClr val="fed021"/>
            </a:solidFill>
            <a:round/>
          </a:ln>
        </p:spPr>
      </p:cxnSp>
      <p:sp>
        <p:nvSpPr>
          <p:cNvPr id="478" name="TextBox 206"/>
          <p:cNvSpPr/>
          <p:nvPr/>
        </p:nvSpPr>
        <p:spPr>
          <a:xfrm>
            <a:off x="502920" y="320040"/>
            <a:ext cx="10240560" cy="593640"/>
          </a:xfrm>
          <a:prstGeom prst="rect">
            <a:avLst/>
          </a:prstGeom>
          <a:noFill/>
          <a:ln w="0">
            <a:noFill/>
          </a:ln>
        </p:spPr>
        <p:style>
          <a:lnRef idx="0"/>
          <a:fillRef idx="0"/>
          <a:effectRef idx="0"/>
          <a:fontRef idx="minor"/>
        </p:style>
        <p:txBody>
          <a:bodyPr lIns="0" rIns="0" tIns="45000" bIns="45000" anchor="t">
            <a:noAutofit/>
          </a:bodyPr>
          <a:p>
            <a:pPr>
              <a:lnSpc>
                <a:spcPct val="100000"/>
              </a:lnSpc>
            </a:pPr>
            <a:r>
              <a:rPr b="0" lang="en-US" sz="2800" spc="-1" strike="noStrike">
                <a:solidFill>
                  <a:srgbClr val="202632"/>
                </a:solidFill>
                <a:latin typeface="Roboto"/>
              </a:rPr>
              <a:t>Fallback: find the blocks in robot data</a:t>
            </a:r>
            <a:endParaRPr b="0" lang="en-US" sz="2800" spc="-1" strike="noStrike">
              <a:solidFill>
                <a:srgbClr val="000000"/>
              </a:solidFill>
              <a:latin typeface="Arial"/>
            </a:endParaRPr>
          </a:p>
        </p:txBody>
      </p:sp>
      <p:sp>
        <p:nvSpPr>
          <p:cNvPr id="479" name="TextBox 207"/>
          <p:cNvSpPr/>
          <p:nvPr/>
        </p:nvSpPr>
        <p:spPr>
          <a:xfrm>
            <a:off x="685800" y="1508760"/>
            <a:ext cx="10789200" cy="39600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600" spc="-1" strike="noStrike">
                <a:solidFill>
                  <a:srgbClr val="252b35"/>
                </a:solidFill>
                <a:latin typeface="Roboto"/>
              </a:rPr>
              <a:t>Same interactive workflow. The input is a robot MCAP.</a:t>
            </a:r>
            <a:endParaRPr b="0" lang="en-US" sz="2600" spc="-1" strike="noStrike">
              <a:solidFill>
                <a:srgbClr val="000000"/>
              </a:solidFill>
              <a:latin typeface="Arial"/>
            </a:endParaRPr>
          </a:p>
        </p:txBody>
      </p:sp>
      <p:sp>
        <p:nvSpPr>
          <p:cNvPr id="480" name="Rounded Rectangle 208"/>
          <p:cNvSpPr/>
          <p:nvPr/>
        </p:nvSpPr>
        <p:spPr>
          <a:xfrm>
            <a:off x="685800" y="2560320"/>
            <a:ext cx="3382560" cy="141660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81" name="TextBox 209"/>
          <p:cNvSpPr/>
          <p:nvPr/>
        </p:nvSpPr>
        <p:spPr>
          <a:xfrm>
            <a:off x="768240" y="2633400"/>
            <a:ext cx="3218040" cy="7387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300" spc="-1" strike="noStrike">
                <a:solidFill>
                  <a:srgbClr val="252b35"/>
                </a:solidFill>
                <a:latin typeface="Roboto"/>
              </a:rPr>
              <a:t>Recorded RGB + depth</a:t>
            </a:r>
            <a:endParaRPr b="0" lang="en-US" sz="2300" spc="-1" strike="noStrike">
              <a:solidFill>
                <a:srgbClr val="000000"/>
              </a:solidFill>
              <a:latin typeface="Arial"/>
            </a:endParaRPr>
          </a:p>
          <a:p>
            <a:pPr>
              <a:lnSpc>
                <a:spcPct val="100000"/>
              </a:lnSpc>
              <a:spcAft>
                <a:spcPts val="300"/>
              </a:spcAft>
            </a:pPr>
            <a:r>
              <a:rPr b="0" lang="en-US" sz="2300" spc="-1" strike="noStrike">
                <a:solidFill>
                  <a:srgbClr val="252b35"/>
                </a:solidFill>
                <a:latin typeface="Roboto"/>
              </a:rPr>
              <a:t>Blocks on the table</a:t>
            </a:r>
            <a:endParaRPr b="0" lang="en-US" sz="2300" spc="-1" strike="noStrike">
              <a:solidFill>
                <a:srgbClr val="000000"/>
              </a:solidFill>
              <a:latin typeface="Arial"/>
            </a:endParaRPr>
          </a:p>
        </p:txBody>
      </p:sp>
      <p:sp>
        <p:nvSpPr>
          <p:cNvPr id="482" name="Rounded Rectangle 210"/>
          <p:cNvSpPr/>
          <p:nvPr/>
        </p:nvSpPr>
        <p:spPr>
          <a:xfrm>
            <a:off x="4434840" y="2560320"/>
            <a:ext cx="3382560" cy="141660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83" name="TextBox 211"/>
          <p:cNvSpPr/>
          <p:nvPr/>
        </p:nvSpPr>
        <p:spPr>
          <a:xfrm>
            <a:off x="4517280" y="2633400"/>
            <a:ext cx="3218040" cy="7387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300" spc="-1" strike="noStrike">
                <a:solidFill>
                  <a:srgbClr val="252b35"/>
                </a:solidFill>
                <a:latin typeface="Roboto"/>
              </a:rPr>
              <a:t>marimo + agent</a:t>
            </a:r>
            <a:endParaRPr b="0" lang="en-US" sz="2300" spc="-1" strike="noStrike">
              <a:solidFill>
                <a:srgbClr val="000000"/>
              </a:solidFill>
              <a:latin typeface="Arial"/>
            </a:endParaRPr>
          </a:p>
          <a:p>
            <a:pPr>
              <a:lnSpc>
                <a:spcPct val="100000"/>
              </a:lnSpc>
              <a:spcAft>
                <a:spcPts val="300"/>
              </a:spcAft>
            </a:pPr>
            <a:r>
              <a:rPr b="0" lang="en-US" sz="2300" spc="-1" strike="noStrike">
                <a:solidFill>
                  <a:srgbClr val="252b35"/>
                </a:solidFill>
                <a:latin typeface="Roboto"/>
              </a:rPr>
              <a:t>Inspect and edit</a:t>
            </a:r>
            <a:endParaRPr b="0" lang="en-US" sz="2300" spc="-1" strike="noStrike">
              <a:solidFill>
                <a:srgbClr val="000000"/>
              </a:solidFill>
              <a:latin typeface="Arial"/>
            </a:endParaRPr>
          </a:p>
        </p:txBody>
      </p:sp>
      <p:sp>
        <p:nvSpPr>
          <p:cNvPr id="484" name="Rounded Rectangle 212"/>
          <p:cNvSpPr/>
          <p:nvPr/>
        </p:nvSpPr>
        <p:spPr>
          <a:xfrm>
            <a:off x="8183880" y="2560320"/>
            <a:ext cx="3382560" cy="1416600"/>
          </a:xfrm>
          <a:prstGeom prst="roundRect">
            <a:avLst>
              <a:gd name="adj" fmla="val 16667"/>
            </a:avLst>
          </a:prstGeom>
          <a:solidFill>
            <a:srgbClr val="eef2f6"/>
          </a:solidFill>
          <a:ln>
            <a:solidFill>
              <a:srgbClr val="7990a5"/>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Aptos"/>
            </a:endParaRPr>
          </a:p>
        </p:txBody>
      </p:sp>
      <p:sp>
        <p:nvSpPr>
          <p:cNvPr id="485" name="TextBox 213"/>
          <p:cNvSpPr/>
          <p:nvPr/>
        </p:nvSpPr>
        <p:spPr>
          <a:xfrm>
            <a:off x="8266320" y="2633400"/>
            <a:ext cx="3218040" cy="7387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300" spc="-1" strike="noStrike">
                <a:solidFill>
                  <a:srgbClr val="252b35"/>
                </a:solidFill>
                <a:latin typeface="Roboto"/>
              </a:rPr>
              <a:t>Detection result</a:t>
            </a:r>
            <a:endParaRPr b="0" lang="en-US" sz="2300" spc="-1" strike="noStrike">
              <a:solidFill>
                <a:srgbClr val="000000"/>
              </a:solidFill>
              <a:latin typeface="Arial"/>
            </a:endParaRPr>
          </a:p>
          <a:p>
            <a:pPr>
              <a:lnSpc>
                <a:spcPct val="100000"/>
              </a:lnSpc>
              <a:spcAft>
                <a:spcPts val="300"/>
              </a:spcAft>
            </a:pPr>
            <a:r>
              <a:rPr b="0" lang="en-US" sz="2300" spc="-1" strike="noStrike">
                <a:solidFill>
                  <a:srgbClr val="252b35"/>
                </a:solidFill>
                <a:latin typeface="Roboto"/>
              </a:rPr>
              <a:t>Image + point cloud</a:t>
            </a:r>
            <a:endParaRPr b="0" lang="en-US" sz="2300" spc="-1" strike="noStrike">
              <a:solidFill>
                <a:srgbClr val="000000"/>
              </a:solidFill>
              <a:latin typeface="Arial"/>
            </a:endParaRPr>
          </a:p>
        </p:txBody>
      </p:sp>
      <p:cxnSp>
        <p:nvCxnSpPr>
          <p:cNvPr id="486" name="Connector 214"/>
          <p:cNvCxnSpPr/>
          <p:nvPr/>
        </p:nvCxnSpPr>
        <p:spPr>
          <a:xfrm>
            <a:off x="4069080" y="3246120"/>
            <a:ext cx="366480" cy="720"/>
          </a:xfrm>
          <a:prstGeom prst="straightConnector1">
            <a:avLst/>
          </a:prstGeom>
          <a:ln w="22860">
            <a:solidFill>
              <a:srgbClr val="56718a"/>
            </a:solidFill>
            <a:round/>
            <a:tailEnd len="sm" type="triangle" w="sm"/>
          </a:ln>
        </p:spPr>
      </p:cxnSp>
      <p:cxnSp>
        <p:nvCxnSpPr>
          <p:cNvPr id="487" name="Connector 215"/>
          <p:cNvCxnSpPr/>
          <p:nvPr/>
        </p:nvCxnSpPr>
        <p:spPr>
          <a:xfrm>
            <a:off x="7818120" y="3246120"/>
            <a:ext cx="366120" cy="720"/>
          </a:xfrm>
          <a:prstGeom prst="straightConnector1">
            <a:avLst/>
          </a:prstGeom>
          <a:ln w="22860">
            <a:solidFill>
              <a:srgbClr val="56718a"/>
            </a:solidFill>
            <a:round/>
            <a:tailEnd len="sm" type="triangle" w="sm"/>
          </a:ln>
        </p:spPr>
      </p:cxnSp>
      <p:sp>
        <p:nvSpPr>
          <p:cNvPr id="488" name="TextBox 216"/>
          <p:cNvSpPr/>
          <p:nvPr/>
        </p:nvSpPr>
        <p:spPr>
          <a:xfrm>
            <a:off x="731520" y="4709160"/>
            <a:ext cx="10697760" cy="799920"/>
          </a:xfrm>
          <a:prstGeom prst="rect">
            <a:avLst/>
          </a:prstGeom>
          <a:noFill/>
          <a:ln w="0">
            <a:noFill/>
          </a:ln>
        </p:spPr>
        <p:style>
          <a:lnRef idx="0"/>
          <a:fillRef idx="0"/>
          <a:effectRef idx="0"/>
          <a:fontRef idx="minor"/>
        </p:style>
        <p:txBody>
          <a:bodyPr lIns="36720" rIns="36720" tIns="0" bIns="0" anchor="t">
            <a:spAutoFit/>
          </a:bodyPr>
          <a:p>
            <a:pPr>
              <a:lnSpc>
                <a:spcPct val="100000"/>
              </a:lnSpc>
              <a:spcAft>
                <a:spcPts val="300"/>
              </a:spcAft>
            </a:pPr>
            <a:r>
              <a:rPr b="0" lang="en-US" sz="2500" spc="-1" strike="noStrike">
                <a:solidFill>
                  <a:srgbClr val="252b35"/>
                </a:solidFill>
                <a:latin typeface="Roboto"/>
              </a:rPr>
              <a:t>Find a block → select by color → inspect its 3D cluster</a:t>
            </a:r>
            <a:endParaRPr b="0" lang="en-US" sz="2500" spc="-1" strike="noStrike">
              <a:solidFill>
                <a:srgbClr val="000000"/>
              </a:solidFill>
              <a:latin typeface="Arial"/>
            </a:endParaRPr>
          </a:p>
          <a:p>
            <a:pPr>
              <a:lnSpc>
                <a:spcPct val="100000"/>
              </a:lnSpc>
              <a:spcAft>
                <a:spcPts val="300"/>
              </a:spcAft>
            </a:pPr>
            <a:r>
              <a:rPr b="0" lang="en-US" sz="2500" spc="-1" strike="noStrike">
                <a:solidFill>
                  <a:srgbClr val="252b35"/>
                </a:solidFill>
                <a:latin typeface="Roboto"/>
              </a:rPr>
              <a:t>Refine the region and check the result on the recorded data.</a:t>
            </a:r>
            <a:endParaRPr b="0" lang="en-US" sz="2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title"/>
          </p:nvPr>
        </p:nvSpPr>
        <p:spPr>
          <a:xfrm>
            <a:off x="6788520" y="347400"/>
            <a:ext cx="4652280" cy="78660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0" lang="en-US" sz="2400" spc="-1" strike="noStrike">
                <a:solidFill>
                  <a:srgbClr val="031424"/>
                </a:solidFill>
                <a:latin typeface="Roboto"/>
                <a:ea typeface="Roboto"/>
              </a:rPr>
              <a:t>After</a:t>
            </a:r>
            <a:endParaRPr b="0" lang="en-US" sz="2400" spc="-1" strike="noStrike">
              <a:solidFill>
                <a:srgbClr val="000000"/>
              </a:solidFill>
              <a:latin typeface="Arial"/>
            </a:endParaRPr>
          </a:p>
        </p:txBody>
      </p:sp>
      <p:pic>
        <p:nvPicPr>
          <p:cNvPr id="490" name="Picture 5" descr=""/>
          <p:cNvPicPr/>
          <p:nvPr/>
        </p:nvPicPr>
        <p:blipFill>
          <a:blip r:embed="rId1"/>
          <a:stretch/>
        </p:blipFill>
        <p:spPr>
          <a:xfrm>
            <a:off x="11547720" y="6235560"/>
            <a:ext cx="524160" cy="524160"/>
          </a:xfrm>
          <a:prstGeom prst="rect">
            <a:avLst/>
          </a:prstGeom>
          <a:ln w="0">
            <a:noFill/>
          </a:ln>
        </p:spPr>
      </p:pic>
      <p:cxnSp>
        <p:nvCxnSpPr>
          <p:cNvPr id="491" name="Straight Connector 7"/>
          <p:cNvCxnSpPr/>
          <p:nvPr/>
        </p:nvCxnSpPr>
        <p:spPr>
          <a:xfrm flipV="1">
            <a:off x="6095880" y="0"/>
            <a:ext cx="2520" cy="5812920"/>
          </a:xfrm>
          <a:prstGeom prst="straightConnector1">
            <a:avLst/>
          </a:prstGeom>
          <a:ln w="38100">
            <a:solidFill>
              <a:srgbClr val="031424"/>
            </a:solidFill>
            <a:round/>
          </a:ln>
        </p:spPr>
      </p:cxnSp>
      <p:cxnSp>
        <p:nvCxnSpPr>
          <p:cNvPr id="492" name="Straight Connector 9"/>
          <p:cNvCxnSpPr/>
          <p:nvPr/>
        </p:nvCxnSpPr>
        <p:spPr>
          <a:xfrm flipV="1">
            <a:off x="5970600" y="1047240"/>
            <a:ext cx="2520" cy="5813280"/>
          </a:xfrm>
          <a:prstGeom prst="straightConnector1">
            <a:avLst/>
          </a:prstGeom>
          <a:ln w="38100">
            <a:solidFill>
              <a:srgbClr val="fed021"/>
            </a:solidFill>
            <a:round/>
          </a:ln>
        </p:spPr>
      </p:cxnSp>
      <p:sp>
        <p:nvSpPr>
          <p:cNvPr id="493" name="Title 1"/>
          <p:cNvSpPr/>
          <p:nvPr/>
        </p:nvSpPr>
        <p:spPr>
          <a:xfrm>
            <a:off x="497880" y="347400"/>
            <a:ext cx="4652280" cy="7866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r>
              <a:rPr b="0" lang="en-US" sz="2400" spc="-1" strike="noStrike">
                <a:solidFill>
                  <a:srgbClr val="031424"/>
                </a:solidFill>
                <a:latin typeface="Roboto"/>
                <a:ea typeface="Roboto"/>
              </a:rPr>
              <a:t>Before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title"/>
          </p:nvPr>
        </p:nvSpPr>
        <p:spPr>
          <a:xfrm>
            <a:off x="7597800" y="5931720"/>
            <a:ext cx="4251240" cy="786600"/>
          </a:xfrm>
          <a:prstGeom prst="rect">
            <a:avLst/>
          </a:prstGeom>
          <a:noFill/>
          <a:ln w="0">
            <a:noFill/>
          </a:ln>
        </p:spPr>
        <p:txBody>
          <a:bodyPr lIns="91440" rIns="91440" tIns="45720" bIns="45720" anchor="ctr">
            <a:normAutofit/>
          </a:bodyPr>
          <a:p>
            <a:pPr indent="0" algn="r" defTabSz="914400">
              <a:lnSpc>
                <a:spcPct val="90000"/>
              </a:lnSpc>
              <a:buNone/>
              <a:tabLst>
                <a:tab algn="l" pos="0"/>
              </a:tabLst>
            </a:pPr>
            <a:r>
              <a:rPr b="0" lang="en-US" sz="1800" spc="-1" strike="noStrike">
                <a:solidFill>
                  <a:srgbClr val="031424"/>
                </a:solidFill>
                <a:latin typeface="Roboto"/>
                <a:ea typeface="Roboto"/>
              </a:rPr>
              <a:t>After</a:t>
            </a:r>
            <a:endParaRPr b="0" lang="en-US" sz="1800" spc="-1" strike="noStrike">
              <a:solidFill>
                <a:srgbClr val="000000"/>
              </a:solidFill>
              <a:latin typeface="Arial"/>
            </a:endParaRPr>
          </a:p>
        </p:txBody>
      </p:sp>
      <p:sp>
        <p:nvSpPr>
          <p:cNvPr id="495" name="Title 1"/>
          <p:cNvSpPr/>
          <p:nvPr/>
        </p:nvSpPr>
        <p:spPr>
          <a:xfrm>
            <a:off x="256680" y="196920"/>
            <a:ext cx="4652280" cy="7866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r>
              <a:rPr b="0" lang="en-US" sz="1800" spc="-1" strike="noStrike">
                <a:solidFill>
                  <a:srgbClr val="031424"/>
                </a:solidFill>
                <a:latin typeface="Roboto"/>
                <a:ea typeface="Roboto"/>
              </a:rPr>
              <a:t>Before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Picture 5" descr=""/>
          <p:cNvPicPr/>
          <p:nvPr/>
        </p:nvPicPr>
        <p:blipFill>
          <a:blip r:embed="rId1"/>
          <a:stretch/>
        </p:blipFill>
        <p:spPr>
          <a:xfrm>
            <a:off x="10623600" y="345600"/>
            <a:ext cx="1058400" cy="1058400"/>
          </a:xfrm>
          <a:prstGeom prst="rect">
            <a:avLst/>
          </a:prstGeom>
          <a:ln w="0">
            <a:noFill/>
          </a:ln>
        </p:spPr>
      </p:pic>
      <p:cxnSp>
        <p:nvCxnSpPr>
          <p:cNvPr id="81" name="Straight Connector 7"/>
          <p:cNvCxnSpPr/>
          <p:nvPr/>
        </p:nvCxnSpPr>
        <p:spPr>
          <a:xfrm>
            <a:off x="0" y="1134720"/>
            <a:ext cx="4366080" cy="2520"/>
          </a:xfrm>
          <a:prstGeom prst="straightConnector1">
            <a:avLst/>
          </a:prstGeom>
          <a:ln w="38100">
            <a:solidFill>
              <a:srgbClr val="fed021"/>
            </a:solidFill>
            <a:round/>
          </a:ln>
        </p:spPr>
      </p:cxnSp>
      <p:sp>
        <p:nvSpPr>
          <p:cNvPr id="82" name="TextBox 1"/>
          <p:cNvSpPr txBox="1"/>
          <p:nvPr/>
        </p:nvSpPr>
        <p:spPr>
          <a:xfrm>
            <a:off x="502920" y="320040"/>
            <a:ext cx="10424160" cy="548640"/>
          </a:xfrm>
          <a:prstGeom prst="rect">
            <a:avLst/>
          </a:prstGeom>
          <a:noFill/>
        </p:spPr>
        <p:txBody>
          <a:bodyPr wrap="none" lIns="0" rIns="0" tIns="0" bIns="0">
            <a:spAutoFit/>
          </a:bodyPr>
          <a:lstStyle/>
          <a:p>
            <a:pPr>
              <a:defRPr sz="2800" b="0">
                <a:solidFill>
                  <a:srgbClr val="031424"/>
                </a:solidFill>
                <a:latin typeface="Roboto"/>
              </a:defRPr>
            </a:pPr>
            <a:r>
              <a:t>ros2_control: Python admittance controller</a:t>
            </a:r>
          </a:p>
        </p:txBody>
      </p:sp>
      <p:sp>
        <p:nvSpPr>
          <p:cNvPr id="83" name="TextBox 2"/>
          <p:cNvSpPr txBox="1"/>
          <p:nvPr/>
        </p:nvSpPr>
        <p:spPr>
          <a:xfrm>
            <a:off x="502920" y="950976"/>
            <a:ext cx="5577840" cy="201168"/>
          </a:xfrm>
          <a:prstGeom prst="rect">
            <a:avLst/>
          </a:prstGeom>
          <a:noFill/>
        </p:spPr>
        <p:txBody>
          <a:bodyPr wrap="none" lIns="0" rIns="0" tIns="0" bIns="0">
            <a:spAutoFit/>
          </a:bodyPr>
          <a:lstStyle/>
          <a:p>
            <a:pPr>
              <a:defRPr sz="1200" b="1">
                <a:solidFill>
                  <a:srgbClr val="031424"/>
                </a:solidFill>
                <a:latin typeface="Roboto"/>
              </a:defRPr>
            </a:pPr>
            <a:r>
              <a:t>python_admittance_controller.py</a:t>
            </a:r>
          </a:p>
        </p:txBody>
      </p:sp>
      <p:sp>
        <p:nvSpPr>
          <p:cNvPr id="84" name="TextBox 3"/>
          <p:cNvSpPr txBox="1"/>
          <p:nvPr/>
        </p:nvSpPr>
        <p:spPr>
          <a:xfrm>
            <a:off x="6263640" y="950976"/>
            <a:ext cx="5394960" cy="201168"/>
          </a:xfrm>
          <a:prstGeom prst="rect">
            <a:avLst/>
          </a:prstGeom>
          <a:noFill/>
        </p:spPr>
        <p:txBody>
          <a:bodyPr wrap="none" lIns="0" rIns="0" tIns="0" bIns="0">
            <a:spAutoFit/>
          </a:bodyPr>
          <a:lstStyle/>
          <a:p>
            <a:pPr>
              <a:defRPr sz="1200" b="1">
                <a:solidFill>
                  <a:srgbClr val="031424"/>
                </a:solidFill>
                <a:latin typeface="Roboto"/>
              </a:defRPr>
            </a:pPr>
            <a:r>
              <a:t>continued → update, limits and deactivation</a:t>
            </a:r>
          </a:p>
        </p:txBody>
      </p:sp>
      <p:sp>
        <p:nvSpPr>
          <p:cNvPr id="85" name="Rectangle 4"/>
          <p:cNvSpPr/>
          <p:nvPr/>
        </p:nvSpPr>
        <p:spPr>
          <a:xfrm>
            <a:off x="448056" y="1243584"/>
            <a:ext cx="5504688" cy="544068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5"/>
          <p:cNvSpPr txBox="1"/>
          <p:nvPr/>
        </p:nvSpPr>
        <p:spPr>
          <a:xfrm>
            <a:off x="502920" y="1289304"/>
            <a:ext cx="5404104" cy="5349240"/>
          </a:xfrm>
          <a:prstGeom prst="rect">
            <a:avLst/>
          </a:prstGeom>
          <a:noFill/>
        </p:spPr>
        <p:txBody>
          <a:bodyPr wrap="none" lIns="0" rIns="0" tIns="0" bIns="0">
            <a:spAutoFit/>
          </a:bodyPr>
          <a:lstStyle/>
          <a:p>
            <a:pPr>
              <a:lnSpc>
                <a:spcPts val="610"/>
              </a:lnSpc>
              <a:spcBef>
                <a:spcPts val="0"/>
              </a:spcBef>
              <a:spcAft>
                <a:spcPts val="0"/>
              </a:spcAft>
              <a:defRPr sz="600" b="0">
                <a:solidFill>
                  <a:srgbClr val="031424"/>
                </a:solidFill>
                <a:latin typeface="Roboto"/>
              </a:defRPr>
            </a:pPr>
            <a:r>
              <a:rPr sz="600" b="0" i="1">
                <a:solidFill>
                  <a:srgbClr val="4070A0"/>
                </a:solidFill>
                <a:latin typeface="DejaVu Sans Mono"/>
              </a:rPr>
              <a:t>"""Cartesian virtual-force admittance for the embedded Python controller bridge.</a:t>
            </a:r>
          </a:p>
          <a:p>
            <a:pPr>
              <a:lnSpc>
                <a:spcPts val="610"/>
              </a:lnSpc>
              <a:spcBef>
                <a:spcPts val="0"/>
              </a:spcBef>
              <a:spcAft>
                <a:spcPts val="0"/>
              </a:spcAft>
            </a:pPr>
            <a:r>
              <a:rPr sz="600" b="0" i="1">
                <a:solidFill>
                  <a:srgbClr val="4070A0"/>
                </a:solidFill>
                <a:latin typeface="DejaVu Sans Mono"/>
              </a:rPr>
              <a:t>set_target([fx, fy, fz]) applies a virtual force in newtons, expressed in the</a:t>
            </a:r>
          </a:p>
          <a:p>
            <a:pPr>
              <a:lnSpc>
                <a:spcPts val="610"/>
              </a:lnSpc>
              <a:spcBef>
                <a:spcPts val="0"/>
              </a:spcBef>
              <a:spcAft>
                <a:spcPts val="0"/>
              </a:spcAft>
            </a:pPr>
            <a:r>
              <a:rPr sz="600" b="0" i="1">
                <a:solidFill>
                  <a:srgbClr val="4070A0"/>
                </a:solidFill>
                <a:latin typeface="DejaVu Sans Mono"/>
              </a:rPr>
              <a:t>configured base_link frame. It does not read a physical force sensor.</a:t>
            </a:r>
          </a:p>
          <a:p>
            <a:pPr>
              <a:lnSpc>
                <a:spcPts val="610"/>
              </a:lnSpc>
              <a:spcBef>
                <a:spcPts val="0"/>
              </a:spcBef>
              <a:spcAft>
                <a:spcPts val="0"/>
              </a:spcAft>
            </a:pPr>
            <a:r>
              <a:rPr sz="600" b="0" i="1">
                <a:solidFill>
                  <a:srgbClr val="4070A0"/>
                </a:solidFill>
                <a:latin typeface="DejaVu Sans Mono"/>
              </a:rPr>
              <a:t>"""</a:t>
            </a:r>
          </a:p>
          <a:p>
            <a:pPr>
              <a:lnSpc>
                <a:spcPts val="610"/>
              </a:lnSpc>
              <a:spcBef>
                <a:spcPts val="0"/>
              </a:spcBef>
              <a:spcAft>
                <a:spcPts val="0"/>
              </a:spcAft>
            </a:pPr>
            <a:r>
              <a:rPr sz="600" b="1" i="0">
                <a:solidFill>
                  <a:srgbClr val="007020"/>
                </a:solidFill>
                <a:latin typeface="DejaVu Sans Mono"/>
              </a:rPr>
              <a:t>import</a:t>
            </a:r>
            <a:r>
              <a:rPr sz="600" b="0" i="0">
                <a:solidFill>
                  <a:srgbClr val="BBBBBB"/>
                </a:solidFill>
                <a:latin typeface="DejaVu Sans Mono"/>
              </a:rPr>
              <a:t> </a:t>
            </a:r>
            <a:r>
              <a:rPr sz="600" b="1" i="0">
                <a:solidFill>
                  <a:srgbClr val="0E84B5"/>
                </a:solidFill>
                <a:latin typeface="DejaVu Sans Mono"/>
              </a:rPr>
              <a:t>json</a:t>
            </a:r>
          </a:p>
          <a:p>
            <a:pPr>
              <a:lnSpc>
                <a:spcPts val="610"/>
              </a:lnSpc>
              <a:spcBef>
                <a:spcPts val="0"/>
              </a:spcBef>
              <a:spcAft>
                <a:spcPts val="0"/>
              </a:spcAft>
            </a:pPr>
            <a:r>
              <a:rPr sz="600" b="1" i="0">
                <a:solidFill>
                  <a:srgbClr val="007020"/>
                </a:solidFill>
                <a:latin typeface="DejaVu Sans Mono"/>
              </a:rPr>
              <a:t>import</a:t>
            </a:r>
            <a:r>
              <a:rPr sz="600" b="0" i="0">
                <a:solidFill>
                  <a:srgbClr val="BBBBBB"/>
                </a:solidFill>
                <a:latin typeface="DejaVu Sans Mono"/>
              </a:rPr>
              <a:t> </a:t>
            </a:r>
            <a:r>
              <a:rPr sz="600" b="1" i="0">
                <a:solidFill>
                  <a:srgbClr val="0E84B5"/>
                </a:solidFill>
                <a:latin typeface="DejaVu Sans Mono"/>
              </a:rPr>
              <a:t>math</a:t>
            </a:r>
          </a:p>
          <a:p>
            <a:pPr>
              <a:lnSpc>
                <a:spcPts val="610"/>
              </a:lnSpc>
              <a:spcBef>
                <a:spcPts val="0"/>
              </a:spcBef>
              <a:spcAft>
                <a:spcPts val="0"/>
              </a:spcAft>
            </a:pPr>
            <a:r>
              <a:rPr sz="600" b="1" i="0">
                <a:solidFill>
                  <a:srgbClr val="007020"/>
                </a:solidFill>
                <a:latin typeface="DejaVu Sans Mono"/>
              </a:rPr>
              <a:t>import</a:t>
            </a:r>
            <a:r>
              <a:rPr sz="600" b="0" i="0">
                <a:solidFill>
                  <a:srgbClr val="BBBBBB"/>
                </a:solidFill>
                <a:latin typeface="DejaVu Sans Mono"/>
              </a:rPr>
              <a:t> </a:t>
            </a:r>
            <a:r>
              <a:rPr sz="600" b="1" i="0">
                <a:solidFill>
                  <a:srgbClr val="0E84B5"/>
                </a:solidFill>
                <a:latin typeface="DejaVu Sans Mono"/>
              </a:rPr>
              <a:t>os</a:t>
            </a:r>
          </a:p>
          <a:p>
            <a:pPr>
              <a:lnSpc>
                <a:spcPts val="610"/>
              </a:lnSpc>
              <a:spcBef>
                <a:spcPts val="0"/>
              </a:spcBef>
              <a:spcAft>
                <a:spcPts val="0"/>
              </a:spcAft>
            </a:pPr>
            <a:r>
              <a:rPr sz="600" b="1" i="0">
                <a:solidFill>
                  <a:srgbClr val="007020"/>
                </a:solidFill>
                <a:latin typeface="DejaVu Sans Mono"/>
              </a:rPr>
              <a:t>import</a:t>
            </a:r>
            <a:r>
              <a:rPr sz="600" b="0" i="0">
                <a:solidFill>
                  <a:srgbClr val="BBBBBB"/>
                </a:solidFill>
                <a:latin typeface="DejaVu Sans Mono"/>
              </a:rPr>
              <a:t> </a:t>
            </a:r>
            <a:r>
              <a:rPr sz="600" b="1" i="0">
                <a:solidFill>
                  <a:srgbClr val="0E84B5"/>
                </a:solidFill>
                <a:latin typeface="DejaVu Sans Mono"/>
              </a:rPr>
              <a:t>time</a:t>
            </a:r>
          </a:p>
          <a:p>
            <a:pPr>
              <a:lnSpc>
                <a:spcPts val="610"/>
              </a:lnSpc>
              <a:spcBef>
                <a:spcPts val="0"/>
              </a:spcBef>
              <a:spcAft>
                <a:spcPts val="0"/>
              </a:spcAft>
            </a:pPr>
            <a:r>
              <a:rPr sz="600" b="1" i="0">
                <a:solidFill>
                  <a:srgbClr val="007020"/>
                </a:solidFill>
                <a:latin typeface="DejaVu Sans Mono"/>
              </a:rPr>
              <a:t>from</a:t>
            </a:r>
            <a:r>
              <a:rPr sz="600" b="0" i="0">
                <a:solidFill>
                  <a:srgbClr val="BBBBBB"/>
                </a:solidFill>
                <a:latin typeface="DejaVu Sans Mono"/>
              </a:rPr>
              <a:t> </a:t>
            </a:r>
            <a:r>
              <a:rPr sz="600" b="1" i="0">
                <a:solidFill>
                  <a:srgbClr val="0E84B5"/>
                </a:solidFill>
                <a:latin typeface="DejaVu Sans Mono"/>
              </a:rPr>
              <a:t>pathlib</a:t>
            </a:r>
            <a:r>
              <a:rPr sz="600" b="0" i="0">
                <a:solidFill>
                  <a:srgbClr val="BBBBBB"/>
                </a:solidFill>
                <a:latin typeface="DejaVu Sans Mono"/>
              </a:rPr>
              <a:t> </a:t>
            </a:r>
            <a:r>
              <a:rPr sz="600" b="1" i="0">
                <a:solidFill>
                  <a:srgbClr val="007020"/>
                </a:solidFill>
                <a:latin typeface="DejaVu Sans Mono"/>
              </a:rPr>
              <a:t>import</a:t>
            </a:r>
            <a:r>
              <a:rPr sz="600" b="0" i="0">
                <a:solidFill>
                  <a:srgbClr val="031424"/>
                </a:solidFill>
                <a:latin typeface="DejaVu Sans Mono"/>
              </a:rPr>
              <a:t> </a:t>
            </a:r>
            <a:r>
              <a:rPr sz="600" b="0" i="0">
                <a:solidFill>
                  <a:srgbClr val="031424"/>
                </a:solidFill>
                <a:latin typeface="DejaVu Sans Mono"/>
              </a:rPr>
              <a:t>Path</a:t>
            </a:r>
          </a:p>
          <a:p>
            <a:pPr>
              <a:lnSpc>
                <a:spcPts val="610"/>
              </a:lnSpc>
              <a:spcBef>
                <a:spcPts val="0"/>
              </a:spcBef>
              <a:spcAft>
                <a:spcPts val="0"/>
              </a:spcAft>
            </a:pPr>
            <a:r>
              <a:rPr sz="600" b="1" i="0">
                <a:solidFill>
                  <a:srgbClr val="007020"/>
                </a:solidFill>
                <a:latin typeface="DejaVu Sans Mono"/>
              </a:rPr>
              <a:t>import</a:t>
            </a:r>
            <a:r>
              <a:rPr sz="600" b="0" i="0">
                <a:solidFill>
                  <a:srgbClr val="BBBBBB"/>
                </a:solidFill>
                <a:latin typeface="DejaVu Sans Mono"/>
              </a:rPr>
              <a:t> </a:t>
            </a:r>
            <a:r>
              <a:rPr sz="600" b="1" i="0">
                <a:solidFill>
                  <a:srgbClr val="0E84B5"/>
                </a:solidFill>
                <a:latin typeface="DejaVu Sans Mono"/>
              </a:rPr>
              <a:t>numpy</a:t>
            </a:r>
            <a:r>
              <a:rPr sz="600" b="0" i="0">
                <a:solidFill>
                  <a:srgbClr val="BBBBBB"/>
                </a:solidFill>
                <a:latin typeface="DejaVu Sans Mono"/>
              </a:rPr>
              <a:t> </a:t>
            </a:r>
            <a:r>
              <a:rPr sz="600" b="1" i="0">
                <a:solidFill>
                  <a:srgbClr val="007020"/>
                </a:solidFill>
                <a:latin typeface="DejaVu Sans Mono"/>
              </a:rPr>
              <a:t>as</a:t>
            </a:r>
            <a:r>
              <a:rPr sz="600" b="0" i="0">
                <a:solidFill>
                  <a:srgbClr val="BBBBBB"/>
                </a:solidFill>
                <a:latin typeface="DejaVu Sans Mono"/>
              </a:rPr>
              <a:t> </a:t>
            </a:r>
            <a:r>
              <a:rPr sz="600" b="1" i="0">
                <a:solidFill>
                  <a:srgbClr val="0E84B5"/>
                </a:solidFill>
                <a:latin typeface="DejaVu Sans Mono"/>
              </a:rPr>
              <a:t>np</a:t>
            </a:r>
          </a:p>
          <a:p>
            <a:pPr>
              <a:lnSpc>
                <a:spcPts val="610"/>
              </a:lnSpc>
              <a:spcBef>
                <a:spcPts val="0"/>
              </a:spcBef>
              <a:spcAft>
                <a:spcPts val="0"/>
              </a:spcAft>
            </a:pPr>
            <a:r>
              <a:rPr sz="600" b="1" i="0">
                <a:solidFill>
                  <a:srgbClr val="007020"/>
                </a:solidFill>
                <a:latin typeface="DejaVu Sans Mono"/>
              </a:rPr>
              <a:t>from</a:t>
            </a:r>
            <a:r>
              <a:rPr sz="600" b="0" i="0">
                <a:solidFill>
                  <a:srgbClr val="BBBBBB"/>
                </a:solidFill>
                <a:latin typeface="DejaVu Sans Mono"/>
              </a:rPr>
              <a:t> </a:t>
            </a:r>
            <a:r>
              <a:rPr sz="600" b="1" i="0">
                <a:solidFill>
                  <a:srgbClr val="0E84B5"/>
                </a:solidFill>
                <a:latin typeface="DejaVu Sans Mono"/>
              </a:rPr>
              <a:t>arm_kinematics</a:t>
            </a:r>
            <a:r>
              <a:rPr sz="600" b="0" i="0">
                <a:solidFill>
                  <a:srgbClr val="BBBBBB"/>
                </a:solidFill>
                <a:latin typeface="DejaVu Sans Mono"/>
              </a:rPr>
              <a:t> </a:t>
            </a:r>
            <a:r>
              <a:rPr sz="600" b="1" i="0">
                <a:solidFill>
                  <a:srgbClr val="007020"/>
                </a:solidFill>
                <a:latin typeface="DejaVu Sans Mono"/>
              </a:rPr>
              <a:t>import</a:t>
            </a:r>
            <a:r>
              <a:rPr sz="600" b="0" i="0">
                <a:solidFill>
                  <a:srgbClr val="031424"/>
                </a:solidFill>
                <a:latin typeface="DejaVu Sans Mono"/>
              </a:rPr>
              <a:t> </a:t>
            </a:r>
            <a:r>
              <a:rPr sz="600" b="0" i="0">
                <a:solidFill>
                  <a:srgbClr val="031424"/>
                </a:solidFill>
                <a:latin typeface="DejaVu Sans Mono"/>
              </a:rPr>
              <a:t>Chain</a:t>
            </a:r>
          </a:p>
          <a:p>
            <a:pPr>
              <a:lnSpc>
                <a:spcPts val="610"/>
              </a:lnSpc>
              <a:spcBef>
                <a:spcPts val="0"/>
              </a:spcBef>
              <a:spcAft>
                <a:spcPts val="0"/>
              </a:spcAft>
            </a:pPr>
            <a:r>
              <a:rPr sz="600" b="1" i="0">
                <a:solidFill>
                  <a:srgbClr val="007020"/>
                </a:solidFill>
                <a:latin typeface="DejaVu Sans Mono"/>
              </a:rPr>
              <a:t>class</a:t>
            </a:r>
            <a:r>
              <a:rPr sz="600" b="0" i="0">
                <a:solidFill>
                  <a:srgbClr val="BBBBBB"/>
                </a:solidFill>
                <a:latin typeface="DejaVu Sans Mono"/>
              </a:rPr>
              <a:t> </a:t>
            </a:r>
            <a:r>
              <a:rPr sz="600" b="1" i="0">
                <a:solidFill>
                  <a:srgbClr val="0E84B5"/>
                </a:solidFill>
                <a:latin typeface="DejaVu Sans Mono"/>
              </a:rPr>
              <a:t>CartesianAdmittance</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def</a:t>
            </a:r>
            <a:r>
              <a:rPr sz="600" b="0" i="0">
                <a:solidFill>
                  <a:srgbClr val="BBBBBB"/>
                </a:solidFill>
                <a:latin typeface="DejaVu Sans Mono"/>
              </a:rPr>
              <a:t> </a:t>
            </a:r>
            <a:r>
              <a:rPr sz="600" b="0" i="0">
                <a:solidFill>
                  <a:srgbClr val="06287E"/>
                </a:solidFill>
                <a:latin typeface="DejaVu Sans Mono"/>
              </a:rPr>
              <a:t>configure</a:t>
            </a:r>
            <a:r>
              <a:rPr sz="600" b="0" i="0">
                <a:solidFill>
                  <a:srgbClr val="031424"/>
                </a:solidFill>
                <a:latin typeface="DejaVu Sans Mono"/>
              </a:rPr>
              <a:t>(</a:t>
            </a:r>
            <a:r>
              <a:rPr sz="600" b="0" i="0">
                <a:solidFill>
                  <a:srgbClr val="007020"/>
                </a:solidFill>
                <a:latin typeface="DejaVu Sans Mono"/>
              </a:rPr>
              <a:t>self</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joint_names</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options</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joints</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list</a:t>
            </a:r>
            <a:r>
              <a:rPr sz="600" b="0" i="0">
                <a:solidFill>
                  <a:srgbClr val="031424"/>
                </a:solidFill>
                <a:latin typeface="DejaVu Sans Mono"/>
              </a:rPr>
              <a:t>(</a:t>
            </a:r>
            <a:r>
              <a:rPr sz="600" b="0" i="0">
                <a:solidFill>
                  <a:srgbClr val="031424"/>
                </a:solidFill>
                <a:latin typeface="DejaVu Sans Mono"/>
              </a:rPr>
              <a:t>joint_names</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defaults</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mass</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2.0</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damping</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30.0</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stiffness</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80.0</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max_displacement</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0.03</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max_cartesian_speed</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0.06</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joint_speed</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0.10</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tracking_gain</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4.0</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damping_lambda</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0.04</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force_timeout</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0.3</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max_force</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20.0</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for</a:t>
            </a:r>
            <a:r>
              <a:rPr sz="600" b="0" i="0">
                <a:solidFill>
                  <a:srgbClr val="031424"/>
                </a:solidFill>
                <a:latin typeface="DejaVu Sans Mono"/>
              </a:rPr>
              <a:t> </a:t>
            </a:r>
            <a:r>
              <a:rPr sz="600" b="0" i="0">
                <a:solidFill>
                  <a:srgbClr val="031424"/>
                </a:solidFill>
                <a:latin typeface="DejaVu Sans Mono"/>
              </a:rPr>
              <a:t>key</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default</a:t>
            </a:r>
            <a:r>
              <a:rPr sz="600" b="0" i="0">
                <a:solidFill>
                  <a:srgbClr val="031424"/>
                </a:solidFill>
                <a:latin typeface="DejaVu Sans Mono"/>
              </a:rPr>
              <a:t> </a:t>
            </a:r>
            <a:r>
              <a:rPr sz="600" b="1" i="0">
                <a:solidFill>
                  <a:srgbClr val="007020"/>
                </a:solidFill>
                <a:latin typeface="DejaVu Sans Mono"/>
              </a:rPr>
              <a:t>in</a:t>
            </a:r>
            <a:r>
              <a:rPr sz="600" b="0" i="0">
                <a:solidFill>
                  <a:srgbClr val="031424"/>
                </a:solidFill>
                <a:latin typeface="DejaVu Sans Mono"/>
              </a:rPr>
              <a:t> </a:t>
            </a:r>
            <a:r>
              <a:rPr sz="600" b="0" i="0">
                <a:solidFill>
                  <a:srgbClr val="031424"/>
                </a:solidFill>
                <a:latin typeface="DejaVu Sans Mono"/>
              </a:rPr>
              <a:t>defaults</a:t>
            </a:r>
            <a:r>
              <a:rPr sz="600" b="0" i="0">
                <a:solidFill>
                  <a:srgbClr val="666666"/>
                </a:solidFill>
                <a:latin typeface="DejaVu Sans Mono"/>
              </a:rPr>
              <a:t>.</a:t>
            </a:r>
            <a:r>
              <a:rPr sz="600" b="0" i="0">
                <a:solidFill>
                  <a:srgbClr val="031424"/>
                </a:solidFill>
                <a:latin typeface="DejaVu Sans Mono"/>
              </a:rPr>
              <a:t>items</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value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float</a:t>
            </a:r>
            <a:r>
              <a:rPr sz="600" b="0" i="0">
                <a:solidFill>
                  <a:srgbClr val="031424"/>
                </a:solidFill>
                <a:latin typeface="DejaVu Sans Mono"/>
              </a:rPr>
              <a:t>(</a:t>
            </a:r>
            <a:r>
              <a:rPr sz="600" b="0" i="0">
                <a:solidFill>
                  <a:srgbClr val="031424"/>
                </a:solidFill>
                <a:latin typeface="DejaVu Sans Mono"/>
              </a:rPr>
              <a:t>options</a:t>
            </a:r>
            <a:r>
              <a:rPr sz="600" b="0" i="0">
                <a:solidFill>
                  <a:srgbClr val="666666"/>
                </a:solidFill>
                <a:latin typeface="DejaVu Sans Mono"/>
              </a:rPr>
              <a:t>.</a:t>
            </a:r>
            <a:r>
              <a:rPr sz="600" b="0" i="0">
                <a:solidFill>
                  <a:srgbClr val="031424"/>
                </a:solidFill>
                <a:latin typeface="DejaVu Sans Mono"/>
              </a:rPr>
              <a:t>get</a:t>
            </a:r>
            <a:r>
              <a:rPr sz="600" b="0" i="0">
                <a:solidFill>
                  <a:srgbClr val="031424"/>
                </a:solidFill>
                <a:latin typeface="DejaVu Sans Mono"/>
              </a:rPr>
              <a:t>(</a:t>
            </a:r>
            <a:r>
              <a:rPr sz="600" b="0" i="0">
                <a:solidFill>
                  <a:srgbClr val="031424"/>
                </a:solidFill>
                <a:latin typeface="DejaVu Sans Mono"/>
              </a:rPr>
              <a:t>key</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default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1" i="0">
                <a:solidFill>
                  <a:srgbClr val="007020"/>
                </a:solidFill>
                <a:latin typeface="DejaVu Sans Mono"/>
              </a:rPr>
              <a:t>not</a:t>
            </a:r>
            <a:r>
              <a:rPr sz="600" b="0" i="0">
                <a:solidFill>
                  <a:srgbClr val="031424"/>
                </a:solidFill>
                <a:latin typeface="DejaVu Sans Mono"/>
              </a:rPr>
              <a:t> </a:t>
            </a:r>
            <a:r>
              <a:rPr sz="600" b="0" i="0">
                <a:solidFill>
                  <a:srgbClr val="031424"/>
                </a:solidFill>
                <a:latin typeface="DejaVu Sans Mono"/>
              </a:rPr>
              <a:t>math</a:t>
            </a:r>
            <a:r>
              <a:rPr sz="600" b="0" i="0">
                <a:solidFill>
                  <a:srgbClr val="666666"/>
                </a:solidFill>
                <a:latin typeface="DejaVu Sans Mono"/>
              </a:rPr>
              <a:t>.</a:t>
            </a:r>
            <a:r>
              <a:rPr sz="600" b="0" i="0">
                <a:solidFill>
                  <a:srgbClr val="031424"/>
                </a:solidFill>
                <a:latin typeface="DejaVu Sans Mono"/>
              </a:rPr>
              <a:t>isfinite</a:t>
            </a:r>
            <a:r>
              <a:rPr sz="600" b="0" i="0">
                <a:solidFill>
                  <a:srgbClr val="031424"/>
                </a:solidFill>
                <a:latin typeface="DejaVu Sans Mono"/>
              </a:rPr>
              <a:t>(</a:t>
            </a:r>
            <a:r>
              <a:rPr sz="600" b="0" i="0">
                <a:solidFill>
                  <a:srgbClr val="031424"/>
                </a:solidFill>
                <a:latin typeface="DejaVu Sans Mono"/>
              </a:rPr>
              <a:t>value</a:t>
            </a:r>
            <a:r>
              <a:rPr sz="600" b="0" i="0">
                <a:solidFill>
                  <a:srgbClr val="031424"/>
                </a:solidFill>
                <a:latin typeface="DejaVu Sans Mono"/>
              </a:rPr>
              <a:t>)</a:t>
            </a:r>
            <a:r>
              <a:rPr sz="600" b="0" i="0">
                <a:solidFill>
                  <a:srgbClr val="031424"/>
                </a:solidFill>
                <a:latin typeface="DejaVu Sans Mono"/>
              </a:rPr>
              <a:t> </a:t>
            </a:r>
            <a:r>
              <a:rPr sz="600" b="1" i="0">
                <a:solidFill>
                  <a:srgbClr val="007020"/>
                </a:solidFill>
                <a:latin typeface="DejaVu Sans Mono"/>
              </a:rPr>
              <a:t>or</a:t>
            </a:r>
            <a:r>
              <a:rPr sz="600" b="0" i="0">
                <a:solidFill>
                  <a:srgbClr val="031424"/>
                </a:solidFill>
                <a:latin typeface="DejaVu Sans Mono"/>
              </a:rPr>
              <a:t> </a:t>
            </a:r>
            <a:r>
              <a:rPr sz="600" b="0" i="0">
                <a:solidFill>
                  <a:srgbClr val="031424"/>
                </a:solidFill>
                <a:latin typeface="DejaVu Sans Mono"/>
              </a:rPr>
              <a:t>value</a:t>
            </a:r>
            <a:r>
              <a:rPr sz="600" b="0" i="0">
                <a:solidFill>
                  <a:srgbClr val="031424"/>
                </a:solidFill>
                <a:latin typeface="DejaVu Sans Mono"/>
              </a:rPr>
              <a:t> </a:t>
            </a:r>
            <a:r>
              <a:rPr sz="600" b="0" i="0">
                <a:solidFill>
                  <a:srgbClr val="666666"/>
                </a:solidFill>
                <a:latin typeface="DejaVu Sans Mono"/>
              </a:rPr>
              <a:t>&lt;</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0</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raise</a:t>
            </a:r>
            <a:r>
              <a:rPr sz="600" b="0" i="0">
                <a:solidFill>
                  <a:srgbClr val="031424"/>
                </a:solidFill>
                <a:latin typeface="DejaVu Sans Mono"/>
              </a:rPr>
              <a:t> </a:t>
            </a:r>
            <a:r>
              <a:rPr sz="600" b="0" i="0">
                <a:solidFill>
                  <a:srgbClr val="007020"/>
                </a:solidFill>
                <a:latin typeface="DejaVu Sans Mono"/>
              </a:rPr>
              <a:t>ValueError</a:t>
            </a:r>
            <a:r>
              <a:rPr sz="600" b="0" i="0">
                <a:solidFill>
                  <a:srgbClr val="031424"/>
                </a:solidFill>
                <a:latin typeface="DejaVu Sans Mono"/>
              </a:rPr>
              <a:t>(</a:t>
            </a:r>
            <a:r>
              <a:rPr sz="600" b="0" i="0">
                <a:solidFill>
                  <a:srgbClr val="4070A0"/>
                </a:solidFill>
                <a:latin typeface="DejaVu Sans Mono"/>
              </a:rPr>
              <a:t>f</a:t>
            </a:r>
            <a:r>
              <a:rPr sz="600" b="0" i="0">
                <a:solidFill>
                  <a:srgbClr val="4070A0"/>
                </a:solidFill>
                <a:latin typeface="DejaVu Sans Mono"/>
              </a:rPr>
              <a:t>"</a:t>
            </a:r>
            <a:r>
              <a:rPr sz="600" b="0" i="1">
                <a:solidFill>
                  <a:srgbClr val="70A0D0"/>
                </a:solidFill>
                <a:latin typeface="DejaVu Sans Mono"/>
              </a:rPr>
              <a:t>{</a:t>
            </a:r>
            <a:r>
              <a:rPr sz="600" b="0" i="0">
                <a:solidFill>
                  <a:srgbClr val="031424"/>
                </a:solidFill>
                <a:latin typeface="DejaVu Sans Mono"/>
              </a:rPr>
              <a:t>key</a:t>
            </a:r>
            <a:r>
              <a:rPr sz="600" b="0" i="1">
                <a:solidFill>
                  <a:srgbClr val="70A0D0"/>
                </a:solidFill>
                <a:latin typeface="DejaVu Sans Mono"/>
              </a:rPr>
              <a:t>}</a:t>
            </a:r>
            <a:r>
              <a:rPr sz="600" b="0" i="0">
                <a:solidFill>
                  <a:srgbClr val="4070A0"/>
                </a:solidFill>
                <a:latin typeface="DejaVu Sans Mono"/>
              </a:rPr>
              <a:t> must be finite and positive</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setattr</a:t>
            </a:r>
            <a:r>
              <a:rPr sz="600" b="0" i="0">
                <a:solidFill>
                  <a:srgbClr val="031424"/>
                </a:solidFill>
                <a:latin typeface="DejaVu Sans Mono"/>
              </a:rPr>
              <a:t>(</a:t>
            </a:r>
            <a:r>
              <a:rPr sz="600" b="0" i="0">
                <a:solidFill>
                  <a:srgbClr val="007020"/>
                </a:solidFill>
                <a:latin typeface="DejaVu Sans Mono"/>
              </a:rPr>
              <a:t>self</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key</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value</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lower</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array</a:t>
            </a:r>
            <a:r>
              <a:rPr sz="600" b="0" i="0">
                <a:solidFill>
                  <a:srgbClr val="031424"/>
                </a:solidFill>
                <a:latin typeface="DejaVu Sans Mono"/>
              </a:rPr>
              <a:t>(</a:t>
            </a:r>
            <a:r>
              <a:rPr sz="600" b="0" i="0">
                <a:solidFill>
                  <a:srgbClr val="031424"/>
                </a:solidFill>
                <a:latin typeface="DejaVu Sans Mono"/>
              </a:rPr>
              <a:t>options</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lower_limits</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dtype</a:t>
            </a:r>
            <a:r>
              <a:rPr sz="600" b="0" i="0">
                <a:solidFill>
                  <a:srgbClr val="666666"/>
                </a:solidFill>
                <a:latin typeface="DejaVu Sans Mono"/>
              </a:rPr>
              <a:t>=</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float64</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upper</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array</a:t>
            </a:r>
            <a:r>
              <a:rPr sz="600" b="0" i="0">
                <a:solidFill>
                  <a:srgbClr val="031424"/>
                </a:solidFill>
                <a:latin typeface="DejaVu Sans Mono"/>
              </a:rPr>
              <a:t>(</a:t>
            </a:r>
            <a:r>
              <a:rPr sz="600" b="0" i="0">
                <a:solidFill>
                  <a:srgbClr val="031424"/>
                </a:solidFill>
                <a:latin typeface="DejaVu Sans Mono"/>
              </a:rPr>
              <a:t>options</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upper_limits</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dtype</a:t>
            </a:r>
            <a:r>
              <a:rPr sz="600" b="0" i="0">
                <a:solidFill>
                  <a:srgbClr val="666666"/>
                </a:solidFill>
                <a:latin typeface="DejaVu Sans Mono"/>
              </a:rPr>
              <a:t>=</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float64</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lower</a:t>
            </a:r>
            <a:r>
              <a:rPr sz="600" b="0" i="0">
                <a:solidFill>
                  <a:srgbClr val="666666"/>
                </a:solidFill>
                <a:latin typeface="DejaVu Sans Mono"/>
              </a:rPr>
              <a:t>.</a:t>
            </a:r>
            <a:r>
              <a:rPr sz="600" b="0" i="0">
                <a:solidFill>
                  <a:srgbClr val="031424"/>
                </a:solidFill>
                <a:latin typeface="DejaVu Sans Mono"/>
              </a:rPr>
              <a:t>shape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a:t>
            </a:r>
            <a:r>
              <a:rPr sz="600" b="0" i="0">
                <a:solidFill>
                  <a:srgbClr val="007020"/>
                </a:solidFill>
                <a:latin typeface="DejaVu Sans Mono"/>
              </a:rPr>
              <a:t>len</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joints</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1" i="0">
                <a:solidFill>
                  <a:srgbClr val="007020"/>
                </a:solidFill>
                <a:latin typeface="DejaVu Sans Mono"/>
              </a:rPr>
              <a:t>or</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upper</a:t>
            </a:r>
            <a:r>
              <a:rPr sz="600" b="0" i="0">
                <a:solidFill>
                  <a:srgbClr val="666666"/>
                </a:solidFill>
                <a:latin typeface="DejaVu Sans Mono"/>
              </a:rPr>
              <a:t>.</a:t>
            </a:r>
            <a:r>
              <a:rPr sz="600" b="0" i="0">
                <a:solidFill>
                  <a:srgbClr val="031424"/>
                </a:solidFill>
                <a:latin typeface="DejaVu Sans Mono"/>
              </a:rPr>
              <a:t>shape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lower</a:t>
            </a:r>
            <a:r>
              <a:rPr sz="600" b="0" i="0">
                <a:solidFill>
                  <a:srgbClr val="666666"/>
                </a:solidFill>
                <a:latin typeface="DejaVu Sans Mono"/>
              </a:rPr>
              <a:t>.</a:t>
            </a:r>
            <a:r>
              <a:rPr sz="600" b="0" i="0">
                <a:solidFill>
                  <a:srgbClr val="031424"/>
                </a:solidFill>
                <a:latin typeface="DejaVu Sans Mono"/>
              </a:rPr>
              <a:t>shape</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or</a:t>
            </a:r>
            <a:r>
              <a:rPr sz="600" b="0" i="0">
                <a:solidFill>
                  <a:srgbClr val="031424"/>
                </a:solidFill>
                <a:latin typeface="DejaVu Sans Mono"/>
              </a:rPr>
              <a:t> </a:t>
            </a:r>
            <a:r>
              <a:rPr sz="600" b="1" i="0">
                <a:solidFill>
                  <a:srgbClr val="007020"/>
                </a:solidFill>
                <a:latin typeface="DejaVu Sans Mono"/>
              </a:rPr>
              <a:t>not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isfinite</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lower</a:t>
            </a:r>
            <a:r>
              <a:rPr sz="600" b="0" i="0">
                <a:solidFill>
                  <a:srgbClr val="031424"/>
                </a:solidFill>
                <a:latin typeface="DejaVu Sans Mono"/>
              </a:rPr>
              <a:t>)</a:t>
            </a:r>
            <a:r>
              <a:rPr sz="600" b="0" i="0">
                <a:solidFill>
                  <a:srgbClr val="666666"/>
                </a:solidFill>
                <a:latin typeface="DejaVu Sans Mono"/>
              </a:rPr>
              <a:t>.</a:t>
            </a:r>
            <a:r>
              <a:rPr sz="600" b="0" i="0">
                <a:solidFill>
                  <a:srgbClr val="031424"/>
                </a:solidFill>
                <a:latin typeface="DejaVu Sans Mono"/>
              </a:rPr>
              <a:t>all</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1" i="0">
                <a:solidFill>
                  <a:srgbClr val="007020"/>
                </a:solidFill>
                <a:latin typeface="DejaVu Sans Mono"/>
              </a:rPr>
              <a:t>or</a:t>
            </a:r>
            <a:r>
              <a:rPr sz="600" b="0" i="0">
                <a:solidFill>
                  <a:srgbClr val="031424"/>
                </a:solidFill>
                <a:latin typeface="DejaVu Sans Mono"/>
              </a:rPr>
              <a:t> </a:t>
            </a:r>
            <a:r>
              <a:rPr sz="600" b="1" i="0">
                <a:solidFill>
                  <a:srgbClr val="007020"/>
                </a:solidFill>
                <a:latin typeface="DejaVu Sans Mono"/>
              </a:rPr>
              <a:t>not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isfinite</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upper</a:t>
            </a:r>
            <a:r>
              <a:rPr sz="600" b="0" i="0">
                <a:solidFill>
                  <a:srgbClr val="031424"/>
                </a:solidFill>
                <a:latin typeface="DejaVu Sans Mono"/>
              </a:rPr>
              <a:t>)</a:t>
            </a:r>
            <a:r>
              <a:rPr sz="600" b="0" i="0">
                <a:solidFill>
                  <a:srgbClr val="666666"/>
                </a:solidFill>
                <a:latin typeface="DejaVu Sans Mono"/>
              </a:rPr>
              <a:t>.</a:t>
            </a:r>
            <a:r>
              <a:rPr sz="600" b="0" i="0">
                <a:solidFill>
                  <a:srgbClr val="031424"/>
                </a:solidFill>
                <a:latin typeface="DejaVu Sans Mono"/>
              </a:rPr>
              <a:t>all</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or</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any</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lower</a:t>
            </a:r>
            <a:r>
              <a:rPr sz="600" b="0" i="0">
                <a:solidFill>
                  <a:srgbClr val="031424"/>
                </a:solidFill>
                <a:latin typeface="DejaVu Sans Mono"/>
              </a:rPr>
              <a:t> </a:t>
            </a:r>
            <a:r>
              <a:rPr sz="600" b="0" i="0">
                <a:solidFill>
                  <a:srgbClr val="666666"/>
                </a:solidFill>
                <a:latin typeface="DejaVu Sans Mono"/>
              </a:rPr>
              <a:t>&gt;</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upper</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raise</a:t>
            </a:r>
            <a:r>
              <a:rPr sz="600" b="0" i="0">
                <a:solidFill>
                  <a:srgbClr val="031424"/>
                </a:solidFill>
                <a:latin typeface="DejaVu Sans Mono"/>
              </a:rPr>
              <a:t> </a:t>
            </a:r>
            <a:r>
              <a:rPr sz="600" b="0" i="0">
                <a:solidFill>
                  <a:srgbClr val="007020"/>
                </a:solidFill>
                <a:latin typeface="DejaVu Sans Mono"/>
              </a:rPr>
              <a:t>ValueError</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Finite ordered joint limits must match the joint count</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base_link</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tip_link</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options</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base_link</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options</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tip_link</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chain</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Chain</a:t>
            </a:r>
            <a:r>
              <a:rPr sz="600" b="0" i="0">
                <a:solidFill>
                  <a:srgbClr val="031424"/>
                </a:solidFill>
                <a:latin typeface="DejaVu Sans Mono"/>
              </a:rPr>
              <a:t>(</a:t>
            </a:r>
            <a:r>
              <a:rPr sz="600" b="0" i="0">
                <a:solidFill>
                  <a:srgbClr val="031424"/>
                </a:solidFill>
                <a:latin typeface="DejaVu Sans Mono"/>
              </a:rPr>
              <a:t>options</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urdf_path</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joints</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base_link</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tip_link</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evidence_path</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options</a:t>
            </a:r>
            <a:r>
              <a:rPr sz="600" b="0" i="0">
                <a:solidFill>
                  <a:srgbClr val="666666"/>
                </a:solidFill>
                <a:latin typeface="DejaVu Sans Mono"/>
              </a:rPr>
              <a:t>.</a:t>
            </a:r>
            <a:r>
              <a:rPr sz="600" b="0" i="0">
                <a:solidFill>
                  <a:srgbClr val="031424"/>
                </a:solidFill>
                <a:latin typeface="DejaVu Sans Mono"/>
              </a:rPr>
              <a:t>get</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evidence_path</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active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1" i="0">
                <a:solidFill>
                  <a:srgbClr val="007020"/>
                </a:solidFill>
                <a:latin typeface="DejaVu Sans Mono"/>
              </a:rPr>
              <a:t>False</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def</a:t>
            </a:r>
            <a:r>
              <a:rPr sz="600" b="0" i="0">
                <a:solidFill>
                  <a:srgbClr val="BBBBBB"/>
                </a:solidFill>
                <a:latin typeface="DejaVu Sans Mono"/>
              </a:rPr>
              <a:t> </a:t>
            </a:r>
            <a:r>
              <a:rPr sz="600" b="0" i="0">
                <a:solidFill>
                  <a:srgbClr val="06287E"/>
                </a:solidFill>
                <a:latin typeface="DejaVu Sans Mono"/>
              </a:rPr>
              <a:t>_positions</a:t>
            </a:r>
            <a:r>
              <a:rPr sz="600" b="0" i="0">
                <a:solidFill>
                  <a:srgbClr val="031424"/>
                </a:solidFill>
                <a:latin typeface="DejaVu Sans Mono"/>
              </a:rPr>
              <a:t>(</a:t>
            </a:r>
            <a:r>
              <a:rPr sz="600" b="0" i="0">
                <a:solidFill>
                  <a:srgbClr val="007020"/>
                </a:solidFill>
                <a:latin typeface="DejaVu Sans Mono"/>
              </a:rPr>
              <a:t>self</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values</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q</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ascontiguousarray</a:t>
            </a:r>
            <a:r>
              <a:rPr sz="600" b="0" i="0">
                <a:solidFill>
                  <a:srgbClr val="031424"/>
                </a:solidFill>
                <a:latin typeface="DejaVu Sans Mono"/>
              </a:rPr>
              <a:t>(</a:t>
            </a:r>
            <a:r>
              <a:rPr sz="600" b="0" i="0">
                <a:solidFill>
                  <a:srgbClr val="031424"/>
                </a:solidFill>
                <a:latin typeface="DejaVu Sans Mono"/>
              </a:rPr>
              <a:t>values</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dtype</a:t>
            </a:r>
            <a:r>
              <a:rPr sz="600" b="0" i="0">
                <a:solidFill>
                  <a:srgbClr val="666666"/>
                </a:solidFill>
                <a:latin typeface="DejaVu Sans Mono"/>
              </a:rPr>
              <a:t>=</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float64</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0" i="0">
                <a:solidFill>
                  <a:srgbClr val="031424"/>
                </a:solidFill>
                <a:latin typeface="DejaVu Sans Mono"/>
              </a:rPr>
              <a:t>(</a:t>
            </a:r>
            <a:r>
              <a:rPr sz="600" b="0" i="0">
                <a:solidFill>
                  <a:srgbClr val="031424"/>
                </a:solidFill>
                <a:latin typeface="DejaVu Sans Mono"/>
              </a:rPr>
              <a:t>q</a:t>
            </a:r>
            <a:r>
              <a:rPr sz="600" b="0" i="0">
                <a:solidFill>
                  <a:srgbClr val="666666"/>
                </a:solidFill>
                <a:latin typeface="DejaVu Sans Mono"/>
              </a:rPr>
              <a:t>.</a:t>
            </a:r>
            <a:r>
              <a:rPr sz="600" b="0" i="0">
                <a:solidFill>
                  <a:srgbClr val="031424"/>
                </a:solidFill>
                <a:latin typeface="DejaVu Sans Mono"/>
              </a:rPr>
              <a:t>shape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lower</a:t>
            </a:r>
            <a:r>
              <a:rPr sz="600" b="0" i="0">
                <a:solidFill>
                  <a:srgbClr val="666666"/>
                </a:solidFill>
                <a:latin typeface="DejaVu Sans Mono"/>
              </a:rPr>
              <a:t>.</a:t>
            </a:r>
            <a:r>
              <a:rPr sz="600" b="0" i="0">
                <a:solidFill>
                  <a:srgbClr val="031424"/>
                </a:solidFill>
                <a:latin typeface="DejaVu Sans Mono"/>
              </a:rPr>
              <a:t>shape</a:t>
            </a:r>
            <a:r>
              <a:rPr sz="600" b="0" i="0">
                <a:solidFill>
                  <a:srgbClr val="031424"/>
                </a:solidFill>
                <a:latin typeface="DejaVu Sans Mono"/>
              </a:rPr>
              <a:t> </a:t>
            </a:r>
            <a:r>
              <a:rPr sz="600" b="1" i="0">
                <a:solidFill>
                  <a:srgbClr val="007020"/>
                </a:solidFill>
                <a:latin typeface="DejaVu Sans Mono"/>
              </a:rPr>
              <a:t>or</a:t>
            </a:r>
            <a:r>
              <a:rPr sz="600" b="0" i="0">
                <a:solidFill>
                  <a:srgbClr val="031424"/>
                </a:solidFill>
                <a:latin typeface="DejaVu Sans Mono"/>
              </a:rPr>
              <a:t> </a:t>
            </a:r>
            <a:r>
              <a:rPr sz="600" b="1" i="0">
                <a:solidFill>
                  <a:srgbClr val="007020"/>
                </a:solidFill>
                <a:latin typeface="DejaVu Sans Mono"/>
              </a:rPr>
              <a:t>not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isfinite</a:t>
            </a:r>
            <a:r>
              <a:rPr sz="600" b="0" i="0">
                <a:solidFill>
                  <a:srgbClr val="031424"/>
                </a:solidFill>
                <a:latin typeface="DejaVu Sans Mono"/>
              </a:rPr>
              <a:t>(</a:t>
            </a:r>
            <a:r>
              <a:rPr sz="600" b="0" i="0">
                <a:solidFill>
                  <a:srgbClr val="031424"/>
                </a:solidFill>
                <a:latin typeface="DejaVu Sans Mono"/>
              </a:rPr>
              <a:t>q</a:t>
            </a:r>
            <a:r>
              <a:rPr sz="600" b="0" i="0">
                <a:solidFill>
                  <a:srgbClr val="031424"/>
                </a:solidFill>
                <a:latin typeface="DejaVu Sans Mono"/>
              </a:rPr>
              <a:t>)</a:t>
            </a:r>
            <a:r>
              <a:rPr sz="600" b="0" i="0">
                <a:solidFill>
                  <a:srgbClr val="666666"/>
                </a:solidFill>
                <a:latin typeface="DejaVu Sans Mono"/>
              </a:rPr>
              <a:t>.</a:t>
            </a:r>
            <a:r>
              <a:rPr sz="600" b="0" i="0">
                <a:solidFill>
                  <a:srgbClr val="031424"/>
                </a:solidFill>
                <a:latin typeface="DejaVu Sans Mono"/>
              </a:rPr>
              <a:t>all</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or</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any</a:t>
            </a:r>
            <a:r>
              <a:rPr sz="600" b="0" i="0">
                <a:solidFill>
                  <a:srgbClr val="031424"/>
                </a:solidFill>
                <a:latin typeface="DejaVu Sans Mono"/>
              </a:rPr>
              <a:t>(</a:t>
            </a:r>
            <a:r>
              <a:rPr sz="600" b="0" i="0">
                <a:solidFill>
                  <a:srgbClr val="031424"/>
                </a:solidFill>
                <a:latin typeface="DejaVu Sans Mono"/>
              </a:rPr>
              <a:t>q</a:t>
            </a:r>
            <a:r>
              <a:rPr sz="600" b="0" i="0">
                <a:solidFill>
                  <a:srgbClr val="031424"/>
                </a:solidFill>
                <a:latin typeface="DejaVu Sans Mono"/>
              </a:rPr>
              <a:t> </a:t>
            </a:r>
            <a:r>
              <a:rPr sz="600" b="0" i="0">
                <a:solidFill>
                  <a:srgbClr val="666666"/>
                </a:solidFill>
                <a:latin typeface="DejaVu Sans Mono"/>
              </a:rPr>
              <a:t>&lt;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lower</a:t>
            </a:r>
            <a:r>
              <a:rPr sz="600" b="0" i="0">
                <a:solidFill>
                  <a:srgbClr val="031424"/>
                </a:solidFill>
                <a:latin typeface="DejaVu Sans Mono"/>
              </a:rPr>
              <a:t>)</a:t>
            </a:r>
            <a:r>
              <a:rPr sz="600" b="0" i="0">
                <a:solidFill>
                  <a:srgbClr val="031424"/>
                </a:solidFill>
                <a:latin typeface="DejaVu Sans Mono"/>
              </a:rPr>
              <a:t> </a:t>
            </a:r>
            <a:r>
              <a:rPr sz="600" b="1" i="0">
                <a:solidFill>
                  <a:srgbClr val="007020"/>
                </a:solidFill>
                <a:latin typeface="DejaVu Sans Mono"/>
              </a:rPr>
              <a:t>or</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any</a:t>
            </a:r>
            <a:r>
              <a:rPr sz="600" b="0" i="0">
                <a:solidFill>
                  <a:srgbClr val="031424"/>
                </a:solidFill>
                <a:latin typeface="DejaVu Sans Mono"/>
              </a:rPr>
              <a:t>(</a:t>
            </a:r>
            <a:r>
              <a:rPr sz="600" b="0" i="0">
                <a:solidFill>
                  <a:srgbClr val="031424"/>
                </a:solidFill>
                <a:latin typeface="DejaVu Sans Mono"/>
              </a:rPr>
              <a:t>q</a:t>
            </a:r>
            <a:r>
              <a:rPr sz="600" b="0" i="0">
                <a:solidFill>
                  <a:srgbClr val="031424"/>
                </a:solidFill>
                <a:latin typeface="DejaVu Sans Mono"/>
              </a:rPr>
              <a:t> </a:t>
            </a:r>
            <a:r>
              <a:rPr sz="600" b="0" i="0">
                <a:solidFill>
                  <a:srgbClr val="666666"/>
                </a:solidFill>
                <a:latin typeface="DejaVu Sans Mono"/>
              </a:rPr>
              <a:t>&gt;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upper</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raise</a:t>
            </a:r>
            <a:r>
              <a:rPr sz="600" b="0" i="0">
                <a:solidFill>
                  <a:srgbClr val="031424"/>
                </a:solidFill>
                <a:latin typeface="DejaVu Sans Mono"/>
              </a:rPr>
              <a:t> </a:t>
            </a:r>
            <a:r>
              <a:rPr sz="600" b="0" i="0">
                <a:solidFill>
                  <a:srgbClr val="007020"/>
                </a:solidFill>
                <a:latin typeface="DejaVu Sans Mono"/>
              </a:rPr>
              <a:t>ValueError</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Feedback requires finite positions within the configured joint limits</a:t>
            </a:r>
            <a:r>
              <a:rPr sz="600" b="0" i="0">
                <a:solidFill>
                  <a:srgbClr val="4070A0"/>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return</a:t>
            </a:r>
            <a:r>
              <a:rPr sz="600" b="0" i="0">
                <a:solidFill>
                  <a:srgbClr val="031424"/>
                </a:solidFill>
                <a:latin typeface="DejaVu Sans Mono"/>
              </a:rPr>
              <a:t> </a:t>
            </a:r>
            <a:r>
              <a:rPr sz="600" b="0" i="0">
                <a:solidFill>
                  <a:srgbClr val="031424"/>
                </a:solidFill>
                <a:latin typeface="DejaVu Sans Mono"/>
              </a:rPr>
              <a:t>q</a:t>
            </a:r>
          </a:p>
          <a:p>
            <a:pPr>
              <a:lnSpc>
                <a:spcPts val="610"/>
              </a:lnSpc>
              <a:spcBef>
                <a:spcPts val="0"/>
              </a:spcBef>
              <a:spcAft>
                <a:spcPts val="0"/>
              </a:spcAft>
            </a:pPr>
            <a:r>
              <a:rPr sz="600" b="0" i="0">
                <a:solidFill>
                  <a:srgbClr val="031424"/>
                </a:solidFill>
                <a:latin typeface="DejaVu Sans Mono"/>
              </a:rPr>
              <a:t>    </a:t>
            </a:r>
            <a:r>
              <a:rPr sz="600" b="1" i="0">
                <a:solidFill>
                  <a:srgbClr val="555555"/>
                </a:solidFill>
                <a:latin typeface="DejaVu Sans Mono"/>
              </a:rPr>
              <a:t>@staticmethod</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def</a:t>
            </a:r>
            <a:r>
              <a:rPr sz="600" b="0" i="0">
                <a:solidFill>
                  <a:srgbClr val="BBBBBB"/>
                </a:solidFill>
                <a:latin typeface="DejaVu Sans Mono"/>
              </a:rPr>
              <a:t> </a:t>
            </a:r>
            <a:r>
              <a:rPr sz="600" b="0" i="0">
                <a:solidFill>
                  <a:srgbClr val="06287E"/>
                </a:solidFill>
                <a:latin typeface="DejaVu Sans Mono"/>
              </a:rPr>
              <a:t>_bound</a:t>
            </a:r>
            <a:r>
              <a:rPr sz="600" b="0" i="0">
                <a:solidFill>
                  <a:srgbClr val="031424"/>
                </a:solidFill>
                <a:latin typeface="DejaVu Sans Mono"/>
              </a:rPr>
              <a:t>(</a:t>
            </a:r>
            <a:r>
              <a:rPr sz="600" b="0" i="0">
                <a:solidFill>
                  <a:srgbClr val="031424"/>
                </a:solidFill>
                <a:latin typeface="DejaVu Sans Mono"/>
              </a:rPr>
              <a:t>vector</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limit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norm</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linalg</a:t>
            </a:r>
            <a:r>
              <a:rPr sz="600" b="0" i="0">
                <a:solidFill>
                  <a:srgbClr val="666666"/>
                </a:solidFill>
                <a:latin typeface="DejaVu Sans Mono"/>
              </a:rPr>
              <a:t>.</a:t>
            </a:r>
            <a:r>
              <a:rPr sz="600" b="0" i="0">
                <a:solidFill>
                  <a:srgbClr val="031424"/>
                </a:solidFill>
                <a:latin typeface="DejaVu Sans Mono"/>
              </a:rPr>
              <a:t>norm</a:t>
            </a:r>
            <a:r>
              <a:rPr sz="600" b="0" i="0">
                <a:solidFill>
                  <a:srgbClr val="031424"/>
                </a:solidFill>
                <a:latin typeface="DejaVu Sans Mono"/>
              </a:rPr>
              <a:t>(</a:t>
            </a:r>
            <a:r>
              <a:rPr sz="600" b="0" i="0">
                <a:solidFill>
                  <a:srgbClr val="031424"/>
                </a:solidFill>
                <a:latin typeface="DejaVu Sans Mono"/>
              </a:rPr>
              <a:t>vector</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0" i="0">
                <a:solidFill>
                  <a:srgbClr val="031424"/>
                </a:solidFill>
                <a:latin typeface="DejaVu Sans Mono"/>
              </a:rPr>
              <a:t>norm</a:t>
            </a:r>
            <a:r>
              <a:rPr sz="600" b="0" i="0">
                <a:solidFill>
                  <a:srgbClr val="031424"/>
                </a:solidFill>
                <a:latin typeface="DejaVu Sans Mono"/>
              </a:rPr>
              <a:t> </a:t>
            </a:r>
            <a:r>
              <a:rPr sz="600" b="0" i="0">
                <a:solidFill>
                  <a:srgbClr val="666666"/>
                </a:solidFill>
                <a:latin typeface="DejaVu Sans Mono"/>
              </a:rPr>
              <a:t>&gt;</a:t>
            </a:r>
            <a:r>
              <a:rPr sz="600" b="0" i="0">
                <a:solidFill>
                  <a:srgbClr val="031424"/>
                </a:solidFill>
                <a:latin typeface="DejaVu Sans Mono"/>
              </a:rPr>
              <a:t> </a:t>
            </a:r>
            <a:r>
              <a:rPr sz="600" b="0" i="0">
                <a:solidFill>
                  <a:srgbClr val="031424"/>
                </a:solidFill>
                <a:latin typeface="DejaVu Sans Mono"/>
              </a:rPr>
              <a:t>limit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vector</a:t>
            </a:r>
            <a:r>
              <a:rPr sz="600" b="0" i="0">
                <a:solidFill>
                  <a:srgbClr val="031424"/>
                </a:solidFill>
                <a:latin typeface="DejaVu Sans Mono"/>
              </a:rPr>
              <a:t> </a:t>
            </a:r>
            <a:r>
              <a:rPr sz="600" b="0" i="0">
                <a:solidFill>
                  <a:srgbClr val="666666"/>
                </a:solidFill>
                <a:latin typeface="DejaVu Sans Mono"/>
              </a:rPr>
              <a:t>*</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limit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norm</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return</a:t>
            </a:r>
            <a:r>
              <a:rPr sz="600" b="0" i="0">
                <a:solidFill>
                  <a:srgbClr val="031424"/>
                </a:solidFill>
                <a:latin typeface="DejaVu Sans Mono"/>
              </a:rPr>
              <a:t> </a:t>
            </a:r>
            <a:r>
              <a:rPr sz="600" b="0" i="0">
                <a:solidFill>
                  <a:srgbClr val="031424"/>
                </a:solidFill>
                <a:latin typeface="DejaVu Sans Mono"/>
              </a:rPr>
              <a:t>vector</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def</a:t>
            </a:r>
            <a:r>
              <a:rPr sz="600" b="0" i="0">
                <a:solidFill>
                  <a:srgbClr val="BBBBBB"/>
                </a:solidFill>
                <a:latin typeface="DejaVu Sans Mono"/>
              </a:rPr>
              <a:t> </a:t>
            </a:r>
            <a:r>
              <a:rPr sz="600" b="0" i="0">
                <a:solidFill>
                  <a:srgbClr val="06287E"/>
                </a:solidFill>
                <a:latin typeface="DejaVu Sans Mono"/>
              </a:rPr>
              <a:t>activate</a:t>
            </a:r>
            <a:r>
              <a:rPr sz="600" b="0" i="0">
                <a:solidFill>
                  <a:srgbClr val="031424"/>
                </a:solidFill>
                <a:latin typeface="DejaVu Sans Mono"/>
              </a:rPr>
              <a:t>(</a:t>
            </a:r>
            <a:r>
              <a:rPr sz="600" b="0" i="0">
                <a:solidFill>
                  <a:srgbClr val="007020"/>
                </a:solidFill>
                <a:latin typeface="DejaVu Sans Mono"/>
              </a:rPr>
              <a:t>self</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measured_positions</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q</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_positions</a:t>
            </a:r>
            <a:r>
              <a:rPr sz="600" b="0" i="0">
                <a:solidFill>
                  <a:srgbClr val="031424"/>
                </a:solidFill>
                <a:latin typeface="DejaVu Sans Mono"/>
              </a:rPr>
              <a:t>(</a:t>
            </a:r>
            <a:r>
              <a:rPr sz="600" b="0" i="0">
                <a:solidFill>
                  <a:srgbClr val="031424"/>
                </a:solidFill>
                <a:latin typeface="DejaVu Sans Mono"/>
              </a:rPr>
              <a:t>measured_positions</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reference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chain</a:t>
            </a:r>
            <a:r>
              <a:rPr sz="600" b="0" i="0">
                <a:solidFill>
                  <a:srgbClr val="666666"/>
                </a:solidFill>
                <a:latin typeface="DejaVu Sans Mono"/>
              </a:rPr>
              <a:t>.</a:t>
            </a:r>
            <a:r>
              <a:rPr sz="600" b="0" i="0">
                <a:solidFill>
                  <a:srgbClr val="031424"/>
                </a:solidFill>
                <a:latin typeface="DejaVu Sans Mono"/>
              </a:rPr>
              <a:t>fk</a:t>
            </a:r>
            <a:r>
              <a:rPr sz="600" b="0" i="0">
                <a:solidFill>
                  <a:srgbClr val="031424"/>
                </a:solidFill>
                <a:latin typeface="DejaVu Sans Mono"/>
              </a:rPr>
              <a:t>(</a:t>
            </a:r>
            <a:r>
              <a:rPr sz="600" b="0" i="0">
                <a:solidFill>
                  <a:srgbClr val="031424"/>
                </a:solidFill>
                <a:latin typeface="DejaVu Sans Mono"/>
              </a:rPr>
              <a:t>q</a:t>
            </a:r>
            <a:r>
              <a:rPr sz="600" b="0" i="0">
                <a:solidFill>
                  <a:srgbClr val="031424"/>
                </a:solidFill>
                <a:latin typeface="DejaVu Sans Mono"/>
              </a:rPr>
              <a:t>)</a:t>
            </a:r>
            <a:r>
              <a:rPr sz="600" b="0" i="0">
                <a:solidFill>
                  <a:srgbClr val="666666"/>
                </a:solidFill>
                <a:latin typeface="DejaVu Sans Mono"/>
              </a:rPr>
              <a:t>.</a:t>
            </a:r>
            <a:r>
              <a:rPr sz="600" b="0" i="0">
                <a:solidFill>
                  <a:srgbClr val="031424"/>
                </a:solidFill>
                <a:latin typeface="DejaVu Sans Mono"/>
              </a:rPr>
              <a:t>copy</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target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reference</a:t>
            </a:r>
            <a:r>
              <a:rPr sz="600" b="0" i="0">
                <a:solidFill>
                  <a:srgbClr val="666666"/>
                </a:solidFill>
                <a:latin typeface="DejaVu Sans Mono"/>
              </a:rPr>
              <a:t>.</a:t>
            </a:r>
            <a:r>
              <a:rPr sz="600" b="0" i="0">
                <a:solidFill>
                  <a:srgbClr val="031424"/>
                </a:solidFill>
                <a:latin typeface="DejaVu Sans Mono"/>
              </a:rPr>
              <a:t>copy</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offset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zeros</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velocity</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zeros</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zeros</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force_age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force_timeout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force_stamp</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math</a:t>
            </a:r>
            <a:r>
              <a:rPr sz="600" b="0" i="0">
                <a:solidFill>
                  <a:srgbClr val="666666"/>
                </a:solidFill>
                <a:latin typeface="DejaVu Sans Mono"/>
              </a:rPr>
              <a:t>.</a:t>
            </a:r>
            <a:r>
              <a:rPr sz="600" b="0" i="0">
                <a:solidFill>
                  <a:srgbClr val="031424"/>
                </a:solidFill>
                <a:latin typeface="DejaVu Sans Mono"/>
              </a:rPr>
              <a:t>inf</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callback_count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0</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native_elapsed_ns</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0</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native_max_ns</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0</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last_measured</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q</a:t>
            </a:r>
            <a:r>
              <a:rPr sz="600" b="0" i="0">
                <a:solidFill>
                  <a:srgbClr val="666666"/>
                </a:solidFill>
                <a:latin typeface="DejaVu Sans Mono"/>
              </a:rPr>
              <a:t>.</a:t>
            </a:r>
            <a:r>
              <a:rPr sz="600" b="0" i="0">
                <a:solidFill>
                  <a:srgbClr val="031424"/>
                </a:solidFill>
                <a:latin typeface="DejaVu Sans Mono"/>
              </a:rPr>
              <a:t>copy</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peak_displacement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0.0</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peak_command_step</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0.0</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active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1" i="0">
                <a:solidFill>
                  <a:srgbClr val="007020"/>
                </a:solidFill>
                <a:latin typeface="DejaVu Sans Mono"/>
              </a:rPr>
              <a:t>True</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def</a:t>
            </a:r>
            <a:r>
              <a:rPr sz="600" b="0" i="0">
                <a:solidFill>
                  <a:srgbClr val="BBBBBB"/>
                </a:solidFill>
                <a:latin typeface="DejaVu Sans Mono"/>
              </a:rPr>
              <a:t> </a:t>
            </a:r>
            <a:r>
              <a:rPr sz="600" b="0" i="0">
                <a:solidFill>
                  <a:srgbClr val="06287E"/>
                </a:solidFill>
                <a:latin typeface="DejaVu Sans Mono"/>
              </a:rPr>
              <a:t>set_target</a:t>
            </a:r>
            <a:r>
              <a:rPr sz="600" b="0" i="0">
                <a:solidFill>
                  <a:srgbClr val="031424"/>
                </a:solidFill>
                <a:latin typeface="DejaVu Sans Mono"/>
              </a:rPr>
              <a:t>(</a:t>
            </a:r>
            <a:r>
              <a:rPr sz="600" b="0" i="0">
                <a:solidFill>
                  <a:srgbClr val="007020"/>
                </a:solidFill>
                <a:latin typeface="DejaVu Sans Mono"/>
              </a:rPr>
              <a:t>self</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values</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force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array</a:t>
            </a:r>
            <a:r>
              <a:rPr sz="600" b="0" i="0">
                <a:solidFill>
                  <a:srgbClr val="031424"/>
                </a:solidFill>
                <a:latin typeface="DejaVu Sans Mono"/>
              </a:rPr>
              <a:t>(</a:t>
            </a:r>
            <a:r>
              <a:rPr sz="600" b="0" i="0">
                <a:solidFill>
                  <a:srgbClr val="031424"/>
                </a:solidFill>
                <a:latin typeface="DejaVu Sans Mono"/>
              </a:rPr>
              <a:t>values</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dtype</a:t>
            </a:r>
            <a:r>
              <a:rPr sz="600" b="0" i="0">
                <a:solidFill>
                  <a:srgbClr val="666666"/>
                </a:solidFill>
                <a:latin typeface="DejaVu Sans Mono"/>
              </a:rPr>
              <a:t>=</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float64</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0" i="0">
                <a:solidFill>
                  <a:srgbClr val="031424"/>
                </a:solidFill>
                <a:latin typeface="DejaVu Sans Mono"/>
              </a:rPr>
              <a:t>force</a:t>
            </a:r>
            <a:r>
              <a:rPr sz="600" b="0" i="0">
                <a:solidFill>
                  <a:srgbClr val="666666"/>
                </a:solidFill>
                <a:latin typeface="DejaVu Sans Mono"/>
              </a:rPr>
              <a:t>.</a:t>
            </a:r>
            <a:r>
              <a:rPr sz="600" b="0" i="0">
                <a:solidFill>
                  <a:srgbClr val="031424"/>
                </a:solidFill>
                <a:latin typeface="DejaVu Sans Mono"/>
              </a:rPr>
              <a:t>shape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1" i="0">
                <a:solidFill>
                  <a:srgbClr val="007020"/>
                </a:solidFill>
                <a:latin typeface="DejaVu Sans Mono"/>
              </a:rPr>
              <a:t>or</a:t>
            </a:r>
            <a:r>
              <a:rPr sz="600" b="0" i="0">
                <a:solidFill>
                  <a:srgbClr val="031424"/>
                </a:solidFill>
                <a:latin typeface="DejaVu Sans Mono"/>
              </a:rPr>
              <a:t> </a:t>
            </a:r>
            <a:r>
              <a:rPr sz="600" b="1" i="0">
                <a:solidFill>
                  <a:srgbClr val="007020"/>
                </a:solidFill>
                <a:latin typeface="DejaVu Sans Mono"/>
              </a:rPr>
              <a:t>not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isfinite</a:t>
            </a:r>
            <a:r>
              <a:rPr sz="600" b="0" i="0">
                <a:solidFill>
                  <a:srgbClr val="031424"/>
                </a:solidFill>
                <a:latin typeface="DejaVu Sans Mono"/>
              </a:rPr>
              <a:t>(</a:t>
            </a:r>
            <a:r>
              <a:rPr sz="600" b="0" i="0">
                <a:solidFill>
                  <a:srgbClr val="031424"/>
                </a:solidFill>
                <a:latin typeface="DejaVu Sans Mono"/>
              </a:rPr>
              <a:t>force</a:t>
            </a:r>
            <a:r>
              <a:rPr sz="600" b="0" i="0">
                <a:solidFill>
                  <a:srgbClr val="031424"/>
                </a:solidFill>
                <a:latin typeface="DejaVu Sans Mono"/>
              </a:rPr>
              <a:t>)</a:t>
            </a:r>
            <a:r>
              <a:rPr sz="600" b="0" i="0">
                <a:solidFill>
                  <a:srgbClr val="666666"/>
                </a:solidFill>
                <a:latin typeface="DejaVu Sans Mono"/>
              </a:rPr>
              <a:t>.</a:t>
            </a:r>
            <a:r>
              <a:rPr sz="600" b="0" i="0">
                <a:solidFill>
                  <a:srgbClr val="031424"/>
                </a:solidFill>
                <a:latin typeface="DejaVu Sans Mono"/>
              </a:rPr>
              <a:t>all</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raise</a:t>
            </a:r>
            <a:r>
              <a:rPr sz="600" b="0" i="0">
                <a:solidFill>
                  <a:srgbClr val="031424"/>
                </a:solidFill>
                <a:latin typeface="DejaVu Sans Mono"/>
              </a:rPr>
              <a:t> </a:t>
            </a:r>
            <a:r>
              <a:rPr sz="600" b="0" i="0">
                <a:solidFill>
                  <a:srgbClr val="007020"/>
                </a:solidFill>
                <a:latin typeface="DejaVu Sans Mono"/>
              </a:rPr>
              <a:t>ValueError</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Virtual force requires three finite values in newtons</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1" i="0">
                <a:solidFill>
                  <a:srgbClr val="007020"/>
                </a:solidFill>
                <a:latin typeface="DejaVu Sans Mono"/>
              </a:rPr>
              <a:t>not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active</a:t>
            </a:r>
            <a:r>
              <a:rPr sz="600" b="0" i="0">
                <a:solidFill>
                  <a:srgbClr val="031424"/>
                </a:solidFill>
                <a:latin typeface="DejaVu Sans Mono"/>
              </a:rPr>
              <a:t>:</a:t>
            </a:r>
          </a:p>
          <a:p>
            <a:pPr>
              <a:lnSpc>
                <a:spcPts val="610"/>
              </a:lnSpc>
              <a:spcBef>
                <a:spcPts val="0"/>
              </a:spcBef>
              <a:spcAft>
                <a:spcPts val="0"/>
              </a:spcAft>
            </a:pPr>
          </a:p>
        </p:txBody>
      </p:sp>
      <p:sp>
        <p:nvSpPr>
          <p:cNvPr id="87" name="Rectangle 6"/>
          <p:cNvSpPr/>
          <p:nvPr/>
        </p:nvSpPr>
        <p:spPr>
          <a:xfrm>
            <a:off x="6208776" y="1243584"/>
            <a:ext cx="5504688" cy="544068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7"/>
          <p:cNvSpPr txBox="1"/>
          <p:nvPr/>
        </p:nvSpPr>
        <p:spPr>
          <a:xfrm>
            <a:off x="6263640" y="1289304"/>
            <a:ext cx="5404104" cy="5349240"/>
          </a:xfrm>
          <a:prstGeom prst="rect">
            <a:avLst/>
          </a:prstGeom>
          <a:noFill/>
        </p:spPr>
        <p:txBody>
          <a:bodyPr wrap="none" lIns="0" rIns="0" tIns="0" bIns="0">
            <a:spAutoFit/>
          </a:bodyPr>
          <a:lstStyle/>
          <a:p>
            <a:pPr>
              <a:lnSpc>
                <a:spcPts val="610"/>
              </a:lnSpc>
              <a:spcBef>
                <a:spcPts val="0"/>
              </a:spcBef>
              <a:spcAft>
                <a:spcPts val="0"/>
              </a:spcAft>
              <a:defRPr sz="600" b="0">
                <a:solidFill>
                  <a:srgbClr val="031424"/>
                </a:solidFill>
                <a:latin typeface="Roboto"/>
              </a:defRPr>
            </a:pPr>
            <a:r>
              <a:rPr sz="600" b="0" i="0">
                <a:solidFill>
                  <a:srgbClr val="031424"/>
                </a:solidFill>
                <a:latin typeface="DejaVu Sans Mono"/>
              </a:rPr>
              <a:t>            </a:t>
            </a:r>
            <a:r>
              <a:rPr sz="600" b="1" i="0">
                <a:solidFill>
                  <a:srgbClr val="007020"/>
                </a:solidFill>
                <a:latin typeface="DejaVu Sans Mono"/>
              </a:rPr>
              <a:t>raise</a:t>
            </a:r>
            <a:r>
              <a:rPr sz="600" b="0" i="0">
                <a:solidFill>
                  <a:srgbClr val="031424"/>
                </a:solidFill>
                <a:latin typeface="DejaVu Sans Mono"/>
              </a:rPr>
              <a:t> </a:t>
            </a:r>
            <a:r>
              <a:rPr sz="600" b="0" i="0">
                <a:solidFill>
                  <a:srgbClr val="007020"/>
                </a:solidFill>
                <a:latin typeface="DejaVu Sans Mono"/>
              </a:rPr>
              <a:t>ValueError</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Activate the admittance controller before applying force</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_bound</a:t>
            </a:r>
            <a:r>
              <a:rPr sz="600" b="0" i="0">
                <a:solidFill>
                  <a:srgbClr val="031424"/>
                </a:solidFill>
                <a:latin typeface="DejaVu Sans Mono"/>
              </a:rPr>
              <a:t>(</a:t>
            </a:r>
            <a:r>
              <a:rPr sz="600" b="0" i="0">
                <a:solidFill>
                  <a:srgbClr val="031424"/>
                </a:solidFill>
                <a:latin typeface="DejaVu Sans Mono"/>
              </a:rPr>
              <a:t>force</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max_force</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force_age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0.0</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force_stamp</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time</a:t>
            </a:r>
            <a:r>
              <a:rPr sz="600" b="0" i="0">
                <a:solidFill>
                  <a:srgbClr val="666666"/>
                </a:solidFill>
                <a:latin typeface="DejaVu Sans Mono"/>
              </a:rPr>
              <a:t>.</a:t>
            </a:r>
            <a:r>
              <a:rPr sz="600" b="0" i="0">
                <a:solidFill>
                  <a:srgbClr val="031424"/>
                </a:solidFill>
                <a:latin typeface="DejaVu Sans Mono"/>
              </a:rPr>
              <a:t>monotonic</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def</a:t>
            </a:r>
            <a:r>
              <a:rPr sz="600" b="0" i="0">
                <a:solidFill>
                  <a:srgbClr val="BBBBBB"/>
                </a:solidFill>
                <a:latin typeface="DejaVu Sans Mono"/>
              </a:rPr>
              <a:t> </a:t>
            </a:r>
            <a:r>
              <a:rPr sz="600" b="0" i="0">
                <a:solidFill>
                  <a:srgbClr val="06287E"/>
                </a:solidFill>
                <a:latin typeface="DejaVu Sans Mono"/>
              </a:rPr>
              <a:t>update</a:t>
            </a:r>
            <a:r>
              <a:rPr sz="600" b="0" i="0">
                <a:solidFill>
                  <a:srgbClr val="031424"/>
                </a:solidFill>
                <a:latin typeface="DejaVu Sans Mono"/>
              </a:rPr>
              <a:t>(</a:t>
            </a:r>
            <a:r>
              <a:rPr sz="600" b="0" i="0">
                <a:solidFill>
                  <a:srgbClr val="007020"/>
                </a:solidFill>
                <a:latin typeface="DejaVu Sans Mono"/>
              </a:rPr>
              <a:t>self</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measured_positions</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dt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1" i="0">
                <a:solidFill>
                  <a:srgbClr val="007020"/>
                </a:solidFill>
                <a:latin typeface="DejaVu Sans Mono"/>
              </a:rPr>
              <a:t>not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active</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raise</a:t>
            </a:r>
            <a:r>
              <a:rPr sz="600" b="0" i="0">
                <a:solidFill>
                  <a:srgbClr val="031424"/>
                </a:solidFill>
                <a:latin typeface="DejaVu Sans Mono"/>
              </a:rPr>
              <a:t> </a:t>
            </a:r>
            <a:r>
              <a:rPr sz="600" b="0" i="0">
                <a:solidFill>
                  <a:srgbClr val="007020"/>
                </a:solidFill>
                <a:latin typeface="DejaVu Sans Mono"/>
              </a:rPr>
              <a:t>ValueError</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Admittance controller is inactive</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q</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_positions</a:t>
            </a:r>
            <a:r>
              <a:rPr sz="600" b="0" i="0">
                <a:solidFill>
                  <a:srgbClr val="031424"/>
                </a:solidFill>
                <a:latin typeface="DejaVu Sans Mono"/>
              </a:rPr>
              <a:t>(</a:t>
            </a:r>
            <a:r>
              <a:rPr sz="600" b="0" i="0">
                <a:solidFill>
                  <a:srgbClr val="031424"/>
                </a:solidFill>
                <a:latin typeface="DejaVu Sans Mono"/>
              </a:rPr>
              <a:t>measured_positions</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1" i="0">
                <a:solidFill>
                  <a:srgbClr val="007020"/>
                </a:solidFill>
                <a:latin typeface="DejaVu Sans Mono"/>
              </a:rPr>
              <a:t>not</a:t>
            </a:r>
            <a:r>
              <a:rPr sz="600" b="0" i="0">
                <a:solidFill>
                  <a:srgbClr val="031424"/>
                </a:solidFill>
                <a:latin typeface="DejaVu Sans Mono"/>
              </a:rPr>
              <a:t> </a:t>
            </a:r>
            <a:r>
              <a:rPr sz="600" b="0" i="0">
                <a:solidFill>
                  <a:srgbClr val="031424"/>
                </a:solidFill>
                <a:latin typeface="DejaVu Sans Mono"/>
              </a:rPr>
              <a:t>math</a:t>
            </a:r>
            <a:r>
              <a:rPr sz="600" b="0" i="0">
                <a:solidFill>
                  <a:srgbClr val="666666"/>
                </a:solidFill>
                <a:latin typeface="DejaVu Sans Mono"/>
              </a:rPr>
              <a:t>.</a:t>
            </a:r>
            <a:r>
              <a:rPr sz="600" b="0" i="0">
                <a:solidFill>
                  <a:srgbClr val="031424"/>
                </a:solidFill>
                <a:latin typeface="DejaVu Sans Mono"/>
              </a:rPr>
              <a:t>isfinite</a:t>
            </a:r>
            <a:r>
              <a:rPr sz="600" b="0" i="0">
                <a:solidFill>
                  <a:srgbClr val="031424"/>
                </a:solidFill>
                <a:latin typeface="DejaVu Sans Mono"/>
              </a:rPr>
              <a:t>(</a:t>
            </a:r>
            <a:r>
              <a:rPr sz="600" b="0" i="0">
                <a:solidFill>
                  <a:srgbClr val="031424"/>
                </a:solidFill>
                <a:latin typeface="DejaVu Sans Mono"/>
              </a:rPr>
              <a:t>dt</a:t>
            </a:r>
            <a:r>
              <a:rPr sz="600" b="0" i="0">
                <a:solidFill>
                  <a:srgbClr val="031424"/>
                </a:solidFill>
                <a:latin typeface="DejaVu Sans Mono"/>
              </a:rPr>
              <a:t>)</a:t>
            </a:r>
            <a:r>
              <a:rPr sz="600" b="0" i="0">
                <a:solidFill>
                  <a:srgbClr val="031424"/>
                </a:solidFill>
                <a:latin typeface="DejaVu Sans Mono"/>
              </a:rPr>
              <a:t> </a:t>
            </a:r>
            <a:r>
              <a:rPr sz="600" b="1" i="0">
                <a:solidFill>
                  <a:srgbClr val="007020"/>
                </a:solidFill>
                <a:latin typeface="DejaVu Sans Mono"/>
              </a:rPr>
              <a:t>or</a:t>
            </a:r>
            <a:r>
              <a:rPr sz="600" b="0" i="0">
                <a:solidFill>
                  <a:srgbClr val="031424"/>
                </a:solidFill>
                <a:latin typeface="DejaVu Sans Mono"/>
              </a:rPr>
              <a:t> </a:t>
            </a:r>
            <a:r>
              <a:rPr sz="600" b="1" i="0">
                <a:solidFill>
                  <a:srgbClr val="007020"/>
                </a:solidFill>
                <a:latin typeface="DejaVu Sans Mono"/>
              </a:rPr>
              <a:t>not</a:t>
            </a:r>
            <a:r>
              <a:rPr sz="600" b="0" i="0">
                <a:solidFill>
                  <a:srgbClr val="031424"/>
                </a:solidFill>
                <a:latin typeface="DejaVu Sans Mono"/>
              </a:rPr>
              <a:t> </a:t>
            </a:r>
            <a:r>
              <a:rPr sz="600" b="0" i="0">
                <a:solidFill>
                  <a:srgbClr val="40A070"/>
                </a:solidFill>
                <a:latin typeface="DejaVu Sans Mono"/>
              </a:rPr>
              <a:t>0</a:t>
            </a:r>
            <a:r>
              <a:rPr sz="600" b="0" i="0">
                <a:solidFill>
                  <a:srgbClr val="031424"/>
                </a:solidFill>
                <a:latin typeface="DejaVu Sans Mono"/>
              </a:rPr>
              <a:t> </a:t>
            </a:r>
            <a:r>
              <a:rPr sz="600" b="0" i="0">
                <a:solidFill>
                  <a:srgbClr val="666666"/>
                </a:solidFill>
                <a:latin typeface="DejaVu Sans Mono"/>
              </a:rPr>
              <a:t>&lt;</a:t>
            </a:r>
            <a:r>
              <a:rPr sz="600" b="0" i="0">
                <a:solidFill>
                  <a:srgbClr val="031424"/>
                </a:solidFill>
                <a:latin typeface="DejaVu Sans Mono"/>
              </a:rPr>
              <a:t> </a:t>
            </a:r>
            <a:r>
              <a:rPr sz="600" b="0" i="0">
                <a:solidFill>
                  <a:srgbClr val="031424"/>
                </a:solidFill>
                <a:latin typeface="DejaVu Sans Mono"/>
              </a:rPr>
              <a:t>dt</a:t>
            </a:r>
            <a:r>
              <a:rPr sz="600" b="0" i="0">
                <a:solidFill>
                  <a:srgbClr val="031424"/>
                </a:solidFill>
                <a:latin typeface="DejaVu Sans Mono"/>
              </a:rPr>
              <a:t> </a:t>
            </a:r>
            <a:r>
              <a:rPr sz="600" b="0" i="0">
                <a:solidFill>
                  <a:srgbClr val="666666"/>
                </a:solidFill>
                <a:latin typeface="DejaVu Sans Mono"/>
              </a:rPr>
              <a:t>&lt;</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0.1</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raise</a:t>
            </a:r>
            <a:r>
              <a:rPr sz="600" b="0" i="0">
                <a:solidFill>
                  <a:srgbClr val="031424"/>
                </a:solidFill>
                <a:latin typeface="DejaVu Sans Mono"/>
              </a:rPr>
              <a:t> </a:t>
            </a:r>
            <a:r>
              <a:rPr sz="600" b="0" i="0">
                <a:solidFill>
                  <a:srgbClr val="007020"/>
                </a:solidFill>
                <a:latin typeface="DejaVu Sans Mono"/>
              </a:rPr>
              <a:t>ValueError</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dt must be finite and between 0 and 0.1 seconds</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1">
                <a:solidFill>
                  <a:srgbClr val="60A0B0"/>
                </a:solidFill>
                <a:latin typeface="DejaVu Sans Mono"/>
              </a:rPr>
              <a:t># Integrate M*x'' + D*x' + K*x = F. Substeps bound integration error</a:t>
            </a:r>
          </a:p>
          <a:p>
            <a:pPr>
              <a:lnSpc>
                <a:spcPts val="610"/>
              </a:lnSpc>
              <a:spcBef>
                <a:spcPts val="0"/>
              </a:spcBef>
              <a:spcAft>
                <a:spcPts val="0"/>
              </a:spcAft>
            </a:pPr>
            <a:r>
              <a:rPr sz="600" b="0" i="0">
                <a:solidFill>
                  <a:srgbClr val="031424"/>
                </a:solidFill>
                <a:latin typeface="DejaVu Sans Mono"/>
              </a:rPr>
              <a:t>        </a:t>
            </a:r>
            <a:r>
              <a:rPr sz="600" b="0" i="1">
                <a:solidFill>
                  <a:srgbClr val="60A0B0"/>
                </a:solidFill>
                <a:latin typeface="DejaVu Sans Mono"/>
              </a:rPr>
              <a:t># when simulation updates arrive less frequently than the nominal loop.</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steps</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max</a:t>
            </a:r>
            <a:r>
              <a:rPr sz="600" b="0" i="0">
                <a:solidFill>
                  <a:srgbClr val="031424"/>
                </a:solidFill>
                <a:latin typeface="DejaVu Sans Mono"/>
              </a:rPr>
              <a:t>(</a:t>
            </a:r>
            <a:r>
              <a:rPr sz="600" b="0" i="0">
                <a:solidFill>
                  <a:srgbClr val="40A070"/>
                </a:solidFill>
                <a:latin typeface="DejaVu Sans Mono"/>
              </a:rPr>
              <a:t>1</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math</a:t>
            </a:r>
            <a:r>
              <a:rPr sz="600" b="0" i="0">
                <a:solidFill>
                  <a:srgbClr val="666666"/>
                </a:solidFill>
                <a:latin typeface="DejaVu Sans Mono"/>
              </a:rPr>
              <a:t>.</a:t>
            </a:r>
            <a:r>
              <a:rPr sz="600" b="0" i="0">
                <a:solidFill>
                  <a:srgbClr val="031424"/>
                </a:solidFill>
                <a:latin typeface="DejaVu Sans Mono"/>
              </a:rPr>
              <a:t>ceil</a:t>
            </a:r>
            <a:r>
              <a:rPr sz="600" b="0" i="0">
                <a:solidFill>
                  <a:srgbClr val="031424"/>
                </a:solidFill>
                <a:latin typeface="DejaVu Sans Mono"/>
              </a:rPr>
              <a:t>(</a:t>
            </a:r>
            <a:r>
              <a:rPr sz="600" b="0" i="0">
                <a:solidFill>
                  <a:srgbClr val="031424"/>
                </a:solidFill>
                <a:latin typeface="DejaVu Sans Mono"/>
              </a:rPr>
              <a:t>dt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0.002</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h</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dt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steps</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for</a:t>
            </a:r>
            <a:r>
              <a:rPr sz="600" b="0" i="0">
                <a:solidFill>
                  <a:srgbClr val="031424"/>
                </a:solidFill>
                <a:latin typeface="DejaVu Sans Mono"/>
              </a:rPr>
              <a:t> </a:t>
            </a:r>
            <a:r>
              <a:rPr sz="600" b="0" i="0">
                <a:solidFill>
                  <a:srgbClr val="031424"/>
                </a:solidFill>
                <a:latin typeface="DejaVu Sans Mono"/>
              </a:rPr>
              <a:t>_</a:t>
            </a:r>
            <a:r>
              <a:rPr sz="600" b="0" i="0">
                <a:solidFill>
                  <a:srgbClr val="031424"/>
                </a:solidFill>
                <a:latin typeface="DejaVu Sans Mono"/>
              </a:rPr>
              <a:t> </a:t>
            </a:r>
            <a:r>
              <a:rPr sz="600" b="1" i="0">
                <a:solidFill>
                  <a:srgbClr val="007020"/>
                </a:solidFill>
                <a:latin typeface="DejaVu Sans Mono"/>
              </a:rPr>
              <a:t>in</a:t>
            </a:r>
            <a:r>
              <a:rPr sz="600" b="0" i="0">
                <a:solidFill>
                  <a:srgbClr val="031424"/>
                </a:solidFill>
                <a:latin typeface="DejaVu Sans Mono"/>
              </a:rPr>
              <a:t> </a:t>
            </a:r>
            <a:r>
              <a:rPr sz="600" b="0" i="0">
                <a:solidFill>
                  <a:srgbClr val="007020"/>
                </a:solidFill>
                <a:latin typeface="DejaVu Sans Mono"/>
              </a:rPr>
              <a:t>range</a:t>
            </a:r>
            <a:r>
              <a:rPr sz="600" b="0" i="0">
                <a:solidFill>
                  <a:srgbClr val="031424"/>
                </a:solidFill>
                <a:latin typeface="DejaVu Sans Mono"/>
              </a:rPr>
              <a:t>(</a:t>
            </a:r>
            <a:r>
              <a:rPr sz="600" b="0" i="0">
                <a:solidFill>
                  <a:srgbClr val="031424"/>
                </a:solidFill>
                <a:latin typeface="DejaVu Sans Mono"/>
              </a:rPr>
              <a:t>steps</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force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a:t>
            </a: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force_age</a:t>
            </a:r>
            <a:r>
              <a:rPr sz="600" b="0" i="0">
                <a:solidFill>
                  <a:srgbClr val="031424"/>
                </a:solidFill>
                <a:latin typeface="DejaVu Sans Mono"/>
              </a:rPr>
              <a:t> </a:t>
            </a:r>
            <a:r>
              <a:rPr sz="600" b="0" i="0">
                <a:solidFill>
                  <a:srgbClr val="666666"/>
                </a:solidFill>
                <a:latin typeface="DejaVu Sans Mono"/>
              </a:rPr>
              <a:t>&lt;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force_timeout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and</a:t>
            </a:r>
            <a:r>
              <a:rPr sz="600" b="0" i="0">
                <a:solidFill>
                  <a:srgbClr val="031424"/>
                </a:solidFill>
                <a:latin typeface="DejaVu Sans Mono"/>
              </a:rPr>
              <a:t> </a:t>
            </a:r>
            <a:r>
              <a:rPr sz="600" b="0" i="0">
                <a:solidFill>
                  <a:srgbClr val="031424"/>
                </a:solidFill>
                <a:latin typeface="DejaVu Sans Mono"/>
              </a:rPr>
              <a:t>time</a:t>
            </a:r>
            <a:r>
              <a:rPr sz="600" b="0" i="0">
                <a:solidFill>
                  <a:srgbClr val="666666"/>
                </a:solidFill>
                <a:latin typeface="DejaVu Sans Mono"/>
              </a:rPr>
              <a:t>.</a:t>
            </a:r>
            <a:r>
              <a:rPr sz="600" b="0" i="0">
                <a:solidFill>
                  <a:srgbClr val="031424"/>
                </a:solidFill>
                <a:latin typeface="DejaVu Sans Mono"/>
              </a:rPr>
              <a:t>monotonic</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force_stamp</a:t>
            </a:r>
            <a:r>
              <a:rPr sz="600" b="0" i="0">
                <a:solidFill>
                  <a:srgbClr val="031424"/>
                </a:solidFill>
                <a:latin typeface="DejaVu Sans Mono"/>
              </a:rPr>
              <a:t> </a:t>
            </a:r>
            <a:r>
              <a:rPr sz="600" b="0" i="0">
                <a:solidFill>
                  <a:srgbClr val="666666"/>
                </a:solidFill>
                <a:latin typeface="DejaVu Sans Mono"/>
              </a:rPr>
              <a:t>&lt;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force_timeout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else</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zeros</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acceleration</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force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damping</a:t>
            </a:r>
            <a:r>
              <a:rPr sz="600" b="0" i="0">
                <a:solidFill>
                  <a:srgbClr val="666666"/>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velocity</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stiffness</a:t>
            </a:r>
            <a:r>
              <a:rPr sz="600" b="0" i="0">
                <a:solidFill>
                  <a:srgbClr val="666666"/>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offset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mass</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velocity</a:t>
            </a:r>
            <a:r>
              <a:rPr sz="600" b="0" i="0">
                <a:solidFill>
                  <a:srgbClr val="031424"/>
                </a:solidFill>
                <a:latin typeface="DejaVu Sans Mono"/>
              </a:rPr>
              <a:t> </a:t>
            </a:r>
            <a:r>
              <a:rPr sz="600" b="0" i="0">
                <a:solidFill>
                  <a:srgbClr val="666666"/>
                </a:solidFill>
                <a:latin typeface="DejaVu Sans Mono"/>
              </a:rPr>
              <a:t>+</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h</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acceleration</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_bound</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velocity</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max_cartesian_speed</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offset</a:t>
            </a:r>
            <a:r>
              <a:rPr sz="600" b="0" i="0">
                <a:solidFill>
                  <a:srgbClr val="031424"/>
                </a:solidFill>
                <a:latin typeface="DejaVu Sans Mono"/>
              </a:rPr>
              <a:t> </a:t>
            </a:r>
            <a:r>
              <a:rPr sz="600" b="0" i="0">
                <a:solidFill>
                  <a:srgbClr val="666666"/>
                </a:solidFill>
                <a:latin typeface="DejaVu Sans Mono"/>
              </a:rPr>
              <a:t>+</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h</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velocity</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linalg</a:t>
            </a:r>
            <a:r>
              <a:rPr sz="600" b="0" i="0">
                <a:solidFill>
                  <a:srgbClr val="666666"/>
                </a:solidFill>
                <a:latin typeface="DejaVu Sans Mono"/>
              </a:rPr>
              <a:t>.</a:t>
            </a:r>
            <a:r>
              <a:rPr sz="600" b="0" i="0">
                <a:solidFill>
                  <a:srgbClr val="031424"/>
                </a:solidFill>
                <a:latin typeface="DejaVu Sans Mono"/>
              </a:rPr>
              <a:t>norm</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offset</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&gt;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max_displacement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_bound</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offset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max_displacement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normal</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offset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max_displacement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velocity</a:t>
            </a:r>
            <a:r>
              <a:rPr sz="600" b="0" i="0">
                <a:solidFill>
                  <a:srgbClr val="031424"/>
                </a:solidFill>
                <a:latin typeface="DejaVu Sans Mono"/>
              </a:rPr>
              <a:t> </a:t>
            </a:r>
            <a:r>
              <a:rPr sz="600" b="0" i="0">
                <a:solidFill>
                  <a:srgbClr val="666666"/>
                </a:solidFill>
                <a:latin typeface="DejaVu Sans Mono"/>
              </a:rPr>
              <a:t>-</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max</a:t>
            </a:r>
            <a:r>
              <a:rPr sz="600" b="0" i="0">
                <a:solidFill>
                  <a:srgbClr val="031424"/>
                </a:solidFill>
                <a:latin typeface="DejaVu Sans Mono"/>
              </a:rPr>
              <a:t>(</a:t>
            </a:r>
            <a:r>
              <a:rPr sz="600" b="0" i="0">
                <a:solidFill>
                  <a:srgbClr val="40A070"/>
                </a:solidFill>
                <a:latin typeface="DejaVu Sans Mono"/>
              </a:rPr>
              <a:t>0.0</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float</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velocity</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normal</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normal</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force_age</a:t>
            </a:r>
            <a:r>
              <a:rPr sz="600" b="0" i="0">
                <a:solidFill>
                  <a:srgbClr val="031424"/>
                </a:solidFill>
                <a:latin typeface="DejaVu Sans Mono"/>
              </a:rPr>
              <a:t> </a:t>
            </a:r>
            <a:r>
              <a:rPr sz="600" b="0" i="0">
                <a:solidFill>
                  <a:srgbClr val="666666"/>
                </a:solidFill>
                <a:latin typeface="DejaVu Sans Mono"/>
              </a:rPr>
              <a:t>+</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h</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target</a:t>
            </a:r>
            <a:r>
              <a:rPr sz="600" b="0" i="0">
                <a:solidFill>
                  <a:srgbClr val="031424"/>
                </a:solidFill>
                <a:latin typeface="DejaVu Sans Mono"/>
              </a:rPr>
              <a:t>[</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reference</a:t>
            </a:r>
            <a:r>
              <a:rPr sz="600" b="0" i="0">
                <a:solidFill>
                  <a:srgbClr val="031424"/>
                </a:solidFill>
                <a:latin typeface="DejaVu Sans Mono"/>
              </a:rPr>
              <a:t>[</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offset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started</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time</a:t>
            </a:r>
            <a:r>
              <a:rPr sz="600" b="0" i="0">
                <a:solidFill>
                  <a:srgbClr val="666666"/>
                </a:solidFill>
                <a:latin typeface="DejaVu Sans Mono"/>
              </a:rPr>
              <a:t>.</a:t>
            </a:r>
            <a:r>
              <a:rPr sz="600" b="0" i="0">
                <a:solidFill>
                  <a:srgbClr val="031424"/>
                </a:solidFill>
                <a:latin typeface="DejaVu Sans Mono"/>
              </a:rPr>
              <a:t>perf_counter_ns</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command</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chain</a:t>
            </a:r>
            <a:r>
              <a:rPr sz="600" b="0" i="0">
                <a:solidFill>
                  <a:srgbClr val="666666"/>
                </a:solidFill>
                <a:latin typeface="DejaVu Sans Mono"/>
              </a:rPr>
              <a:t>.</a:t>
            </a:r>
            <a:r>
              <a:rPr sz="600" b="0" i="0">
                <a:solidFill>
                  <a:srgbClr val="031424"/>
                </a:solidFill>
                <a:latin typeface="DejaVu Sans Mono"/>
              </a:rPr>
              <a:t>step</a:t>
            </a:r>
            <a:r>
              <a:rPr sz="600" b="0" i="0">
                <a:solidFill>
                  <a:srgbClr val="031424"/>
                </a:solidFill>
                <a:latin typeface="DejaVu Sans Mono"/>
              </a:rPr>
              <a:t>(</a:t>
            </a:r>
            <a:r>
              <a:rPr sz="600" b="0" i="0">
                <a:solidFill>
                  <a:srgbClr val="031424"/>
                </a:solidFill>
                <a:latin typeface="DejaVu Sans Mono"/>
              </a:rPr>
              <a:t>q</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target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lower</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upper</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dt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tracking_gain</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damping_lambda</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joint_speed</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elapsed</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time</a:t>
            </a:r>
            <a:r>
              <a:rPr sz="600" b="0" i="0">
                <a:solidFill>
                  <a:srgbClr val="666666"/>
                </a:solidFill>
                <a:latin typeface="DejaVu Sans Mono"/>
              </a:rPr>
              <a:t>.</a:t>
            </a:r>
            <a:r>
              <a:rPr sz="600" b="0" i="0">
                <a:solidFill>
                  <a:srgbClr val="031424"/>
                </a:solidFill>
                <a:latin typeface="DejaVu Sans Mono"/>
              </a:rPr>
              <a:t>perf_counter_ns</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started</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native_elapsed_ns</a:t>
            </a:r>
            <a:r>
              <a:rPr sz="600" b="0" i="0">
                <a:solidFill>
                  <a:srgbClr val="031424"/>
                </a:solidFill>
                <a:latin typeface="DejaVu Sans Mono"/>
              </a:rPr>
              <a:t> </a:t>
            </a:r>
            <a:r>
              <a:rPr sz="600" b="0" i="0">
                <a:solidFill>
                  <a:srgbClr val="666666"/>
                </a:solidFill>
                <a:latin typeface="DejaVu Sans Mono"/>
              </a:rPr>
              <a:t>+</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elapsed</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native_max_ns</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max</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native_max_ns</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elapsed</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last_measured</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q</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1" i="0">
                <a:solidFill>
                  <a:srgbClr val="007020"/>
                </a:solidFill>
                <a:latin typeface="DejaVu Sans Mono"/>
              </a:rPr>
              <a:t>not</a:t>
            </a: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isfinite</a:t>
            </a:r>
            <a:r>
              <a:rPr sz="600" b="0" i="0">
                <a:solidFill>
                  <a:srgbClr val="031424"/>
                </a:solidFill>
                <a:latin typeface="DejaVu Sans Mono"/>
              </a:rPr>
              <a:t>(</a:t>
            </a:r>
            <a:r>
              <a:rPr sz="600" b="0" i="0">
                <a:solidFill>
                  <a:srgbClr val="031424"/>
                </a:solidFill>
                <a:latin typeface="DejaVu Sans Mono"/>
              </a:rPr>
              <a:t>command</a:t>
            </a:r>
            <a:r>
              <a:rPr sz="600" b="0" i="0">
                <a:solidFill>
                  <a:srgbClr val="031424"/>
                </a:solidFill>
                <a:latin typeface="DejaVu Sans Mono"/>
              </a:rPr>
              <a:t>)</a:t>
            </a:r>
            <a:r>
              <a:rPr sz="600" b="0" i="0">
                <a:solidFill>
                  <a:srgbClr val="666666"/>
                </a:solidFill>
                <a:latin typeface="DejaVu Sans Mono"/>
              </a:rPr>
              <a:t>.</a:t>
            </a:r>
            <a:r>
              <a:rPr sz="600" b="0" i="0">
                <a:solidFill>
                  <a:srgbClr val="031424"/>
                </a:solidFill>
                <a:latin typeface="DejaVu Sans Mono"/>
              </a:rPr>
              <a:t>all</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raise</a:t>
            </a:r>
            <a:r>
              <a:rPr sz="600" b="0" i="0">
                <a:solidFill>
                  <a:srgbClr val="031424"/>
                </a:solidFill>
                <a:latin typeface="DejaVu Sans Mono"/>
              </a:rPr>
              <a:t> </a:t>
            </a:r>
            <a:r>
              <a:rPr sz="600" b="0" i="0">
                <a:solidFill>
                  <a:srgbClr val="007020"/>
                </a:solidFill>
                <a:latin typeface="DejaVu Sans Mono"/>
              </a:rPr>
              <a:t>ValueError</a:t>
            </a:r>
            <a:r>
              <a:rPr sz="600" b="0" i="0">
                <a:solidFill>
                  <a:srgbClr val="031424"/>
                </a:solidFill>
                <a:latin typeface="DejaVu Sans Mono"/>
              </a:rPr>
              <a:t>(</a:t>
            </a:r>
            <a:r>
              <a:rPr sz="600" b="0" i="0">
                <a:solidFill>
                  <a:srgbClr val="4070A0"/>
                </a:solidFill>
                <a:latin typeface="DejaVu Sans Mono"/>
              </a:rPr>
              <a:t>"</a:t>
            </a:r>
            <a:r>
              <a:rPr sz="600" b="0" i="0">
                <a:solidFill>
                  <a:srgbClr val="4070A0"/>
                </a:solidFill>
                <a:latin typeface="DejaVu Sans Mono"/>
              </a:rPr>
              <a:t>Native IK returned a nonfinite command</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callback_count</a:t>
            </a:r>
            <a:r>
              <a:rPr sz="600" b="0" i="0">
                <a:solidFill>
                  <a:srgbClr val="031424"/>
                </a:solidFill>
                <a:latin typeface="DejaVu Sans Mono"/>
              </a:rPr>
              <a:t> </a:t>
            </a:r>
            <a:r>
              <a:rPr sz="600" b="0" i="0">
                <a:solidFill>
                  <a:srgbClr val="666666"/>
                </a:solidFill>
                <a:latin typeface="DejaVu Sans Mono"/>
              </a:rPr>
              <a:t>+</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1</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peak_displacement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max</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peak_displacement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float</a:t>
            </a:r>
            <a:r>
              <a:rPr sz="600" b="0" i="0">
                <a:solidFill>
                  <a:srgbClr val="031424"/>
                </a:solidFill>
                <a:latin typeface="DejaVu Sans Mono"/>
              </a:rPr>
              <a:t>(</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linalg</a:t>
            </a:r>
            <a:r>
              <a:rPr sz="600" b="0" i="0">
                <a:solidFill>
                  <a:srgbClr val="666666"/>
                </a:solidFill>
                <a:latin typeface="DejaVu Sans Mono"/>
              </a:rPr>
              <a:t>.</a:t>
            </a:r>
            <a:r>
              <a:rPr sz="600" b="0" i="0">
                <a:solidFill>
                  <a:srgbClr val="031424"/>
                </a:solidFill>
                <a:latin typeface="DejaVu Sans Mono"/>
              </a:rPr>
              <a:t>norm</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offset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peak_command_step</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max</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peak_command_step</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float</a:t>
            </a:r>
            <a:r>
              <a:rPr sz="600" b="0" i="0">
                <a:solidFill>
                  <a:srgbClr val="031424"/>
                </a:solidFill>
                <a:latin typeface="DejaVu Sans Mono"/>
              </a:rPr>
              <a:t>(</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max</a:t>
            </a:r>
            <a:r>
              <a:rPr sz="600" b="0" i="0">
                <a:solidFill>
                  <a:srgbClr val="031424"/>
                </a:solidFill>
                <a:latin typeface="DejaVu Sans Mono"/>
              </a:rPr>
              <a:t>(</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abs</a:t>
            </a:r>
            <a:r>
              <a:rPr sz="600" b="0" i="0">
                <a:solidFill>
                  <a:srgbClr val="031424"/>
                </a:solidFill>
                <a:latin typeface="DejaVu Sans Mono"/>
              </a:rPr>
              <a:t>(</a:t>
            </a:r>
            <a:r>
              <a:rPr sz="600" b="0" i="0">
                <a:solidFill>
                  <a:srgbClr val="031424"/>
                </a:solidFill>
                <a:latin typeface="DejaVu Sans Mono"/>
              </a:rPr>
              <a:t>command</a:t>
            </a:r>
            <a:r>
              <a:rPr sz="600" b="0" i="0">
                <a:solidFill>
                  <a:srgbClr val="666666"/>
                </a:solidFill>
                <a:latin typeface="DejaVu Sans Mono"/>
              </a:rPr>
              <a:t>-</a:t>
            </a:r>
            <a:r>
              <a:rPr sz="600" b="0" i="0">
                <a:solidFill>
                  <a:srgbClr val="031424"/>
                </a:solidFill>
                <a:latin typeface="DejaVu Sans Mono"/>
              </a:rPr>
              <a:t>q</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return</a:t>
            </a:r>
            <a:r>
              <a:rPr sz="600" b="0" i="0">
                <a:solidFill>
                  <a:srgbClr val="031424"/>
                </a:solidFill>
                <a:latin typeface="DejaVu Sans Mono"/>
              </a:rPr>
              <a:t> </a:t>
            </a:r>
            <a:r>
              <a:rPr sz="600" b="0" i="0">
                <a:solidFill>
                  <a:srgbClr val="031424"/>
                </a:solidFill>
                <a:latin typeface="DejaVu Sans Mono"/>
              </a:rPr>
              <a:t>command</a:t>
            </a:r>
            <a:r>
              <a:rPr sz="600" b="0" i="0">
                <a:solidFill>
                  <a:srgbClr val="666666"/>
                </a:solidFill>
                <a:latin typeface="DejaVu Sans Mono"/>
              </a:rPr>
              <a:t>.</a:t>
            </a:r>
            <a:r>
              <a:rPr sz="600" b="0" i="0">
                <a:solidFill>
                  <a:srgbClr val="031424"/>
                </a:solidFill>
                <a:latin typeface="DejaVu Sans Mono"/>
              </a:rPr>
              <a:t>tolist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def</a:t>
            </a:r>
            <a:r>
              <a:rPr sz="600" b="0" i="0">
                <a:solidFill>
                  <a:srgbClr val="BBBBBB"/>
                </a:solidFill>
                <a:latin typeface="DejaVu Sans Mono"/>
              </a:rPr>
              <a:t> </a:t>
            </a:r>
            <a:r>
              <a:rPr sz="600" b="0" i="0">
                <a:solidFill>
                  <a:srgbClr val="06287E"/>
                </a:solidFill>
                <a:latin typeface="DejaVu Sans Mono"/>
              </a:rPr>
              <a:t>deactivate</a:t>
            </a:r>
            <a:r>
              <a:rPr sz="600" b="0" i="0">
                <a:solidFill>
                  <a:srgbClr val="031424"/>
                </a:solidFill>
                <a:latin typeface="DejaVu Sans Mono"/>
              </a:rPr>
              <a:t>(</a:t>
            </a:r>
            <a:r>
              <a:rPr sz="600" b="0" i="0">
                <a:solidFill>
                  <a:srgbClr val="007020"/>
                </a:solidFill>
                <a:latin typeface="DejaVu Sans Mono"/>
              </a:rPr>
              <a:t>self</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active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1" i="0">
                <a:solidFill>
                  <a:srgbClr val="007020"/>
                </a:solidFill>
                <a:latin typeface="DejaVu Sans Mono"/>
              </a:rPr>
              <a:t>False</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force</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0.0</a:t>
            </a:r>
          </a:p>
          <a:p>
            <a:pPr>
              <a:lnSpc>
                <a:spcPts val="610"/>
              </a:lnSpc>
              <a:spcBef>
                <a:spcPts val="0"/>
              </a:spcBef>
              <a:spcAft>
                <a:spcPts val="0"/>
              </a:spcAft>
            </a:pPr>
            <a:r>
              <a:rPr sz="600" b="0" i="0">
                <a:solidFill>
                  <a:srgbClr val="031424"/>
                </a:solidFill>
                <a:latin typeface="DejaVu Sans Mono"/>
              </a:rPr>
              <a:t>        </a:t>
            </a:r>
            <a:r>
              <a:rPr sz="600" b="1" i="0">
                <a:solidFill>
                  <a:srgbClr val="007020"/>
                </a:solidFill>
                <a:latin typeface="DejaVu Sans Mono"/>
              </a:rPr>
              <a:t>if</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evidence_path</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pose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chain</a:t>
            </a:r>
            <a:r>
              <a:rPr sz="600" b="0" i="0">
                <a:solidFill>
                  <a:srgbClr val="666666"/>
                </a:solidFill>
                <a:latin typeface="DejaVu Sans Mono"/>
              </a:rPr>
              <a:t>.</a:t>
            </a:r>
            <a:r>
              <a:rPr sz="600" b="0" i="0">
                <a:solidFill>
                  <a:srgbClr val="031424"/>
                </a:solidFill>
                <a:latin typeface="DejaVu Sans Mono"/>
              </a:rPr>
              <a:t>fk</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last_measured</a:t>
            </a:r>
            <a:r>
              <a:rPr sz="600" b="0" i="0">
                <a:solidFill>
                  <a:srgbClr val="031424"/>
                </a:solidFill>
                <a:latin typeface="DejaVu Sans Mono"/>
              </a:rPr>
              <a:t>)</a:t>
            </a:r>
            <a:r>
              <a:rPr sz="600" b="0" i="0">
                <a:solidFill>
                  <a:srgbClr val="666666"/>
                </a:solidFill>
                <a:latin typeface="DejaVu Sans Mono"/>
              </a:rPr>
              <a:t>.</a:t>
            </a:r>
            <a:r>
              <a:rPr sz="600" b="0" i="0">
                <a:solidFill>
                  <a:srgbClr val="031424"/>
                </a:solidFill>
                <a:latin typeface="DejaVu Sans Mono"/>
              </a:rPr>
              <a:t>copy</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rotation</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reference</a:t>
            </a:r>
            <a:r>
              <a:rPr sz="600" b="0" i="0">
                <a:solidFill>
                  <a:srgbClr val="031424"/>
                </a:solidFill>
                <a:latin typeface="DejaVu Sans Mono"/>
              </a:rPr>
              <a:t>[</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r>
              <a:rPr sz="600" b="0" i="0">
                <a:solidFill>
                  <a:srgbClr val="666666"/>
                </a:solidFill>
                <a:latin typeface="DejaVu Sans Mono"/>
              </a:rPr>
              <a:t>.</a:t>
            </a:r>
            <a:r>
              <a:rPr sz="600" b="0" i="0">
                <a:solidFill>
                  <a:srgbClr val="031424"/>
                </a:solidFill>
                <a:latin typeface="DejaVu Sans Mono"/>
              </a:rPr>
              <a:t>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pose</a:t>
            </a:r>
            <a:r>
              <a:rPr sz="600" b="0" i="0">
                <a:solidFill>
                  <a:srgbClr val="031424"/>
                </a:solidFill>
                <a:latin typeface="DejaVu Sans Mono"/>
              </a:rPr>
              <a:t>[</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angle</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31424"/>
                </a:solidFill>
                <a:latin typeface="DejaVu Sans Mono"/>
              </a:rPr>
              <a:t>math</a:t>
            </a:r>
            <a:r>
              <a:rPr sz="600" b="0" i="0">
                <a:solidFill>
                  <a:srgbClr val="666666"/>
                </a:solidFill>
                <a:latin typeface="DejaVu Sans Mono"/>
              </a:rPr>
              <a:t>.</a:t>
            </a:r>
            <a:r>
              <a:rPr sz="600" b="0" i="0">
                <a:solidFill>
                  <a:srgbClr val="031424"/>
                </a:solidFill>
                <a:latin typeface="DejaVu Sans Mono"/>
              </a:rPr>
              <a:t>acos</a:t>
            </a:r>
            <a:r>
              <a:rPr sz="600" b="0" i="0">
                <a:solidFill>
                  <a:srgbClr val="031424"/>
                </a:solidFill>
                <a:latin typeface="DejaVu Sans Mono"/>
              </a:rPr>
              <a:t>(</a:t>
            </a:r>
            <a:r>
              <a:rPr sz="600" b="0" i="0">
                <a:solidFill>
                  <a:srgbClr val="007020"/>
                </a:solidFill>
                <a:latin typeface="DejaVu Sans Mono"/>
              </a:rPr>
              <a:t>float</a:t>
            </a:r>
            <a:r>
              <a:rPr sz="600" b="0" i="0">
                <a:solidFill>
                  <a:srgbClr val="031424"/>
                </a:solidFill>
                <a:latin typeface="DejaVu Sans Mono"/>
              </a:rPr>
              <a:t>(</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clip</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trace</a:t>
            </a:r>
            <a:r>
              <a:rPr sz="600" b="0" i="0">
                <a:solidFill>
                  <a:srgbClr val="031424"/>
                </a:solidFill>
                <a:latin typeface="DejaVu Sans Mono"/>
              </a:rPr>
              <a:t>(</a:t>
            </a:r>
            <a:r>
              <a:rPr sz="600" b="0" i="0">
                <a:solidFill>
                  <a:srgbClr val="031424"/>
                </a:solidFill>
                <a:latin typeface="DejaVu Sans Mono"/>
              </a:rPr>
              <a:t>rotation</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1</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2</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40A070"/>
                </a:solidFill>
                <a:latin typeface="DejaVu Sans Mono"/>
              </a:rPr>
              <a:t>1</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1</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Path</a:t>
            </a:r>
            <a:r>
              <a:rPr sz="600" b="0" i="0">
                <a:solidFill>
                  <a:srgbClr val="031424"/>
                </a:solidFill>
                <a:latin typeface="DejaVu Sans Mono"/>
              </a:rPr>
              <a:t>(</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evidence_path</a:t>
            </a:r>
            <a:r>
              <a:rPr sz="600" b="0" i="0">
                <a:solidFill>
                  <a:srgbClr val="031424"/>
                </a:solidFill>
                <a:latin typeface="DejaVu Sans Mono"/>
              </a:rPr>
              <a:t>)</a:t>
            </a:r>
            <a:r>
              <a:rPr sz="600" b="0" i="0">
                <a:solidFill>
                  <a:srgbClr val="666666"/>
                </a:solidFill>
                <a:latin typeface="DejaVu Sans Mono"/>
              </a:rPr>
              <a:t>.</a:t>
            </a:r>
            <a:r>
              <a:rPr sz="600" b="0" i="0">
                <a:solidFill>
                  <a:srgbClr val="031424"/>
                </a:solidFill>
                <a:latin typeface="DejaVu Sans Mono"/>
              </a:rPr>
              <a:t>write_text</a:t>
            </a:r>
            <a:r>
              <a:rPr sz="600" b="0" i="0">
                <a:solidFill>
                  <a:srgbClr val="031424"/>
                </a:solidFill>
                <a:latin typeface="DejaVu Sans Mono"/>
              </a:rPr>
              <a:t>(</a:t>
            </a:r>
            <a:r>
              <a:rPr sz="600" b="0" i="0">
                <a:solidFill>
                  <a:srgbClr val="031424"/>
                </a:solidFill>
                <a:latin typeface="DejaVu Sans Mono"/>
              </a:rPr>
              <a:t>json</a:t>
            </a:r>
            <a:r>
              <a:rPr sz="600" b="0" i="0">
                <a:solidFill>
                  <a:srgbClr val="666666"/>
                </a:solidFill>
                <a:latin typeface="DejaVu Sans Mono"/>
              </a:rPr>
              <a:t>.</a:t>
            </a:r>
            <a:r>
              <a:rPr sz="600" b="0" i="0">
                <a:solidFill>
                  <a:srgbClr val="031424"/>
                </a:solidFill>
                <a:latin typeface="DejaVu Sans Mono"/>
              </a:rPr>
              <a:t>dumps</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pid</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os</a:t>
            </a:r>
            <a:r>
              <a:rPr sz="600" b="0" i="0">
                <a:solidFill>
                  <a:srgbClr val="666666"/>
                </a:solidFill>
                <a:latin typeface="DejaVu Sans Mono"/>
              </a:rPr>
              <a:t>.</a:t>
            </a:r>
            <a:r>
              <a:rPr sz="600" b="0" i="0">
                <a:solidFill>
                  <a:srgbClr val="031424"/>
                </a:solidFill>
                <a:latin typeface="DejaVu Sans Mono"/>
              </a:rPr>
              <a:t>getpid</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module</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BB60D5"/>
                </a:solidFill>
                <a:latin typeface="DejaVu Sans Mono"/>
              </a:rPr>
              <a:t>__name__</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class</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type</a:t>
            </a:r>
            <a:r>
              <a:rPr sz="600" b="0" i="0">
                <a:solidFill>
                  <a:srgbClr val="031424"/>
                </a:solidFill>
                <a:latin typeface="DejaVu Sans Mono"/>
              </a:rPr>
              <a:t>(</a:t>
            </a:r>
            <a:r>
              <a:rPr sz="600" b="0" i="0">
                <a:solidFill>
                  <a:srgbClr val="007020"/>
                </a:solidFill>
                <a:latin typeface="DejaVu Sans Mono"/>
              </a:rPr>
              <a:t>self</a:t>
            </a:r>
            <a:r>
              <a:rPr sz="600" b="0" i="0">
                <a:solidFill>
                  <a:srgbClr val="031424"/>
                </a:solidFill>
                <a:latin typeface="DejaVu Sans Mono"/>
              </a:rPr>
              <a:t>)</a:t>
            </a:r>
            <a:r>
              <a:rPr sz="600" b="0" i="0">
                <a:solidFill>
                  <a:srgbClr val="666666"/>
                </a:solidFill>
                <a:latin typeface="DejaVu Sans Mono"/>
              </a:rPr>
              <a:t>.</a:t>
            </a:r>
            <a:r>
              <a:rPr sz="600" b="0" i="0">
                <a:solidFill>
                  <a:srgbClr val="BB60D5"/>
                </a:solidFill>
                <a:latin typeface="DejaVu Sans Mono"/>
              </a:rPr>
              <a:t>__name__</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callback_count</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callback_count</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base_link</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base_link</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tip_link</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tip_link</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peak_displacement_m</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peak_displacement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peak_command_step_rad</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peak_command_step</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native_kernel</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cppyy_kit.cppdef_cached:demo_arm_kinematics</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native_step_mean_us</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native_elapsed_ns</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max</a:t>
            </a:r>
            <a:r>
              <a:rPr sz="600" b="0" i="0">
                <a:solidFill>
                  <a:srgbClr val="031424"/>
                </a:solidFill>
                <a:latin typeface="DejaVu Sans Mono"/>
              </a:rPr>
              <a:t>(</a:t>
            </a:r>
            <a:r>
              <a:rPr sz="600" b="0" i="0">
                <a:solidFill>
                  <a:srgbClr val="40A070"/>
                </a:solidFill>
                <a:latin typeface="DejaVu Sans Mono"/>
              </a:rPr>
              <a:t>1</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callback_count</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1000</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native_step_max_us</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native_max_ns</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A070"/>
                </a:solidFill>
                <a:latin typeface="DejaVu Sans Mono"/>
              </a:rPr>
              <a:t>1000</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final_measured_displacement_m</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07020"/>
                </a:solidFill>
                <a:latin typeface="DejaVu Sans Mono"/>
              </a:rPr>
              <a:t>float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np</a:t>
            </a:r>
            <a:r>
              <a:rPr sz="600" b="0" i="0">
                <a:solidFill>
                  <a:srgbClr val="666666"/>
                </a:solidFill>
                <a:latin typeface="DejaVu Sans Mono"/>
              </a:rPr>
              <a:t>.</a:t>
            </a:r>
            <a:r>
              <a:rPr sz="600" b="0" i="0">
                <a:solidFill>
                  <a:srgbClr val="031424"/>
                </a:solidFill>
                <a:latin typeface="DejaVu Sans Mono"/>
              </a:rPr>
              <a:t>linalg</a:t>
            </a:r>
            <a:r>
              <a:rPr sz="600" b="0" i="0">
                <a:solidFill>
                  <a:srgbClr val="666666"/>
                </a:solidFill>
                <a:latin typeface="DejaVu Sans Mono"/>
              </a:rPr>
              <a:t>.</a:t>
            </a:r>
            <a:r>
              <a:rPr sz="600" b="0" i="0">
                <a:solidFill>
                  <a:srgbClr val="031424"/>
                </a:solidFill>
                <a:latin typeface="DejaVu Sans Mono"/>
              </a:rPr>
              <a:t>norm</a:t>
            </a:r>
            <a:r>
              <a:rPr sz="600" b="0" i="0">
                <a:solidFill>
                  <a:srgbClr val="031424"/>
                </a:solidFill>
                <a:latin typeface="DejaVu Sans Mono"/>
              </a:rPr>
              <a:t>(</a:t>
            </a:r>
            <a:r>
              <a:rPr sz="600" b="0" i="0">
                <a:solidFill>
                  <a:srgbClr val="031424"/>
                </a:solidFill>
                <a:latin typeface="DejaVu Sans Mono"/>
              </a:rPr>
              <a:t>pose</a:t>
            </a:r>
            <a:r>
              <a:rPr sz="600" b="0" i="0">
                <a:solidFill>
                  <a:srgbClr val="031424"/>
                </a:solidFill>
                <a:latin typeface="DejaVu Sans Mono"/>
              </a:rPr>
              <a:t>[</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007020"/>
                </a:solidFill>
                <a:latin typeface="DejaVu Sans Mono"/>
              </a:rPr>
              <a:t>self</a:t>
            </a:r>
            <a:r>
              <a:rPr sz="600" b="0" i="0">
                <a:solidFill>
                  <a:srgbClr val="666666"/>
                </a:solidFill>
                <a:latin typeface="DejaVu Sans Mono"/>
              </a:rPr>
              <a:t>.</a:t>
            </a:r>
            <a:r>
              <a:rPr sz="600" b="0" i="0">
                <a:solidFill>
                  <a:srgbClr val="031424"/>
                </a:solidFill>
                <a:latin typeface="DejaVu Sans Mono"/>
              </a:rPr>
              <a:t>reference</a:t>
            </a:r>
            <a:r>
              <a:rPr sz="600" b="0" i="0">
                <a:solidFill>
                  <a:srgbClr val="031424"/>
                </a:solidFill>
                <a:latin typeface="DejaVu Sans Mono"/>
              </a:rPr>
              <a:t>[</a:t>
            </a:r>
            <a:r>
              <a:rPr sz="600" b="0" i="0">
                <a:solidFill>
                  <a:srgbClr val="031424"/>
                </a:solidFill>
                <a:latin typeface="DejaVu Sans Mono"/>
              </a:rPr>
              <a:t>:</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 </a:t>
            </a:r>
            <a:r>
              <a:rPr sz="600" b="0" i="0">
                <a:solidFill>
                  <a:srgbClr val="40A070"/>
                </a:solidFill>
                <a:latin typeface="DejaVu Sans Mono"/>
              </a:rPr>
              <a:t>3</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4070A0"/>
                </a:solidFill>
                <a:latin typeface="DejaVu Sans Mono"/>
              </a:rPr>
              <a:t>"</a:t>
            </a:r>
            <a:r>
              <a:rPr sz="600" b="0" i="0">
                <a:solidFill>
                  <a:srgbClr val="4070A0"/>
                </a:solidFill>
                <a:latin typeface="DejaVu Sans Mono"/>
              </a:rPr>
              <a:t>final_measured_orientation_error_rad</a:t>
            </a:r>
            <a:r>
              <a:rPr sz="600" b="0" i="0">
                <a:solidFill>
                  <a:srgbClr val="4070A0"/>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angle</a:t>
            </a:r>
            <a:r>
              <a:rPr sz="600" b="0" i="0">
                <a:solidFill>
                  <a:srgbClr val="031424"/>
                </a:solidFill>
                <a:latin typeface="DejaVu Sans Mono"/>
              </a:rPr>
              <a:t>,</a:t>
            </a:r>
          </a:p>
          <a:p>
            <a:pPr>
              <a:lnSpc>
                <a:spcPts val="610"/>
              </a:lnSpc>
              <a:spcBef>
                <a:spcPts val="0"/>
              </a:spcBef>
              <a:spcAft>
                <a:spcPts val="0"/>
              </a:spcAft>
            </a:pPr>
            <a:r>
              <a:rPr sz="600" b="0" i="0">
                <a:solidFill>
                  <a:srgbClr val="031424"/>
                </a:solidFill>
                <a:latin typeface="DejaVu Sans Mono"/>
              </a:rPr>
              <a:t>            </a:t>
            </a:r>
            <a:r>
              <a:rPr sz="600" b="0" i="0">
                <a:solidFill>
                  <a:srgbClr val="031424"/>
                </a:solidFill>
                <a:latin typeface="DejaVu Sans Mono"/>
              </a:rPr>
              <a:t>}</a:t>
            </a:r>
            <a:r>
              <a:rPr sz="600" b="0" i="0">
                <a:solidFill>
                  <a:srgbClr val="031424"/>
                </a:solidFill>
                <a:latin typeface="DejaVu Sans Mono"/>
              </a:rPr>
              <a:t>,</a:t>
            </a:r>
            <a:r>
              <a:rPr sz="600" b="0" i="0">
                <a:solidFill>
                  <a:srgbClr val="031424"/>
                </a:solidFill>
                <a:latin typeface="DejaVu Sans Mono"/>
              </a:rPr>
              <a:t> </a:t>
            </a:r>
            <a:r>
              <a:rPr sz="600" b="0" i="0">
                <a:solidFill>
                  <a:srgbClr val="031424"/>
                </a:solidFill>
                <a:latin typeface="DejaVu Sans Mono"/>
              </a:rPr>
              <a:t>indent</a:t>
            </a:r>
            <a:r>
              <a:rPr sz="600" b="0" i="0">
                <a:solidFill>
                  <a:srgbClr val="666666"/>
                </a:solidFill>
                <a:latin typeface="DejaVu Sans Mono"/>
              </a:rPr>
              <a:t>=</a:t>
            </a:r>
            <a:r>
              <a:rPr sz="600" b="0" i="0">
                <a:solidFill>
                  <a:srgbClr val="40A070"/>
                </a:solidFill>
                <a:latin typeface="DejaVu Sans Mono"/>
              </a:rPr>
              <a:t>2</a:t>
            </a:r>
            <a:r>
              <a:rPr sz="600" b="0" i="0">
                <a:solidFill>
                  <a:srgbClr val="031424"/>
                </a:solidFill>
                <a:latin typeface="DejaVu Sans Mono"/>
              </a:rPr>
              <a:t>)</a:t>
            </a:r>
            <a:r>
              <a:rPr sz="600" b="0" i="0">
                <a:solidFill>
                  <a:srgbClr val="031424"/>
                </a:solidFill>
                <a:latin typeface="DejaVu Sans Mono"/>
              </a:rPr>
              <a:t> </a:t>
            </a:r>
            <a:r>
              <a:rPr sz="600" b="0" i="0">
                <a:solidFill>
                  <a:srgbClr val="666666"/>
                </a:solidFill>
                <a:latin typeface="DejaVu Sans Mono"/>
              </a:rPr>
              <a:t>+</a:t>
            </a:r>
            <a:r>
              <a:rPr sz="600" b="0" i="0">
                <a:solidFill>
                  <a:srgbClr val="031424"/>
                </a:solidFill>
                <a:latin typeface="DejaVu Sans Mono"/>
              </a:rPr>
              <a:t> </a:t>
            </a:r>
            <a:r>
              <a:rPr sz="600" b="0" i="0">
                <a:solidFill>
                  <a:srgbClr val="4070A0"/>
                </a:solidFill>
                <a:latin typeface="DejaVu Sans Mono"/>
              </a:rPr>
              <a:t>"</a:t>
            </a:r>
            <a:r>
              <a:rPr sz="600" b="1" i="0">
                <a:solidFill>
                  <a:srgbClr val="4070A0"/>
                </a:solidFill>
                <a:latin typeface="DejaVu Sans Mono"/>
              </a:rPr>
              <a:t>\n</a:t>
            </a:r>
            <a:r>
              <a:rPr sz="600" b="0" i="0">
                <a:solidFill>
                  <a:srgbClr val="4070A0"/>
                </a:solidFill>
                <a:latin typeface="DejaVu Sans Mono"/>
              </a:rPr>
              <a:t>"</a:t>
            </a:r>
            <a:r>
              <a:rPr sz="600" b="0" i="0">
                <a:solidFill>
                  <a:srgbClr val="031424"/>
                </a:solidFill>
                <a:latin typeface="DejaVu Sans Mono"/>
              </a:rPr>
              <a:t>)</a:t>
            </a:r>
          </a:p>
          <a:p>
            <a:pPr>
              <a:lnSpc>
                <a:spcPts val="610"/>
              </a:lnSpc>
              <a:spcBef>
                <a:spcPts val="0"/>
              </a:spcBef>
              <a:spcAft>
                <a:spcPts val="0"/>
              </a:spcAft>
            </a:p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2085</TotalTime>
  <Application>LibreOffice/24.2.7.2$Linux_X86_64 LibreOffice_project/420$Build-2</Application>
  <AppVersion>15.0000</AppVersion>
  <Words>209</Words>
  <Paragraphs>30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2026-10-18T21:32:39Z</dcterms:created>
  <dc:creator>Danielle Lang</dc:creator>
  <dc:description/>
  <dc:language>en-US</dc:language>
  <cp:lastModifiedBy/>
  <dcterms:modified xsi:type="dcterms:W3CDTF">2026-10-22T12:57:10Z</dcterms:modified>
  <cp:revision>13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11</vt:i4>
  </property>
</Properties>
</file>