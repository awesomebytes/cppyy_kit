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Default Extension="mp4" ContentType="video/mp4"/>
  <Default Extension="jpg" ContentType="image/jpeg"/>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0.xml" ContentType="application/vnd.openxmlformats-officedocument.presentationml.notesSlide+xml"/>
  <Override PartName="/ppt/notesSlides/notesSlide49.xml" ContentType="application/vnd.openxmlformats-officedocument.presentationml.notesSlide+xml"/>
  <Override PartName="/ppt/notesSlides/notesSlide48.xml" ContentType="application/vnd.openxmlformats-officedocument.presentationml.notesSlide+xml"/>
  <Override PartName="/ppt/notesSlides/notesSlide47.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57.xml" ContentType="application/vnd.openxmlformats-officedocument.presentationml.notesSlide+xml"/>
  <Override PartName="/ppt/slides/slide6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6" r:id="rId35"/>
    <p:sldId id="277" r:id="rId36"/>
    <p:sldId id="307" r:id="rId66"/>
    <p:sldId id="309" r:id="rId44"/>
    <p:sldId id="310" r:id="rId43"/>
    <p:sldId id="280" r:id="rId39"/>
    <p:sldId id="308" r:id="rId67"/>
    <p:sldId id="311" r:id="rId41"/>
    <p:sldId id="312" r:id="rId40"/>
    <p:sldId id="283" r:id="rId42"/>
    <p:sldId id="313" r:id="rId45"/>
    <p:sldId id="314" r:id="rId46"/>
    <p:sldId id="315" r:id="rId47"/>
    <p:sldId id="316" r:id="rId48"/>
    <p:sldId id="317" r:id="rId49"/>
    <p:sldId id="318" r:id="rId50"/>
    <p:sldId id="319" r:id="rId51"/>
    <p:sldId id="274" r:id="rId32"/>
    <p:sldId id="275" r:id="rId3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presProps" Target="presProps.xml"/><Relationship Id="rId35" Type="http://schemas.openxmlformats.org/officeDocument/2006/relationships/slide" Target="slides/slide21.xml"/><Relationship Id="rId36" Type="http://schemas.openxmlformats.org/officeDocument/2006/relationships/slide" Target="slides/slide22.xml"/><Relationship Id="rId39" Type="http://schemas.openxmlformats.org/officeDocument/2006/relationships/slide" Target="slides/slide25.xml"/><Relationship Id="rId40" Type="http://schemas.openxmlformats.org/officeDocument/2006/relationships/slide" Target="slides/slide57.xml"/><Relationship Id="rId41" Type="http://schemas.openxmlformats.org/officeDocument/2006/relationships/slide" Target="slides/slide56.xml"/><Relationship Id="rId42" Type="http://schemas.openxmlformats.org/officeDocument/2006/relationships/slide" Target="slides/slide28.xml"/><Relationship Id="rId43" Type="http://schemas.openxmlformats.org/officeDocument/2006/relationships/slide" Target="slides/slide55.xml"/><Relationship Id="rId44" Type="http://schemas.openxmlformats.org/officeDocument/2006/relationships/slide" Target="slides/slide54.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66" Type="http://schemas.openxmlformats.org/officeDocument/2006/relationships/slide" Target="slides/slide52.xml"/><Relationship Id="rId67" Type="http://schemas.openxmlformats.org/officeDocument/2006/relationships/slide" Target="slides/slide53.xml"/></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0"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1"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2"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4"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13F35EBA-BB32-4C13-B12E-4F12BDE4395D}"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Now run the forward profile and send the same goal. Point out the turn before translation. The base is still holonomic, with small lateral corrections permitted inside the forward cone.</a:t>
            </a:r>
          </a:p>
          <a:p>
            <a:r>
              <a:t>Latest local run: goal succeeded; 109 moving commands, zero outside the configured 30-degree cone; 0.708 m measured travel and 0.010 m outside the cone due to simulated motion rather than command direction. Final position error 0.098 m, within the configured 0.1 m tolerance. Evidence: next_steps/robot_demos/evidence/forward.json.</a:t>
            </a:r>
          </a:p>
          <a:p>
            <a:r>
              <a:t>Keep the head facing forward. Record enough of the final turn to show that goal orientation still works.</a:t>
            </a:r>
          </a:p>
          <a:p/>
          <a:p>
            <a:r>
              <a:t>Run from the repository root:</a:t>
            </a:r>
          </a:p>
          <a:p>
            <a:r>
              <a:t>./roscon_uk_2026/run_robot_demo.sh forward</a:t>
            </a:r>
          </a:p>
          <a:p>
            <a:r>
              <a:t>Stop with Ctrl-C and wait for Demo stopped. before the next launch.</a:t>
            </a:r>
          </a:p>
        </p:txBody>
      </p:sp>
      <p:sp>
        <p:nvSpPr>
          <p:cNvPr id="4" name="Slide Number Placeholder 3"/>
          <p:cNvSpPr>
            <a:spLocks noGrp="1"/>
          </p:cNvSpPr>
          <p:nvPr>
            <p:ph type="sldNum" idx="36"/>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application does not need to write pluginlib XML or a CMake project. install_python_critic_plugin builds and caches the supplied C++ adapter and creates its ament/pluginlib metadata. Add the returned prefix to AMENT_PREFIX_PATH before starting controller_server.</a:t>
            </a:r>
          </a:p>
          <a:p>
            <a:r>
              <a:t>The right side shows the FollowPath parameters for the custom critic, merged with the existing DWB critic list. python_path is the checkout's nav2_kit/demos directory. python_options is a JSON string. The live launch also enables ObstacleFootprint with scale 0.02 and uses min_vel_x=0, min_vel_y=-0.2, max_vel_y=0.2 so exact-zero translation is sampled for turn-in-place trajectories.</a:t>
            </a:r>
          </a:p>
          <a:p>
            <a:r>
              <a:t>The native adapter implements the DWB interface, owns the Python policy, passes prepare/score values and translates None to trajectory rejection. It is loaded in-process, not a separate bridge node.</a:t>
            </a:r>
          </a:p>
          <a:p>
            <a:r>
              <a:t>Complete runnable integration: next_steps/tiago_pro_jazzy/navigation/nav.launch.py. Shared adapter: nav2_kit/nav2_kit/python_critic.cpp and python_critic.py.</a:t>
            </a:r>
          </a:p>
        </p:txBody>
      </p:sp>
      <p:sp>
        <p:nvSpPr>
          <p:cNvPr id="4" name="Slide Number Placeholder 3"/>
          <p:cNvSpPr>
            <a:spLocks noGrp="1"/>
          </p:cNvSpPr>
          <p:nvPr>
            <p:ph type="sldNum" idx="36"/>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scoring method from forward_camera_policy.py. configure reads the parameters. prepare gets the current heading, path direction and distance to the goal. DWB calls score for candidate velocities and their final heading.</a:t>
            </a:r>
          </a:p>
          <a:p>
            <a:r>
              <a:t>None rejects a trajectory. Translation must stay inside the forward cone, and the robot must face the path before translating. Pure rotation remains available. The numerical cost favors the final heading closest to the path. Near the goal, the stock RotateToGoal critic takes over.</a:t>
            </a:r>
          </a:p>
          <a:p>
            <a:r>
              <a:t>This is a DWB trajectory critic, not a replacement planner. It executes in the controller_server process through nav2_kit's small native adapter. Python calls acquire the GIL.</a:t>
            </a:r>
          </a:p>
          <a:p>
            <a:r>
              <a:t>Source: nav2_kit/demos/forward_camera_policy.py. The next slide shows export and configuration.</a:t>
            </a:r>
          </a:p>
          <a:p/>
          <a:p>
            <a:r>
              <a:t>Slide shows score(), the trajectory decision. configure() and prepare() are defined in the linked source; configuration values are shown on the next slide. The shown method is an excerpt, not a standalone module. The full policy is 48 lines including comments and validation.</a:t>
            </a:r>
          </a:p>
        </p:txBody>
      </p:sp>
      <p:sp>
        <p:nvSpPr>
          <p:cNvPr id="4" name="Slide Number Placeholder 3"/>
          <p:cNvSpPr>
            <a:spLocks noGrp="1"/>
          </p:cNvSpPr>
          <p:nvPr>
            <p:ph type="sldNum" idx="36"/>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base is holonomic. The original DWB profile can move sideways to reach this goal. That is valid motion, but it is not what I want with a forward-facing depth camera.</a:t>
            </a:r>
          </a:p>
          <a:p>
            <a:r>
              <a:t>Record the robot initially facing north, then an RViz Nav2 Goal at approximately map x=-1.85, y=1.35, yaw=0. Wait for Navigation to show active before clicking. Keep the same view and goal for the next clip.</a:t>
            </a:r>
          </a:p>
          <a:p>
            <a:r>
              <a:t>Latest local baseline verification: 0.722 m travelled, of which 0.561 m had measured motion outside a 30-degree forward cone. Evidence: next_steps/robot_demos/evidence/baseline.json. Both profiles enable the same depth observation source. The forward profile also enables footprint scoring and adjusts velocity sampling, so this is a behavior comparison, not an isolated plugin benchmark.</a:t>
            </a:r>
          </a:p>
          <a:p/>
          <a:p>
            <a:r>
              <a:t>Run from the repository root:</a:t>
            </a:r>
          </a:p>
          <a:p>
            <a:r>
              <a:t>./roscon_uk_2026/run_robot_demo.sh baseline</a:t>
            </a:r>
          </a:p>
          <a:p>
            <a:r>
              <a:t>Stop with Ctrl-C and wait for Demo stopped. before the next launch.</a:t>
            </a:r>
          </a:p>
        </p:txBody>
      </p:sp>
      <p:sp>
        <p:nvSpPr>
          <p:cNvPr id="4" name="Slide Number Placeholder 3"/>
          <p:cNvSpPr>
            <a:spLocks noGrp="1"/>
          </p:cNvSpPr>
          <p:nvPr>
            <p:ph type="sldNum" idx="36"/>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are the two demo profiles on one reference diagram. Navigation runs Nav2; the admittance profile runs the force UI and swaps the left-arm controller. The Gazebo server, bridge, robot_state_publisher, RViz and Gazebo GUI are shared infrastructure. In the navigation profile, the new Python policy is hosted inside controller_server by the nav2_kit DWB adapter. In the arm profile, the Python law is hosted inside Gazebo by the control_kit ControllerInterface adapter. The base is driven by Gazebo VelocityControl via ros_gz_bridge, not a ros2_control base controller. Joint states reach robot_state_publisher directly over ROS. Simulation-truth localization supplies map to odom. Source: next_steps/tiago_pro_jazzy/playground.launch.py, native_model.py, navigation/nav.launch.py and next_steps/robot_demos/run.py.</a:t>
            </a:r>
          </a:p>
        </p:txBody>
      </p:sp>
      <p:sp>
        <p:nvSpPr>
          <p:cNvPr id="4" name="Slide Number Placeholder 3"/>
          <p:cNvSpPr>
            <a:spLocks noGrp="1"/>
          </p:cNvSpPr>
          <p:nvPr>
            <p:ph type="sldNum" idx="36"/>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1143000" y="685800"/>
            <a:ext cx="4570200" cy="3427200"/>
          </a:xfrm>
          <a:prstGeom prst="rect">
            <a:avLst/>
          </a:prstGeom>
          <a:ln w="0">
            <a:noFill/>
          </a:ln>
        </p:spPr>
      </p:sp>
      <p:sp>
        <p:nvSpPr>
          <p:cNvPr id="298" name="PlaceHolder 2"/>
          <p:cNvSpPr>
            <a:spLocks noGrp="1"/>
          </p:cNvSpPr>
          <p:nvPr>
            <p:ph type="body"/>
          </p:nvPr>
        </p:nvSpPr>
        <p:spPr>
          <a:xfrm>
            <a:off x="685800" y="4343400"/>
            <a:ext cx="5484600" cy="411300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cppyy_kit is a toolkit built around cppyy to make using C++ from Python easier in practice. There are two main things I want to do with it: use a C++ library that already exists, and write a small C++ operation inside a Python application when that is useful.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There is also practical support for coding assistants: packaged task guides, kit API references and environment diagnostics give an agent context it can inspect. In our webcam experiment, we combined those tools with a persistent marimo session and Viser, so the agent could revise processing while the camera, models and viewer stayed alive. That session is a repository example built around the kit.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cppyy provides the underlying access to C++. The kit adds reusable setup, compiled-function caching, and helpers for arrays, callbacks and keeping native objects alive. The individual kits apply those pieces to libraries such as PCL, OpenCV and robotics frameworks.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idea is that I can keep Python as the language where I describe and change the application, and use C++ for the libraries or operations I need. To understand why this works, let's first look at cppyy itself.</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 repository README.md. This is a description of the toolkit, not a promise that every C++ API works without adaptation.</a:t>
            </a:r>
            <a:endParaRPr b="0" lang="en-US" sz="2000" spc="-1" strike="noStrike">
              <a:solidFill>
                <a:srgbClr val="000000"/>
              </a:solidFill>
              <a:latin typeface="Arial"/>
            </a:endParaRPr>
          </a:p>
        </p:txBody>
      </p:sp>
      <p:sp>
        <p:nvSpPr>
          <p:cNvPr id="299" name="PlaceHolder 3"/>
          <p:cNvSpPr>
            <a:spLocks noGrp="1"/>
          </p:cNvSpPr>
          <p:nvPr>
            <p:ph type="sldNum" idx="37"/>
          </p:nvPr>
        </p:nvSpPr>
        <p:spPr>
          <a:xfrm>
            <a:off x="3884760" y="8685360"/>
            <a:ext cx="2970000" cy="4554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A7D5EA0-54EF-497B-83E3-00E1F1889CF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sldImg"/>
          </p:nvPr>
        </p:nvSpPr>
        <p:spPr>
          <a:xfrm>
            <a:off x="1143000" y="685800"/>
            <a:ext cx="4570200" cy="3427200"/>
          </a:xfrm>
          <a:prstGeom prst="rect">
            <a:avLst/>
          </a:prstGeom>
          <a:ln w="0">
            <a:noFill/>
          </a:ln>
        </p:spPr>
      </p:sp>
      <p:sp>
        <p:nvSpPr>
          <p:cNvPr id="301" name="PlaceHolder 2"/>
          <p:cNvSpPr>
            <a:spLocks noGrp="1"/>
          </p:cNvSpPr>
          <p:nvPr>
            <p:ph type="body"/>
          </p:nvPr>
        </p:nvSpPr>
        <p:spPr>
          <a:xfrm>
            <a:off x="685800" y="4343400"/>
            <a:ext cx="5484600" cy="411300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The official documentation describes cppyy as a generator that creates Python–C++ bindings at runtime. It lets Python call C++, and it also lets C++ call back into Python.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What I like is the interactive part. I can load a library and its declarations, use its classes, or define some C++ and call it from the same Python session. Templates can be instantiated as needed, rather than deciding every binding in advance. Python callbacks and overrides also let us supply behaviour to a C++ framework.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Underneath, cppyy uses Cling, a C++ interpreter built on Clang/LLVM. The native code is compiled; the Python interface is created dynamically. We still have to manage dependencies and object lifetimes, and compilation has a cost. cppyy_kit builds on this mechanism to make recurring integration work easier.</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Definition paraphrased from the official documentation: https://cppyy.readthedocs.io/en/latest/</a:t>
            </a:r>
            <a:endParaRPr b="0" lang="en-US" sz="2000" spc="-1" strike="noStrike">
              <a:solidFill>
                <a:srgbClr val="000000"/>
              </a:solidFill>
              <a:latin typeface="Arial"/>
            </a:endParaRPr>
          </a:p>
        </p:txBody>
      </p:sp>
      <p:sp>
        <p:nvSpPr>
          <p:cNvPr id="302" name="PlaceHolder 3"/>
          <p:cNvSpPr>
            <a:spLocks noGrp="1"/>
          </p:cNvSpPr>
          <p:nvPr>
            <p:ph type="sldNum" idx="38"/>
          </p:nvPr>
        </p:nvSpPr>
        <p:spPr>
          <a:xfrm>
            <a:off x="3884760" y="8685360"/>
            <a:ext cx="2970000" cy="4554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BBD2D0C-9F27-4AB5-8285-1420265D66C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sldImg"/>
          </p:nvPr>
        </p:nvSpPr>
        <p:spPr>
          <a:xfrm>
            <a:off x="216000" y="812520"/>
            <a:ext cx="7125840" cy="4007520"/>
          </a:xfrm>
          <a:prstGeom prst="rect">
            <a:avLst/>
          </a:prstGeom>
          <a:ln w="0">
            <a:noFill/>
          </a:ln>
        </p:spPr>
      </p:sp>
      <p:sp>
        <p:nvSpPr>
          <p:cNvPr id="304"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Say I already have a C++ function and want to call it from Python. One familiar route is a small extension project. Here is the build description, the function, the binding, and the Python code that uses it. The binding exposes our function and accepts a contiguous NumPy array. The optional Python wrapper converts convenient input, like a list, into that array. Then we build, make the module importable, and run the application.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one possible file layout, not six mandatory files. We can merge the header and implementation, omit the convenience wrapper, or use nanobind instead. For distribution we could package and install the extension instead of setting PYTHONPATH. Changes to the C++ require rebuilding the extension.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is intentionally the same sum-of-squares operation as before. Focus on the surrounding setup. Both approaches still need their dependencies and a compatible compiler environment.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Verified in this checkout: pixi run cmake -S roscon_uk_2026/slides/examples/extension_project -B build/slide_extension -DCMAKE_BUILD_TYPE=Release; pixi run cmake --build build/slide_extension -j2; pixi run env PYTHONPATH="$PWD/build/slide_extension" python roscon_uk_2026/slides/examples/extension_project/demo.py. Output: 14.0. The shorter commands on the slide assume an activated environment and the example folder as the current directory.</a:t>
            </a:r>
            <a:endParaRPr b="0" lang="en-US" sz="2000" spc="-1" strike="noStrike">
              <a:solidFill>
                <a:srgbClr val="000000"/>
              </a:solidFill>
              <a:latin typeface="Arial"/>
            </a:endParaRPr>
          </a:p>
        </p:txBody>
      </p:sp>
      <p:sp>
        <p:nvSpPr>
          <p:cNvPr id="305" name="PlaceHolder 3"/>
          <p:cNvSpPr>
            <a:spLocks noGrp="1"/>
          </p:cNvSpPr>
          <p:nvPr>
            <p:ph type="sldNum" idx="39"/>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840D915D-9A61-4074-8E5A-8C994AD1FB8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sldImg"/>
          </p:nvPr>
        </p:nvSpPr>
        <p:spPr>
          <a:xfrm>
            <a:off x="216000" y="812520"/>
            <a:ext cx="7125840" cy="4007520"/>
          </a:xfrm>
          <a:prstGeom prst="rect">
            <a:avLst/>
          </a:prstGeom>
          <a:ln w="0">
            <a:noFill/>
          </a:ln>
        </p:spPr>
      </p:sp>
      <p:sp>
        <p:nvSpPr>
          <p:cNvPr id="307"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Here is one small function: sum the squares of an array. Both examples receive the same three doubles and print fourteen.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left, cppyy compiles the C++ declaration. We call the function through cppyy.gbl and pass the buffer and its length explicitly.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right, the C++ computation is the same. The @cpp decorator uses the array annotation to build the entry point and supplies x_size. We call sum_sq(x) directly. The kit also manages the compiled-function cache for later runs.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docstring contains C++ source; the decorator is not translating Python into C++. For this particular arithmetic operation NumPy already has native operations. This example shows the interface, not a speed comparison or a reason to replace NumPy. We will use a larger library example to discuss cache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Both complete snippets are saved under roscon_uk_2026/slides/examples/. Body text uses Roboto; code uses DejaVu Sans Mono to preserve alignment.</a:t>
            </a:r>
            <a:endParaRPr b="0" lang="en-US" sz="2000" spc="-1" strike="noStrike">
              <a:solidFill>
                <a:srgbClr val="000000"/>
              </a:solidFill>
              <a:latin typeface="Arial"/>
            </a:endParaRPr>
          </a:p>
        </p:txBody>
      </p:sp>
      <p:sp>
        <p:nvSpPr>
          <p:cNvPr id="308" name="PlaceHolder 3"/>
          <p:cNvSpPr>
            <a:spLocks noGrp="1"/>
          </p:cNvSpPr>
          <p:nvPr>
            <p:ph type="sldNum" idx="40"/>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7C84910-8B0B-4F48-8F6C-8FE7FE0BEF1B}"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PlaceHolder 1"/>
          <p:cNvSpPr>
            <a:spLocks noGrp="1"/>
          </p:cNvSpPr>
          <p:nvPr>
            <p:ph type="sldImg"/>
          </p:nvPr>
        </p:nvSpPr>
        <p:spPr>
          <a:xfrm>
            <a:off x="216000" y="812520"/>
            <a:ext cx="7125840" cy="4007520"/>
          </a:xfrm>
          <a:prstGeom prst="rect">
            <a:avLst/>
          </a:prstGeom>
          <a:ln w="0">
            <a:noFill/>
          </a:ln>
        </p:spPr>
      </p:sp>
      <p:sp>
        <p:nvSpPr>
          <p:cNvPr id="310"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Same operation, now with cppyy_kit. The C++ body stays beside the Python function. The annotation describes the array, and the kit exposes the pointer and its size to the C++ body. I call sum_sq like a Python function.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reduces project and binding setup for this kind of experiment. Compilation still happens and the runtime still needs its compiler infrastructure. The decorator does not remove dependency installation. The native extension remains a useful deployment choice.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contracts differ slightly in these examples: the extension convenience API accepts lists and converts them; the decorated example explicitly supplies a contiguous float64 NumPy array. Both compute 14.0 for the shown values. Do not imply that the decorator adds the optional list conversion.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Full sources are in slides/examples/extension_project and slides/examples/with_cppyy_kit.py.</a:t>
            </a:r>
            <a:endParaRPr b="0" lang="en-US" sz="2000" spc="-1" strike="noStrike">
              <a:solidFill>
                <a:srgbClr val="000000"/>
              </a:solidFill>
              <a:latin typeface="Arial"/>
            </a:endParaRPr>
          </a:p>
        </p:txBody>
      </p:sp>
      <p:sp>
        <p:nvSpPr>
          <p:cNvPr id="311" name="PlaceHolder 3"/>
          <p:cNvSpPr>
            <a:spLocks noGrp="1"/>
          </p:cNvSpPr>
          <p:nvPr>
            <p:ph type="sldNum" idx="41"/>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EBDEE5B-8ADF-47CF-B3FD-355F88C09AE8}"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sldImg"/>
          </p:nvPr>
        </p:nvSpPr>
        <p:spPr>
          <a:xfrm>
            <a:off x="216000" y="812520"/>
            <a:ext cx="7125840" cy="4007520"/>
          </a:xfrm>
          <a:prstGeom prst="rect">
            <a:avLst/>
          </a:prstGeom>
          <a:ln w="0">
            <a:noFill/>
          </a:ln>
        </p:spPr>
      </p:sp>
      <p:sp>
        <p:nvSpPr>
          <p:cNvPr id="313"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This slide shows the complete executable function, including imports, Eigen include path, array annotations and input-length checks. The next slide repeats exactly the same code and adds callouts. Pause on this first slide so the audience can read the full example.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314" name="PlaceHolder 3"/>
          <p:cNvSpPr>
            <a:spLocks noGrp="1"/>
          </p:cNvSpPr>
          <p:nvPr>
            <p:ph type="sldNum" idx="42"/>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1FE3370-3C3A-4BD2-8406-B493A7C0DF0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PlaceHolder 1"/>
          <p:cNvSpPr>
            <a:spLocks noGrp="1"/>
          </p:cNvSpPr>
          <p:nvPr>
            <p:ph type="sldImg"/>
          </p:nvPr>
        </p:nvSpPr>
        <p:spPr>
          <a:xfrm>
            <a:off x="216000" y="812520"/>
            <a:ext cx="7125840" cy="4007520"/>
          </a:xfrm>
          <a:prstGeom prst="rect">
            <a:avLst/>
          </a:prstGeom>
          <a:ln w="0">
            <a:noFill/>
          </a:ln>
        </p:spPr>
      </p:sp>
      <p:sp>
        <p:nvSpPr>
          <p:cNvPr id="316"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code is identical to the previous slide. Only the four callouts have appeared. First point to nogil=True: Python threads can run during the native body. Then point to the OpenMP pragma: it distributes candidates among the requested workers, four by default. These are separate mechanisms. Next explain Eigen::Map as a view over the input coordinates. Finally explain predicted distance minus measured range, squaring and accumulation, and the negative error score.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317" name="PlaceHolder 3"/>
          <p:cNvSpPr>
            <a:spLocks noGrp="1"/>
          </p:cNvSpPr>
          <p:nvPr>
            <p:ph type="sldNum" idx="43"/>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973C537D-FB05-45E3-8D30-C2A9BA7D399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sldImg"/>
          </p:nvPr>
        </p:nvSpPr>
        <p:spPr>
          <a:xfrm>
            <a:off x="216000" y="812520"/>
            <a:ext cx="7125840" cy="4007520"/>
          </a:xfrm>
          <a:prstGeom prst="rect">
            <a:avLst/>
          </a:prstGeom>
          <a:ln w="0">
            <a:noFill/>
          </a:ln>
        </p:spPr>
      </p:sp>
      <p:sp>
        <p:nvSpPr>
          <p:cNvPr id="319"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Yes, the same calculation works without NumPy. The Python version uses lists of XY pairs, Python floats, two loops and math.hypot from the standard library. For each candidate it computes the range residual for each landmark, squares it, accumulates the error and returns its negative. math.hypot is itself implemented in native code; the repeated iteration, arithmetic and object handling around it remain Python operations. This version requires no NumPy. Its source is plain_python.py.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All implementations use the same 20,000 positions and 32 landmarks. Input creation and conversion to lists happen before timing. We compare the returned scores against the NumPy reference using rtol 1e-12 and atol 1e-10. Python floats and the NumPy/C++ buffers use double precision here. hypot uses a more robust distance algorithm than a direct square-root of summed squares, so this is equivalent scoring within the checked tolerance, not a claim of identical instructions.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Median per call means the middle of 60 measured complete Python calls, after five warmups per method. The order of the methods is shuffled in each round. The speedup column divides the Python median by each implementation's median, so the slowest measured method is 1×. It measures throughput of this scoring operation, not startup time or whole-application speed.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Python takes about 39 ms, broadcast NumPy about 5 ms, streamed NumPy about 1.34 ms, one native worker about 0.90 ms, and four native workers about 0.45 ms in this run. Plain Python could be enough for an occasional query, but this workload alone exceeds a 33.3 ms frame budget for 30 Hz processing. NumPy already makes a large difference; the native loop and parallel workers reduce the time further. These are measurements of the shown implementations on this laptop, not maximum possible performance for each language.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broadcast NumPy version uses in-place ufuncs to limit allocation. The streamed version processes one landmark at a time and avoids the full candidate-by-landmark matrix. Native code reuses a preallocated output array; Python and NumPy allocate their results and temporaries. The native version also releases the GIL. OpenMP runs with explicit thread counts, OMP_DYNAMIC=FALSE and OMP_WAIT_POLICY=PASSIVE; OPENBLAS_NUM_THREADS=1. CPU frequency, core assignment and other system activity are uncontrolled. These are fresh measurements, so do not combine them with the previous fixed-order benchmark numbers. Raw p95 values remain in the data file; the slide shows only medians and speedup.</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Previously verified: OpenMP creates the requested workers; a Python heartbeat continues during the nogil call. A separate scaling run up to 16 workers showed that four workers fit this small demo well. Sixteen helped the larger 500,000-particle case. Those measurements remain in thread_scaling.json.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Startup and memory are separate. Previous startup measurements with an existing Cling PCH gave about 937 ms for a first cache-building process and 272 ms median for cached processes, with peak process RSS around 233 MiB. They are in startup.json and the README, not included in this timing table.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Reproduce from the repository checkout: pixi run env OMP_DYNAMIC=FALSE OMP_WAIT_POLICY=PASSIVE OPENBLAS_NUM_THREADS=1 python roscon_uk_2026/slide_assets/particle_scores/comparison.py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and every measured sample: roscon_uk_2026/slide_assets/particle_scores/plain_python.py, comparison.py and comparison.json. Full notes: that directory's README.md.</a:t>
            </a:r>
            <a:endParaRPr b="0" lang="en-US" sz="2000" spc="-1" strike="noStrike">
              <a:solidFill>
                <a:srgbClr val="000000"/>
              </a:solidFill>
              <a:latin typeface="Arial"/>
            </a:endParaRPr>
          </a:p>
        </p:txBody>
      </p:sp>
      <p:sp>
        <p:nvSpPr>
          <p:cNvPr id="320" name="PlaceHolder 3"/>
          <p:cNvSpPr>
            <a:spLocks noGrp="1"/>
          </p:cNvSpPr>
          <p:nvPr>
            <p:ph type="sldNum" idx="44"/>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7618D45F-6E38-41F9-80BD-F902691DF597}"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216000" y="812520"/>
            <a:ext cx="7126200" cy="4007880"/>
          </a:xfrm>
          <a:prstGeom prst="rect">
            <a:avLst/>
          </a:prstGeom>
          <a:ln w="0">
            <a:noFill/>
          </a:ln>
        </p:spPr>
      </p:sp>
      <p:sp>
        <p:nvSpPr>
          <p:cNvPr id="322" name="PlaceHolder 2"/>
          <p:cNvSpPr>
            <a:spLocks noGrp="1"/>
          </p:cNvSpPr>
          <p:nvPr>
            <p:ph type="body"/>
          </p:nvPr>
        </p:nvSpPr>
        <p:spPr>
          <a:xfrm>
            <a:off x="756000" y="5078520"/>
            <a:ext cx="6046560" cy="480996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These are helpers provided by cppyy_kit. The library kits use them to handle common integration tasks.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keep_alive(owner, obj) stores a reference on owner. Use it when C++ needs an object or its backing buffer to remain alive. callback(fn, owner=owner) creates a native function wrapper and retains the Python callable and wrapper. The caller still chooses the owner and must ensure it outlives native use. These functions do not track arbitrary C++ pointer ownership or prevent buffer resizing.</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NDArray[T] and ConstNDArray[T] describe typed array arguments to @cpp. They check dtype, byte order, alignment and contiguous layout. NDArray requires writable storage; ConstNDArray can accept read-only storage. Compatible arrays are borrowed for the call. The function still checks its required dimensions and output size. Typed Python sequences are copied.</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@cpp(nogil=True) releases the GIL during the compiled function body. nogil(fn) does the same for a supported nullary native callable. await run_async(fn) runs that callable in an executor thread with the GIL released. Python callbacks reacquire the GIL. None of these creates parallel computation workers; the OpenMP pragma in our earlier example does that.</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cppdef_cached caches a compiled implementation. @cpp uses the function cache as well. warmup calls selected operations during initialization to pay their first-use costs there. Precompiled headers reuse header parsing. New signatures and templates may still require JIT compilation. The API ellipses on this slide indicate additional required arguments; they are not complete runnable calls.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probe_cppdef compiles supplied code in a subprocess and returns success or diagnostics. A failed Cling parsing transaction can crash its process, so this can protect a live interpreter while checking a declaration. Passing the probe does not validate every future native operation.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register_teardown(cleanup) registers a cleanup function. shutdown runs registered functions at most once, in reverse registration order, before Python and Cling teardown. These hooks are used for native resources such as ROS contexts.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Other helpers include load_libraries for shared libraries, require for installed or pinned downloaded headers, pretty_cpp_error for exception text, unwrap_expected for supported optional values, HandleRegistry for Python state referenced through integer handles, and environment/capability reports. See cppyy_kit/__init__.py, cppyy_kit/nogil.py, cppyy_kit/_cpp.py and docs/COMMON_PATTERNS.md. The next slide lists the library kits.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When to use probe_cppdef: before compiling unfamiliar headers or glue in a persistent notebook or live process, call probe_cppdef(code, headers=..., include_paths=..., libraries=...). It starts a separate Python interpreter, sets up the supplied paths/libraries, calls cppyy.cppdef, and returns (ok, message). A crash or timeout becomes a failed probe with diagnostics. The default timeout is 60 seconds. It is callable by ordinary developer code or by an agent; it is not agent-specific and is not automatically applied to every @cpp function. Passing the probe checks that declaration in the subprocess, not future executions, data validity, or compatibility with all state in the main interpreter. It is process isolation for this check, not a security sandbox.</a:t>
            </a:r>
            <a:endParaRPr b="0" lang="en-US" sz="2000" spc="-1" strike="noStrike">
              <a:solidFill>
                <a:srgbClr val="000000"/>
              </a:solidFill>
              <a:latin typeface="Arial"/>
            </a:endParaRPr>
          </a:p>
        </p:txBody>
      </p:sp>
      <p:sp>
        <p:nvSpPr>
          <p:cNvPr id="323" name="PlaceHolder 3"/>
          <p:cNvSpPr>
            <a:spLocks noGrp="1"/>
          </p:cNvSpPr>
          <p:nvPr>
            <p:ph type="sldNum" idx="45"/>
          </p:nvPr>
        </p:nvSpPr>
        <p:spPr>
          <a:xfrm>
            <a:off x="4278960" y="10157400"/>
            <a:ext cx="3279600" cy="5331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8B84859-7EA6-4D5C-82A4-924EB5F42F2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216000" y="812520"/>
            <a:ext cx="7126200" cy="4007880"/>
          </a:xfrm>
          <a:prstGeom prst="rect">
            <a:avLst/>
          </a:prstGeom>
          <a:ln w="0">
            <a:noFill/>
          </a:ln>
        </p:spPr>
      </p:sp>
      <p:sp>
        <p:nvSpPr>
          <p:cNvPr id="325" name="PlaceHolder 2"/>
          <p:cNvSpPr>
            <a:spLocks noGrp="1"/>
          </p:cNvSpPr>
          <p:nvPr>
            <p:ph type="body"/>
          </p:nvPr>
        </p:nvSpPr>
        <p:spPr>
          <a:xfrm>
            <a:off x="756000" y="5078520"/>
            <a:ext cx="6046560" cy="480996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We have seen one function. Now what if I want to use a library I already know? That is where the kits come in. I do not want to rediscover the include paths, shared libraries, pointer conversions and callback glue for every experiment.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list is the ten library kits in this repository. PCL handles point clouds. OpenCV handles images. DBoW2 supports visual place recognition. BehaviorTree.CPP gives us task trees with Python actions. OMPL exposes planning with Python validity checks. MoveIt covers robot models, kinematics and planning. nav2_kit supports navigation plugins with behavior implemented in Python, including our face-first controller plugin. control_kit supports loadable ros2_control controllers with behavior implemented in Python, including our controller examples. wbc_kit is specifically the Crocoddyl integration for custom action models. rclcpp_kit supplies ROS C++ objects, nodes, TF and rosbag2 helpers. rclcppyy is a related library offering an rclpy-style interface over rclcpp; it is distinct from rclcpp_kit, and we can discuss it next.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 would scan the list, rather than read every description aloud. The point is that the pattern repeats across different robotics libraries: Python drives the experiment and C++ does the library work. Each kit has its own API and supported operations. These are specific integrations, not a claim to wrap every feature of every upstream project.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catalog and package links are in README.md, Choose a library. The WHY.md, REPORT.md and API guides in each kit describe the supported operations. In particular wbc_kit refers to Crocoddyl; our separate whole-body-controller demos should not be confused with that package's entire API.</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For both plugin integrations, the kit supplies a small native C++ adapter inside the host process. It implements the C++ plugin interface and forwards lifecycle and control calls to the Python implementation. This connection adds no bridge node, extra process or message transport. Python implements the controller or navigation behavior. The adapter is small, but that does not make Python execution hard real-time: GIL contention, allocations and garbage collection can affect timing.</a:t>
            </a:r>
            <a:endParaRPr b="0" lang="en-US" sz="2000" spc="-1" strike="noStrike">
              <a:solidFill>
                <a:srgbClr val="000000"/>
              </a:solidFill>
              <a:latin typeface="Arial"/>
            </a:endParaRPr>
          </a:p>
        </p:txBody>
      </p:sp>
      <p:sp>
        <p:nvSpPr>
          <p:cNvPr id="326" name="PlaceHolder 3"/>
          <p:cNvSpPr>
            <a:spLocks noGrp="1"/>
          </p:cNvSpPr>
          <p:nvPr>
            <p:ph type="sldNum" idx="46"/>
          </p:nvPr>
        </p:nvSpPr>
        <p:spPr>
          <a:xfrm>
            <a:off x="4278960" y="10157400"/>
            <a:ext cx="3279600" cy="5331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62D7568-EE25-4F53-A1FF-7240B95F280A}"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216000" y="812520"/>
            <a:ext cx="7126200" cy="4007880"/>
          </a:xfrm>
          <a:prstGeom prst="rect">
            <a:avLst/>
          </a:prstGeom>
          <a:ln w="0">
            <a:noFill/>
          </a:ln>
        </p:spPr>
      </p:sp>
      <p:sp>
        <p:nvSpPr>
          <p:cNvPr id="328" name="PlaceHolder 2"/>
          <p:cNvSpPr>
            <a:spLocks noGrp="1"/>
          </p:cNvSpPr>
          <p:nvPr>
            <p:ph type="body"/>
          </p:nvPr>
        </p:nvSpPr>
        <p:spPr>
          <a:xfrm>
            <a:off x="756000" y="5078520"/>
            <a:ext cx="6046560" cy="480996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A quick reminder of rclcppyy, because it connects the Python experiments to the ROS system. It is built on cppyy and cppyy_kit and provides explicit ways to use rclcpp from Python, including an rclpy-style API for supported operations.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important part for these examples is object representation. With a native execution path, a ROS message is an actual generated C++ message object. Python can pass that object to compatible C++ functions without rebuilding its fields as a separate Python message. We can keep data and intermediate results in C++ across a pipeline. A library requiring a different layout or type still needs its conversion. This is not a blanket zero-copy claim.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Native sessions also expose rclcpp facilities such as intra-process communication, standard rclcpp_components and selected callbacks implemented in C++. That lets us compose native processing while Python configures and inspects it. Intra-process ownership transfer depends on topology, QoS and ownership; middleware loan support depends on RMW and message type. Ordinary rclpy already supports services, actions, lifecycle nodes, QoS and callback groups, so those are not the distinction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Be explicit about the selected mode. The current default compatible activation retains stock rclpy entities and publishing. It does not automatically turn every Python node into a C++ node or promise a speedup. The direct C++ mode provides a bounded supported API with native entities and messages; the managed native session exposes native composition and raw access. The diagram illustrates these native routes.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If discussing performance verbally: the recorded local Jazzy/CycloneDDS UInt64 relay comparison reported about 2.925 times closed-loop throughput and 0.228 times relay CPU versus stock rclpy. These are historical measurements for that specific protocol, not image throughput or a general speed promise. They were not rerun for this slide. Other cases differ: actions primarily reduced CPU with little completion-throughput change, and a service-server p99 latency measurement was worse. Keep any public numerical claim tied to its protocol and original evidence. For this reminder slide, the main point is access to native objects and facilities.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rclcpp_kit is the kit supplying low-level ROS C++ helpers; rclcppyy is the related higher-level ROS Python-facing library. Our control_kit and nav2_kit plugins also use in-process native adapters, but those adapters are not bridge nodes.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../rclcppyy/README.md; ../rclcppyy/docs/backend-selection.md; ../rclcppyy/docs/RCLCPPYY_RESTART_HANDOFF.md; roscon_uk_2026/RCLCPPYY_TALK_SUMMARY.md. The summary records the benchmark provenance and qualifications. This is a short lead-in to using the native message representation in perception and composed pipelines.</a:t>
            </a:r>
            <a:endParaRPr b="0" lang="en-US" sz="2000" spc="-1" strike="noStrike">
              <a:solidFill>
                <a:srgbClr val="000000"/>
              </a:solidFill>
              <a:latin typeface="Arial"/>
            </a:endParaRPr>
          </a:p>
        </p:txBody>
      </p:sp>
      <p:sp>
        <p:nvSpPr>
          <p:cNvPr id="329" name="PlaceHolder 3"/>
          <p:cNvSpPr>
            <a:spLocks noGrp="1"/>
          </p:cNvSpPr>
          <p:nvPr>
            <p:ph type="sldNum" idx="47"/>
          </p:nvPr>
        </p:nvSpPr>
        <p:spPr>
          <a:xfrm>
            <a:off x="4278960" y="10157400"/>
            <a:ext cx="3279600" cy="5331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801300E-2C28-41EA-A529-66EA9D4098F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216000" y="812520"/>
            <a:ext cx="7126560" cy="4008240"/>
          </a:xfrm>
          <a:prstGeom prst="rect">
            <a:avLst/>
          </a:prstGeom>
          <a:ln w="0">
            <a:noFill/>
          </a:ln>
        </p:spPr>
      </p:sp>
      <p:sp>
        <p:nvSpPr>
          <p:cNvPr id="331"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broad result is lower CPU cost across several types of ROS work, not just one pub/sub relay. Throughput improves substantially for pub/sub, services and remote parameter operations. Actions use less CPU but complete at almost the same rate. That is still useful: lower overhead leaves CPU available for the rest of the robot.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Spend only a few seconds on the table. Say: Pub/sub is around three times the throughput with roughly eighty percent less relay CPU. Services also improve. Actions mainly save CPU. Remote parameter calls show the largest throughput ratios in this set. These are measurements for the individual benchmark workloads, not a single average or a promise for every node.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Each range combines distinct operations in that row; it is not a confidence interval. CPU savings are (1 - direct/stock CPU ratio) times 100. Throughput is direct/stock, with stock equal to one. A dash means no throughput ratio is reported in the source summary, rather than zero throughput. CPU is accumulated time in the measured window, not instantaneous utilisation.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Exact measurements from Current CPU Evidence:</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Pub/sub relay: CPU ratio 0.228, throughput 2.925. With MessageInfo: CPU 0.190, throughput 2.981. Slide savings 77–81%. These CPU numbers cover the relay. Including the driver, CPU ratios are 0.329 and 0.288, corresponding to 67–71% savings. The relay protocol is one outstanding UInt64 message, a fixed transform, identical two-process topology and QoS.</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Service client: CPU 0.218, throughput 2.634. Service server callback: CPU 0.319, throughput 1.443. Rounded savings 68–78%. Server p99 latency ratio 1.096 means about 10% worse tail latency, despite the CPU benefit.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Action client: CPU 0.2606, result throughput 1.0160. Action server: CPU 0.6475, result throughput 1.0107. Savings round to 35–74%; completion throughput is effectively unchanged for this quick summary. The action server remains above conventional AOT C++ CPU, so beating stock rclpy does not imply matching compiled C++.</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Remote parameter get: CPU 0.1583, throughput 6.3175. Remote atomic parameter set: CPU 0.2492, throughput 4.0148. Savings round to 75–84%.</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Local parameter declare/get/set CPU ratios: 0.6943 / 0.6090 / 0.5148, giving 31–49% savings. Accessing local parameter .value instead has CPU ratio 1.1073, about 11% more CPU than stock; it is an explicitly listed exception.</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Public timer/executor CPU ratio: 0.260 versus stock, about 74% saved. Its deadline p99 ratio is 1.104 against the raw control, a different baseline. Scheduling-phase issues make that latency unsuitable for a simple speed headline. No timer throughput claim is made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recorded local x86-64 Jazzy/CycloneDDS characterizations from different benchmark workloads and revisions. They are not rerun for this slide, and raw relay/service results have not been independently reconstructed here. The project keeps broad release-level performance claims gated pending dedicated-runner and other evidence. Default compatible activation retains stock rclpy behavior; these numbers concern explicitly selected native/direct paths. Do not average the ratios across workloads or present the ranges as universal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serialized message-facade experiment was slower and remains frozen; it is not credited as direct-path acceleration. Historical fusion data is also separate. The table summarizes the current operation-level CPU evidence, with the main measured exceptions visible on the slide.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../rclcppyy/docs/RCLCPPYY_RESTART_HANDOFF.md, Current CPU Evidence; ../rclcppyy/docs/relay-boundary-benchmark.md; service-client-benchmark.md; service-callback-benchmark.md; action-client-benchmark.md; action-server-benchmark.md; timer-executor-benchmark.md. The handoff lists raw action and parameter artifacts with hashes. roscon_uk_2026/RCLCPPYY_TALK_SUMMARY.md contains the talk-specific overview and interpretation.</a:t>
            </a:r>
            <a:endParaRPr b="0" lang="en-US" sz="2000" spc="-1" strike="noStrike">
              <a:solidFill>
                <a:srgbClr val="000000"/>
              </a:solidFill>
              <a:latin typeface="Arial"/>
            </a:endParaRPr>
          </a:p>
        </p:txBody>
      </p:sp>
      <p:sp>
        <p:nvSpPr>
          <p:cNvPr id="332" name="PlaceHolder 3"/>
          <p:cNvSpPr>
            <a:spLocks noGrp="1"/>
          </p:cNvSpPr>
          <p:nvPr>
            <p:ph type="sldNum" idx="48"/>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9A655E62-CB5B-45A9-B97D-61715B424B5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216000" y="812520"/>
            <a:ext cx="7126200" cy="4007880"/>
          </a:xfrm>
          <a:prstGeom prst="rect">
            <a:avLst/>
          </a:prstGeom>
          <a:ln w="0">
            <a:noFill/>
          </a:ln>
        </p:spPr>
      </p:sp>
      <p:sp>
        <p:nvSpPr>
          <p:cNvPr id="334" name="PlaceHolder 2"/>
          <p:cNvSpPr>
            <a:spLocks noGrp="1"/>
          </p:cNvSpPr>
          <p:nvPr>
            <p:ph type="body"/>
          </p:nvPr>
        </p:nvSpPr>
        <p:spPr>
          <a:xfrm>
            <a:off x="756000" y="5078520"/>
            <a:ext cx="6046560" cy="480996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I want this to be easy for a coding agent to use as well as for me. That does not mean putting a chatbot inside the package. It means giving an external assistant a small interface, enough accurate context, and a short path to a result it can check.</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First, less scaffolding. We just saw that a C++ operation can sit in a Python function, and that a kit prepares the common library setup and useful bridges. An agent can start from those interfaces instead of generating a new binding project for each experiment. That reduces the amount of code it needs to create and maintain. We have not measured a general reduction in tokens or tool calls, so present that as a design advantage, not a quantified benchmark.</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Second, the context is discoverable. The package includes task guides for accelerating Python, bringing in a library, and working with existing C++ software. Installed kits expose their overview and API reference. These explain actual supported calls, dependencies, data conversion and lifetime rules. The agent can read that local context rather than guess an API from the library name. Environment inspection helps diagnose the compiler and headers. The guide and status CLI commands are ways an agent retrieves this information; the commands themselves are not the point of this slide.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Third, give it examples that run. A useful example includes input data or a way to create it, the library operation and an expected result. The agent can adapt that small example and retain its checks. The repository also provides an acceleration skill that describes profiling, choosing work to move into C++, and comparing outputs and performance. These instructions work with external coding assistants; they do not depend on a particular model.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Fourth, close the loop. Let the agent run the operation on the data we actually care about, show the result, compare against a reference and measure the cost. For instance: use PCL to downsample this cloud, show before and after, and report the point count and processing time. We can inspect that together and change the request. Matching output is separate from speed, and startup is separate from a warmed call.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This leads into the later interactive-session demonstration. In our repository's marimo and live-viewer examples, the agent can revise processing while keeping the data, models and viewer alive. That preserves useful state between iterations. The installed package provides the interfaces and guidance; the persistent webcam/notebook arrangements are concrete demos built with those pieces. The goal is to collect useful code, example inputs, observed outputs and checks that a later implementation can reuse.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Suggested spoken transition: An LLM can already write a binding project. What I want here is to give it fewer moving parts and a faster feedback loop with the real data. It can read how the kit works, try a small operation, and show me whether it did the right thing.</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Evidence and implementation: CPPYY_KIT_WITH_AI.md; docs/GUIDES.md; cppyy_kit/agent_guides/; per-kit WHY.md and API guides; skills/cppyy-accelerate/SKILL.md; roscon_uk_2026/next_steps/agent_session/NOTEBOOK.md. Guides and examples support the workflow; their presence is not a guarantee that generated code is correct.</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The previous slide gives concrete runtime support behind this claim: keep_alive and callback(owner=...) retain required objects, typed array arguments validate the buffer boundary, compiled caches reuse work, and shutdown hooks order resource release. These helpers are useful to humans and coding agents alike. They handle documented cases and do not infer every C++ ownership contract automatically.</a:t>
            </a:r>
            <a:endParaRPr b="0" lang="en-US" sz="2000" spc="-1" strike="noStrike">
              <a:solidFill>
                <a:srgbClr val="000000"/>
              </a:solidFill>
              <a:latin typeface="Arial"/>
            </a:endParaRPr>
          </a:p>
        </p:txBody>
      </p:sp>
      <p:sp>
        <p:nvSpPr>
          <p:cNvPr id="335" name="PlaceHolder 3"/>
          <p:cNvSpPr>
            <a:spLocks noGrp="1"/>
          </p:cNvSpPr>
          <p:nvPr>
            <p:ph type="sldNum" idx="49"/>
          </p:nvPr>
        </p:nvSpPr>
        <p:spPr>
          <a:xfrm>
            <a:off x="4278960" y="10157400"/>
            <a:ext cx="3279600" cy="5331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4FDDBFA-B945-45D7-B150-C29B00BDBCB8}"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update method belongs to CartesianAdmittance, a full controller loaded by ros2_control. The native adapter reads measured arm positions, supplies dt, calls this Python method and writes the returned joint-position commands.</a:t>
            </a:r>
          </a:p>
          <a:p>
            <a:r>
              <a:t>The force drives a virtual mass, damper and spring: M*x'' + D*x' + K*x = F. Python integrates velocity and displacement. Bounds limit displacement to 30 mm and joint speed to 0.1 rad/s. Stale force commands expire. The target orientation stays fixed.</a:t>
            </a:r>
          </a:p>
          <a:p>
            <a:r>
              <a:t>chain.step calls the C++ Eigen kinematics and damped least-squares kernel through cppyy_kit. This is the operation we keep native; the control law remains Python.</a:t>
            </a:r>
          </a:p>
          <a:p>
            <a:r>
              <a:t>This slide shows the integration and native joint-step portion of update(). Configuration, lifecycle and target methods are shown in the two code-reference slides after the demo. Defaults: mass 2, damping 30, stiffness 80 in SI units. Python holds the GIL and allocates, so this is not a hard-real-time controller.</a:t>
            </a:r>
          </a:p>
          <a:p>
            <a:r>
              <a:t>Source: control_kit/demos/python_admittance_controller.py. Native math: control_kit/control_kit/admittance_kernel.hpp.</a:t>
            </a:r>
          </a:p>
          <a:p/>
          <a:p>
            <a:r>
              <a:t>For slide readability, this code excerpt shows the integration, displacement bound and native joint step. update() also validates state and dt and records evidence; these operations remain in the executable source. The lifecycle reference slides show initialization and input handling. This slide is not a complete standalone controller.</a:t>
            </a:r>
          </a:p>
        </p:txBody>
      </p:sp>
      <p:sp>
        <p:nvSpPr>
          <p:cNvPr id="4" name="Slide Number Placeholder 3"/>
          <p:cNvSpPr>
            <a:spLocks noGrp="1"/>
          </p:cNvSpPr>
          <p:nvPr>
            <p:ph type="sldNum" idx="36"/>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application registration/configuration. The library path is prepared before launching Gazebo so its controller manager can discover the plugin. The JSON-valued python_options contains the URDF path, base/tip links and lower/upper limits extracted from the URDF. The runnable demo writes the parameter file and handles switching.</a:t>
            </a:r>
          </a:p>
          <a:p>
            <a:r>
              <a:t>The kit supplies the C++ ControllerInterface implementation and pluginlib export. configure calls the Python class's configure; activation supplies measured positions; incoming commands call set_target; each update calls update; deactivation calls deactivate.</a:t>
            </a:r>
          </a:p>
          <a:p>
            <a:r>
              <a:t>Runtime command topic: /cppyy_admittance_arm_left/commands, std_msgs/Float64MultiArray with [Fx,Fy,Fz] in newtons in torso_lift_link.</a:t>
            </a:r>
          </a:p>
          <a:p>
            <a:r>
              <a:t>Spawner loads the controller inactive. SwitchController activates cppyy_admittance_arm_left and deactivates arm_left_controller with STRICT semantics. Cleanup zeros force, waits for spring return, switches back and unloads the custom controller.</a:t>
            </a:r>
          </a:p>
          <a:p>
            <a:r>
              <a:t>Full registration, options and service calls: next_steps/pick_place/admittance_demo.py. Plugin installation: control_kit/control_kit/python_control.py. Adapter: control_kit/control_kit/python_controller.cpp. This slide lists the application-side glue; the reusable native implementation is provided by the kit.</a:t>
            </a:r>
          </a:p>
        </p:txBody>
      </p:sp>
      <p:sp>
        <p:nvSpPr>
          <p:cNvPr id="4" name="Slide Number Placeholder 3"/>
          <p:cNvSpPr>
            <a:spLocks noGrp="1"/>
          </p:cNvSpPr>
          <p:nvPr>
            <p:ph type="sldNum" idx="36"/>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recorded controller is CartesianAdmittance, an application built on the same control_kit Python interface as the minimal HoldPosition example. The kit supplies the loadable adapter. The demo supplies the force UI, mass-spring-damper law and cached Eigen kinematics. Drag applies virtual force; release zeros it and the spring returns the hand. Source files: control_kit/demos/python_admittance_controller.py, arm_kinematics.py, arm_kinematics.hpp and admittance_rviz.py. Run ./roscon_uk_2026/run_robot_demo.sh admittance --gazebo-gui. Full code remains in the repository rather than source-listing slides.</a:t>
            </a:r>
          </a:p>
        </p:txBody>
      </p:sp>
      <p:sp>
        <p:nvSpPr>
          <p:cNvPr id="4" name="Slide Number Placeholder 3"/>
          <p:cNvSpPr>
            <a:spLocks noGrp="1"/>
          </p:cNvSpPr>
          <p:nvPr>
            <p:ph type="sldNum" idx="36"/>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 reference. Exact imports, configure, feedback validation and vector bound helper from control_kit/demos/python_admittance_controller.py. The slides show selected methods; the linked module includes validation and evidence collection. No per-controller C++ source is required; the shared adapter is supplied by control_kit.</a:t>
            </a:r>
          </a:p>
          <a:p/>
          <a:p>
            <a:r>
              <a:t>Configuration reference. The source also contains _positions() input validation and _bound() vector limiting. They are not repeated here. Full runnable module: control_kit/demos/python_admittance_controller.py.</a:t>
            </a:r>
          </a:p>
        </p:txBody>
      </p:sp>
      <p:sp>
        <p:nvSpPr>
          <p:cNvPr id="4" name="Slide Number Placeholder 3"/>
          <p:cNvSpPr>
            <a:spLocks noGrp="1"/>
          </p:cNvSpPr>
          <p:nvPr>
            <p:ph type="sldNum" idx="36"/>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 reference. These are the activation and force-input methods. activate captures the reference pose and clears state. set_target validates and timestamps the incoming virtual force. deactivate zeros force and saves measurements. Timing instrumentation is for this demonstration and not required by the kit interface. Full source: control_kit/demos/python_admittance_controller.py.</a:t>
            </a:r>
          </a:p>
          <a:p/>
          <a:p>
            <a:r>
              <a:t>Lifecycle excerpt: activate and set_target. Evidence counters are omitted here. deactivate clears the active flag and force and writes the evidence JSON; full source is linked above. These reference slides complement the registration and update slides; they do not claim to reproduce all 136 source lines.</a:t>
            </a:r>
          </a:p>
        </p:txBody>
      </p:sp>
      <p:sp>
        <p:nvSpPr>
          <p:cNvPr id="4" name="Slide Number Placeholder 3"/>
          <p:cNvSpPr>
            <a:spLocks noGrp="1"/>
          </p:cNvSpPr>
          <p:nvPr>
            <p:ph type="sldNum" idx="36"/>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Context: this file is a presentation extraction, not a ROS launch file and not called by the demo. The actual setup runs in navigation/nav.launch.py before controller_server starts. </a:t>
            </a:r>
          </a:p>
          <a:p/>
          <a:p>
            <a:r>
              <a:t>This complete setup function takes the existing controller_server ros__parameters dictionary, repository path and artifacts directory. Call it before saving those parameters and starting controller_server. It is the forward-profile block from navigation/nav.launch.py expressed as a function for the presentation. install_python_critic_plugin builds and exports the reusable kit adapter. The existing DWB critics stay present; our policy is loaded by module, class and absolute path. The zero X sample permits turning in place. The kit supplies python_critic.cpp/.hpp and pluginlib XML; these are reused, not written for this example.</a:t>
            </a:r>
          </a:p>
          <a:p/>
          <a:p>
            <a:r>
              <a:t>Complete source file, continued across numbered slides; no lines omitted.</a:t>
            </a:r>
          </a:p>
          <a:p>
            <a:r>
              <a:t>Source: roscon_uk_2026/slides/examples/robot_plugins/nav2_setup.py (lines 1–15).</a:t>
            </a:r>
          </a:p>
          <a:p>
            <a:r>
              <a:t>"""Call before starting controller_server with the resulting parameters."""</a:t>
            </a:r>
          </a:p>
          <a:p>
            <a:r>
              <a:t>import json</a:t>
            </a:r>
          </a:p>
          <a:p>
            <a:r>
              <a:t>import os</a:t>
            </a:r>
          </a:p>
          <a:p>
            <a:r>
              <a:t>from pathlib import Path</a:t>
            </a:r>
          </a:p>
          <a:p/>
          <a:p>
            <a:r>
              <a:t>from nav2_kit.python_critic import install_python_critic_plugin</a:t>
            </a:r>
          </a:p>
          <a:p/>
          <a:p/>
          <a:p>
            <a:r>
              <a:t>def configure_forward_navigation(controller_parameters, repo, artifacts):</a:t>
            </a:r>
          </a:p>
          <a:p>
            <a:r>
              <a:t>    repo = Path(repo).resolve()</a:t>
            </a:r>
          </a:p>
          <a:p>
            <a:r>
              <a:t>    prefix = install_python_critic_plugin(Path(artifacts) / "python_critic")</a:t>
            </a:r>
          </a:p>
          <a:p>
            <a:r>
              <a:t>    os.environ["AMENT_PREFIX_PATH"] = (</a:t>
            </a:r>
          </a:p>
          <a:p>
            <a:r>
              <a:t>        str(prefix) + ":" + os.environ.get("AMENT_PREFIX_PATH", "")</a:t>
            </a:r>
          </a:p>
          <a:p>
            <a:r>
              <a:t>    )</a:t>
            </a:r>
          </a:p>
          <a:p>
            <a:r>
              <a:t>    follow = controller_parameters["FollowPath"]</a:t>
            </a:r>
          </a:p>
          <a:p/>
        </p:txBody>
      </p:sp>
      <p:sp>
        <p:nvSpPr>
          <p:cNvPr id="4" name="Slide Number Placeholder 3"/>
          <p:cNvSpPr>
            <a:spLocks noGrp="1"/>
          </p:cNvSpPr>
          <p:nvPr>
            <p:ph type="sldNum" idx="36"/>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Context: this file is a presentation extraction, not a ROS launch file and not called by the demo. The actual setup runs in navigation/nav.launch.py before controller_server starts. </a:t>
            </a:r>
          </a:p>
          <a:p/>
          <a:p>
            <a:r>
              <a:t>This complete setup function takes the existing controller_server ros__parameters dictionary, repository path and artifacts directory. Call it before saving those parameters and starting controller_server. It is the forward-profile block from navigation/nav.launch.py expressed as a function for the presentation. install_python_critic_plugin builds and exports the reusable kit adapter. The existing DWB critics stay present; our policy is loaded by module, class and absolute path. The zero X sample permits turning in place. The kit supplies python_critic.cpp/.hpp and pluginlib XML; these are reused, not written for this example.</a:t>
            </a:r>
          </a:p>
          <a:p/>
          <a:p>
            <a:r>
              <a:t>Complete source file, continued across numbered slides; no lines omitted.</a:t>
            </a:r>
          </a:p>
          <a:p>
            <a:r>
              <a:t>Source: roscon_uk_2026/slides/examples/robot_plugins/nav2_setup.py (lines 16–29).</a:t>
            </a:r>
          </a:p>
          <a:p>
            <a:r>
              <a:t>    follow["critics"] += ["ObstacleFootprint", "ForwardCamera"]</a:t>
            </a:r>
          </a:p>
          <a:p>
            <a:r>
              <a:t>    follow.update({</a:t>
            </a:r>
          </a:p>
          <a:p>
            <a:r>
              <a:t>        "min_vel_x": 0.0, "min_vel_y": -0.2, "max_vel_y": 0.2,</a:t>
            </a:r>
          </a:p>
          <a:p>
            <a:r>
              <a:t>        "ObstacleFootprint.scale": 0.02,</a:t>
            </a:r>
          </a:p>
          <a:p>
            <a:r>
              <a:t>        "ForwardCamera.class": "nav2_kit_python::PythonCritic",</a:t>
            </a:r>
          </a:p>
          <a:p>
            <a:r>
              <a:t>        "ForwardCamera.scale": 1.0,</a:t>
            </a:r>
          </a:p>
          <a:p>
            <a:r>
              <a:t>        "ForwardCamera.python_module": "forward_camera_policy",</a:t>
            </a:r>
          </a:p>
          <a:p>
            <a:r>
              <a:t>        "ForwardCamera.python_class": "ForwardCameraPolicy",</a:t>
            </a:r>
          </a:p>
          <a:p>
            <a:r>
              <a:t>        "ForwardCamera.python_path": str(repo / "nav2_kit/demos"),</a:t>
            </a:r>
          </a:p>
          <a:p>
            <a:r>
              <a:t>        "ForwardCamera.python_options": json.dumps({</a:t>
            </a:r>
          </a:p>
          <a:p>
            <a:r>
              <a:t>            "camera_half_angle": 0.5236, "goal_tolerance": 0.25,</a:t>
            </a:r>
          </a:p>
          <a:p>
            <a:r>
              <a:t>            "heading_weight": 80.0, "translation_epsilon": 0.0001,</a:t>
            </a:r>
          </a:p>
          <a:p>
            <a:r>
              <a:t>        }),</a:t>
            </a:r>
          </a:p>
          <a:p>
            <a:r>
              <a:t>    })</a:t>
            </a:r>
          </a:p>
          <a:p/>
        </p:txBody>
      </p:sp>
      <p:sp>
        <p:nvSpPr>
          <p:cNvPr id="4" name="Slide Number Placeholder 3"/>
          <p:cNvSpPr>
            <a:spLocks noGrp="1"/>
          </p:cNvSpPr>
          <p:nvPr>
            <p:ph type="sldNum" idx="36"/>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entire user policy used by the recorded demo. configure validates options. prepare receives robot yaw, a path look-ahead heading and goal distance once per cycle. score receives each candidate trajectory. None rejects a candidate; a nonnegative number is its cost. The first check keeps base-frame translation inside the camera cone. The second makes the base turn towards the path before translating. The heading penalty scores the final orientation of the candidate. Near the goal, RotateToGoal handles the final yaw. Python runs inside controller_server, with a GIL acquisition per callback. It is not a separate policy node.</a:t>
            </a:r>
          </a:p>
          <a:p/>
          <a:p>
            <a:r>
              <a:t>Complete source file, continued across numbered slides; no lines omitted.</a:t>
            </a:r>
          </a:p>
          <a:p>
            <a:r>
              <a:t>Source: nav2_kit/demos/forward_camera_policy.py (lines 1–24).</a:t>
            </a:r>
          </a:p>
          <a:p>
            <a:r>
              <a:t>"""DWB policy for a base carrying a forward-facing depth camera.</a:t>
            </a:r>
          </a:p>
          <a:p/>
          <a:p>
            <a:r>
              <a:t>The policy constrains translation and scores heading. Stock DWB critics retain</a:t>
            </a:r>
          </a:p>
          <a:p>
            <a:r>
              <a:t>path distance, collision checking, oscillation handling, and final goal rotation.</a:t>
            </a:r>
          </a:p>
          <a:p>
            <a:r>
              <a:t>"""</a:t>
            </a:r>
          </a:p>
          <a:p>
            <a:r>
              <a:t>import math</a:t>
            </a:r>
          </a:p>
          <a:p/>
          <a:p/>
          <a:p>
            <a:r>
              <a:t>def angle(value):</a:t>
            </a:r>
          </a:p>
          <a:p>
            <a:r>
              <a:t>    return math.atan2(math.sin(value), math.cos(value))</a:t>
            </a:r>
          </a:p>
          <a:p/>
          <a:p/>
          <a:p>
            <a:r>
              <a:t>class ForwardCameraPolicy:</a:t>
            </a:r>
          </a:p>
          <a:p>
            <a:r>
              <a:t>    def configure(self, options):</a:t>
            </a:r>
          </a:p>
          <a:p>
            <a:r>
              <a:t>        self.camera_half_angle = float(options.get("camera_half_angle", math.pi / 6))</a:t>
            </a:r>
          </a:p>
          <a:p>
            <a:r>
              <a:t>        self.goal_tolerance = float(options.get("goal_tolerance", 0.25))</a:t>
            </a:r>
          </a:p>
          <a:p>
            <a:r>
              <a:t>        self.heading_weight = float(options.get("heading_weight", 80.0))</a:t>
            </a:r>
          </a:p>
          <a:p>
            <a:r>
              <a:t>        self.translation_epsilon = float(options.get("translation_epsilon", 0.0001))</a:t>
            </a:r>
          </a:p>
          <a:p>
            <a:r>
              <a:t>        values = (self.camera_half_angle, self.goal_tolerance,</a:t>
            </a:r>
          </a:p>
          <a:p>
            <a:r>
              <a:t>                  self.heading_weight, self.translation_epsilon)</a:t>
            </a:r>
          </a:p>
          <a:p>
            <a:r>
              <a:t>        if not all(math.isfinite(v) and v &gt; 0 for v in values):</a:t>
            </a:r>
          </a:p>
          <a:p>
            <a:r>
              <a:t>            raise ValueError("Policy options must be finite and positive")</a:t>
            </a:r>
          </a:p>
          <a:p>
            <a:r>
              <a:t>        if self.camera_half_angle &gt;= math.pi / 2:</a:t>
            </a:r>
          </a:p>
          <a:p>
            <a:r>
              <a:t>            raise ValueError("camera_half_angle must be less than pi/2 radians")</a:t>
            </a:r>
          </a:p>
          <a:p/>
        </p:txBody>
      </p:sp>
      <p:sp>
        <p:nvSpPr>
          <p:cNvPr id="4" name="Slide Number Placeholder 3"/>
          <p:cNvSpPr>
            <a:spLocks noGrp="1"/>
          </p:cNvSpPr>
          <p:nvPr>
            <p:ph type="sldNum" idx="36"/>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entire user policy used by the recorded demo. configure validates options. prepare receives robot yaw, a path look-ahead heading and goal distance once per cycle. score receives each candidate trajectory. None rejects a candidate; a nonnegative number is its cost. The first check keeps base-frame translation inside the camera cone. The second makes the base turn towards the path before translating. The heading penalty scores the final orientation of the candidate. Near the goal, RotateToGoal handles the final yaw. Python runs inside controller_server, with a GIL acquisition per callback. It is not a separate policy node.</a:t>
            </a:r>
          </a:p>
          <a:p/>
          <a:p>
            <a:r>
              <a:t>Complete source file, continued across numbered slides; no lines omitted.</a:t>
            </a:r>
          </a:p>
          <a:p>
            <a:r>
              <a:t>Source: nav2_kit/demos/forward_camera_policy.py (lines 25–47).</a:t>
            </a:r>
          </a:p>
          <a:p/>
          <a:p>
            <a:r>
              <a:t>    def prepare(self, yaw, path_heading, goal_distance):</a:t>
            </a:r>
          </a:p>
          <a:p>
            <a:r>
              <a:t>        self.yaw = yaw</a:t>
            </a:r>
          </a:p>
          <a:p>
            <a:r>
              <a:t>        self.path_heading = path_heading</a:t>
            </a:r>
          </a:p>
          <a:p>
            <a:r>
              <a:t>        self.near_goal = goal_distance &lt;= self.goal_tolerance</a:t>
            </a:r>
          </a:p>
          <a:p/>
          <a:p>
            <a:r>
              <a:t>    def score(self, vx, vy, wz, final_heading):</a:t>
            </a:r>
          </a:p>
          <a:p>
            <a:r>
              <a:t>        translating = math.hypot(vx, vy) &gt; self.translation_epsilon</a:t>
            </a:r>
          </a:p>
          <a:p>
            <a:r>
              <a:t>        if translating:</a:t>
            </a:r>
          </a:p>
          <a:p>
            <a:r>
              <a:t>            # DWB velocities use the base frame. Reverse and sideways motion</a:t>
            </a:r>
          </a:p>
          <a:p>
            <a:r>
              <a:t>            # leave the front camera's configured viewing cone.</a:t>
            </a:r>
          </a:p>
          <a:p>
            <a:r>
              <a:t>            if abs(math.atan2(vy, vx)) &gt; self.camera_half_angle:</a:t>
            </a:r>
          </a:p>
          <a:p>
            <a:r>
              <a:t>                return None</a:t>
            </a:r>
          </a:p>
          <a:p>
            <a:r>
              <a:t>        # RotateToGoal owns the final yaw once inside the XY tolerance.</a:t>
            </a:r>
          </a:p>
          <a:p>
            <a:r>
              <a:t>        if self.near_goal:</a:t>
            </a:r>
          </a:p>
          <a:p>
            <a:r>
              <a:t>            return 0.0</a:t>
            </a:r>
          </a:p>
          <a:p>
            <a:r>
              <a:t>        if translating:</a:t>
            </a:r>
          </a:p>
          <a:p>
            <a:r>
              <a:t>            # Turn before moving into a new path direction. Pure rotation,</a:t>
            </a:r>
          </a:p>
          <a:p>
            <a:r>
              <a:t>            # including a zero command, stays available for other DWB critics.</a:t>
            </a:r>
          </a:p>
          <a:p>
            <a:r>
              <a:t>            if abs(angle(self.path_heading - self.yaw)) &gt; self.camera_half_angle:</a:t>
            </a:r>
          </a:p>
          <a:p>
            <a:r>
              <a:t>                return None</a:t>
            </a:r>
          </a:p>
          <a:p>
            <a:r>
              <a:t>        error = angle(self.path_heading - final_heading)</a:t>
            </a:r>
          </a:p>
          <a:p>
            <a:r>
              <a:t>        return self.heading_weight * error * error</a:t>
            </a:r>
          </a:p>
          <a:p/>
        </p:txBody>
      </p:sp>
      <p:sp>
        <p:nvSpPr>
          <p:cNvPr id="4" name="Slide Number Placeholder 3"/>
          <p:cNvSpPr>
            <a:spLocks noGrp="1"/>
          </p:cNvSpPr>
          <p:nvPr>
            <p:ph type="sldNum" idx="36"/>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Context: this file is a presentation extraction, not a ROS launch file and not called by the demo. The actual export and configuration run in admittance_demo.py, before Gazebo startup and before controller loading respectively. </a:t>
            </a:r>
          </a:p>
          <a:p/>
          <a:p>
            <a:r>
              <a:t>This complete setup function packages the registration and arm configuration used by admittance_demo.py. It returns the parameter file. Run it in the launcher process before Gazebo starts so the child inherits AMENT_PREFIX_PATH. The URDF must already exist. Joint limits come from that model. The kit supplies ControllerInterface, embedded-interpreter lifecycle calls, ROS commands subscription, interface access and pluginlib metadata. The example supplies CartesianAdmittance and arm_kinematics. Nothing here installs an admittance algorithm into the kit.</a:t>
            </a:r>
          </a:p>
          <a:p/>
          <a:p>
            <a:r>
              <a:t>Complete source file, continued across numbered slides; no lines omitted.</a:t>
            </a:r>
          </a:p>
          <a:p>
            <a:r>
              <a:t>Source: roscon_uk_2026/slides/examples/robot_plugins/controller_setup.py (lines 1–19).</a:t>
            </a:r>
          </a:p>
          <a:p>
            <a:r>
              <a:t>"""Build the adapter before Gazebo starts; write its arm configuration."""</a:t>
            </a:r>
          </a:p>
          <a:p>
            <a:r>
              <a:t>import json</a:t>
            </a:r>
          </a:p>
          <a:p>
            <a:r>
              <a:t>import os</a:t>
            </a:r>
          </a:p>
          <a:p>
            <a:r>
              <a:t>from pathlib import Path</a:t>
            </a:r>
          </a:p>
          <a:p>
            <a:r>
              <a:t>import xml.etree.ElementTree as ET</a:t>
            </a:r>
          </a:p>
          <a:p/>
          <a:p>
            <a:r>
              <a:t>from control_kit.python_control import install_python_controller_plugin</a:t>
            </a:r>
          </a:p>
          <a:p/>
          <a:p/>
          <a:p>
            <a:r>
              <a:t>def prepare_admittance(repo, urdf_path, overlay):</a:t>
            </a:r>
          </a:p>
          <a:p>
            <a:r>
              <a:t>    repo = Path(repo).resolve()</a:t>
            </a:r>
          </a:p>
          <a:p>
            <a:r>
              <a:t>    prefix = Path(install_python_controller_plugin(overlay))</a:t>
            </a:r>
          </a:p>
          <a:p>
            <a:r>
              <a:t>    os.environ["AMENT_PREFIX_PATH"] = (</a:t>
            </a:r>
          </a:p>
          <a:p>
            <a:r>
              <a:t>        str(prefix) + ":" + os.environ.get("AMENT_PREFIX_PATH", "")</a:t>
            </a:r>
          </a:p>
          <a:p>
            <a:r>
              <a:t>    )</a:t>
            </a:r>
          </a:p>
          <a:p>
            <a:r>
              <a:t>    joints = [f"arm_left_{i}_joint" for i in range(1, 8)]</a:t>
            </a:r>
          </a:p>
          <a:p>
            <a:r>
              <a:t>    model = ET.parse(urdf_path).getroot()</a:t>
            </a:r>
          </a:p>
          <a:p>
            <a:r>
              <a:t>    limits = {j.get("name"): j.find("limit") for j in model.findall("joint")}</a:t>
            </a:r>
          </a:p>
          <a:p>
            <a:r>
              <a:t>    options = {</a:t>
            </a:r>
          </a:p>
          <a:p/>
        </p:txBody>
      </p:sp>
      <p:sp>
        <p:nvSpPr>
          <p:cNvPr id="4" name="Slide Number Placeholder 3"/>
          <p:cNvSpPr>
            <a:spLocks noGrp="1"/>
          </p:cNvSpPr>
          <p:nvPr>
            <p:ph type="sldNum" idx="36"/>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Context: this file is a presentation extraction, not a ROS launch file and not called by the demo. The actual export and configuration run in admittance_demo.py, before Gazebo startup and before controller loading respectively. </a:t>
            </a:r>
          </a:p>
          <a:p/>
          <a:p>
            <a:r>
              <a:t>This complete setup function packages the registration and arm configuration used by admittance_demo.py. It returns the parameter file. Run it in the launcher process before Gazebo starts so the child inherits AMENT_PREFIX_PATH. The URDF must already exist. Joint limits come from that model. The kit supplies ControllerInterface, embedded-interpreter lifecycle calls, ROS commands subscription, interface access and pluginlib metadata. The example supplies CartesianAdmittance and arm_kinematics. Nothing here installs an admittance algorithm into the kit.</a:t>
            </a:r>
          </a:p>
          <a:p/>
          <a:p>
            <a:r>
              <a:t>Complete source file, continued across numbered slides; no lines omitted.</a:t>
            </a:r>
          </a:p>
          <a:p>
            <a:r>
              <a:t>Source: roscon_uk_2026/slides/examples/robot_plugins/controller_setup.py (lines 20–38).</a:t>
            </a:r>
          </a:p>
          <a:p>
            <a:r>
              <a:t>        "urdf_path": str(Path(urdf_path).resolve()),</a:t>
            </a:r>
          </a:p>
          <a:p>
            <a:r>
              <a:t>        "base_link": "torso_lift_link",</a:t>
            </a:r>
          </a:p>
          <a:p>
            <a:r>
              <a:t>        "tip_link": "gripper_left_grasping_link",</a:t>
            </a:r>
          </a:p>
          <a:p>
            <a:r>
              <a:t>        "lower_limits": [float(limits[j].get("lower")) for j in joints],</a:t>
            </a:r>
          </a:p>
          <a:p>
            <a:r>
              <a:t>        "upper_limits": [float(limits[j].get("upper")) for j in joints],</a:t>
            </a:r>
          </a:p>
          <a:p>
            <a:r>
              <a:t>    }</a:t>
            </a:r>
          </a:p>
          <a:p>
            <a:r>
              <a:t>    parameters = {</a:t>
            </a:r>
          </a:p>
          <a:p>
            <a:r>
              <a:t>        "type": "control_kit_python/PythonController",</a:t>
            </a:r>
          </a:p>
          <a:p>
            <a:r>
              <a:t>        "joints": joints,</a:t>
            </a:r>
          </a:p>
          <a:p>
            <a:r>
              <a:t>        "python_module": "python_admittance_controller",</a:t>
            </a:r>
          </a:p>
          <a:p>
            <a:r>
              <a:t>        "python_class": "CartesianAdmittance",</a:t>
            </a:r>
          </a:p>
          <a:p>
            <a:r>
              <a:t>        "python_path": str(repo / "control_kit/demos"),</a:t>
            </a:r>
          </a:p>
          <a:p>
            <a:r>
              <a:t>        "python_options": json.dumps(options),</a:t>
            </a:r>
          </a:p>
          <a:p>
            <a:r>
              <a:t>    }</a:t>
            </a:r>
          </a:p>
          <a:p>
            <a:r>
              <a:t>    output = prefix / "admittance.yaml"</a:t>
            </a:r>
          </a:p>
          <a:p>
            <a:r>
              <a:t>    output.write_text(json.dumps({</a:t>
            </a:r>
          </a:p>
          <a:p>
            <a:r>
              <a:t>        "cppyy_admittance_arm_left": {"ros__parameters": parameters}</a:t>
            </a:r>
          </a:p>
          <a:p>
            <a:r>
              <a:t>    }, indent=2) + "\n")</a:t>
            </a:r>
          </a:p>
          <a:p>
            <a:r>
              <a:t>    return output</a:t>
            </a:r>
          </a:p>
          <a:p/>
        </p:txBody>
      </p:sp>
      <p:sp>
        <p:nvSpPr>
          <p:cNvPr id="4" name="Slide Number Placeholder 3"/>
          <p:cNvSpPr>
            <a:spLocks noGrp="1"/>
          </p:cNvSpPr>
          <p:nvPr>
            <p:ph type="sldNum" idx="36"/>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commands are the manual equivalent of the demo launcher lifecycle. Use the simulator kit environment and ROS_DOMAIN_ID=77. CONFIG is the path returned by prepare_admittance. The spawner loads and configures but leaves the controller inactive. Switch both controllers in one request because they claim the same arm position interfaces. The publisher demonstrates the Float64MultiArray force input; the real recording uses the RViz force UI to publish it. Stop the publisher, allow the timeout and spring return, then restore the stock controller before unloading. The normal run_robot_demo.sh admittance command performs setup and cleanup automatically.</a:t>
            </a:r>
          </a:p>
          <a:p/>
          <a:p>
            <a:r>
              <a:t>Complete source file, continued across numbered slides; no lines omitted.</a:t>
            </a:r>
          </a:p>
          <a:p>
            <a:r>
              <a:t>Source: roscon_uk_2026/slides/examples/robot_plugins/controller_lifecycle.sh (lines 1–18).</a:t>
            </a:r>
          </a:p>
          <a:p>
            <a:r>
              <a:t># In the simulator environment, after Gazebo starts with the overlay.</a:t>
            </a:r>
          </a:p>
          <a:p>
            <a:r>
              <a:t># CONFIG is the file returned by prepare_admittance().</a:t>
            </a:r>
          </a:p>
          <a:p>
            <a:r>
              <a:t>ros2 run controller_manager spawner cppyy_admittance_arm_left \</a:t>
            </a:r>
          </a:p>
          <a:p>
            <a:r>
              <a:t>  -p "$CONFIG" --inactive --controller-manager-timeout 30</a:t>
            </a:r>
          </a:p>
          <a:p/>
          <a:p>
            <a:r>
              <a:t>ros2 control switch_controllers --strict --activate-asap \</a:t>
            </a:r>
          </a:p>
          <a:p>
            <a:r>
              <a:t>  --deactivate arm_left_controller \</a:t>
            </a:r>
          </a:p>
          <a:p>
            <a:r>
              <a:t>  --activate cppyy_admittance_arm_left --switch-timeout 10</a:t>
            </a:r>
          </a:p>
          <a:p/>
          <a:p>
            <a:r>
              <a:t># The RViz force UI publishes [Fx, Fy, Fz] to this topic.</a:t>
            </a:r>
          </a:p>
          <a:p>
            <a:r>
              <a:t>ros2 topic pub --rate 20 /cppyy_admittance_arm_left/commands \</a:t>
            </a:r>
          </a:p>
          <a:p>
            <a:r>
              <a:t>  std_msgs/msg/Float64MultiArray '{data: [2.0, 0.0, 0.0]}'</a:t>
            </a:r>
          </a:p>
          <a:p/>
          <a:p>
            <a:r>
              <a:t># Stop the publisher. Let the force timeout expire and the hand return.</a:t>
            </a:r>
          </a:p>
          <a:p>
            <a:r>
              <a:t>ros2 control switch_controllers --strict --activate-asap \</a:t>
            </a:r>
          </a:p>
          <a:p>
            <a:r>
              <a:t>  --deactivate cppyy_admittance_arm_left \</a:t>
            </a:r>
          </a:p>
          <a:p>
            <a:r>
              <a:t>  --activate arm_left_controller --switch-timeout 10</a:t>
            </a:r>
          </a:p>
          <a:p>
            <a:r>
              <a:t>ros2 control unload_controller cppyy_admittance_arm_left</a:t>
            </a:r>
          </a:p>
          <a:p/>
        </p:txBody>
      </p:sp>
      <p:sp>
        <p:nvSpPr>
          <p:cNvPr id="4" name="Slide Number Placeholder 3"/>
          <p:cNvSpPr>
            <a:spLocks noGrp="1"/>
          </p:cNvSpPr>
          <p:nvPr>
            <p:ph type="sldNum" idx="36"/>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1–25).</a:t>
            </a:r>
          </a:p>
          <a:p>
            <a:r>
              <a:t>"""Cartesian virtual-force admittance for the embedded Python controller bridge.</a:t>
            </a:r>
          </a:p>
          <a:p/>
          <a:p>
            <a:r>
              <a:t>set_target([fx, fy, fz]) applies a virtual force in newtons, expressed in the</a:t>
            </a:r>
          </a:p>
          <a:p>
            <a:r>
              <a:t>configured base_link frame. It does not read a physical force sensor.</a:t>
            </a:r>
          </a:p>
          <a:p>
            <a:r>
              <a:t>"""</a:t>
            </a:r>
          </a:p>
          <a:p/>
          <a:p>
            <a:r>
              <a:t>import json</a:t>
            </a:r>
          </a:p>
          <a:p>
            <a:r>
              <a:t>import math</a:t>
            </a:r>
          </a:p>
          <a:p>
            <a:r>
              <a:t>import os</a:t>
            </a:r>
          </a:p>
          <a:p>
            <a:r>
              <a:t>import time</a:t>
            </a:r>
          </a:p>
          <a:p>
            <a:r>
              <a:t>from pathlib import Path</a:t>
            </a:r>
          </a:p>
          <a:p/>
          <a:p>
            <a:r>
              <a:t>import numpy as np</a:t>
            </a:r>
          </a:p>
          <a:p/>
          <a:p>
            <a:r>
              <a:t>from arm_kinematics import Chain</a:t>
            </a:r>
          </a:p>
          <a:p/>
          <a:p/>
          <a:p>
            <a:r>
              <a:t>class CartesianAdmittance:</a:t>
            </a:r>
          </a:p>
          <a:p>
            <a:r>
              <a:t>    def configure(self, joint_names, options):</a:t>
            </a:r>
          </a:p>
          <a:p>
            <a:r>
              <a:t>        self.joints = list(joint_names)</a:t>
            </a:r>
          </a:p>
          <a:p>
            <a:r>
              <a:t>        defaults = {"mass": 2.0, "damping": 30.0, "stiffness": 80.0,</a:t>
            </a:r>
          </a:p>
          <a:p>
            <a:r>
              <a:t>                    "max_displacement": 0.03, "max_cartesian_speed": 0.06,</a:t>
            </a:r>
          </a:p>
          <a:p>
            <a:r>
              <a:t>                    "joint_speed": 0.10, "tracking_gain": 4.0, "damping_lambda": 0.04,</a:t>
            </a:r>
          </a:p>
          <a:p>
            <a:r>
              <a:t>                    "force_timeout": 0.3, "max_force": 20.0}</a:t>
            </a:r>
          </a:p>
          <a:p>
            <a:r>
              <a:t>        for key, default in defaults.items():</a:t>
            </a:r>
          </a:p>
          <a:p/>
        </p:txBody>
      </p:sp>
      <p:sp>
        <p:nvSpPr>
          <p:cNvPr id="4" name="Slide Number Placeholder 3"/>
          <p:cNvSpPr>
            <a:spLocks noGrp="1"/>
          </p:cNvSpPr>
          <p:nvPr>
            <p:ph type="sldNum" idx="36"/>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26–50).</a:t>
            </a:r>
          </a:p>
          <a:p>
            <a:r>
              <a:t>            value = float(options.get(key, default))</a:t>
            </a:r>
          </a:p>
          <a:p>
            <a:r>
              <a:t>            if not math.isfinite(value) or value &lt;= 0:</a:t>
            </a:r>
          </a:p>
          <a:p>
            <a:r>
              <a:t>                raise ValueError(f"{key} must be finite and positive")</a:t>
            </a:r>
          </a:p>
          <a:p>
            <a:r>
              <a:t>            setattr(self, key, value)</a:t>
            </a:r>
          </a:p>
          <a:p>
            <a:r>
              <a:t>        self.lower = np.array(options["lower_limits"], dtype=np.float64)</a:t>
            </a:r>
          </a:p>
          <a:p>
            <a:r>
              <a:t>        self.upper = np.array(options["upper_limits"], dtype=np.float64)</a:t>
            </a:r>
          </a:p>
          <a:p>
            <a:r>
              <a:t>        if (self.lower.shape != (len(self.joints),) or self.upper.shape != self.lower.shape</a:t>
            </a:r>
          </a:p>
          <a:p>
            <a:r>
              <a:t>                or not np.isfinite(self.lower).all() or not np.isfinite(self.upper).all()</a:t>
            </a:r>
          </a:p>
          <a:p>
            <a:r>
              <a:t>                or np.any(self.lower &gt;= self.upper)):</a:t>
            </a:r>
          </a:p>
          <a:p>
            <a:r>
              <a:t>            raise ValueError("Finite ordered joint limits must match the joint count")</a:t>
            </a:r>
          </a:p>
          <a:p>
            <a:r>
              <a:t>        self.base_link, self.tip_link = options["base_link"], options["tip_link"]</a:t>
            </a:r>
          </a:p>
          <a:p>
            <a:r>
              <a:t>        self.chain = Chain(options["urdf_path"], self.joints, self.base_link, self.tip_link)</a:t>
            </a:r>
          </a:p>
          <a:p>
            <a:r>
              <a:t>        self.evidence_path = options.get("evidence_path")</a:t>
            </a:r>
          </a:p>
          <a:p>
            <a:r>
              <a:t>        self.active = False</a:t>
            </a:r>
          </a:p>
          <a:p/>
          <a:p>
            <a:r>
              <a:t>    def _positions(self, values):</a:t>
            </a:r>
          </a:p>
          <a:p>
            <a:r>
              <a:t>        q = np.ascontiguousarray(values, dtype=np.float64)</a:t>
            </a:r>
          </a:p>
          <a:p>
            <a:r>
              <a:t>        if (q.shape != self.lower.shape or not np.isfinite(q).all()</a:t>
            </a:r>
          </a:p>
          <a:p>
            <a:r>
              <a:t>                or np.any(q &lt; self.lower) or np.any(q &gt; self.upper)):</a:t>
            </a:r>
          </a:p>
          <a:p>
            <a:r>
              <a:t>            raise ValueError(</a:t>
            </a:r>
          </a:p>
          <a:p>
            <a:r>
              <a:t>                "Feedback requires finite positions within the configured joint limits"</a:t>
            </a:r>
          </a:p>
          <a:p>
            <a:r>
              <a:t>            )</a:t>
            </a:r>
          </a:p>
          <a:p>
            <a:r>
              <a:t>        return q</a:t>
            </a:r>
          </a:p>
          <a:p/>
          <a:p>
            <a:r>
              <a:t>    @staticmethod</a:t>
            </a:r>
          </a:p>
          <a:p/>
        </p:txBody>
      </p:sp>
      <p:sp>
        <p:nvSpPr>
          <p:cNvPr id="4" name="Slide Number Placeholder 3"/>
          <p:cNvSpPr>
            <a:spLocks noGrp="1"/>
          </p:cNvSpPr>
          <p:nvPr>
            <p:ph type="sldNum" idx="3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51–75).</a:t>
            </a:r>
          </a:p>
          <a:p>
            <a:r>
              <a:t>    def _bound(vector, limit):</a:t>
            </a:r>
          </a:p>
          <a:p>
            <a:r>
              <a:t>        norm = np.linalg.norm(vector)</a:t>
            </a:r>
          </a:p>
          <a:p>
            <a:r>
              <a:t>        if norm &gt; limit:</a:t>
            </a:r>
          </a:p>
          <a:p>
            <a:r>
              <a:t>            vector *= limit / norm</a:t>
            </a:r>
          </a:p>
          <a:p>
            <a:r>
              <a:t>        return vector</a:t>
            </a:r>
          </a:p>
          <a:p/>
          <a:p>
            <a:r>
              <a:t>    def activate(self, measured_positions):</a:t>
            </a:r>
          </a:p>
          <a:p>
            <a:r>
              <a:t>        q = self._positions(measured_positions)</a:t>
            </a:r>
          </a:p>
          <a:p>
            <a:r>
              <a:t>        self.reference = self.chain.fk(q).copy()</a:t>
            </a:r>
          </a:p>
          <a:p>
            <a:r>
              <a:t>        self.target = self.reference.copy()</a:t>
            </a:r>
          </a:p>
          <a:p>
            <a:r>
              <a:t>        self.offset = np.zeros(3)</a:t>
            </a:r>
          </a:p>
          <a:p>
            <a:r>
              <a:t>        self.velocity = np.zeros(3)</a:t>
            </a:r>
          </a:p>
          <a:p>
            <a:r>
              <a:t>        self.force = np.zeros(3)</a:t>
            </a:r>
          </a:p>
          <a:p>
            <a:r>
              <a:t>        self.force_age = self.force_timeout</a:t>
            </a:r>
          </a:p>
          <a:p>
            <a:r>
              <a:t>        self.force_stamp = -math.inf</a:t>
            </a:r>
          </a:p>
          <a:p>
            <a:r>
              <a:t>        self.callback_count = 0</a:t>
            </a:r>
          </a:p>
          <a:p>
            <a:r>
              <a:t>        self.native_elapsed_ns = 0</a:t>
            </a:r>
          </a:p>
          <a:p>
            <a:r>
              <a:t>        self.native_max_ns = 0</a:t>
            </a:r>
          </a:p>
          <a:p>
            <a:r>
              <a:t>        self.last_measured = q.copy()</a:t>
            </a:r>
          </a:p>
          <a:p>
            <a:r>
              <a:t>        self.peak_displacement = 0.0</a:t>
            </a:r>
          </a:p>
          <a:p>
            <a:r>
              <a:t>        self.peak_command_step = 0.0</a:t>
            </a:r>
          </a:p>
          <a:p>
            <a:r>
              <a:t>        self.active = True</a:t>
            </a:r>
          </a:p>
          <a:p/>
          <a:p>
            <a:r>
              <a:t>    def set_target(self, values):</a:t>
            </a:r>
          </a:p>
          <a:p>
            <a:r>
              <a:t>        force = np.array(values, dtype=np.float64)</a:t>
            </a:r>
          </a:p>
          <a:p/>
        </p:txBody>
      </p:sp>
      <p:sp>
        <p:nvSpPr>
          <p:cNvPr id="4" name="Slide Number Placeholder 3"/>
          <p:cNvSpPr>
            <a:spLocks noGrp="1"/>
          </p:cNvSpPr>
          <p:nvPr>
            <p:ph type="sldNum" idx="3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76–100).</a:t>
            </a:r>
          </a:p>
          <a:p>
            <a:r>
              <a:t>        if force.shape != (3,) or not np.isfinite(force).all():</a:t>
            </a:r>
          </a:p>
          <a:p>
            <a:r>
              <a:t>            raise ValueError("Virtual force requires three finite values in newtons")</a:t>
            </a:r>
          </a:p>
          <a:p>
            <a:r>
              <a:t>        if not self.active:</a:t>
            </a:r>
          </a:p>
          <a:p>
            <a:r>
              <a:t>            raise ValueError("Activate the admittance controller before applying force")</a:t>
            </a:r>
          </a:p>
          <a:p>
            <a:r>
              <a:t>        self.force = self._bound(force, self.max_force)</a:t>
            </a:r>
          </a:p>
          <a:p>
            <a:r>
              <a:t>        self.force_age = 0.0</a:t>
            </a:r>
          </a:p>
          <a:p>
            <a:r>
              <a:t>        self.force_stamp = time.monotonic()</a:t>
            </a:r>
          </a:p>
          <a:p/>
          <a:p>
            <a:r>
              <a:t>    def update(self, measured_positions, dt):</a:t>
            </a:r>
          </a:p>
          <a:p>
            <a:r>
              <a:t>        if not self.active:</a:t>
            </a:r>
          </a:p>
          <a:p>
            <a:r>
              <a:t>            raise ValueError("Admittance controller is inactive")</a:t>
            </a:r>
          </a:p>
          <a:p>
            <a:r>
              <a:t>        q = self._positions(measured_positions)</a:t>
            </a:r>
          </a:p>
          <a:p>
            <a:r>
              <a:t>        if not math.isfinite(dt) or not 0 &lt; dt &lt;= 0.1:</a:t>
            </a:r>
          </a:p>
          <a:p>
            <a:r>
              <a:t>            raise ValueError("dt must be finite and between 0 and 0.1 seconds")</a:t>
            </a:r>
          </a:p>
          <a:p>
            <a:r>
              <a:t>        # Integrate M*x'' + D*x' + K*x = F. Substeps bound integration error</a:t>
            </a:r>
          </a:p>
          <a:p>
            <a:r>
              <a:t>        # when simulation updates arrive less frequently than the nominal loop.</a:t>
            </a:r>
          </a:p>
          <a:p>
            <a:r>
              <a:t>        steps = max(1, math.ceil(dt / 0.002))</a:t>
            </a:r>
          </a:p>
          <a:p>
            <a:r>
              <a:t>        h = dt / steps</a:t>
            </a:r>
          </a:p>
          <a:p>
            <a:r>
              <a:t>        for _ in range(steps):</a:t>
            </a:r>
          </a:p>
          <a:p>
            <a:r>
              <a:t>            force = (self.force if self.force_age &lt; self.force_timeout</a:t>
            </a:r>
          </a:p>
          <a:p>
            <a:r>
              <a:t>                     and time.monotonic() - self.force_stamp &lt; self.force_timeout</a:t>
            </a:r>
          </a:p>
          <a:p>
            <a:r>
              <a:t>                     else np.zeros(3))</a:t>
            </a:r>
          </a:p>
          <a:p>
            <a:r>
              <a:t>            acceleration = (</a:t>
            </a:r>
          </a:p>
          <a:p>
            <a:r>
              <a:t>                force - self.damping*self.velocity - self.stiffness*self.offset</a:t>
            </a:r>
          </a:p>
          <a:p>
            <a:r>
              <a:t>            ) / self.mass</a:t>
            </a:r>
          </a:p>
          <a:p/>
        </p:txBody>
      </p:sp>
      <p:sp>
        <p:nvSpPr>
          <p:cNvPr id="4" name="Slide Number Placeholder 3"/>
          <p:cNvSpPr>
            <a:spLocks noGrp="1"/>
          </p:cNvSpPr>
          <p:nvPr>
            <p:ph type="sldNum" idx="3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101–125).</a:t>
            </a:r>
          </a:p>
          <a:p>
            <a:r>
              <a:t>            self.velocity += h * acceleration</a:t>
            </a:r>
          </a:p>
          <a:p>
            <a:r>
              <a:t>            self._bound(self.velocity, self.max_cartesian_speed)</a:t>
            </a:r>
          </a:p>
          <a:p>
            <a:r>
              <a:t>            self.offset += h * self.velocity</a:t>
            </a:r>
          </a:p>
          <a:p>
            <a:r>
              <a:t>            if np.linalg.norm(self.offset) &gt; self.max_displacement:</a:t>
            </a:r>
          </a:p>
          <a:p>
            <a:r>
              <a:t>                self._bound(self.offset, self.max_displacement)</a:t>
            </a:r>
          </a:p>
          <a:p>
            <a:r>
              <a:t>                normal = self.offset / self.max_displacement</a:t>
            </a:r>
          </a:p>
          <a:p>
            <a:r>
              <a:t>                self.velocity -= max(0.0, float(self.velocity @ normal)) * normal</a:t>
            </a:r>
          </a:p>
          <a:p>
            <a:r>
              <a:t>            self.force_age += h</a:t>
            </a:r>
          </a:p>
          <a:p>
            <a:r>
              <a:t>        self.target[:3, 3] = self.reference[:3, 3] + self.offset</a:t>
            </a:r>
          </a:p>
          <a:p>
            <a:r>
              <a:t>        started = time.perf_counter_ns()</a:t>
            </a:r>
          </a:p>
          <a:p>
            <a:r>
              <a:t>        command = self.chain.step(q, self.target, self.lower, self.upper, dt,</a:t>
            </a:r>
          </a:p>
          <a:p>
            <a:r>
              <a:t>                                  self.tracking_gain, self.damping_lambda, self.joint_speed)</a:t>
            </a:r>
          </a:p>
          <a:p>
            <a:r>
              <a:t>        elapsed = time.perf_counter_ns() - started</a:t>
            </a:r>
          </a:p>
          <a:p>
            <a:r>
              <a:t>        self.native_elapsed_ns += elapsed</a:t>
            </a:r>
          </a:p>
          <a:p>
            <a:r>
              <a:t>        self.native_max_ns = max(self.native_max_ns, elapsed)</a:t>
            </a:r>
          </a:p>
          <a:p>
            <a:r>
              <a:t>        self.last_measured[:] = q</a:t>
            </a:r>
          </a:p>
          <a:p>
            <a:r>
              <a:t>        if not np.isfinite(command).all():</a:t>
            </a:r>
          </a:p>
          <a:p>
            <a:r>
              <a:t>            raise ValueError("Native IK returned a nonfinite command")</a:t>
            </a:r>
          </a:p>
          <a:p>
            <a:r>
              <a:t>        self.callback_count += 1</a:t>
            </a:r>
          </a:p>
          <a:p>
            <a:r>
              <a:t>        self.peak_displacement = max(</a:t>
            </a:r>
          </a:p>
          <a:p>
            <a:r>
              <a:t>            self.peak_displacement, float(np.linalg.norm(self.offset))</a:t>
            </a:r>
          </a:p>
          <a:p>
            <a:r>
              <a:t>        )</a:t>
            </a:r>
          </a:p>
          <a:p>
            <a:r>
              <a:t>        self.peak_command_step = max(self.peak_command_step, float(np.max(np.abs(command-q))))</a:t>
            </a:r>
          </a:p>
          <a:p>
            <a:r>
              <a:t>        return command.tolist()</a:t>
            </a:r>
          </a:p>
          <a:p/>
          <a:p/>
        </p:txBody>
      </p:sp>
      <p:sp>
        <p:nvSpPr>
          <p:cNvPr id="4" name="Slide Number Placeholder 3"/>
          <p:cNvSpPr>
            <a:spLocks noGrp="1"/>
          </p:cNvSpPr>
          <p:nvPr>
            <p:ph type="sldNum" idx="3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full recorded controller, including validation, limits, force expiry and evidence recording. The adapter invokes configure, activate, set_target, update and deactivate inside Gazebo. configure loads the example-local Chain. activate captures the initial hand pose. update integrates M x_ddot + D x_dot + K x = F using bounded substeps, limits displacement and speed, then calls Chain.step for joint commands. Orientation stays at the initial reference. All forces are virtual newtons in the configured base frame. The measured_positions argument is joint feedback, not a force sensor. Timing and JSON evidence at the end support the demo checks; they are not ros2_control requirements. Python uses the GIL and allocates, so this is not a hard-real-time controller.</a:t>
            </a:r>
          </a:p>
          <a:p/>
          <a:p>
            <a:r>
              <a:t>Complete source file, continued across numbered slides; no lines omitted.</a:t>
            </a:r>
          </a:p>
          <a:p>
            <a:r>
              <a:t>Source: control_kit/demos/python_admittance_controller.py (lines 126–147).</a:t>
            </a:r>
          </a:p>
          <a:p>
            <a:r>
              <a:t>    def deactivate(self):</a:t>
            </a:r>
          </a:p>
          <a:p>
            <a:r>
              <a:t>        self.active = False</a:t>
            </a:r>
          </a:p>
          <a:p>
            <a:r>
              <a:t>        self.force[:] = 0.0</a:t>
            </a:r>
          </a:p>
          <a:p>
            <a:r>
              <a:t>        if self.evidence_path:</a:t>
            </a:r>
          </a:p>
          <a:p>
            <a:r>
              <a:t>            pose = self.chain.fk(self.last_measured).copy()</a:t>
            </a:r>
          </a:p>
          <a:p>
            <a:r>
              <a:t>            rotation = self.reference[:3, :3].T @ pose[:3, :3]</a:t>
            </a:r>
          </a:p>
          <a:p>
            <a:r>
              <a:t>            angle = math.acos(float(np.clip((np.trace(rotation) - 1) / 2, -1, 1)))</a:t>
            </a:r>
          </a:p>
          <a:p>
            <a:r>
              <a:t>            Path(self.evidence_path).write_text(json.dumps({</a:t>
            </a:r>
          </a:p>
          <a:p>
            <a:r>
              <a:t>                "pid": os.getpid(), "module": __name__, "class": type(self).__name__,</a:t>
            </a:r>
          </a:p>
          <a:p>
            <a:r>
              <a:t>                "callback_count": self.callback_count, "base_link": self.base_link,</a:t>
            </a:r>
          </a:p>
          <a:p>
            <a:r>
              <a:t>                "tip_link": self.tip_link, "peak_displacement_m": self.peak_displacement,</a:t>
            </a:r>
          </a:p>
          <a:p>
            <a:r>
              <a:t>                "peak_command_step_rad": self.peak_command_step,</a:t>
            </a:r>
          </a:p>
          <a:p>
            <a:r>
              <a:t>                "native_kernel": "cppyy_kit.cppdef_cached:demo_arm_kinematics",</a:t>
            </a:r>
          </a:p>
          <a:p>
            <a:r>
              <a:t>                "native_step_mean_us": (</a:t>
            </a:r>
          </a:p>
          <a:p>
            <a:r>
              <a:t>                    self.native_elapsed_ns / max(1, self.callback_count) / 1000</a:t>
            </a:r>
          </a:p>
          <a:p>
            <a:r>
              <a:t>                ),</a:t>
            </a:r>
          </a:p>
          <a:p>
            <a:r>
              <a:t>                "native_step_max_us": self.native_max_ns / 1000,</a:t>
            </a:r>
          </a:p>
          <a:p>
            <a:r>
              <a:t>                "final_measured_displacement_m": float(</a:t>
            </a:r>
          </a:p>
          <a:p>
            <a:r>
              <a:t>                    np.linalg.norm(pose[:3, 3] - self.reference[:3, 3])</a:t>
            </a:r>
          </a:p>
          <a:p>
            <a:r>
              <a:t>                ),</a:t>
            </a:r>
          </a:p>
          <a:p>
            <a:r>
              <a:t>                "final_measured_orientation_error_rad": angle,</a:t>
            </a:r>
          </a:p>
          <a:p>
            <a:r>
              <a:t>            }, indent=2) + "\n")</a:t>
            </a:r>
          </a:p>
          <a:p/>
        </p:txBody>
      </p:sp>
      <p:sp>
        <p:nvSpPr>
          <p:cNvPr id="4" name="Slide Number Placeholder 3"/>
          <p:cNvSpPr>
            <a:spLocks noGrp="1"/>
          </p:cNvSpPr>
          <p:nvPr>
            <p:ph type="sldNum" idx="3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native computation used by Chain.step. kinematics walks the URDF chain and computes the pose and analytic geometric Jacobian. step forms position and orientation error, solves the damped least-squares system using Eigen LDLT, scales joint velocity and clamps the position commands to joint limits. The namespace is demo_arm_kinematics. This file belongs to the demonstration, not the generic controller adapter.</a:t>
            </a:r>
          </a:p>
          <a:p/>
          <a:p>
            <a:r>
              <a:t>Complete source file, continued across numbered slides; no lines omitted.</a:t>
            </a:r>
          </a:p>
          <a:p>
            <a:r>
              <a:t>Source: control_kit/demos/arm_kinematics.hpp (lines 1–22).</a:t>
            </a:r>
          </a:p>
          <a:p>
            <a:r>
              <a:t>#pragma once</a:t>
            </a:r>
          </a:p>
          <a:p>
            <a:r>
              <a:t>#include &lt;Eigen/Geometry&gt;</a:t>
            </a:r>
          </a:p>
          <a:p>
            <a:r>
              <a:t>#include &lt;Eigen/Cholesky&gt;</a:t>
            </a:r>
          </a:p>
          <a:p>
            <a:r>
              <a:t>#include &lt;algorithm&gt;</a:t>
            </a:r>
          </a:p>
          <a:p>
            <a:r>
              <a:t>#include &lt;vector&gt;</a:t>
            </a:r>
          </a:p>
          <a:p/>
          <a:p>
            <a:r>
              <a:t>namespace demo_arm_kinematics {</a:t>
            </a:r>
          </a:p>
          <a:p>
            <a:r>
              <a:t>// The chain is ordered from base to tip. Origins contain xyz and fixed-axis rpy.</a:t>
            </a:r>
          </a:p>
          <a:p>
            <a:r>
              <a:t>void kinematics(int segments, int joints, const int* types, const int* indices,</a:t>
            </a:r>
          </a:p>
          <a:p>
            <a:r>
              <a:t>                const double* origins, const double* axes, const double* q,</a:t>
            </a:r>
          </a:p>
          <a:p>
            <a:r>
              <a:t>                double* pose, double* jacobian) {</a:t>
            </a:r>
          </a:p>
          <a:p>
            <a:r>
              <a:t>  using namespace Eigen;</a:t>
            </a:r>
          </a:p>
          <a:p>
            <a:r>
              <a:t>  Isometry3d tip = Isometry3d::Identity();</a:t>
            </a:r>
          </a:p>
          <a:p>
            <a:r>
              <a:t>  std::vector&lt;Vector3d&gt; points(joints), directions(joints);</a:t>
            </a:r>
          </a:p>
          <a:p>
            <a:r>
              <a:t>  std::vector&lt;int&gt; kinds(joints);</a:t>
            </a:r>
          </a:p>
          <a:p>
            <a:r>
              <a:t>  for (int s = 0; s &lt; segments; ++s) {</a:t>
            </a:r>
          </a:p>
          <a:p>
            <a:r>
              <a:t>    Isometry3d origin = Isometry3d::Identity();</a:t>
            </a:r>
          </a:p>
          <a:p>
            <a:r>
              <a:t>    origin.translation() = Map&lt;const Vector3d&gt;(origins + 6*s);</a:t>
            </a:r>
          </a:p>
          <a:p>
            <a:r>
              <a:t>    origin.linear() = (AngleAxisd(origins[6*s+5], Vector3d::UnitZ()) *</a:t>
            </a:r>
          </a:p>
          <a:p>
            <a:r>
              <a:t>                       AngleAxisd(origins[6*s+4], Vector3d::UnitY()) *</a:t>
            </a:r>
          </a:p>
          <a:p>
            <a:r>
              <a:t>                       AngleAxisd(origins[6*s+3], Vector3d::UnitX())).toRotationMatrix();</a:t>
            </a:r>
          </a:p>
          <a:p>
            <a:r>
              <a:t>    tip = tip * origin;</a:t>
            </a:r>
          </a:p>
          <a:p/>
        </p:txBody>
      </p:sp>
      <p:sp>
        <p:nvSpPr>
          <p:cNvPr id="4" name="Slide Number Placeholder 3"/>
          <p:cNvSpPr>
            <a:spLocks noGrp="1"/>
          </p:cNvSpPr>
          <p:nvPr>
            <p:ph type="sldNum" idx="3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native computation used by Chain.step. kinematics walks the URDF chain and computes the pose and analytic geometric Jacobian. step forms position and orientation error, solves the damped least-squares system using Eigen LDLT, scales joint velocity and clamps the position commands to joint limits. The namespace is demo_arm_kinematics. This file belongs to the demonstration, not the generic controller adapter.</a:t>
            </a:r>
          </a:p>
          <a:p/>
          <a:p>
            <a:r>
              <a:t>Complete source file, continued across numbered slides; no lines omitted.</a:t>
            </a:r>
          </a:p>
          <a:p>
            <a:r>
              <a:t>Source: control_kit/demos/arm_kinematics.hpp (lines 23–44).</a:t>
            </a:r>
          </a:p>
          <a:p>
            <a:r>
              <a:t>    int j = indices[s];</a:t>
            </a:r>
          </a:p>
          <a:p>
            <a:r>
              <a:t>    if (j &lt; 0) continue;</a:t>
            </a:r>
          </a:p>
          <a:p>
            <a:r>
              <a:t>    Vector3d axis = Map&lt;const Vector3d&gt;(axes + 3*s);</a:t>
            </a:r>
          </a:p>
          <a:p>
            <a:r>
              <a:t>    points[j] = tip.translation();</a:t>
            </a:r>
          </a:p>
          <a:p>
            <a:r>
              <a:t>    directions[j] = tip.linear() * axis;</a:t>
            </a:r>
          </a:p>
          <a:p>
            <a:r>
              <a:t>    kinds[j] = types[s];</a:t>
            </a:r>
          </a:p>
          <a:p>
            <a:r>
              <a:t>    if (types[s] == 1) tip.rotate(AngleAxisd(q[j], axis));</a:t>
            </a:r>
          </a:p>
          <a:p>
            <a:r>
              <a:t>    else tip.translate(q[j] * axis);</a:t>
            </a:r>
          </a:p>
          <a:p>
            <a:r>
              <a:t>  }</a:t>
            </a:r>
          </a:p>
          <a:p>
            <a:r>
              <a:t>  Map&lt;Matrix&lt;double,4,4,RowMajor&gt;&gt; output_pose(pose);</a:t>
            </a:r>
          </a:p>
          <a:p>
            <a:r>
              <a:t>  output_pose = tip.matrix();</a:t>
            </a:r>
          </a:p>
          <a:p>
            <a:r>
              <a:t>  Map&lt;Matrix&lt;double,6,Dynamic,RowMajor&gt;&gt; j(jacobian, 6, joints);</a:t>
            </a:r>
          </a:p>
          <a:p>
            <a:r>
              <a:t>  for (int k = 0; k &lt; joints; ++k) {</a:t>
            </a:r>
          </a:p>
          <a:p>
            <a:r>
              <a:t>    j.block&lt;3,1&gt;(0,k) = kinds[k] == 1</a:t>
            </a:r>
          </a:p>
          <a:p>
            <a:r>
              <a:t>        ? Vector3d(directions[k].cross(tip.translation() - points[k])) : directions[k];</a:t>
            </a:r>
          </a:p>
          <a:p>
            <a:r>
              <a:t>    j.block&lt;3,1&gt;(3,k) = kinds[k] == 1 ? directions[k] : Vector3d::Zero();</a:t>
            </a:r>
          </a:p>
          <a:p>
            <a:r>
              <a:t>  }</a:t>
            </a:r>
          </a:p>
          <a:p>
            <a:r>
              <a:t>}</a:t>
            </a:r>
          </a:p>
          <a:p/>
          <a:p>
            <a:r>
              <a:t>// One native call evaluates FK, the analytic geometric Jacobian and damped IK.</a:t>
            </a:r>
          </a:p>
          <a:p>
            <a:r>
              <a:t>void step(int segments, int joints, const int* types, const int* indices,</a:t>
            </a:r>
          </a:p>
          <a:p>
            <a:r>
              <a:t>          const double* origins, const double* axes, const double* q,</a:t>
            </a:r>
          </a:p>
          <a:p/>
        </p:txBody>
      </p:sp>
      <p:sp>
        <p:nvSpPr>
          <p:cNvPr id="4" name="Slide Number Placeholder 3"/>
          <p:cNvSpPr>
            <a:spLocks noGrp="1"/>
          </p:cNvSpPr>
          <p:nvPr>
            <p:ph type="sldNum" idx="3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native computation used by Chain.step. kinematics walks the URDF chain and computes the pose and analytic geometric Jacobian. step forms position and orientation error, solves the damped least-squares system using Eigen LDLT, scales joint velocity and clamps the position commands to joint limits. The namespace is demo_arm_kinematics. This file belongs to the demonstration, not the generic controller adapter.</a:t>
            </a:r>
          </a:p>
          <a:p/>
          <a:p>
            <a:r>
              <a:t>Complete source file, continued across numbered slides; no lines omitted.</a:t>
            </a:r>
          </a:p>
          <a:p>
            <a:r>
              <a:t>Source: control_kit/demos/arm_kinematics.hpp (lines 45–65).</a:t>
            </a:r>
          </a:p>
          <a:p>
            <a:r>
              <a:t>          const double* target, const double* lower, const double* upper,</a:t>
            </a:r>
          </a:p>
          <a:p>
            <a:r>
              <a:t>          double dt, double gain, double damping, double speed, double* command) {</a:t>
            </a:r>
          </a:p>
          <a:p>
            <a:r>
              <a:t>  using namespace Eigen;</a:t>
            </a:r>
          </a:p>
          <a:p>
            <a:r>
              <a:t>  Matrix&lt;double,4,4,RowMajor&gt; pose;</a:t>
            </a:r>
          </a:p>
          <a:p>
            <a:r>
              <a:t>  Matrix&lt;double,6,Dynamic,RowMajor&gt; j(6,joints);</a:t>
            </a:r>
          </a:p>
          <a:p>
            <a:r>
              <a:t>  kinematics(segments,joints,types,indices,origins,axes,q,pose.data(),j.data());</a:t>
            </a:r>
          </a:p>
          <a:p>
            <a:r>
              <a:t>  Map&lt;const Matrix&lt;double,4,4,RowMajor&gt;&gt; goal(target);</a:t>
            </a:r>
          </a:p>
          <a:p>
            <a:r>
              <a:t>  Matrix&lt;double,6,1&gt; error;</a:t>
            </a:r>
          </a:p>
          <a:p>
            <a:r>
              <a:t>  error.head&lt;3&gt;() = goal.block&lt;3,1&gt;(0,3) - pose.block&lt;3,1&gt;(0,3);</a:t>
            </a:r>
          </a:p>
          <a:p>
            <a:r>
              <a:t>  error.tail&lt;3&gt;().setZero();</a:t>
            </a:r>
          </a:p>
          <a:p>
            <a:r>
              <a:t>  for (int k=0;k&lt;3;++k)</a:t>
            </a:r>
          </a:p>
          <a:p>
            <a:r>
              <a:t>    error.tail&lt;3&gt;() += 0.5 * pose.block&lt;3,1&gt;(0,k).cross(goal.block&lt;3,1&gt;(0,k));</a:t>
            </a:r>
          </a:p>
          <a:p>
            <a:r>
              <a:t>  Matrix&lt;double,6,6&gt; h = j*j.transpose();</a:t>
            </a:r>
          </a:p>
          <a:p>
            <a:r>
              <a:t>  h.diagonal().array() += damping*damping;</a:t>
            </a:r>
          </a:p>
          <a:p>
            <a:r>
              <a:t>  VectorXd velocity = j.transpose()*h.ldlt().solve(gain*error);</a:t>
            </a:r>
          </a:p>
          <a:p>
            <a:r>
              <a:t>  // Scale the whole velocity vector to preserve its direction at the speed bound.</a:t>
            </a:r>
          </a:p>
          <a:p>
            <a:r>
              <a:t>  double scale = std::max(1.0, velocity.cwiseAbs().maxCoeff()/speed);</a:t>
            </a:r>
          </a:p>
          <a:p>
            <a:r>
              <a:t>  for (int k=0;k&lt;joints;++k)</a:t>
            </a:r>
          </a:p>
          <a:p>
            <a:r>
              <a:t>    command[k] = std::clamp(q[k]+dt*velocity[k]/scale,lower[k],upper[k]);</a:t>
            </a:r>
          </a:p>
          <a:p>
            <a:r>
              <a:t>}</a:t>
            </a:r>
          </a:p>
          <a:p>
            <a:r>
              <a:t>}</a:t>
            </a:r>
          </a:p>
          <a:p/>
        </p:txBody>
      </p:sp>
      <p:sp>
        <p:nvSpPr>
          <p:cNvPr id="4" name="Slide Number Placeholder 3"/>
          <p:cNvSpPr>
            <a:spLocks noGrp="1"/>
          </p:cNvSpPr>
          <p:nvPr>
            <p:ph type="sldNum" idx="3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example-local Chain wrapper imported by the controller. It parses the selected URDF chain, prepares contiguous NumPy arrays, compiles/caches arm_kinematics.hpp with cppyy_kit, obtains its C++ namespace and warms both entry points during configuration. The fk and step methods pass buffers to C++. The build digest changes when the header changes. This is supporting example code; it is separate from the kit adapter. Keep these slides available for questions about the full implementation.</a:t>
            </a:r>
          </a:p>
          <a:p/>
          <a:p>
            <a:r>
              <a:t>Complete source file, continued across numbered slides; no lines omitted.</a:t>
            </a:r>
          </a:p>
          <a:p>
            <a:r>
              <a:t>Source: control_kit/demos/arm_kinematics.py (lines 1–24).</a:t>
            </a:r>
          </a:p>
          <a:p>
            <a:r>
              <a:t>"""Serial-chain kinematics compiled once through cppyy_kit.</a:t>
            </a:r>
          </a:p>
          <a:p/>
          <a:p>
            <a:r>
              <a:t>Positions use metres. Rotations and revolute joint coordinates use radians.</a:t>
            </a:r>
          </a:p>
          <a:p>
            <a:r>
              <a:t>The Jacobian and poses are expressed in the selected URDF base link frame.</a:t>
            </a:r>
          </a:p>
          <a:p>
            <a:r>
              <a:t>"""</a:t>
            </a:r>
          </a:p>
          <a:p/>
          <a:p>
            <a:r>
              <a:t>import hashlib</a:t>
            </a:r>
          </a:p>
          <a:p>
            <a:r>
              <a:t>import os</a:t>
            </a:r>
          </a:p>
          <a:p>
            <a:r>
              <a:t>from pathlib import Path</a:t>
            </a:r>
          </a:p>
          <a:p>
            <a:r>
              <a:t>import xml.etree.ElementTree as ET</a:t>
            </a:r>
          </a:p>
          <a:p/>
          <a:p>
            <a:r>
              <a:t>import numpy as np</a:t>
            </a:r>
          </a:p>
          <a:p/>
          <a:p>
            <a:r>
              <a:t>import cppyy_kit</a:t>
            </a:r>
          </a:p>
          <a:p>
            <a:r>
              <a:t>from cppyy_kit import cppyy</a:t>
            </a:r>
          </a:p>
          <a:p/>
          <a:p>
            <a:r>
              <a:t>_NATIVE = None</a:t>
            </a:r>
          </a:p>
          <a:p/>
          <a:p/>
          <a:p>
            <a:r>
              <a:t>def _native():</a:t>
            </a:r>
          </a:p>
          <a:p>
            <a:r>
              <a:t>    global _NATIVE</a:t>
            </a:r>
          </a:p>
          <a:p>
            <a:r>
              <a:t>    if _NATIVE is None:</a:t>
            </a:r>
          </a:p>
          <a:p>
            <a:r>
              <a:t>        header = Path(__file__).with_name("arm_kinematics.hpp")</a:t>
            </a:r>
          </a:p>
          <a:p>
            <a:r>
              <a:t>        prefixes = [</a:t>
            </a:r>
          </a:p>
          <a:p/>
        </p:txBody>
      </p:sp>
      <p:sp>
        <p:nvSpPr>
          <p:cNvPr id="4" name="Slide Number Placeholder 3"/>
          <p:cNvSpPr>
            <a:spLocks noGrp="1"/>
          </p:cNvSpPr>
          <p:nvPr>
            <p:ph type="sldNum" idx="3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example-local Chain wrapper imported by the controller. It parses the selected URDF chain, prepares contiguous NumPy arrays, compiles/caches arm_kinematics.hpp with cppyy_kit, obtains its C++ namespace and warms both entry points during configuration. The fk and step methods pass buffers to C++. The build digest changes when the header changes. This is supporting example code; it is separate from the kit adapter. Keep these slides available for questions about the full implementation.</a:t>
            </a:r>
          </a:p>
          <a:p/>
          <a:p>
            <a:r>
              <a:t>Complete source file, continued across numbered slides; no lines omitted.</a:t>
            </a:r>
          </a:p>
          <a:p>
            <a:r>
              <a:t>Source: control_kit/demos/arm_kinematics.py (lines 25–48).</a:t>
            </a:r>
          </a:p>
          <a:p>
            <a:r>
              <a:t>            Path(os.environ.get("CONDA_PREFIX", Path(os.sys.executable).parent.parent)),</a:t>
            </a:r>
          </a:p>
          <a:p>
            <a:r>
              <a:t>                    Path("/usr")]</a:t>
            </a:r>
          </a:p>
          <a:p>
            <a:r>
              <a:t>        includes = [str(p / "include/eigen3") for p in prefixes</a:t>
            </a:r>
          </a:p>
          <a:p>
            <a:r>
              <a:t>                    if (p / "include/eigen3/Eigen/Core").exists()]</a:t>
            </a:r>
          </a:p>
          <a:p>
            <a:r>
              <a:t>        if not includes:</a:t>
            </a:r>
          </a:p>
          <a:p>
            <a:r>
              <a:t>            raise RuntimeError("Eigen headers are required to compile the admittance kernel")</a:t>
            </a:r>
          </a:p>
          <a:p>
            <a:r>
              <a:t>        build = {</a:t>
            </a:r>
          </a:p>
          <a:p>
            <a:r>
              <a:t>            "code": (</a:t>
            </a:r>
          </a:p>
          <a:p>
            <a:r>
              <a:t>                f'// {hashlib.sha256(header.read_bytes()).hexdigest()}\n'</a:t>
            </a:r>
          </a:p>
          <a:p>
            <a:r>
              <a:t>                f'#include "{header}"'</a:t>
            </a:r>
          </a:p>
          <a:p>
            <a:r>
              <a:t>            ),</a:t>
            </a:r>
          </a:p>
          <a:p>
            <a:r>
              <a:t>            "decls": ("namespace demo_arm_kinematics { "</a:t>
            </a:r>
          </a:p>
          <a:p>
            <a:r>
              <a:t>                   "void kinematics(int,int,const int*,const int*,const double*,"</a:t>
            </a:r>
          </a:p>
          <a:p>
            <a:r>
              <a:t>                   "const double*,const double*,double*,double*); "</a:t>
            </a:r>
          </a:p>
          <a:p>
            <a:r>
              <a:t>                   "void step(int,int,const int*,const int*,const double*,"</a:t>
            </a:r>
          </a:p>
          <a:p>
            <a:r>
              <a:t>                   "const double*,const double*,const double*,const double*,"</a:t>
            </a:r>
          </a:p>
          <a:p>
            <a:r>
              <a:t>                   "const double*,double,double,double,double,double*); }"),</a:t>
            </a:r>
          </a:p>
          <a:p>
            <a:r>
              <a:t>            "include_paths": includes, "name": "demo_arm_kinematics",</a:t>
            </a:r>
          </a:p>
          <a:p>
            <a:r>
              <a:t>        }</a:t>
            </a:r>
          </a:p>
          <a:p>
            <a:r>
              <a:t>        cppyy_kit.prebuild(**build)</a:t>
            </a:r>
          </a:p>
          <a:p>
            <a:r>
              <a:t>        cppyy_kit.cppdef_cached(**build)</a:t>
            </a:r>
          </a:p>
          <a:p>
            <a:r>
              <a:t>        _NATIVE = cppyy.gbl.demo_arm_kinematics</a:t>
            </a:r>
          </a:p>
          <a:p>
            <a:r>
              <a:t>    return _NATIVE</a:t>
            </a:r>
          </a:p>
          <a:p/>
          <a:p/>
        </p:txBody>
      </p:sp>
      <p:sp>
        <p:nvSpPr>
          <p:cNvPr id="4" name="Slide Number Placeholder 3"/>
          <p:cNvSpPr>
            <a:spLocks noGrp="1"/>
          </p:cNvSpPr>
          <p:nvPr>
            <p:ph type="sldNum" idx="3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example-local Chain wrapper imported by the controller. It parses the selected URDF chain, prepares contiguous NumPy arrays, compiles/caches arm_kinematics.hpp with cppyy_kit, obtains its C++ namespace and warms both entry points during configuration. The fk and step methods pass buffers to C++. The build digest changes when the header changes. This is supporting example code; it is separate from the kit adapter. Keep these slides available for questions about the full implementation.</a:t>
            </a:r>
          </a:p>
          <a:p/>
          <a:p>
            <a:r>
              <a:t>Complete source file, continued across numbered slides; no lines omitted.</a:t>
            </a:r>
          </a:p>
          <a:p>
            <a:r>
              <a:t>Source: control_kit/demos/arm_kinematics.py (lines 49–72).</a:t>
            </a:r>
          </a:p>
          <a:p/>
          <a:p>
            <a:r>
              <a:t>def _vector(element, attribute, default):</a:t>
            </a:r>
          </a:p>
          <a:p>
            <a:r>
              <a:t>    values = [float(x) for x in (element.get(attribute, default)</a:t>
            </a:r>
          </a:p>
          <a:p>
            <a:r>
              <a:t>                               if element is not None else default).split()]</a:t>
            </a:r>
          </a:p>
          <a:p>
            <a:r>
              <a:t>    if len(values) != 3 or not np.isfinite(values).all():</a:t>
            </a:r>
          </a:p>
          <a:p>
            <a:r>
              <a:t>        raise ValueError("URDF vectors require three finite values")</a:t>
            </a:r>
          </a:p>
          <a:p>
            <a:r>
              <a:t>    return values</a:t>
            </a:r>
          </a:p>
          <a:p/>
          <a:p/>
          <a:p>
            <a:r>
              <a:t>class Chain:</a:t>
            </a:r>
          </a:p>
          <a:p>
            <a:r>
              <a:t>    """Parse one URDF chain and warm its cached native FK and IK entry points."""</a:t>
            </a:r>
          </a:p>
          <a:p/>
          <a:p>
            <a:r>
              <a:t>    def __init__(self, urdf_path, joint_names, base_link, tip_link):</a:t>
            </a:r>
          </a:p>
          <a:p>
            <a:r>
              <a:t>        robot = ET.parse(urdf_path).getroot()</a:t>
            </a:r>
          </a:p>
          <a:p>
            <a:r>
              <a:t>        parents = {j.find("child").get("link"): j for j in robot.findall("joint")}</a:t>
            </a:r>
          </a:p>
          <a:p>
            <a:r>
              <a:t>        chain, link, visited = [], tip_link, set()</a:t>
            </a:r>
          </a:p>
          <a:p>
            <a:r>
              <a:t>        while link != base_link:</a:t>
            </a:r>
          </a:p>
          <a:p>
            <a:r>
              <a:t>            if link in visited or link not in parents:</a:t>
            </a:r>
          </a:p>
          <a:p>
            <a:r>
              <a:t>                raise ValueError(f"No URDF chain from {base_link} to {tip_link}")</a:t>
            </a:r>
          </a:p>
          <a:p>
            <a:r>
              <a:t>            visited.add(link)</a:t>
            </a:r>
          </a:p>
          <a:p>
            <a:r>
              <a:t>            joint = parents[link]</a:t>
            </a:r>
          </a:p>
          <a:p>
            <a:r>
              <a:t>            chain.append(joint)</a:t>
            </a:r>
          </a:p>
          <a:p>
            <a:r>
              <a:t>            link = joint.find("parent").get("link")</a:t>
            </a:r>
          </a:p>
          <a:p>
            <a:r>
              <a:t>        chain.reverse()</a:t>
            </a:r>
          </a:p>
          <a:p/>
        </p:txBody>
      </p:sp>
      <p:sp>
        <p:nvSpPr>
          <p:cNvPr id="4" name="Slide Number Placeholder 3"/>
          <p:cNvSpPr>
            <a:spLocks noGrp="1"/>
          </p:cNvSpPr>
          <p:nvPr>
            <p:ph type="sldNum" idx="3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example-local Chain wrapper imported by the controller. It parses the selected URDF chain, prepares contiguous NumPy arrays, compiles/caches arm_kinematics.hpp with cppyy_kit, obtains its C++ namespace and warms both entry points during configuration. The fk and step methods pass buffers to C++. The build digest changes when the header changes. This is supporting example code; it is separate from the kit adapter. Keep these slides available for questions about the full implementation.</a:t>
            </a:r>
          </a:p>
          <a:p/>
          <a:p>
            <a:r>
              <a:t>Complete source file, continued across numbered slides; no lines omitted.</a:t>
            </a:r>
          </a:p>
          <a:p>
            <a:r>
              <a:t>Source: control_kit/demos/arm_kinematics.py (lines 73–96).</a:t>
            </a:r>
          </a:p>
          <a:p>
            <a:r>
              <a:t>        active = {name: i for i, name in enumerate(joint_names)}</a:t>
            </a:r>
          </a:p>
          <a:p>
            <a:r>
              <a:t>        if not active or len(active) != len(joint_names):</a:t>
            </a:r>
          </a:p>
          <a:p>
            <a:r>
              <a:t>            raise ValueError("Joint names must be nonempty and unique")</a:t>
            </a:r>
          </a:p>
          <a:p>
            <a:r>
              <a:t>        types, indices, origins, axes, found = [], [], [], [], set()</a:t>
            </a:r>
          </a:p>
          <a:p>
            <a:r>
              <a:t>        for joint in chain:</a:t>
            </a:r>
          </a:p>
          <a:p>
            <a:r>
              <a:t>            name, kind = joint.get("name"), joint.get("type")</a:t>
            </a:r>
          </a:p>
          <a:p>
            <a:r>
              <a:t>            if kind not in ("fixed", "revolute", "continuous", "prismatic"):</a:t>
            </a:r>
          </a:p>
          <a:p>
            <a:r>
              <a:t>                raise ValueError(f"Unsupported chain joint type: {kind}")</a:t>
            </a:r>
          </a:p>
          <a:p>
            <a:r>
              <a:t>            moving = kind != "fixed"</a:t>
            </a:r>
          </a:p>
          <a:p>
            <a:r>
              <a:t>            if moving and (name not in active or joint.find("mimic") is not None):</a:t>
            </a:r>
          </a:p>
          <a:p>
            <a:r>
              <a:t>                raise ValueError(f"Chain joint must be independently controlled: {name}")</a:t>
            </a:r>
          </a:p>
          <a:p>
            <a:r>
              <a:t>            if moving:</a:t>
            </a:r>
          </a:p>
          <a:p>
            <a:r>
              <a:t>                found.add(name)</a:t>
            </a:r>
          </a:p>
          <a:p>
            <a:r>
              <a:t>            types.append({"fixed": 0, "revolute": 1, "continuous": 1, "prismatic": 2}[kind])</a:t>
            </a:r>
          </a:p>
          <a:p>
            <a:r>
              <a:t>            indices.append(active[name] if moving else -1)</a:t>
            </a:r>
          </a:p>
          <a:p>
            <a:r>
              <a:t>            origin = joint.find("origin")</a:t>
            </a:r>
          </a:p>
          <a:p>
            <a:r>
              <a:t>            origins.append(_vector(origin, "xyz", "0 0 0") + _vector(origin, "rpy", "0 0 0"))</a:t>
            </a:r>
          </a:p>
          <a:p>
            <a:r>
              <a:t>            axis = np.array(_vector(joint.find("axis"), "xyz", "1 0 0"))</a:t>
            </a:r>
          </a:p>
          <a:p>
            <a:r>
              <a:t>            norm = np.linalg.norm(axis)</a:t>
            </a:r>
          </a:p>
          <a:p>
            <a:r>
              <a:t>            if moving and norm == 0:</a:t>
            </a:r>
          </a:p>
          <a:p>
            <a:r>
              <a:t>                raise ValueError(f"Zero joint axis: {name}")</a:t>
            </a:r>
          </a:p>
          <a:p>
            <a:r>
              <a:t>            axes.append(axis / norm if norm else axis)</a:t>
            </a:r>
          </a:p>
          <a:p>
            <a:r>
              <a:t>        if found != set(active):</a:t>
            </a:r>
          </a:p>
          <a:p>
            <a:r>
              <a:t>            raise ValueError("Every controlled joint must belong to the selected chain")</a:t>
            </a:r>
          </a:p>
          <a:p/>
        </p:txBody>
      </p:sp>
      <p:sp>
        <p:nvSpPr>
          <p:cNvPr id="4" name="Slide Number Placeholder 3"/>
          <p:cNvSpPr>
            <a:spLocks noGrp="1"/>
          </p:cNvSpPr>
          <p:nvPr>
            <p:ph type="sldNum" idx="3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example-local Chain wrapper imported by the controller. It parses the selected URDF chain, prepares contiguous NumPy arrays, compiles/caches arm_kinematics.hpp with cppyy_kit, obtains its C++ namespace and warms both entry points during configuration. The fk and step methods pass buffers to C++. The build digest changes when the header changes. This is supporting example code; it is separate from the kit adapter. Keep these slides available for questions about the full implementation.</a:t>
            </a:r>
          </a:p>
          <a:p/>
          <a:p>
            <a:r>
              <a:t>Complete source file, continued across numbered slides; no lines omitted.</a:t>
            </a:r>
          </a:p>
          <a:p>
            <a:r>
              <a:t>Source: control_kit/demos/arm_kinematics.py (lines 97–120).</a:t>
            </a:r>
          </a:p>
          <a:p>
            <a:r>
              <a:t>        self.count, self.joints = len(chain), len(active)</a:t>
            </a:r>
          </a:p>
          <a:p>
            <a:r>
              <a:t>        self.types = np.array(types, dtype=np.int32)</a:t>
            </a:r>
          </a:p>
          <a:p>
            <a:r>
              <a:t>        self.indices = np.array(indices, dtype=np.int32)</a:t>
            </a:r>
          </a:p>
          <a:p>
            <a:r>
              <a:t>        self.origins = np.array(origins, dtype=np.float64)</a:t>
            </a:r>
          </a:p>
          <a:p>
            <a:r>
              <a:t>        self.axes = np.array(axes, dtype=np.float64)</a:t>
            </a:r>
          </a:p>
          <a:p>
            <a:r>
              <a:t>        self.native = _native()</a:t>
            </a:r>
          </a:p>
          <a:p>
            <a:r>
              <a:t>        self.pose = np.empty((4, 4))</a:t>
            </a:r>
          </a:p>
          <a:p>
            <a:r>
              <a:t>        self.jacobian = np.empty((6, self.joints))</a:t>
            </a:r>
          </a:p>
          <a:p>
            <a:r>
              <a:t>        self.command = np.empty(self.joints)</a:t>
            </a:r>
          </a:p>
          <a:p>
            <a:r>
              <a:t>        q = np.zeros(self.joints)</a:t>
            </a:r>
          </a:p>
          <a:p>
            <a:r>
              <a:t>        pose = self.fk(q).copy()</a:t>
            </a:r>
          </a:p>
          <a:p>
            <a:r>
              <a:t>        self.step(q, pose, np.full(self.joints, -1e6), np.full(self.joints, 1e6),</a:t>
            </a:r>
          </a:p>
          <a:p>
            <a:r>
              <a:t>                  0.001, 4.0, 0.04, 0.25)</a:t>
            </a:r>
          </a:p>
          <a:p/>
          <a:p>
            <a:r>
              <a:t>    def fk(self, q):</a:t>
            </a:r>
          </a:p>
          <a:p>
            <a:r>
              <a:t>        self.native.kinematics(self.count, self.joints, self.types, self.indices,</a:t>
            </a:r>
          </a:p>
          <a:p>
            <a:r>
              <a:t>                               self.origins, self.axes, q, self.pose, self.jacobian)</a:t>
            </a:r>
          </a:p>
          <a:p>
            <a:r>
              <a:t>        return self.pose</a:t>
            </a:r>
          </a:p>
          <a:p/>
          <a:p>
            <a:r>
              <a:t>    def step(self, q, target, lower, upper, dt, gain, damping, speed):</a:t>
            </a:r>
          </a:p>
          <a:p>
            <a:r>
              <a:t>        self.native.step(self.count, self.joints, self.types, self.indices,</a:t>
            </a:r>
          </a:p>
          <a:p>
            <a:r>
              <a:t>                         self.origins, self.axes, q, target, lower, upper,</a:t>
            </a:r>
          </a:p>
          <a:p>
            <a:r>
              <a:t>                         dt, gain, damping, speed, self.command)</a:t>
            </a:r>
          </a:p>
          <a:p>
            <a:r>
              <a:t>        return self.command</a:t>
            </a:r>
          </a:p>
          <a:p/>
        </p:txBody>
      </p:sp>
      <p:sp>
        <p:nvSpPr>
          <p:cNvPr id="4" name="Slide Number Placeholder 3"/>
          <p:cNvSpPr>
            <a:spLocks noGrp="1"/>
          </p:cNvSpPr>
          <p:nvPr>
            <p:ph type="sldNum" idx="3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Run run_robot_demo.sh forward --gazebo-gui. The existing simulator launch handles Gazebo, RViz, sensors, maps and stock navigation. We only show the added kit setup and the Python policy. The setup shown next belongs in the existing nav.launch.py. The policy shown is a fixed-default teaching version of the recorded policy; the repository version also validates configurable options. Source: nav2_kit/demos/forward_camera_policy.py.</a:t>
            </a:r>
          </a:p>
        </p:txBody>
      </p:sp>
      <p:sp>
        <p:nvSpPr>
          <p:cNvPr id="4" name="Slide Number Placeholder 3"/>
          <p:cNvSpPr>
            <a:spLocks noGrp="1"/>
          </p:cNvSpPr>
          <p:nvPr>
            <p:ph type="sldNum" idx="3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next two slides explain the kit integration using a complete minimal position-holding example. It is a different control law from the recorded admittance demo. The same adapter hosts both. The recorded demo selects python_admittance_controller.CartesianAdmittance instead and passes its arm-specific options. The force UI, URDF parsing, Eigen math and measurements are application logic, not code required to make a Python controller loadable. Existing controller-manager or Gazebo startup is assumed. The adapter acquires the GIL and allocates Python objects; this does not provide a hard-real-time guarantee.</a:t>
            </a:r>
          </a:p>
        </p:txBody>
      </p:sp>
      <p:sp>
        <p:nvSpPr>
          <p:cNvPr id="4" name="Slide Number Placeholder 3"/>
          <p:cNvSpPr>
            <a:spLocks noGrp="1"/>
          </p:cNvSpPr>
          <p:nvPr>
            <p:ph type="sldNum" idx="3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are additions to an existing working DWB configuration, not a replacement Nav2 launch. The kit compiles/exports its shared library and pluginlib metadata. Its prefix must be inherited by controller_server. Keep the existing ROS environment in AMENT_PREFIX_PATH. The python_path is the directory containing forward_camera_policy.py. Append ForwardCamera to FollowPath.critics. The source demo also adds ObstacleFootprint and uses holonomic samples that include zero translation. Keep the robot-specific velocity, acceleration, collision, sensor and map settings in the normal Nav2 configuration. Defaults for lookahead and python_options come from the adapter. The next slide uses fixed policy constants so no policy options are needed.</a:t>
            </a:r>
          </a:p>
        </p:txBody>
      </p:sp>
      <p:sp>
        <p:nvSpPr>
          <p:cNvPr id="4" name="Slide Number Placeholder 3"/>
          <p:cNvSpPr>
            <a:spLocks noGrp="1"/>
          </p:cNvSpPr>
          <p:nvPr>
            <p:ph type="sldNum" idx="3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Complete fixed-default teaching policy. Save as forward_camera_policy.py in the configured python_path. It has the same scoring behavior as the recorded demo at default parameters; the repository version adds option parsing and validation. configure runs at setup. prepare runs once per DWB cycle. score runs on candidate trajectories; None rejects one. Velocities are base-frame velocities. The camera cone prevents sideways/backward translation. The path-heading check requires turning first. Near the goal the stock RotateToGoal critic controls final orientation. This Python class runs inside controller_server through the kit adapter.</a:t>
            </a:r>
          </a:p>
        </p:txBody>
      </p:sp>
      <p:sp>
        <p:nvSpPr>
          <p:cNvPr id="4" name="Slide Number Placeholder 3"/>
          <p:cNvSpPr>
            <a:spLocks noGrp="1"/>
          </p:cNvSpPr>
          <p:nvPr>
            <p:ph type="sldNum" idx="3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Only the added kit registration and controller parameters are shown. Existing robot bringup provides URDF, hardware, controller manager and its update rate. Save the YAML as hold.yaml and the next Python class as hold_position.py. Replace the joints with the real ordered position interfaces and python_path with its directory. The kit writes pluginlib XML, builds/caches the reusable adapter and exports an ament overlay. Start Gazebo or controller_manager from the environment inheriting that prefix. The next slide gives the standard spawner command. For joints already claimed by another controller, first load this controller inactive and use a strict switch request to deactivate the stock controller and activate this one together. The demo launcher already performs that switch and restoration for admittance.</a:t>
            </a:r>
          </a:p>
        </p:txBody>
      </p:sp>
      <p:sp>
        <p:nvSpPr>
          <p:cNvPr id="4" name="Slide Number Placeholder 3"/>
          <p:cNvSpPr>
            <a:spLocks noGrp="1"/>
          </p:cNvSpPr>
          <p:nvPr>
            <p:ph type="sldNum" idx="3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the complete class in slides/examples/robot_plugins/hold_position.py. configure is required by the adapter; this controller has no configuration. activate captures the current positions. update returns the position commands in the configured joint order. set_target returns False because this example deliberately holds its activation pose. No Python ROS node, executor or custom per-controller CMake project is needed. The spawner configures and activates it when the interfaces are free. Standard controller switching applies when another controller owns them. In the recording that follows, the same adapter loads CartesianAdmittance: its update computes a force-driven hand offset and invokes a cached Eigen kernel for joint commands. That application code remains in control_kit/demos. The recording is not this position-holding law.</a:t>
            </a:r>
          </a:p>
        </p:txBody>
      </p:sp>
      <p:sp>
        <p:nvSpPr>
          <p:cNvPr id="4" name="Slide Number Placeholder 3"/>
          <p:cNvSpPr>
            <a:spLocks noGrp="1"/>
          </p:cNvSpPr>
          <p:nvPr>
            <p:ph type="sldNum" idx="3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So far we have used Python to put our own behavior inside existing ROS components. But an agent can also write a conventional C++ extension and its build files. So where do I still find this useful? I want to try an idea against the data, see the result and change it. Let us keep the camera, models and viewer running and work inside that session. This is my proposed workflow advantage, not a measured comparison with agent-generated bindings. About 40 seconds.</a:t>
            </a:r>
          </a:p>
        </p:txBody>
      </p:sp>
      <p:sp>
        <p:nvSpPr>
          <p:cNvPr id="4" name="Slide Number Placeholder 3"/>
          <p:cNvSpPr>
            <a:spLocks noGrp="1"/>
          </p:cNvSpPr>
          <p:nvPr>
            <p:ph type="sldNum" idx="3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Start from live_notebook.py: it owns one webcam, a pass-through processor and a Viser viewer. The perception task is implemented live. The audience sees the agent terminal on the left and the viewer on the right. Keep the marimo tab open in the background. Add models only when the chosen task needs them; retain loaded model objects through processing edits. The agent uses marimo pair/code mode to save accepted cell edits. Do not recreate the camera or viewer to change processing.</a:t>
            </a:r>
          </a:p>
          <a:p/>
          <a:p>
            <a:r>
              <a:t>From the repository root:</a:t>
            </a:r>
          </a:p>
          <a:p>
            <a:r>
              <a:t>roscon_uk_2026/next_steps/webcam_session/toolbox/rendering/notebook.sh edit roscon_uk_2026/next_steps/webcam_session/toolbox/rendering/live_notebook.py --host 127.0.0.1 --port 2721 --no-token --no-sandbox</a:t>
            </a:r>
          </a:p>
          <a:p>
            <a:r>
              <a:t>Open http://127.0.0.1:2721, run the cells, keep that tab open, and display http://127.0.0.1:8768 beside the agent. Check capture and viewer health before the talk. This starting notebook has been syntax-checked, not camera-rehearsed in this editing turn. Use the prepared model environments if models are needed. The model/viewer/interpreter infrastructure is separate from cppyy_kit.</a:t>
            </a:r>
          </a:p>
        </p:txBody>
      </p:sp>
      <p:sp>
        <p:nvSpPr>
          <p:cNvPr id="4" name="Slide Number Placeholder 3"/>
          <p:cNvSpPr>
            <a:spLocks noGrp="1"/>
          </p:cNvSpPr>
          <p:nvPr>
            <p:ph type="sldNum" idx="3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Switch to the real desktop. This is a live-coding task, not a tour of an earlier webcam experiment. Begin with the camera stream and choose one bounded task from the current scene: detect or track an item/person, count a visible gesture, or explore geometry if depth is useful. Let the prompt and visible output drive the next refinement. Use existing model APIs where appropriate and cppyy_kit for an operation where native code is useful. Inspect cell errors and capture/processing counters. Keep the camera, viewer and any loaded model instances alive. Save accepted processing edits in the notebook.</a:t>
            </a:r>
          </a:p>
          <a:p/>
          <a:p>
            <a:r>
              <a:t>Do not narrate earlier webcam features, rain or gestures as the planned sequence. There is no prerecorded-video fallback. If webcam delivery or the live setup is not workable, switch to the marimo notebook with the TIAGo MCAP and detect the blocks on the table. That remains an interactive notebook/agent task using recorded input. Use the hidden MCAP slide for the command and data context. Aim for about six minutes, choosing the task and refinement to fit the available time.</a:t>
            </a:r>
          </a:p>
        </p:txBody>
      </p:sp>
      <p:sp>
        <p:nvSpPr>
          <p:cNvPr id="4" name="Slide Number Placeholder 3"/>
          <p:cNvSpPr>
            <a:spLocks noGrp="1"/>
          </p:cNvSpPr>
          <p:nvPr>
            <p:ph type="sldNum" idx="3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Use this as a compact illustration of the sort of native step cppyy_kit can provide, not as a claim that the chosen webcam task will use depth. The snippet is the C++ loop from next_steps/webcam_session/geometry.py, inside @cpp(nogil=True). It selects valid masked depth pixels, computes XYZ using camera intrinsics, and retains source pixel indices for colors. If the live task uses a different operation, show that actual code instead. The model libraries, marimo and Viser are separate tools. Buffer shape/type contracts, ownership and GIL handling still matter. A monocular relative-depth model does not produce metric geometry merely because the camera is calibrated.</a:t>
            </a:r>
          </a:p>
        </p:txBody>
      </p:sp>
      <p:sp>
        <p:nvSpPr>
          <p:cNvPr id="4" name="Slide Number Placeholder 3"/>
          <p:cNvSpPr>
            <a:spLocks noGrp="1"/>
          </p:cNvSpPr>
          <p:nvPr>
            <p:ph type="sldNum" idx="3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Do not pretend interactive native execution is free. These are the median process RSS values after first call from three runs on this machine in the separate Eigen harness, measured 20 October 2026. They are not webcam memory figures or a universal compiler overhead. The original results are 367.1 MiB vanilla cppyy, 203.4 MiB prepared kit cache, 36.9 MiB pybind11, 36.7 MiB nanobind and 37.0 MiB Rust/PyO3. Importing cppyy added about 164 MiB in that harness. Cache preparation reduces repeated compilation but does not remove Cling. Further types or call paths can cause deferred work. Python callback/GIL behavior, buffer ownership and native crashes also matter. The notebook is a useful way to discover and check an idea; deployment requirements should decide what runs afterward. Source: slide_assets/runtime_costs/README.md and its raw measurements. About 35 seconds.</a:t>
            </a:r>
          </a:p>
        </p:txBody>
      </p:sp>
      <p:sp>
        <p:nvSpPr>
          <p:cNvPr id="4" name="Slide Number Placeholder 3"/>
          <p:cNvSpPr>
            <a:spLocks noGrp="1"/>
          </p:cNvSpPr>
          <p:nvPr>
            <p:ph type="sldNum" idx="3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interactive work gives us a reference implementation, example inputs, reviewed outputs, failure cases and a clearer contract. Those are useful inputs to a dedicated implementation agent or team. Ask it to implement for the target hardware and evaluate against the reference and held-out cases. Review outputs before using them as expected answers or training labels. The implementation may use a conventional C++ library, Rust or another suitable tool; we are not demonstrating automatic whole-notebook translation. The useful link is the shared behavior and evaluation data. For the webcam, preserve appropriate samples from the task; for the fallback MCAP, retain selected frames/clouds and the detection settings.</a:t>
            </a:r>
          </a:p>
        </p:txBody>
      </p:sp>
      <p:sp>
        <p:nvSpPr>
          <p:cNvPr id="4" name="Slide Number Placeholder 3"/>
          <p:cNvSpPr>
            <a:spLocks noGrp="1"/>
          </p:cNvSpPr>
          <p:nvPr>
            <p:ph type="sldNum" idx="3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Hidden fallback slide: show only if switching away from the webcam. This is interactive analysis of recorded robot sensor data, not a prerecorded demonstration video.</a:t>
            </a:r>
          </a:p>
          <a:p/>
          <a:p>
            <a:r>
              <a:t>From the repository root:</a:t>
            </a:r>
          </a:p>
          <a:p>
            <a:r>
              <a:t>roscon_uk_2026/next_steps/agent_session/notebook.sh edit roscon_uk_2026/next_steps/agent_session/notebook.py --host 127.0.0.1 --port 2718 --no-token --no-sandbox</a:t>
            </a:r>
          </a:p>
          <a:p>
            <a:r>
              <a:t>Open http://127.0.0.1:2718 and run cells. Source: next_steps/agent_session/NOTEBOOK.md. The notebook reads data/table_scene, including table_scene_0.mcap. It retains RGB and the transformed point array while analysis and presentation rerun. There are red and yellow cubes and a blue cylinder. Use color and shape language appropriate to that scene; do not call the cylinder a block.</a:t>
            </a:r>
          </a:p>
          <a:p/>
          <a:p>
            <a:r>
              <a:t>Ask the agent to inspect the recorded scene, identify the blocks, select a requested color, show its image region and corresponding 3D cluster, and refine the selection. The saved notebook opens with a refined red-object selection. State that starting state honestly; broaden the region/selection if needed, then make a visible change. The known refined ROI is [0.75, 0.10, 0.90] to [1.02, 0.30, 1.08] in base_link metres, voxel size 0.004 m and minimum cluster size 20. These are recording-specific parameters. Have the agent inspect current controls and code, not blindly assume those settings generalize. Keep the notebook browser open and discover its session through pair notebook list on port 2718. Check this fallback before the talk, and leave it available in a separate tab.</a:t>
            </a:r>
          </a:p>
        </p:txBody>
      </p:sp>
      <p:sp>
        <p:nvSpPr>
          <p:cNvPr id="4" name="Slide Number Placeholder 3"/>
          <p:cNvSpPr>
            <a:spLocks noGrp="1"/>
          </p:cNvSpPr>
          <p:nvPr>
            <p:ph type="sldNum" idx="36"/>
          </p:nvPr>
        </p:nvSpPr>
        <p:spPr/>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838080" y="1825560"/>
            <a:ext cx="10513800" cy="43495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8DE1795-CAE7-4DFC-A441-D475A449ADFE}"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84750706-FB3E-4F14-BECB-32EFBA9E284D}"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9B140EE5-FBCF-4CC6-9B91-128792D902B1}"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838080" y="1825560"/>
            <a:ext cx="10513800" cy="4349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07CD49F2-17E0-4300-9791-E29A5372C47A}"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47CAE862-EC14-403B-9129-BAB1B31546A2}"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838080" y="1825560"/>
            <a:ext cx="5130720" cy="4349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25840" y="1825560"/>
            <a:ext cx="5130720" cy="43495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4DBEA08A-CC0D-420E-8425-0E9DF8ED8D72}"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333EC6BB-BE9A-41B0-B518-A8FFAA0360B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98942287-1EF0-40A9-BAD9-2C873A2B46D0}"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7DCD389B-50AE-4364-8775-0B6E3E9F4CD2}"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4BA86E18-AEAF-42C9-920D-1C1DDAFE4547}"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73FF6704-D8C7-47CB-A6CD-9AC323F9A04E}"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9297E073-DA94-4C94-8711-ABF4255C1CE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8142ED92-21A3-4733-9440-FA08F199D127}"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3F0E4EBA-5A32-4F6D-8E4B-706CDBE2EAFD}"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 name="PlaceHolder 2"/>
          <p:cNvSpPr>
            <a:spLocks noGrp="1"/>
          </p:cNvSpPr>
          <p:nvPr>
            <p:ph type="body"/>
          </p:nvPr>
        </p:nvSpPr>
        <p:spPr>
          <a:xfrm>
            <a:off x="838080" y="1825560"/>
            <a:ext cx="10513800" cy="4349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 name="PlaceHolder 3"/>
          <p:cNvSpPr>
            <a:spLocks noGrp="1"/>
          </p:cNvSpPr>
          <p:nvPr>
            <p:ph type="ftr" idx="10"/>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89BABC3-B3D5-49BD-8766-437568EAC105}"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AB8FFA6D-B520-46E9-907B-3B8D39A162DA}"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4" name="PlaceHolder 2"/>
          <p:cNvSpPr>
            <a:spLocks noGrp="1"/>
          </p:cNvSpPr>
          <p:nvPr>
            <p:ph type="body"/>
          </p:nvPr>
        </p:nvSpPr>
        <p:spPr>
          <a:xfrm>
            <a:off x="838080" y="1825560"/>
            <a:ext cx="5130360" cy="4349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3"/>
          <p:cNvSpPr>
            <a:spLocks noGrp="1"/>
          </p:cNvSpPr>
          <p:nvPr>
            <p:ph type="body"/>
          </p:nvPr>
        </p:nvSpPr>
        <p:spPr>
          <a:xfrm>
            <a:off x="6225840" y="1825560"/>
            <a:ext cx="5130360" cy="4349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6" name="PlaceHolder 4"/>
          <p:cNvSpPr>
            <a:spLocks noGrp="1"/>
          </p:cNvSpPr>
          <p:nvPr>
            <p:ph type="ftr" idx="16"/>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DF274996-7394-407E-B2E4-E143752D2AC6}"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8C882CBB-F60E-40F8-9A9B-22AB8DCD82C7}"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3800" cy="13237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6" name="PlaceHolder 2"/>
          <p:cNvSpPr>
            <a:spLocks noGrp="1"/>
          </p:cNvSpPr>
          <p:nvPr>
            <p:ph type="ftr" idx="22"/>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FB6BD568-5581-4547-B7D6-77C1D9B621DC}"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1D33701E-DB7A-40AA-9A87-44CBE80DDBEC}"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54E83F69-28D9-49B7-AFEC-F5713DED3D4E}"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3000" cy="36324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1400" cy="3632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FDD75502-583A-4520-BE55-13CA265E92F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1400" cy="36324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2.png"/><Relationship Id="rId3"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image" Target="../media/image4.jpeg"/><Relationship Id="rId3" Type="http://schemas.openxmlformats.org/officeDocument/2006/relationships/image" Target="../media/image1.png"/><Relationship Id="rId4"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 Id="rId4" Type="http://schemas.microsoft.com/office/2007/relationships/media" Target="../media/demo_navigation_baseline.mp4"/><Relationship Id="rId5" Type="http://schemas.openxmlformats.org/officeDocument/2006/relationships/video" Target="../media/demo_navigation_baseline.mp4"/><Relationship Id="rId6" Type="http://schemas.openxmlformats.org/officeDocument/2006/relationships/image" Target="../media/demo_navigation_baseline.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1.xml"/><Relationship Id="rId4" Type="http://schemas.microsoft.com/office/2007/relationships/media" Target="../media/demo_navigation_forward.mp4"/><Relationship Id="rId5" Type="http://schemas.openxmlformats.org/officeDocument/2006/relationships/video" Target="../media/demo_navigation_forward.mp4"/><Relationship Id="rId6" Type="http://schemas.openxmlformats.org/officeDocument/2006/relationships/image" Target="../media/demo_navigation_forward.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1.xml"/><Relationship Id="rId4" Type="http://schemas.microsoft.com/office/2007/relationships/media" Target="../media/demo_controller_admittance.mp4"/><Relationship Id="rId5" Type="http://schemas.openxmlformats.org/officeDocument/2006/relationships/video" Target="../media/demo_controller_admittance.mp4"/><Relationship Id="rId6" Type="http://schemas.openxmlformats.org/officeDocument/2006/relationships/image" Target="../media/demo_controller_admittance.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55" name="TextBox 1"/>
          <p:cNvSpPr/>
          <p:nvPr/>
        </p:nvSpPr>
        <p:spPr>
          <a:xfrm>
            <a:off x="1441440" y="3236760"/>
            <a:ext cx="2428920" cy="118692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50000"/>
              </a:lnSpc>
            </a:pPr>
            <a:r>
              <a:rPr b="0" lang="en-GB" sz="1800" spc="-1" strike="noStrike">
                <a:solidFill>
                  <a:schemeClr val="lt1"/>
                </a:solidFill>
                <a:latin typeface="Roboto"/>
                <a:ea typeface="Roboto"/>
              </a:rPr>
              <a:t>TITLE</a:t>
            </a:r>
            <a:endParaRPr b="0" lang="en-US" sz="18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OCTOBER 2026</a:t>
            </a:r>
            <a:endParaRPr b="0" lang="en-US" sz="1200" spc="-1" strike="noStrike">
              <a:solidFill>
                <a:srgbClr val="ffffff"/>
              </a:solidFill>
              <a:latin typeface="Arial"/>
            </a:endParaRPr>
          </a:p>
          <a:p>
            <a:pPr defTabSz="914400">
              <a:lnSpc>
                <a:spcPct val="150000"/>
              </a:lnSpc>
            </a:pPr>
            <a:endParaRPr b="0" lang="en-US" sz="1800" spc="-1" strike="noStrike">
              <a:solidFill>
                <a:srgbClr val="ffffff"/>
              </a:solidFill>
              <a:latin typeface="Arial"/>
            </a:endParaRPr>
          </a:p>
        </p:txBody>
      </p:sp>
      <p:pic>
        <p:nvPicPr>
          <p:cNvPr id="56" name="Picture 3" descr=""/>
          <p:cNvPicPr/>
          <p:nvPr/>
        </p:nvPicPr>
        <p:blipFill>
          <a:blip r:embed="rId1"/>
          <a:stretch/>
        </p:blipFill>
        <p:spPr>
          <a:xfrm>
            <a:off x="5595840" y="847800"/>
            <a:ext cx="5930280" cy="5930280"/>
          </a:xfrm>
          <a:prstGeom prst="rect">
            <a:avLst/>
          </a:prstGeom>
          <a:ln w="0">
            <a:noFill/>
          </a:ln>
        </p:spPr>
      </p:pic>
    </p:spTree>
  </p:cSld>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pic>
        <p:nvPicPr>
          <p:cNvPr id="57" name="Picture 4" descr=""/>
          <p:cNvPicPr/>
          <p:nvPr/>
        </p:nvPicPr>
        <p:blipFill>
          <a:blip r:embed="rId1"/>
          <a:stretch/>
        </p:blipFill>
        <p:spPr>
          <a:xfrm>
            <a:off x="981360" y="567000"/>
            <a:ext cx="6138720" cy="6138720"/>
          </a:xfrm>
          <a:prstGeom prst="rect">
            <a:avLst/>
          </a:prstGeom>
          <a:ln w="0">
            <a:noFill/>
          </a:ln>
        </p:spPr>
      </p:pic>
      <p:sp>
        <p:nvSpPr>
          <p:cNvPr id="58" name="TextBox 5"/>
          <p:cNvSpPr/>
          <p:nvPr/>
        </p:nvSpPr>
        <p:spPr>
          <a:xfrm>
            <a:off x="7234200" y="3345480"/>
            <a:ext cx="4217040" cy="1094760"/>
          </a:xfrm>
          <a:prstGeom prst="rect">
            <a:avLst/>
          </a:prstGeom>
          <a:noFill/>
          <a:ln w="0">
            <a:noFill/>
          </a:ln>
        </p:spPr>
        <p:style>
          <a:lnRef idx="0"/>
          <a:fillRef idx="0"/>
          <a:effectRef idx="0"/>
          <a:fontRef idx="minor"/>
        </p:style>
        <p:txBody>
          <a:bodyPr lIns="90000" rIns="90000" tIns="45000" bIns="45000" anchor="t">
            <a:spAutoFit/>
          </a:bodyPr>
          <a:p>
            <a:pPr defTabSz="914400">
              <a:lnSpc>
                <a:spcPct val="150000"/>
              </a:lnSpc>
            </a:pPr>
            <a:r>
              <a:rPr b="0" lang="en-GB" sz="1600" spc="-1" strike="noStrike">
                <a:solidFill>
                  <a:schemeClr val="lt1"/>
                </a:solidFill>
                <a:latin typeface="Roboto"/>
                <a:ea typeface="Roboto"/>
              </a:rPr>
              <a:t>Your C++ toolbox, unlocked from Python.</a:t>
            </a:r>
            <a:endParaRPr b="0" lang="en-US" sz="16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OCTOBER 2026</a:t>
            </a:r>
            <a:endParaRPr b="0" lang="en-US" sz="1200" spc="-1" strike="noStrike">
              <a:solidFill>
                <a:srgbClr val="ffffff"/>
              </a:solidFill>
              <a:latin typeface="Arial"/>
            </a:endParaRPr>
          </a:p>
          <a:p>
            <a:pPr defTabSz="914400">
              <a:lnSpc>
                <a:spcPct val="150000"/>
              </a:lnSpc>
            </a:pP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pic>
        <p:nvPicPr>
          <p:cNvPr id="59" name="Picture 25" descr="Humanoid.ai HMND 01 Alpha Specs &amp; Price | Humanoid.guide"/>
          <p:cNvPicPr/>
          <p:nvPr/>
        </p:nvPicPr>
        <p:blipFill>
          <a:blip r:embed="rId1"/>
          <a:stretch/>
        </p:blipFill>
        <p:spPr>
          <a:xfrm>
            <a:off x="1402560" y="4393080"/>
            <a:ext cx="1914120" cy="573120"/>
          </a:xfrm>
          <a:prstGeom prst="rect">
            <a:avLst/>
          </a:prstGeom>
          <a:ln w="0">
            <a:noFill/>
          </a:ln>
        </p:spPr>
      </p:pic>
      <p:sp>
        <p:nvSpPr>
          <p:cNvPr id="60" name="TextBox 8"/>
          <p:cNvSpPr/>
          <p:nvPr/>
        </p:nvSpPr>
        <p:spPr>
          <a:xfrm>
            <a:off x="-32760" y="1890000"/>
            <a:ext cx="573948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GB" sz="3200" spc="-1" strike="noStrike">
                <a:solidFill>
                  <a:schemeClr val="dk1"/>
                </a:solidFill>
                <a:latin typeface="Roboto"/>
                <a:ea typeface="Roboto"/>
              </a:rPr>
              <a:t>SAM PFEIFFER</a:t>
            </a:r>
            <a:endParaRPr b="0" lang="en-US" sz="32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PhD in arranging </a:t>
            </a:r>
            <a:r>
              <a:rPr b="0" lang="en-GB" sz="1800" spc="-1" strike="noStrike">
                <a:solidFill>
                  <a:schemeClr val="dk1"/>
                </a:solidFill>
                <a:latin typeface="Aptos"/>
                <a:ea typeface="Roboto"/>
              </a:rPr>
              <a:t>1️⃣</a:t>
            </a:r>
            <a:r>
              <a:rPr b="0" lang="en-GB" sz="1800" spc="-1" strike="noStrike">
                <a:solidFill>
                  <a:schemeClr val="dk1"/>
                </a:solidFill>
                <a:latin typeface="Roboto"/>
                <a:ea typeface="Roboto"/>
              </a:rPr>
              <a:t>'s and </a:t>
            </a:r>
            <a:r>
              <a:rPr b="0" lang="en-GB" sz="1800" spc="-1" strike="noStrike">
                <a:solidFill>
                  <a:schemeClr val="dk1"/>
                </a:solidFill>
                <a:latin typeface="Aptos"/>
                <a:ea typeface="Roboto"/>
              </a:rPr>
              <a:t>0️⃣</a:t>
            </a:r>
            <a:r>
              <a:rPr b="0" lang="en-GB" sz="1800" spc="-1" strike="noStrike">
                <a:solidFill>
                  <a:schemeClr val="dk1"/>
                </a:solidFill>
                <a:latin typeface="Roboto"/>
                <a:ea typeface="Roboto"/>
              </a:rPr>
              <a:t>'s in robots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I work at </a:t>
            </a:r>
            <a:endParaRPr b="0" lang="en-US" sz="1800" spc="-1" strike="noStrike">
              <a:solidFill>
                <a:srgbClr val="ffffff"/>
              </a:solidFill>
              <a:latin typeface="Arial"/>
            </a:endParaRPr>
          </a:p>
        </p:txBody>
      </p:sp>
      <p:sp>
        <p:nvSpPr>
          <p:cNvPr id="61" name="Rectangle 28"/>
          <p:cNvSpPr/>
          <p:nvPr/>
        </p:nvSpPr>
        <p:spPr>
          <a:xfrm>
            <a:off x="0" y="0"/>
            <a:ext cx="12190320" cy="685620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2" name="Rounded Rectangle 7"/>
          <p:cNvSpPr/>
          <p:nvPr/>
        </p:nvSpPr>
        <p:spPr>
          <a:xfrm>
            <a:off x="1446120" y="1291680"/>
            <a:ext cx="4294440" cy="427248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3" name="Picture 30"/>
          <p:cNvSpPr/>
          <p:nvPr/>
        </p:nvSpPr>
        <p:spPr>
          <a:xfrm>
            <a:off x="914760" y="1291680"/>
            <a:ext cx="4272480" cy="4272480"/>
          </a:xfrm>
          <a:prstGeom prst="ellipse">
            <a:avLst/>
          </a:prstGeom>
          <a:blipFill rotWithShape="0">
            <a:blip r:embed="rId2"/>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64" name="Rectangle 1"/>
          <p:cNvSpPr/>
          <p:nvPr/>
        </p:nvSpPr>
        <p:spPr>
          <a:xfrm>
            <a:off x="0" y="0"/>
            <a:ext cx="12190320" cy="685620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5" name="Rounded Rectangle 7"/>
          <p:cNvSpPr/>
          <p:nvPr/>
        </p:nvSpPr>
        <p:spPr>
          <a:xfrm>
            <a:off x="1446120" y="1291680"/>
            <a:ext cx="10011960" cy="427248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Aptos"/>
            </a:endParaRPr>
          </a:p>
        </p:txBody>
      </p:sp>
      <p:sp>
        <p:nvSpPr>
          <p:cNvPr id="66" name="Picture 9"/>
          <p:cNvSpPr/>
          <p:nvPr/>
        </p:nvSpPr>
        <p:spPr>
          <a:xfrm>
            <a:off x="914760" y="1291680"/>
            <a:ext cx="4272480" cy="4272480"/>
          </a:xfrm>
          <a:prstGeom prst="ellipse">
            <a:avLst/>
          </a:prstGeom>
          <a:blipFill rotWithShape="0">
            <a:blip r:embed="rId1"/>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7" name="TextBox 8"/>
          <p:cNvSpPr/>
          <p:nvPr/>
        </p:nvSpPr>
        <p:spPr>
          <a:xfrm>
            <a:off x="5416920" y="1847520"/>
            <a:ext cx="573948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en-GB" sz="3200" spc="-1" strike="noStrike">
                <a:solidFill>
                  <a:srgbClr val="000000"/>
                </a:solidFill>
                <a:latin typeface="Roboto"/>
                <a:ea typeface="Roboto"/>
              </a:rPr>
              <a:t>SAM PFEIFFER</a:t>
            </a:r>
            <a:endParaRPr b="0" lang="en-US" sz="32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PhD in arranging </a:t>
            </a:r>
            <a:r>
              <a:rPr b="0" lang="en-GB" sz="1800" spc="-1" strike="noStrike">
                <a:solidFill>
                  <a:srgbClr val="000000"/>
                </a:solidFill>
                <a:latin typeface="Aptos"/>
                <a:ea typeface="Roboto"/>
              </a:rPr>
              <a:t>1️⃣</a:t>
            </a:r>
            <a:r>
              <a:rPr b="0" lang="en-GB" sz="1800" spc="-1" strike="noStrike">
                <a:solidFill>
                  <a:srgbClr val="000000"/>
                </a:solidFill>
                <a:latin typeface="Roboto"/>
                <a:ea typeface="Roboto"/>
              </a:rPr>
              <a:t>'s and </a:t>
            </a:r>
            <a:r>
              <a:rPr b="0" lang="en-GB" sz="1800" spc="-1" strike="noStrike">
                <a:solidFill>
                  <a:srgbClr val="000000"/>
                </a:solidFill>
                <a:latin typeface="Aptos"/>
                <a:ea typeface="Roboto"/>
              </a:rPr>
              <a:t>0️⃣</a:t>
            </a:r>
            <a:r>
              <a:rPr b="0" lang="en-GB" sz="1800" spc="-1" strike="noStrike">
                <a:solidFill>
                  <a:srgbClr val="000000"/>
                </a:solidFill>
                <a:latin typeface="Roboto"/>
                <a:ea typeface="Roboto"/>
              </a:rPr>
              <a:t>'s in robots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I work at </a:t>
            </a:r>
            <a:endParaRPr b="0" lang="en-US" sz="1800" spc="-1" strike="noStrike">
              <a:solidFill>
                <a:srgbClr val="ffffff"/>
              </a:solidFill>
              <a:latin typeface="Arial"/>
            </a:endParaRPr>
          </a:p>
        </p:txBody>
      </p:sp>
      <p:pic>
        <p:nvPicPr>
          <p:cNvPr id="68" name="Picture 25" descr="Humanoid.ai HMND 01 Alpha Specs &amp; Price | Humanoid.guide"/>
          <p:cNvPicPr/>
          <p:nvPr/>
        </p:nvPicPr>
        <p:blipFill>
          <a:blip r:embed="rId2"/>
          <a:stretch/>
        </p:blipFill>
        <p:spPr>
          <a:xfrm>
            <a:off x="6517800" y="4435560"/>
            <a:ext cx="1914120" cy="573120"/>
          </a:xfrm>
          <a:prstGeom prst="rect">
            <a:avLst/>
          </a:prstGeom>
          <a:ln w="0">
            <a:noFill/>
          </a:ln>
        </p:spPr>
      </p:pic>
    </p:spTree>
  </p:cSld>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9" name="Picture 10" descr="U.K.-based startup Humanoid unveils HMND 01 Alpha mobile manipulator - The  Robot Report"/>
          <p:cNvPicPr/>
          <p:nvPr/>
        </p:nvPicPr>
        <p:blipFill>
          <a:blip r:embed="rId1"/>
          <a:srcRect l="97728" t="0" r="0" b="0"/>
          <a:stretch/>
        </p:blipFill>
        <p:spPr>
          <a:xfrm>
            <a:off x="7296840" y="0"/>
            <a:ext cx="5012640" cy="6856200"/>
          </a:xfrm>
          <a:prstGeom prst="rect">
            <a:avLst/>
          </a:prstGeom>
          <a:ln w="0">
            <a:noFill/>
          </a:ln>
        </p:spPr>
      </p:pic>
      <p:pic>
        <p:nvPicPr>
          <p:cNvPr id="70" name="Picture 4" descr="U.K.-based startup Humanoid unveils HMND 01 Alpha mobile manipulator - The  Robot Report"/>
          <p:cNvPicPr/>
          <p:nvPr/>
        </p:nvPicPr>
        <p:blipFill>
          <a:blip r:embed="rId2"/>
          <a:srcRect l="18551" t="0" r="0" b="0"/>
          <a:stretch/>
        </p:blipFill>
        <p:spPr>
          <a:xfrm>
            <a:off x="0" y="0"/>
            <a:ext cx="8589960" cy="6856200"/>
          </a:xfrm>
          <a:prstGeom prst="rect">
            <a:avLst/>
          </a:prstGeom>
          <a:ln w="0">
            <a:noFill/>
          </a:ln>
        </p:spPr>
      </p:pic>
      <p:sp>
        <p:nvSpPr>
          <p:cNvPr id="71" name="Rectangle 5"/>
          <p:cNvSpPr/>
          <p:nvPr/>
        </p:nvSpPr>
        <p:spPr>
          <a:xfrm>
            <a:off x="0" y="0"/>
            <a:ext cx="12309480" cy="6856200"/>
          </a:xfrm>
          <a:prstGeom prst="rect">
            <a:avLst/>
          </a:prstGeom>
          <a:gradFill rotWithShape="0">
            <a:gsLst>
              <a:gs pos="27000">
                <a:srgbClr val="183964"/>
              </a:gs>
              <a:gs pos="100000">
                <a:srgbClr val="031424">
                  <a:alpha val="56000"/>
                </a:srgbClr>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pic>
        <p:nvPicPr>
          <p:cNvPr id="72" name="Picture 13" descr=""/>
          <p:cNvPicPr/>
          <p:nvPr/>
        </p:nvPicPr>
        <p:blipFill>
          <a:blip r:embed="rId3"/>
          <a:stretch/>
        </p:blipFill>
        <p:spPr>
          <a:xfrm>
            <a:off x="10413720" y="5175360"/>
            <a:ext cx="1515960" cy="151596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507600" y="345600"/>
            <a:ext cx="10513800" cy="78732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What is cppyy_kit?</a:t>
            </a:r>
            <a:endParaRPr b="0" lang="en-US" sz="2800" spc="-1" strike="noStrike">
              <a:solidFill>
                <a:srgbClr val="000000"/>
              </a:solidFill>
              <a:latin typeface="Arial"/>
            </a:endParaRPr>
          </a:p>
        </p:txBody>
      </p:sp>
      <p:sp>
        <p:nvSpPr>
          <p:cNvPr id="74" name="PlaceHolder 2"/>
          <p:cNvSpPr>
            <a:spLocks noGrp="1"/>
          </p:cNvSpPr>
          <p:nvPr>
            <p:ph/>
          </p:nvPr>
        </p:nvSpPr>
        <p:spPr>
          <a:xfrm>
            <a:off x="507600" y="1825560"/>
            <a:ext cx="11239200" cy="434952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 toolkit for using C++ from Python, with reusable setup and integration helpers.</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Call existing C++ libraries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Write C++ functions alongside your Python code.</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Reuse compiled functions and common integration helpers.</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AI coding assistant friendly.</a:t>
            </a:r>
            <a:endParaRPr b="0" lang="en-US" sz="2300" spc="-1" strike="noStrike">
              <a:solidFill>
                <a:srgbClr val="000000"/>
              </a:solidFill>
              <a:latin typeface="Arial"/>
            </a:endParaRPr>
          </a:p>
        </p:txBody>
      </p:sp>
      <p:pic>
        <p:nvPicPr>
          <p:cNvPr id="75" name="Picture 5" descr=""/>
          <p:cNvPicPr/>
          <p:nvPr/>
        </p:nvPicPr>
        <p:blipFill>
          <a:blip r:embed="rId1"/>
          <a:stretch/>
        </p:blipFill>
        <p:spPr>
          <a:xfrm>
            <a:off x="10623600" y="345600"/>
            <a:ext cx="1059120" cy="1059120"/>
          </a:xfrm>
          <a:prstGeom prst="rect">
            <a:avLst/>
          </a:prstGeom>
          <a:ln w="0">
            <a:noFill/>
          </a:ln>
        </p:spPr>
      </p:pic>
      <p:cxnSp>
        <p:nvCxnSpPr>
          <p:cNvPr id="76" name="Straight Connector 7"/>
          <p:cNvCxnSpPr/>
          <p:nvPr/>
        </p:nvCxnSpPr>
        <p:spPr>
          <a:xfrm>
            <a:off x="0" y="1134720"/>
            <a:ext cx="4365360" cy="180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507600" y="345600"/>
            <a:ext cx="10513800" cy="78732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Let's understand cppyy</a:t>
            </a:r>
            <a:endParaRPr b="0" lang="en-US" sz="2800" spc="-1" strike="noStrike">
              <a:solidFill>
                <a:srgbClr val="000000"/>
              </a:solidFill>
              <a:latin typeface="Arial"/>
            </a:endParaRPr>
          </a:p>
        </p:txBody>
      </p:sp>
      <p:sp>
        <p:nvSpPr>
          <p:cNvPr id="78" name="PlaceHolder 2"/>
          <p:cNvSpPr>
            <a:spLocks noGrp="1"/>
          </p:cNvSpPr>
          <p:nvPr>
            <p:ph/>
          </p:nvPr>
        </p:nvSpPr>
        <p:spPr>
          <a:xfrm>
            <a:off x="507600" y="1825560"/>
            <a:ext cx="11239200" cy="434952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Automatic Python–C++ bindings at runtime, with C++ JIT compilation when needed.</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Use C++ classes, functions and templates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Load an existing library or compile C++ as you experiment.</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Let C++ call Python through callbacks and overrides.</a:t>
            </a:r>
            <a:endParaRPr b="0" lang="en-US" sz="2300" spc="-1" strike="noStrike">
              <a:solidFill>
                <a:srgbClr val="000000"/>
              </a:solidFill>
              <a:latin typeface="Arial"/>
            </a:endParaRPr>
          </a:p>
        </p:txBody>
      </p:sp>
      <p:pic>
        <p:nvPicPr>
          <p:cNvPr id="79" name="Picture 5" descr=""/>
          <p:cNvPicPr/>
          <p:nvPr/>
        </p:nvPicPr>
        <p:blipFill>
          <a:blip r:embed="rId1"/>
          <a:stretch/>
        </p:blipFill>
        <p:spPr>
          <a:xfrm>
            <a:off x="10623600" y="345600"/>
            <a:ext cx="1059120" cy="1059120"/>
          </a:xfrm>
          <a:prstGeom prst="rect">
            <a:avLst/>
          </a:prstGeom>
          <a:ln w="0">
            <a:noFill/>
          </a:ln>
        </p:spPr>
      </p:pic>
      <p:cxnSp>
        <p:nvCxnSpPr>
          <p:cNvPr id="80" name="Straight Connector 7"/>
          <p:cNvCxnSpPr/>
          <p:nvPr/>
        </p:nvCxnSpPr>
        <p:spPr>
          <a:xfrm>
            <a:off x="0" y="1134720"/>
            <a:ext cx="4365360" cy="180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1" name="Picture 5" descr=""/>
          <p:cNvPicPr/>
          <p:nvPr/>
        </p:nvPicPr>
        <p:blipFill>
          <a:blip r:embed="rId1"/>
          <a:stretch/>
        </p:blipFill>
        <p:spPr>
          <a:xfrm>
            <a:off x="10623600" y="345600"/>
            <a:ext cx="1059120" cy="1059120"/>
          </a:xfrm>
          <a:prstGeom prst="rect">
            <a:avLst/>
          </a:prstGeom>
          <a:ln w="0">
            <a:noFill/>
          </a:ln>
        </p:spPr>
      </p:pic>
      <p:cxnSp>
        <p:nvCxnSpPr>
          <p:cNvPr id="82" name="Straight Connector 7"/>
          <p:cNvCxnSpPr/>
          <p:nvPr/>
        </p:nvCxnSpPr>
        <p:spPr>
          <a:xfrm>
            <a:off x="0" y="1134720"/>
            <a:ext cx="4365360" cy="1800"/>
          </a:xfrm>
          <a:prstGeom prst="straightConnector1">
            <a:avLst/>
          </a:prstGeom>
          <a:ln w="38100">
            <a:solidFill>
              <a:srgbClr val="fed021"/>
            </a:solidFill>
            <a:round/>
          </a:ln>
        </p:spPr>
      </p:cxnSp>
      <p:sp>
        <p:nvSpPr>
          <p:cNvPr id="83" name="TextBox 101"/>
          <p:cNvSpPr/>
          <p:nvPr/>
        </p:nvSpPr>
        <p:spPr>
          <a:xfrm>
            <a:off x="502920" y="320040"/>
            <a:ext cx="105141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Calling C++ from Python: a conventional extension</a:t>
            </a:r>
            <a:endParaRPr b="0" lang="en-US" sz="2800" spc="-1" strike="noStrike">
              <a:solidFill>
                <a:srgbClr val="000000"/>
              </a:solidFill>
              <a:latin typeface="Arial"/>
            </a:endParaRPr>
          </a:p>
        </p:txBody>
      </p:sp>
      <p:sp>
        <p:nvSpPr>
          <p:cNvPr id="84" name="TextBox 102"/>
          <p:cNvSpPr/>
          <p:nvPr/>
        </p:nvSpPr>
        <p:spPr>
          <a:xfrm>
            <a:off x="502920" y="1170360"/>
            <a:ext cx="10971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sum_example/  →  native module  →  Python API  →  application</a:t>
            </a:r>
            <a:endParaRPr b="0" lang="en-US" sz="2000" spc="-1" strike="noStrike">
              <a:solidFill>
                <a:srgbClr val="000000"/>
              </a:solidFill>
              <a:latin typeface="Arial"/>
            </a:endParaRPr>
          </a:p>
        </p:txBody>
      </p:sp>
      <p:sp>
        <p:nvSpPr>
          <p:cNvPr id="85" name="Rounded Rectangle 103"/>
          <p:cNvSpPr/>
          <p:nvPr/>
        </p:nvSpPr>
        <p:spPr>
          <a:xfrm>
            <a:off x="502920" y="1719000"/>
            <a:ext cx="3656160" cy="18730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86" name="TextBox 104"/>
          <p:cNvSpPr/>
          <p:nvPr/>
        </p:nvSpPr>
        <p:spPr>
          <a:xfrm>
            <a:off x="612720" y="1774080"/>
            <a:ext cx="3436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87" name="TextBox 105"/>
          <p:cNvSpPr/>
          <p:nvPr/>
        </p:nvSpPr>
        <p:spPr>
          <a:xfrm>
            <a:off x="736200" y="2157840"/>
            <a:ext cx="318924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cmake_minimum_required</a:t>
            </a:r>
            <a:r>
              <a:rPr b="0" lang="en-US" sz="1000" spc="-1" strike="noStrike">
                <a:solidFill>
                  <a:srgbClr val="031424"/>
                </a:solidFill>
                <a:latin typeface="DejaVu Sans Mono"/>
              </a:rPr>
              <a:t>(</a:t>
            </a:r>
            <a:r>
              <a:rPr b="0" lang="en-US" sz="1000" spc="-1" strike="noStrike">
                <a:solidFill>
                  <a:srgbClr val="4070a0"/>
                </a:solidFill>
                <a:latin typeface="DejaVu Sans Mono"/>
              </a:rPr>
              <a:t>VERSION</a:t>
            </a:r>
            <a:r>
              <a:rPr b="0" lang="en-US" sz="1000" spc="-1" strike="noStrike">
                <a:solidFill>
                  <a:srgbClr val="bbbbbb"/>
                </a:solidFill>
                <a:latin typeface="DejaVu Sans Mono"/>
              </a:rPr>
              <a:t> </a:t>
            </a:r>
            <a:r>
              <a:rPr b="0" lang="en-US" sz="1000" spc="-1" strike="noStrike">
                <a:solidFill>
                  <a:srgbClr val="4070a0"/>
                </a:solidFill>
                <a:latin typeface="DejaVu Sans Mono"/>
              </a:rPr>
              <a:t>3.18</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project</a:t>
            </a:r>
            <a:r>
              <a:rPr b="0" lang="en-US" sz="1000" spc="-1" strike="noStrike">
                <a:solidFill>
                  <a:srgbClr val="031424"/>
                </a:solidFill>
                <a:latin typeface="DejaVu Sans Mono"/>
              </a:rPr>
              <a:t>(</a:t>
            </a:r>
            <a:r>
              <a:rPr b="0" lang="en-US" sz="1000" spc="-1" strike="noStrike">
                <a:solidFill>
                  <a:srgbClr val="4070a0"/>
                </a:solidFill>
                <a:latin typeface="DejaVu Sans Mono"/>
              </a:rPr>
              <a:t>sum_example</a:t>
            </a:r>
            <a:r>
              <a:rPr b="0" lang="en-US" sz="1000" spc="-1" strike="noStrike">
                <a:solidFill>
                  <a:srgbClr val="bbbbbb"/>
                </a:solidFill>
                <a:latin typeface="DejaVu Sans Mono"/>
              </a:rPr>
              <a:t> </a:t>
            </a:r>
            <a:r>
              <a:rPr b="0" lang="en-US" sz="1000" spc="-1" strike="noStrike">
                <a:solidFill>
                  <a:srgbClr val="4070a0"/>
                </a:solidFill>
                <a:latin typeface="DejaVu Sans Mono"/>
              </a:rPr>
              <a:t>LANGUAGES</a:t>
            </a:r>
            <a:r>
              <a:rPr b="0" lang="en-US" sz="1000" spc="-1" strike="noStrike">
                <a:solidFill>
                  <a:srgbClr val="bbbbbb"/>
                </a:solidFill>
                <a:latin typeface="DejaVu Sans Mono"/>
              </a:rPr>
              <a:t> </a:t>
            </a:r>
            <a:r>
              <a:rPr b="0" lang="en-US" sz="1000" spc="-1" strike="noStrike">
                <a:solidFill>
                  <a:srgbClr val="4070a0"/>
                </a:solidFill>
                <a:latin typeface="DejaVu Sans Mono"/>
              </a:rPr>
              <a:t>CXX</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Python</a:t>
            </a:r>
            <a:r>
              <a:rPr b="0" lang="en-US" sz="1000" spc="-1" strike="noStrike">
                <a:solidFill>
                  <a:srgbClr val="bbbbbb"/>
                </a:solidFill>
                <a:latin typeface="DejaVu Sans Mono"/>
              </a:rPr>
              <a:t> </a:t>
            </a:r>
            <a:r>
              <a:rPr b="0" lang="en-US" sz="1000" spc="-1" strike="noStrike">
                <a:solidFill>
                  <a:srgbClr val="4070a0"/>
                </a:solidFill>
                <a:latin typeface="DejaVu Sans Mono"/>
              </a:rPr>
              <a:t>COMPONENTS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Interpreter</a:t>
            </a:r>
            <a:r>
              <a:rPr b="0" lang="en-US" sz="1000" spc="-1" strike="noStrike">
                <a:solidFill>
                  <a:srgbClr val="bbbbbb"/>
                </a:solidFill>
                <a:latin typeface="DejaVu Sans Mono"/>
              </a:rPr>
              <a:t> </a:t>
            </a:r>
            <a:r>
              <a:rPr b="0" lang="en-US" sz="1000" spc="-1" strike="noStrike">
                <a:solidFill>
                  <a:srgbClr val="4070a0"/>
                </a:solidFill>
                <a:latin typeface="DejaVu Sans Mono"/>
              </a:rPr>
              <a:t>Development.Module</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pybind11</a:t>
            </a:r>
            <a:r>
              <a:rPr b="0" lang="en-US" sz="1000" spc="-1" strike="noStrike">
                <a:solidFill>
                  <a:srgbClr val="bbbbbb"/>
                </a:solidFill>
                <a:latin typeface="DejaVu Sans Mono"/>
              </a:rPr>
              <a:t> </a:t>
            </a:r>
            <a:r>
              <a:rPr b="0" lang="en-US" sz="1000" spc="-1" strike="noStrike">
                <a:solidFill>
                  <a:srgbClr val="4070a0"/>
                </a:solidFill>
                <a:latin typeface="DejaVu Sans Mono"/>
              </a:rPr>
              <a:t>CONFIG</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pybind11_add_module</a:t>
            </a:r>
            <a:r>
              <a:rPr b="0" lang="en-US" sz="1000" spc="-1" strike="noStrike">
                <a:solidFill>
                  <a:srgbClr val="031424"/>
                </a:solidFill>
                <a:latin typeface="DejaVu Sans Mono"/>
              </a:rPr>
              <a:t>(</a:t>
            </a:r>
            <a:r>
              <a:rPr b="0" lang="en-US" sz="1000" spc="-1" strike="noStrike">
                <a:solidFill>
                  <a:srgbClr val="4070a0"/>
                </a:solidFill>
                <a:latin typeface="DejaVu Sans Mono"/>
              </a:rPr>
              <a:t>_native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bindings.cpp</a:t>
            </a:r>
            <a:r>
              <a:rPr b="0" lang="en-US" sz="1000" spc="-1" strike="noStrike">
                <a:solidFill>
                  <a:srgbClr val="bbbbbb"/>
                </a:solidFill>
                <a:latin typeface="DejaVu Sans Mono"/>
              </a:rPr>
              <a:t> </a:t>
            </a:r>
            <a:r>
              <a:rPr b="0" lang="en-US" sz="1000" spc="-1" strike="noStrike">
                <a:solidFill>
                  <a:srgbClr val="4070a0"/>
                </a:solidFill>
                <a:latin typeface="DejaVu Sans Mono"/>
              </a:rPr>
              <a:t>kernel.cpp</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88" name="Rounded Rectangle 106"/>
          <p:cNvSpPr/>
          <p:nvPr/>
        </p:nvSpPr>
        <p:spPr>
          <a:xfrm>
            <a:off x="4279320" y="1719000"/>
            <a:ext cx="3610440" cy="18730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89" name="TextBox 107"/>
          <p:cNvSpPr/>
          <p:nvPr/>
        </p:nvSpPr>
        <p:spPr>
          <a:xfrm>
            <a:off x="4389120" y="1774080"/>
            <a:ext cx="3390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90" name="TextBox 108"/>
          <p:cNvSpPr/>
          <p:nvPr/>
        </p:nvSpPr>
        <p:spPr>
          <a:xfrm>
            <a:off x="4345200" y="2157840"/>
            <a:ext cx="3479760" cy="730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#pragma once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&lt;cstddef&gt;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1" name="Rounded Rectangle 109"/>
          <p:cNvSpPr/>
          <p:nvPr/>
        </p:nvSpPr>
        <p:spPr>
          <a:xfrm>
            <a:off x="8010000" y="1719000"/>
            <a:ext cx="3656160" cy="18730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2" name="TextBox 110"/>
          <p:cNvSpPr/>
          <p:nvPr/>
        </p:nvSpPr>
        <p:spPr>
          <a:xfrm>
            <a:off x="8119800" y="1774080"/>
            <a:ext cx="3436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93" name="TextBox 111"/>
          <p:cNvSpPr/>
          <p:nvPr/>
        </p:nvSpPr>
        <p:spPr>
          <a:xfrm>
            <a:off x="8370000" y="2157840"/>
            <a:ext cx="2935800" cy="1531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for</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&lt;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031424"/>
                </a:solidFill>
                <a:latin typeface="DejaVu Sans Mono"/>
              </a:rPr>
              <a:t>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total;</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4" name="Rounded Rectangle 112"/>
          <p:cNvSpPr/>
          <p:nvPr/>
        </p:nvSpPr>
        <p:spPr>
          <a:xfrm>
            <a:off x="502920" y="3730680"/>
            <a:ext cx="3656160" cy="21016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5" name="TextBox 113"/>
          <p:cNvSpPr/>
          <p:nvPr/>
        </p:nvSpPr>
        <p:spPr>
          <a:xfrm>
            <a:off x="612720" y="3785760"/>
            <a:ext cx="3436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96" name="TextBox 114"/>
          <p:cNvSpPr/>
          <p:nvPr/>
        </p:nvSpPr>
        <p:spPr>
          <a:xfrm>
            <a:off x="888120" y="4169520"/>
            <a:ext cx="2885760" cy="18518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&lt;pybind11/pybind11.h&gt;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&lt;pybind11/numpy.h&gt;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namespace</a:t>
            </a:r>
            <a:r>
              <a:rPr b="0" lang="en-US" sz="1000" spc="-1" strike="noStrike">
                <a:solidFill>
                  <a:srgbClr val="bbbbbb"/>
                </a:solidFill>
                <a:latin typeface="DejaVu Sans Mono"/>
              </a:rPr>
              <a:t> </a:t>
            </a:r>
            <a:r>
              <a:rPr b="1" lang="en-US" sz="1000" spc="-1" strike="noStrike">
                <a:solidFill>
                  <a:srgbClr val="0e84b5"/>
                </a:solidFill>
                <a:latin typeface="DejaVu Sans Mono"/>
              </a:rPr>
              <a:t>py</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1" lang="en-US" sz="1000" spc="-1" strike="noStrike">
                <a:solidFill>
                  <a:srgbClr val="0e84b5"/>
                </a:solidFill>
                <a:latin typeface="DejaVu Sans Mono"/>
              </a:rPr>
              <a:t>pybind11</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PYBIND11_MODULE(_native,</a:t>
            </a:r>
            <a:r>
              <a:rPr b="0" lang="en-US" sz="1000" spc="-1" strike="noStrike">
                <a:solidFill>
                  <a:srgbClr val="bbbbbb"/>
                </a:solidFill>
                <a:latin typeface="DejaVu Sans Mono"/>
              </a:rPr>
              <a:t> </a:t>
            </a:r>
            <a:r>
              <a:rPr b="0" lang="en-US" sz="1000" spc="-1" strike="noStrike">
                <a:solidFill>
                  <a:srgbClr val="031424"/>
                </a:solidFill>
                <a:latin typeface="DejaVu Sans Mono"/>
              </a:rPr>
              <a:t>m)</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m.def(</a:t>
            </a:r>
            <a:r>
              <a:rPr b="0" lang="en-US" sz="1000" spc="-1" strike="noStrike">
                <a:solidFill>
                  <a:srgbClr val="4070a0"/>
                </a:solidFill>
                <a:latin typeface="DejaVu Sans Mono"/>
              </a:rPr>
              <a:t>"sum_sq"</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array_t</a:t>
            </a:r>
            <a:r>
              <a:rPr b="0" lang="en-US" sz="1000" spc="-1" strike="noStrike">
                <a:solidFill>
                  <a:srgbClr val="666666"/>
                </a:solidFill>
                <a:latin typeface="DejaVu Sans Mono"/>
              </a:rPr>
              <a:t>&lt;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a:t>
            </a:r>
            <a:r>
              <a:rPr b="0" lang="en-US" sz="1000" spc="-1" strike="noStrike">
                <a:solidFill>
                  <a:srgbClr val="666666"/>
                </a:solidFill>
                <a:latin typeface="DejaVu Sans Mono"/>
              </a:rPr>
              <a:t>::</a:t>
            </a:r>
            <a:r>
              <a:rPr b="0" lang="en-US" sz="1000" spc="-1" strike="noStrike">
                <a:solidFill>
                  <a:srgbClr val="031424"/>
                </a:solidFill>
                <a:latin typeface="DejaVu Sans Mono"/>
              </a:rPr>
              <a:t>c_style</a:t>
            </a:r>
            <a:r>
              <a:rPr b="0" lang="en-US" sz="1000" spc="-1" strike="noStrike">
                <a:solidFill>
                  <a:srgbClr val="666666"/>
                </a:solidFill>
                <a:latin typeface="DejaVu Sans Mono"/>
              </a:rPr>
              <a:t>&gt;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sum_sq(x.data(),</a:t>
            </a:r>
            <a:r>
              <a:rPr b="0" lang="en-US" sz="1000" spc="-1" strike="noStrike">
                <a:solidFill>
                  <a:srgbClr val="bbbbbb"/>
                </a:solidFill>
                <a:latin typeface="DejaVu Sans Mono"/>
              </a:rPr>
              <a:t> </a:t>
            </a:r>
            <a:r>
              <a:rPr b="0" lang="en-US" sz="1000" spc="-1" strike="noStrike">
                <a:solidFill>
                  <a:srgbClr val="031424"/>
                </a:solidFill>
                <a:latin typeface="DejaVu Sans Mono"/>
              </a:rPr>
              <a:t>x.size());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7" name="Rounded Rectangle 115"/>
          <p:cNvSpPr/>
          <p:nvPr/>
        </p:nvSpPr>
        <p:spPr>
          <a:xfrm>
            <a:off x="4279320" y="3730680"/>
            <a:ext cx="3610440" cy="21016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8" name="TextBox 116"/>
          <p:cNvSpPr/>
          <p:nvPr/>
        </p:nvSpPr>
        <p:spPr>
          <a:xfrm>
            <a:off x="4389120" y="3785760"/>
            <a:ext cx="3390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 convenience)</a:t>
            </a:r>
            <a:endParaRPr b="0" lang="en-US" sz="1500" spc="-1" strike="noStrike">
              <a:solidFill>
                <a:srgbClr val="000000"/>
              </a:solidFill>
              <a:latin typeface="Arial"/>
            </a:endParaRPr>
          </a:p>
        </p:txBody>
      </p:sp>
      <p:sp>
        <p:nvSpPr>
          <p:cNvPr id="99" name="TextBox 117"/>
          <p:cNvSpPr/>
          <p:nvPr/>
        </p:nvSpPr>
        <p:spPr>
          <a:xfrm>
            <a:off x="4566960" y="4169520"/>
            <a:ext cx="303516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000" spc="-1" strike="noStrike">
                <a:solidFill>
                  <a:srgbClr val="007020"/>
                </a:solidFill>
                <a:latin typeface="DejaVu Sans Mono"/>
              </a:rPr>
              <a:t>import</a:t>
            </a:r>
            <a:r>
              <a:rPr b="0" lang="en-US" sz="1000" spc="-1" strike="noStrike">
                <a:solidFill>
                  <a:srgbClr val="031424"/>
                </a:solidFill>
                <a:latin typeface="DejaVu Sans Mono"/>
              </a:rPr>
              <a:t> </a:t>
            </a:r>
            <a:r>
              <a:rPr b="1" lang="en-US" sz="1000" spc="-1" strike="noStrike">
                <a:solidFill>
                  <a:srgbClr val="0e84b5"/>
                </a:solidFill>
                <a:latin typeface="DejaVu Sans Mono"/>
              </a:rPr>
              <a:t>numpy</a:t>
            </a:r>
            <a:r>
              <a:rPr b="0" lang="en-US" sz="1000" spc="-1" strike="noStrike">
                <a:solidFill>
                  <a:srgbClr val="031424"/>
                </a:solidFill>
                <a:latin typeface="DejaVu Sans Mono"/>
              </a:rPr>
              <a:t> </a:t>
            </a:r>
            <a:r>
              <a:rPr b="1" lang="en-US" sz="1000" spc="-1" strike="noStrike">
                <a:solidFill>
                  <a:srgbClr val="007020"/>
                </a:solidFill>
                <a:latin typeface="DejaVu Sans Mono"/>
              </a:rPr>
              <a:t>as</a:t>
            </a:r>
            <a:r>
              <a:rPr b="0" lang="en-US" sz="1000" spc="-1" strike="noStrike">
                <a:solidFill>
                  <a:srgbClr val="031424"/>
                </a:solidFill>
                <a:latin typeface="DejaVu Sans Mono"/>
              </a:rPr>
              <a:t> </a:t>
            </a:r>
            <a:r>
              <a:rPr b="1" lang="en-US" sz="1000" spc="-1" strike="noStrike">
                <a:solidFill>
                  <a:srgbClr val="0e84b5"/>
                </a:solidFill>
                <a:latin typeface="DejaVu Sans Mono"/>
              </a:rPr>
              <a:t>np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from</a:t>
            </a:r>
            <a:r>
              <a:rPr b="0" lang="en-US" sz="1000" spc="-1" strike="noStrike">
                <a:solidFill>
                  <a:srgbClr val="031424"/>
                </a:solidFill>
                <a:latin typeface="DejaVu Sans Mono"/>
              </a:rPr>
              <a:t> </a:t>
            </a:r>
            <a:r>
              <a:rPr b="1" lang="en-US" sz="1000" spc="-1" strike="noStrike">
                <a:solidFill>
                  <a:srgbClr val="0e84b5"/>
                </a:solidFill>
                <a:latin typeface="DejaVu Sans Mono"/>
              </a:rPr>
              <a:t>_native</a:t>
            </a:r>
            <a:r>
              <a:rPr b="0" lang="en-US" sz="1000" spc="-1" strike="noStrike">
                <a:solidFill>
                  <a:srgbClr val="031424"/>
                </a:solidFill>
                <a:latin typeface="DejaVu Sans Mono"/>
              </a:rPr>
              <a:t> </a:t>
            </a:r>
            <a:r>
              <a:rPr b="1" lang="en-US" sz="1000" spc="-1" strike="noStrike">
                <a:solidFill>
                  <a:srgbClr val="007020"/>
                </a:solidFill>
                <a:latin typeface="DejaVu Sans Mono"/>
              </a:rPr>
              <a:t>import</a:t>
            </a:r>
            <a:r>
              <a:rPr b="0" lang="en-US" sz="1000" spc="-1" strike="noStrike">
                <a:solidFill>
                  <a:srgbClr val="031424"/>
                </a:solidFill>
                <a:latin typeface="DejaVu Sans Mono"/>
              </a:rPr>
              <a:t> sum_sq </a:t>
            </a:r>
            <a:r>
              <a:rPr b="1" lang="en-US" sz="1000" spc="-1" strike="noStrike">
                <a:solidFill>
                  <a:srgbClr val="007020"/>
                </a:solidFill>
                <a:latin typeface="DejaVu Sans Mono"/>
              </a:rPr>
              <a:t>as</a:t>
            </a:r>
            <a:r>
              <a:rPr b="0" lang="en-US" sz="1000" spc="-1" strike="noStrike">
                <a:solidFill>
                  <a:srgbClr val="031424"/>
                </a:solidFill>
                <a:latin typeface="DejaVu Sans Mono"/>
              </a:rPr>
              <a:t> native_sum</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def</a:t>
            </a:r>
            <a:r>
              <a:rPr b="0" lang="en-US" sz="1000" spc="-1" strike="noStrike">
                <a:solidFill>
                  <a:srgbClr val="031424"/>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(values):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x </a:t>
            </a:r>
            <a:r>
              <a:rPr b="0" lang="en-US" sz="1000" spc="-1" strike="noStrike">
                <a:solidFill>
                  <a:srgbClr val="666666"/>
                </a:solidFill>
                <a:latin typeface="DejaVu Sans Mono"/>
              </a:rPr>
              <a:t>=</a:t>
            </a:r>
            <a:r>
              <a:rPr b="0" lang="en-US" sz="1000" spc="-1" strike="noStrike">
                <a:solidFill>
                  <a:srgbClr val="031424"/>
                </a:solidFill>
                <a:latin typeface="DejaVu Sans Mono"/>
              </a:rPr>
              <a:t> np</a:t>
            </a:r>
            <a:r>
              <a:rPr b="0" lang="en-US" sz="1000" spc="-1" strike="noStrike">
                <a:solidFill>
                  <a:srgbClr val="666666"/>
                </a:solidFill>
                <a:latin typeface="DejaVu Sans Mono"/>
              </a:rPr>
              <a:t>.</a:t>
            </a:r>
            <a:r>
              <a:rPr b="0" lang="en-US" sz="1000" spc="-1" strike="noStrike">
                <a:solidFill>
                  <a:srgbClr val="031424"/>
                </a:solidFill>
                <a:latin typeface="DejaVu Sans Mono"/>
              </a:rPr>
              <a:t>ascontiguousarray(</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values, dtype</a:t>
            </a:r>
            <a:r>
              <a:rPr b="0" lang="en-US" sz="1000" spc="-1" strike="noStrike">
                <a:solidFill>
                  <a:srgbClr val="666666"/>
                </a:solidFill>
                <a:latin typeface="DejaVu Sans Mono"/>
              </a:rPr>
              <a:t>=</a:t>
            </a:r>
            <a:r>
              <a:rPr b="0" lang="en-US" sz="1000" spc="-1" strike="noStrike">
                <a:solidFill>
                  <a:srgbClr val="031424"/>
                </a:solidFill>
                <a:latin typeface="DejaVu Sans Mono"/>
              </a:rPr>
              <a:t>np</a:t>
            </a:r>
            <a:r>
              <a:rPr b="0" lang="en-US" sz="1000" spc="-1" strike="noStrike">
                <a:solidFill>
                  <a:srgbClr val="666666"/>
                </a:solidFill>
                <a:latin typeface="DejaVu Sans Mono"/>
              </a:rPr>
              <a:t>.</a:t>
            </a:r>
            <a:r>
              <a:rPr b="0" lang="en-US" sz="1000" spc="-1" strike="noStrike">
                <a:solidFill>
                  <a:srgbClr val="031424"/>
                </a:solidFill>
                <a:latin typeface="DejaVu Sans Mono"/>
              </a:rPr>
              <a:t>float64)</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1" lang="en-US" sz="1000" spc="-1" strike="noStrike">
                <a:solidFill>
                  <a:srgbClr val="007020"/>
                </a:solidFill>
                <a:latin typeface="DejaVu Sans Mono"/>
              </a:rPr>
              <a:t>return</a:t>
            </a:r>
            <a:r>
              <a:rPr b="0" lang="en-US" sz="1000" spc="-1" strike="noStrike">
                <a:solidFill>
                  <a:srgbClr val="031424"/>
                </a:solidFill>
                <a:latin typeface="DejaVu Sans Mono"/>
              </a:rPr>
              <a:t> native_sum(x)</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100" name="Rounded Rectangle 118"/>
          <p:cNvSpPr/>
          <p:nvPr/>
        </p:nvSpPr>
        <p:spPr>
          <a:xfrm>
            <a:off x="8010000" y="3730680"/>
            <a:ext cx="3656160" cy="210168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01" name="TextBox 119"/>
          <p:cNvSpPr/>
          <p:nvPr/>
        </p:nvSpPr>
        <p:spPr>
          <a:xfrm>
            <a:off x="8119800" y="3785760"/>
            <a:ext cx="3436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02" name="TextBox 120"/>
          <p:cNvSpPr/>
          <p:nvPr/>
        </p:nvSpPr>
        <p:spPr>
          <a:xfrm>
            <a:off x="8602200" y="4169520"/>
            <a:ext cx="2471760" cy="1240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api</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sum_sq</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007020"/>
                </a:solidFill>
                <a:latin typeface="DejaVu Sans Mono"/>
              </a:rPr>
              <a:t>print</a:t>
            </a:r>
            <a:r>
              <a:rPr b="0" lang="en-US" sz="1200" spc="-1" strike="noStrike">
                <a:solidFill>
                  <a:srgbClr val="031424"/>
                </a:solidFill>
                <a:latin typeface="DejaVu Sans Mono"/>
              </a:rPr>
              <a:t>(sum_sq([</a:t>
            </a:r>
            <a:r>
              <a:rPr b="0" lang="en-US" sz="1200" spc="-1" strike="noStrike">
                <a:solidFill>
                  <a:srgbClr val="40a070"/>
                </a:solidFill>
                <a:latin typeface="DejaVu Sans Mono"/>
              </a:rPr>
              <a:t>1.</a:t>
            </a:r>
            <a:r>
              <a:rPr b="0" lang="en-US" sz="1200" spc="-1" strike="noStrike">
                <a:solidFill>
                  <a:srgbClr val="031424"/>
                </a:solidFill>
                <a:latin typeface="DejaVu Sans Mono"/>
              </a:rPr>
              <a:t>, </a:t>
            </a:r>
            <a:r>
              <a:rPr b="0" lang="en-US" sz="1200" spc="-1" strike="noStrike">
                <a:solidFill>
                  <a:srgbClr val="40a070"/>
                </a:solidFill>
                <a:latin typeface="DejaVu Sans Mono"/>
              </a:rPr>
              <a:t>2.</a:t>
            </a:r>
            <a:r>
              <a:rPr b="0" lang="en-US" sz="1200" spc="-1" strike="noStrike">
                <a:solidFill>
                  <a:srgbClr val="031424"/>
                </a:solidFill>
                <a:latin typeface="DejaVu Sans Mono"/>
              </a:rPr>
              <a:t>, </a:t>
            </a:r>
            <a:r>
              <a:rPr b="0" lang="en-US" sz="1200" spc="-1" strike="noStrike">
                <a:solidFill>
                  <a:srgbClr val="40a070"/>
                </a:solidFill>
                <a:latin typeface="DejaVu Sans Mono"/>
              </a:rPr>
              <a:t>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60a0b0"/>
                </a:solidFill>
                <a:latin typeface="DejaVu Sans Mono"/>
              </a:rPr>
              <a:t># 14.0</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p:txBody>
      </p:sp>
      <p:sp>
        <p:nvSpPr>
          <p:cNvPr id="103" name="TextBox 121"/>
          <p:cNvSpPr/>
          <p:nvPr/>
        </p:nvSpPr>
        <p:spPr>
          <a:xfrm>
            <a:off x="3999960" y="6016680"/>
            <a:ext cx="4159800" cy="71388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300" spc="-1" strike="noStrike">
                <a:solidFill>
                  <a:srgbClr val="031424"/>
                </a:solidFill>
                <a:latin typeface="DejaVu Sans Mono"/>
              </a:rPr>
              <a:t>cmake </a:t>
            </a:r>
            <a:r>
              <a:rPr b="0" lang="en-US" sz="1300" spc="-1" strike="noStrike">
                <a:solidFill>
                  <a:srgbClr val="666666"/>
                </a:solidFill>
                <a:latin typeface="DejaVu Sans Mono"/>
              </a:rPr>
              <a:t>-</a:t>
            </a:r>
            <a:r>
              <a:rPr b="0" lang="en-US" sz="1300" spc="-1" strike="noStrike">
                <a:solidFill>
                  <a:srgbClr val="031424"/>
                </a:solidFill>
                <a:latin typeface="DejaVu Sans Mono"/>
              </a:rPr>
              <a:t>S </a:t>
            </a:r>
            <a:r>
              <a:rPr b="0" lang="en-US" sz="1300" spc="-1" strike="noStrike">
                <a:solidFill>
                  <a:srgbClr val="666666"/>
                </a:solidFill>
                <a:latin typeface="DejaVu Sans Mono"/>
              </a:rPr>
              <a:t>.</a:t>
            </a:r>
            <a:r>
              <a:rPr b="0" lang="en-US" sz="1300" spc="-1" strike="noStrike">
                <a:solidFill>
                  <a:srgbClr val="031424"/>
                </a:solidFill>
                <a:latin typeface="DejaVu Sans Mono"/>
              </a:rPr>
              <a:t> </a:t>
            </a:r>
            <a:r>
              <a:rPr b="0" lang="en-US" sz="1300" spc="-1" strike="noStrike">
                <a:solidFill>
                  <a:srgbClr val="666666"/>
                </a:solidFill>
                <a:latin typeface="DejaVu Sans Mono"/>
              </a:rPr>
              <a:t>-</a:t>
            </a:r>
            <a:r>
              <a:rPr b="0" lang="en-US" sz="1300" spc="-1" strike="noStrike">
                <a:solidFill>
                  <a:srgbClr val="031424"/>
                </a:solidFill>
                <a:latin typeface="DejaVu Sans Mono"/>
              </a:rPr>
              <a:t>B build </a:t>
            </a:r>
            <a:r>
              <a:rPr b="0" lang="en-US" sz="1300" spc="-1" strike="noStrike">
                <a:solidFill>
                  <a:srgbClr val="666666"/>
                </a:solidFill>
                <a:latin typeface="DejaVu Sans Mono"/>
              </a:rPr>
              <a:t>&amp;&amp;</a:t>
            </a:r>
            <a:r>
              <a:rPr b="0" lang="en-US" sz="1300" spc="-1" strike="noStrike">
                <a:solidFill>
                  <a:srgbClr val="031424"/>
                </a:solidFill>
                <a:latin typeface="DejaVu Sans Mono"/>
              </a:rPr>
              <a:t> cmake </a:t>
            </a:r>
            <a:r>
              <a:rPr b="0" lang="en-US" sz="1300" spc="-1" strike="noStrike">
                <a:solidFill>
                  <a:srgbClr val="666666"/>
                </a:solidFill>
                <a:latin typeface="DejaVu Sans Mono"/>
              </a:rPr>
              <a:t>--</a:t>
            </a:r>
            <a:r>
              <a:rPr b="0" lang="en-US" sz="1300" spc="-1" strike="noStrike">
                <a:solidFill>
                  <a:srgbClr val="031424"/>
                </a:solidFill>
                <a:latin typeface="DejaVu Sans Mono"/>
              </a:rPr>
              <a:t>build build</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PYTHONPATH</a:t>
            </a:r>
            <a:r>
              <a:rPr b="0" lang="en-US" sz="1300" spc="-1" strike="noStrike">
                <a:solidFill>
                  <a:srgbClr val="666666"/>
                </a:solidFill>
                <a:latin typeface="DejaVu Sans Mono"/>
              </a:rPr>
              <a:t>=</a:t>
            </a:r>
            <a:r>
              <a:rPr b="0" lang="en-US" sz="1300" spc="-1" strike="noStrike">
                <a:solidFill>
                  <a:srgbClr val="031424"/>
                </a:solidFill>
                <a:latin typeface="DejaVu Sans Mono"/>
              </a:rPr>
              <a:t>build python demo</a:t>
            </a:r>
            <a:r>
              <a:rPr b="0" lang="en-US" sz="1300" spc="-1" strike="noStrike">
                <a:solidFill>
                  <a:srgbClr val="666666"/>
                </a:solidFill>
                <a:latin typeface="DejaVu Sans Mono"/>
              </a:rPr>
              <a:t>.</a:t>
            </a:r>
            <a:r>
              <a:rPr b="0" lang="en-US" sz="1300" spc="-1" strike="noStrike">
                <a:solidFill>
                  <a:srgbClr val="031424"/>
                </a:solidFill>
                <a:latin typeface="DejaVu Sans Mono"/>
              </a:rPr>
              <a:t>py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4" name="Picture 5" descr=""/>
          <p:cNvPicPr/>
          <p:nvPr/>
        </p:nvPicPr>
        <p:blipFill>
          <a:blip r:embed="rId1"/>
          <a:stretch/>
        </p:blipFill>
        <p:spPr>
          <a:xfrm>
            <a:off x="11547720" y="6235560"/>
            <a:ext cx="524880" cy="524880"/>
          </a:xfrm>
          <a:prstGeom prst="rect">
            <a:avLst/>
          </a:prstGeom>
          <a:ln w="0">
            <a:noFill/>
          </a:ln>
        </p:spPr>
      </p:pic>
      <p:cxnSp>
        <p:nvCxnSpPr>
          <p:cNvPr id="105" name="Straight Connector 7"/>
          <p:cNvCxnSpPr/>
          <p:nvPr/>
        </p:nvCxnSpPr>
        <p:spPr>
          <a:xfrm flipV="1">
            <a:off x="6095880" y="0"/>
            <a:ext cx="1800" cy="5812200"/>
          </a:xfrm>
          <a:prstGeom prst="straightConnector1">
            <a:avLst/>
          </a:prstGeom>
          <a:ln w="38100">
            <a:solidFill>
              <a:srgbClr val="031424"/>
            </a:solidFill>
            <a:round/>
          </a:ln>
        </p:spPr>
      </p:cxnSp>
      <p:cxnSp>
        <p:nvCxnSpPr>
          <p:cNvPr id="106" name="Straight Connector 9"/>
          <p:cNvCxnSpPr/>
          <p:nvPr/>
        </p:nvCxnSpPr>
        <p:spPr>
          <a:xfrm flipV="1">
            <a:off x="5970600" y="1047240"/>
            <a:ext cx="1800" cy="5812560"/>
          </a:xfrm>
          <a:prstGeom prst="straightConnector1">
            <a:avLst/>
          </a:prstGeom>
          <a:ln w="38100">
            <a:solidFill>
              <a:srgbClr val="fed021"/>
            </a:solidFill>
            <a:round/>
          </a:ln>
        </p:spPr>
      </p:cxnSp>
      <p:sp>
        <p:nvSpPr>
          <p:cNvPr id="107" name="TextBox 117"/>
          <p:cNvSpPr/>
          <p:nvPr/>
        </p:nvSpPr>
        <p:spPr>
          <a:xfrm>
            <a:off x="457200" y="365760"/>
            <a:ext cx="539352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Plain cppyy</a:t>
            </a:r>
            <a:endParaRPr b="0" lang="en-US" sz="2600" spc="-1" strike="noStrike">
              <a:solidFill>
                <a:srgbClr val="000000"/>
              </a:solidFill>
              <a:latin typeface="Arial"/>
            </a:endParaRPr>
          </a:p>
        </p:txBody>
      </p:sp>
      <p:sp>
        <p:nvSpPr>
          <p:cNvPr id="108" name="TextBox 118"/>
          <p:cNvSpPr/>
          <p:nvPr/>
        </p:nvSpPr>
        <p:spPr>
          <a:xfrm>
            <a:off x="457200" y="914400"/>
            <a:ext cx="539352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Declare C++, then call through cppyy.gbl.</a:t>
            </a:r>
            <a:endParaRPr b="0" lang="en-US" sz="1600" spc="-1" strike="noStrike">
              <a:solidFill>
                <a:srgbClr val="000000"/>
              </a:solidFill>
              <a:latin typeface="Arial"/>
            </a:endParaRPr>
          </a:p>
        </p:txBody>
      </p:sp>
      <p:sp>
        <p:nvSpPr>
          <p:cNvPr id="109" name="TextBox 119"/>
          <p:cNvSpPr/>
          <p:nvPr/>
        </p:nvSpPr>
        <p:spPr>
          <a:xfrm>
            <a:off x="995760" y="1554480"/>
            <a:ext cx="4316040" cy="348084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cppyy</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cppdef(</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double sum_sq(const double* x, size_t n) {</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n;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gbl</a:t>
            </a:r>
            <a:r>
              <a:rPr b="0" lang="en-US" sz="1350" spc="-1" strike="noStrike">
                <a:solidFill>
                  <a:srgbClr val="666666"/>
                </a:solidFill>
                <a:latin typeface="DejaVu Sans Mono"/>
              </a:rPr>
              <a:t>.</a:t>
            </a:r>
            <a:r>
              <a:rPr b="0" lang="en-US" sz="1350" spc="-1" strike="noStrike">
                <a:solidFill>
                  <a:srgbClr val="031424"/>
                </a:solidFill>
                <a:latin typeface="DejaVu Sans Mono"/>
              </a:rPr>
              <a:t>sum_sq(x, x</a:t>
            </a:r>
            <a:r>
              <a:rPr b="0" lang="en-US" sz="1350" spc="-1" strike="noStrike">
                <a:solidFill>
                  <a:srgbClr val="666666"/>
                </a:solidFill>
                <a:latin typeface="DejaVu Sans Mono"/>
              </a:rPr>
              <a:t>.</a:t>
            </a:r>
            <a:r>
              <a:rPr b="0" lang="en-US" sz="1350" spc="-1" strike="noStrike">
                <a:solidFill>
                  <a:srgbClr val="031424"/>
                </a:solidFill>
                <a:latin typeface="DejaVu Sans Mono"/>
              </a:rPr>
              <a:t>size))</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0" name="TextBox 120"/>
          <p:cNvSpPr/>
          <p:nvPr/>
        </p:nvSpPr>
        <p:spPr>
          <a:xfrm>
            <a:off x="457200" y="5760720"/>
            <a:ext cx="530208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
        <p:nvSpPr>
          <p:cNvPr id="111" name="TextBox 121"/>
          <p:cNvSpPr/>
          <p:nvPr/>
        </p:nvSpPr>
        <p:spPr>
          <a:xfrm>
            <a:off x="6355080" y="365760"/>
            <a:ext cx="539352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With cppyy_kit</a:t>
            </a:r>
            <a:endParaRPr b="0" lang="en-US" sz="2600" spc="-1" strike="noStrike">
              <a:solidFill>
                <a:srgbClr val="000000"/>
              </a:solidFill>
              <a:latin typeface="Arial"/>
            </a:endParaRPr>
          </a:p>
        </p:txBody>
      </p:sp>
      <p:sp>
        <p:nvSpPr>
          <p:cNvPr id="112" name="TextBox 122"/>
          <p:cNvSpPr/>
          <p:nvPr/>
        </p:nvSpPr>
        <p:spPr>
          <a:xfrm>
            <a:off x="6355080" y="914400"/>
            <a:ext cx="539352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Annotate the array. Call a Python function.</a:t>
            </a:r>
            <a:endParaRPr b="0" lang="en-US" sz="1600" spc="-1" strike="noStrike">
              <a:solidFill>
                <a:srgbClr val="000000"/>
              </a:solidFill>
              <a:latin typeface="Arial"/>
            </a:endParaRPr>
          </a:p>
        </p:txBody>
      </p:sp>
      <p:sp>
        <p:nvSpPr>
          <p:cNvPr id="113" name="TextBox 123"/>
          <p:cNvSpPr/>
          <p:nvPr/>
        </p:nvSpPr>
        <p:spPr>
          <a:xfrm>
            <a:off x="6793920" y="1554480"/>
            <a:ext cx="4515840" cy="370692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cppyy_kit.numpy_types</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NDArray</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1" lang="en-US" sz="1350" spc="-1" strike="noStrike">
                <a:solidFill>
                  <a:srgbClr val="555555"/>
                </a:solidFill>
                <a:latin typeface="DejaVu Sans Mono"/>
              </a:rPr>
              <a:t>@cpp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def</a:t>
            </a:r>
            <a:r>
              <a:rPr b="0" lang="en-US" sz="1350" spc="-1" strike="noStrike">
                <a:solidFill>
                  <a:srgbClr val="031424"/>
                </a:solidFill>
                <a:latin typeface="DejaVu Sans Mono"/>
              </a:rPr>
              <a:t> </a:t>
            </a:r>
            <a:r>
              <a:rPr b="0" lang="en-US" sz="1350" spc="-1" strike="noStrike">
                <a:solidFill>
                  <a:srgbClr val="06287e"/>
                </a:solidFill>
                <a:latin typeface="DejaVu Sans Mono"/>
              </a:rPr>
              <a:t>sum_sq</a:t>
            </a:r>
            <a:r>
              <a:rPr b="0" lang="en-US" sz="1350" spc="-1" strike="noStrike">
                <a:solidFill>
                  <a:srgbClr val="031424"/>
                </a:solidFill>
                <a:latin typeface="DejaVu Sans Mono"/>
              </a:rPr>
              <a:t>(x: NDArray[np</a:t>
            </a:r>
            <a:r>
              <a:rPr b="0" lang="en-US" sz="1350" spc="-1" strike="noStrike">
                <a:solidFill>
                  <a:srgbClr val="666666"/>
                </a:solidFill>
                <a:latin typeface="DejaVu Sans Mono"/>
              </a:rPr>
              <a:t>.</a:t>
            </a:r>
            <a:r>
              <a:rPr b="0" lang="en-US" sz="1350" spc="-1" strike="noStrike">
                <a:solidFill>
                  <a:srgbClr val="031424"/>
                </a:solidFill>
                <a:latin typeface="DejaVu Sans Mono"/>
              </a:rPr>
              <a:t>float64]) </a:t>
            </a:r>
            <a:r>
              <a:rPr b="0" lang="en-US" sz="1350" spc="-1" strike="noStrike">
                <a:solidFill>
                  <a:srgbClr val="666666"/>
                </a:solidFill>
                <a:latin typeface="DejaVu Sans Mono"/>
              </a:rPr>
              <a:t>-&gt;</a:t>
            </a:r>
            <a:r>
              <a:rPr b="0" lang="en-US" sz="1350" spc="-1" strike="noStrike">
                <a:solidFill>
                  <a:srgbClr val="031424"/>
                </a:solidFill>
                <a:latin typeface="DejaVu Sans Mono"/>
              </a:rPr>
              <a:t> </a:t>
            </a:r>
            <a:r>
              <a:rPr b="0" lang="en-US" sz="1350" spc="-1" strike="noStrike">
                <a:solidFill>
                  <a:srgbClr val="007020"/>
                </a:solidFill>
                <a:latin typeface="DejaVu Sans Mono"/>
              </a:rPr>
              <a:t>float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bbbbbb"/>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x_size;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(sum_sq(x))</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4" name="TextBox 124"/>
          <p:cNvSpPr/>
          <p:nvPr/>
        </p:nvSpPr>
        <p:spPr>
          <a:xfrm>
            <a:off x="6355080" y="5760720"/>
            <a:ext cx="530208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5" name="Picture 5" descr=""/>
          <p:cNvPicPr/>
          <p:nvPr/>
        </p:nvPicPr>
        <p:blipFill>
          <a:blip r:embed="rId1"/>
          <a:stretch/>
        </p:blipFill>
        <p:spPr>
          <a:xfrm>
            <a:off x="10623600" y="345600"/>
            <a:ext cx="1059120" cy="1059120"/>
          </a:xfrm>
          <a:prstGeom prst="rect">
            <a:avLst/>
          </a:prstGeom>
          <a:ln w="0">
            <a:noFill/>
          </a:ln>
        </p:spPr>
      </p:pic>
      <p:cxnSp>
        <p:nvCxnSpPr>
          <p:cNvPr id="116" name="Straight Connector 7"/>
          <p:cNvCxnSpPr/>
          <p:nvPr/>
        </p:nvCxnSpPr>
        <p:spPr>
          <a:xfrm>
            <a:off x="0" y="1134720"/>
            <a:ext cx="4365360" cy="1800"/>
          </a:xfrm>
          <a:prstGeom prst="straightConnector1">
            <a:avLst/>
          </a:prstGeom>
          <a:ln w="38100">
            <a:solidFill>
              <a:srgbClr val="fed021"/>
            </a:solidFill>
            <a:round/>
          </a:ln>
        </p:spPr>
      </p:cxnSp>
      <p:sp>
        <p:nvSpPr>
          <p:cNvPr id="117" name="TextBox 101"/>
          <p:cNvSpPr/>
          <p:nvPr/>
        </p:nvSpPr>
        <p:spPr>
          <a:xfrm>
            <a:off x="502920" y="320040"/>
            <a:ext cx="105141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Same computation, less setup to maintain</a:t>
            </a:r>
            <a:endParaRPr b="0" lang="en-US" sz="2800" spc="-1" strike="noStrike">
              <a:solidFill>
                <a:srgbClr val="000000"/>
              </a:solidFill>
              <a:latin typeface="Arial"/>
            </a:endParaRPr>
          </a:p>
        </p:txBody>
      </p:sp>
      <p:sp>
        <p:nvSpPr>
          <p:cNvPr id="118" name="TextBox 102"/>
          <p:cNvSpPr/>
          <p:nvPr/>
        </p:nvSpPr>
        <p:spPr>
          <a:xfrm>
            <a:off x="502920" y="1234440"/>
            <a:ext cx="521064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 compiled Python extension</a:t>
            </a:r>
            <a:endParaRPr b="0" lang="en-US" sz="2300" spc="-1" strike="noStrike">
              <a:solidFill>
                <a:srgbClr val="000000"/>
              </a:solidFill>
              <a:latin typeface="Arial"/>
            </a:endParaRPr>
          </a:p>
        </p:txBody>
      </p:sp>
      <p:sp>
        <p:nvSpPr>
          <p:cNvPr id="119" name="TextBox 103"/>
          <p:cNvSpPr/>
          <p:nvPr/>
        </p:nvSpPr>
        <p:spPr>
          <a:xfrm>
            <a:off x="6355080" y="1234440"/>
            <a:ext cx="530208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One Python file with @cpp</a:t>
            </a:r>
            <a:endParaRPr b="0" lang="en-US" sz="2300" spc="-1" strike="noStrike">
              <a:solidFill>
                <a:srgbClr val="000000"/>
              </a:solidFill>
              <a:latin typeface="Arial"/>
            </a:endParaRPr>
          </a:p>
        </p:txBody>
      </p:sp>
      <p:sp>
        <p:nvSpPr>
          <p:cNvPr id="120" name="Rounded Rectangle 104"/>
          <p:cNvSpPr/>
          <p:nvPr/>
        </p:nvSpPr>
        <p:spPr>
          <a:xfrm>
            <a:off x="502920" y="178308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1" name="TextBox 105"/>
          <p:cNvSpPr/>
          <p:nvPr/>
        </p:nvSpPr>
        <p:spPr>
          <a:xfrm>
            <a:off x="612720" y="183780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122" name="TextBox 106"/>
          <p:cNvSpPr/>
          <p:nvPr/>
        </p:nvSpPr>
        <p:spPr>
          <a:xfrm>
            <a:off x="915120" y="2221920"/>
            <a:ext cx="168840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cmake_minimum_required</a:t>
            </a:r>
            <a:r>
              <a:rPr b="0" lang="en-US" sz="530" spc="-1" strike="noStrike">
                <a:solidFill>
                  <a:srgbClr val="031424"/>
                </a:solidFill>
                <a:latin typeface="DejaVu Sans Mono"/>
              </a:rPr>
              <a:t>(</a:t>
            </a:r>
            <a:r>
              <a:rPr b="0" lang="en-US" sz="530" spc="-1" strike="noStrike">
                <a:solidFill>
                  <a:srgbClr val="4070a0"/>
                </a:solidFill>
                <a:latin typeface="DejaVu Sans Mono"/>
              </a:rPr>
              <a:t>VERSION</a:t>
            </a:r>
            <a:r>
              <a:rPr b="0" lang="en-US" sz="530" spc="-1" strike="noStrike">
                <a:solidFill>
                  <a:srgbClr val="bbbbbb"/>
                </a:solidFill>
                <a:latin typeface="DejaVu Sans Mono"/>
              </a:rPr>
              <a:t> </a:t>
            </a:r>
            <a:r>
              <a:rPr b="0" lang="en-US" sz="530" spc="-1" strike="noStrike">
                <a:solidFill>
                  <a:srgbClr val="4070a0"/>
                </a:solidFill>
                <a:latin typeface="DejaVu Sans Mono"/>
              </a:rPr>
              <a:t>3.18</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project</a:t>
            </a:r>
            <a:r>
              <a:rPr b="0" lang="en-US" sz="530" spc="-1" strike="noStrike">
                <a:solidFill>
                  <a:srgbClr val="031424"/>
                </a:solidFill>
                <a:latin typeface="DejaVu Sans Mono"/>
              </a:rPr>
              <a:t>(</a:t>
            </a:r>
            <a:r>
              <a:rPr b="0" lang="en-US" sz="530" spc="-1" strike="noStrike">
                <a:solidFill>
                  <a:srgbClr val="4070a0"/>
                </a:solidFill>
                <a:latin typeface="DejaVu Sans Mono"/>
              </a:rPr>
              <a:t>sum_example</a:t>
            </a:r>
            <a:r>
              <a:rPr b="0" lang="en-US" sz="530" spc="-1" strike="noStrike">
                <a:solidFill>
                  <a:srgbClr val="bbbbbb"/>
                </a:solidFill>
                <a:latin typeface="DejaVu Sans Mono"/>
              </a:rPr>
              <a:t> </a:t>
            </a:r>
            <a:r>
              <a:rPr b="0" lang="en-US" sz="530" spc="-1" strike="noStrike">
                <a:solidFill>
                  <a:srgbClr val="4070a0"/>
                </a:solidFill>
                <a:latin typeface="DejaVu Sans Mono"/>
              </a:rPr>
              <a:t>LANGUAGES</a:t>
            </a:r>
            <a:r>
              <a:rPr b="0" lang="en-US" sz="530" spc="-1" strike="noStrike">
                <a:solidFill>
                  <a:srgbClr val="bbbbbb"/>
                </a:solidFill>
                <a:latin typeface="DejaVu Sans Mono"/>
              </a:rPr>
              <a:t> </a:t>
            </a:r>
            <a:r>
              <a:rPr b="0" lang="en-US" sz="530" spc="-1" strike="noStrike">
                <a:solidFill>
                  <a:srgbClr val="4070a0"/>
                </a:solidFill>
                <a:latin typeface="DejaVu Sans Mono"/>
              </a:rPr>
              <a:t>CXX</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Python</a:t>
            </a:r>
            <a:r>
              <a:rPr b="0" lang="en-US" sz="530" spc="-1" strike="noStrike">
                <a:solidFill>
                  <a:srgbClr val="bbbbbb"/>
                </a:solidFill>
                <a:latin typeface="DejaVu Sans Mono"/>
              </a:rPr>
              <a:t> </a:t>
            </a:r>
            <a:r>
              <a:rPr b="0" lang="en-US" sz="530" spc="-1" strike="noStrike">
                <a:solidFill>
                  <a:srgbClr val="4070a0"/>
                </a:solidFill>
                <a:latin typeface="DejaVu Sans Mono"/>
              </a:rPr>
              <a:t>COMPONENTS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Interpreter</a:t>
            </a:r>
            <a:r>
              <a:rPr b="0" lang="en-US" sz="530" spc="-1" strike="noStrike">
                <a:solidFill>
                  <a:srgbClr val="bbbbbb"/>
                </a:solidFill>
                <a:latin typeface="DejaVu Sans Mono"/>
              </a:rPr>
              <a:t> </a:t>
            </a:r>
            <a:r>
              <a:rPr b="0" lang="en-US" sz="530" spc="-1" strike="noStrike">
                <a:solidFill>
                  <a:srgbClr val="4070a0"/>
                </a:solidFill>
                <a:latin typeface="DejaVu Sans Mono"/>
              </a:rPr>
              <a:t>Development.Module</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pybind11</a:t>
            </a:r>
            <a:r>
              <a:rPr b="0" lang="en-US" sz="530" spc="-1" strike="noStrike">
                <a:solidFill>
                  <a:srgbClr val="bbbbbb"/>
                </a:solidFill>
                <a:latin typeface="DejaVu Sans Mono"/>
              </a:rPr>
              <a:t> </a:t>
            </a:r>
            <a:r>
              <a:rPr b="0" lang="en-US" sz="530" spc="-1" strike="noStrike">
                <a:solidFill>
                  <a:srgbClr val="4070a0"/>
                </a:solidFill>
                <a:latin typeface="DejaVu Sans Mono"/>
              </a:rPr>
              <a:t>CONFIG</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pybind11_add_module</a:t>
            </a:r>
            <a:r>
              <a:rPr b="0" lang="en-US" sz="530" spc="-1" strike="noStrike">
                <a:solidFill>
                  <a:srgbClr val="031424"/>
                </a:solidFill>
                <a:latin typeface="DejaVu Sans Mono"/>
              </a:rPr>
              <a:t>(</a:t>
            </a:r>
            <a:r>
              <a:rPr b="0" lang="en-US" sz="530" spc="-1" strike="noStrike">
                <a:solidFill>
                  <a:srgbClr val="4070a0"/>
                </a:solidFill>
                <a:latin typeface="DejaVu Sans Mono"/>
              </a:rPr>
              <a:t>_native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bindings.cpp</a:t>
            </a:r>
            <a:r>
              <a:rPr b="0" lang="en-US" sz="530" spc="-1" strike="noStrike">
                <a:solidFill>
                  <a:srgbClr val="bbbbbb"/>
                </a:solidFill>
                <a:latin typeface="DejaVu Sans Mono"/>
              </a:rPr>
              <a:t> </a:t>
            </a:r>
            <a:r>
              <a:rPr b="0" lang="en-US" sz="530" spc="-1" strike="noStrike">
                <a:solidFill>
                  <a:srgbClr val="4070a0"/>
                </a:solidFill>
                <a:latin typeface="DejaVu Sans Mono"/>
              </a:rPr>
              <a:t>kernel.cpp</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3" name="Rounded Rectangle 107"/>
          <p:cNvSpPr/>
          <p:nvPr/>
        </p:nvSpPr>
        <p:spPr>
          <a:xfrm>
            <a:off x="3246120" y="178308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4" name="TextBox 108"/>
          <p:cNvSpPr/>
          <p:nvPr/>
        </p:nvSpPr>
        <p:spPr>
          <a:xfrm>
            <a:off x="3355920" y="183780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125" name="TextBox 109"/>
          <p:cNvSpPr/>
          <p:nvPr/>
        </p:nvSpPr>
        <p:spPr>
          <a:xfrm>
            <a:off x="3582360" y="2221920"/>
            <a:ext cx="184068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#pragma once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&lt;cstddef&gt;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6" name="Rounded Rectangle 110"/>
          <p:cNvSpPr/>
          <p:nvPr/>
        </p:nvSpPr>
        <p:spPr>
          <a:xfrm>
            <a:off x="502920" y="313632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7" name="TextBox 111"/>
          <p:cNvSpPr/>
          <p:nvPr/>
        </p:nvSpPr>
        <p:spPr>
          <a:xfrm>
            <a:off x="612720" y="319140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128" name="TextBox 112"/>
          <p:cNvSpPr/>
          <p:nvPr/>
        </p:nvSpPr>
        <p:spPr>
          <a:xfrm>
            <a:off x="820080" y="3575160"/>
            <a:ext cx="187884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for</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&lt;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031424"/>
                </a:solidFill>
                <a:latin typeface="DejaVu Sans Mono"/>
              </a:rPr>
              <a:t>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total;</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9" name="Rounded Rectangle 113"/>
          <p:cNvSpPr/>
          <p:nvPr/>
        </p:nvSpPr>
        <p:spPr>
          <a:xfrm>
            <a:off x="3246120" y="313632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0" name="TextBox 114"/>
          <p:cNvSpPr/>
          <p:nvPr/>
        </p:nvSpPr>
        <p:spPr>
          <a:xfrm>
            <a:off x="3355920" y="319140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131" name="TextBox 115"/>
          <p:cNvSpPr/>
          <p:nvPr/>
        </p:nvSpPr>
        <p:spPr>
          <a:xfrm>
            <a:off x="3738960" y="3575160"/>
            <a:ext cx="1527480" cy="1020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&lt;pybind11/pybind11.h&gt;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&lt;pybind11/numpy.h&gt;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namespace</a:t>
            </a:r>
            <a:r>
              <a:rPr b="0" lang="en-US" sz="530" spc="-1" strike="noStrike">
                <a:solidFill>
                  <a:srgbClr val="bbbbbb"/>
                </a:solidFill>
                <a:latin typeface="DejaVu Sans Mono"/>
              </a:rPr>
              <a:t> </a:t>
            </a:r>
            <a:r>
              <a:rPr b="1" lang="en-US" sz="530" spc="-1" strike="noStrike">
                <a:solidFill>
                  <a:srgbClr val="0e84b5"/>
                </a:solidFill>
                <a:latin typeface="DejaVu Sans Mono"/>
              </a:rPr>
              <a:t>py</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1" lang="en-US" sz="530" spc="-1" strike="noStrike">
                <a:solidFill>
                  <a:srgbClr val="0e84b5"/>
                </a:solidFill>
                <a:latin typeface="DejaVu Sans Mono"/>
              </a:rPr>
              <a:t>pybind11</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PYBIND11_MODULE(_native,</a:t>
            </a:r>
            <a:r>
              <a:rPr b="0" lang="en-US" sz="530" spc="-1" strike="noStrike">
                <a:solidFill>
                  <a:srgbClr val="bbbbbb"/>
                </a:solidFill>
                <a:latin typeface="DejaVu Sans Mono"/>
              </a:rPr>
              <a:t> </a:t>
            </a:r>
            <a:r>
              <a:rPr b="0" lang="en-US" sz="530" spc="-1" strike="noStrike">
                <a:solidFill>
                  <a:srgbClr val="031424"/>
                </a:solidFill>
                <a:latin typeface="DejaVu Sans Mono"/>
              </a:rPr>
              <a:t>m)</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m.def(</a:t>
            </a:r>
            <a:r>
              <a:rPr b="0" lang="en-US" sz="530" spc="-1" strike="noStrike">
                <a:solidFill>
                  <a:srgbClr val="4070a0"/>
                </a:solidFill>
                <a:latin typeface="DejaVu Sans Mono"/>
              </a:rPr>
              <a:t>"sum_sq"</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array_t</a:t>
            </a:r>
            <a:r>
              <a:rPr b="0" lang="en-US" sz="530" spc="-1" strike="noStrike">
                <a:solidFill>
                  <a:srgbClr val="666666"/>
                </a:solidFill>
                <a:latin typeface="DejaVu Sans Mono"/>
              </a:rPr>
              <a:t>&lt;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a:t>
            </a:r>
            <a:r>
              <a:rPr b="0" lang="en-US" sz="530" spc="-1" strike="noStrike">
                <a:solidFill>
                  <a:srgbClr val="666666"/>
                </a:solidFill>
                <a:latin typeface="DejaVu Sans Mono"/>
              </a:rPr>
              <a:t>::</a:t>
            </a:r>
            <a:r>
              <a:rPr b="0" lang="en-US" sz="530" spc="-1" strike="noStrike">
                <a:solidFill>
                  <a:srgbClr val="031424"/>
                </a:solidFill>
                <a:latin typeface="DejaVu Sans Mono"/>
              </a:rPr>
              <a:t>c_style</a:t>
            </a:r>
            <a:r>
              <a:rPr b="0" lang="en-US" sz="530" spc="-1" strike="noStrike">
                <a:solidFill>
                  <a:srgbClr val="666666"/>
                </a:solidFill>
                <a:latin typeface="DejaVu Sans Mono"/>
              </a:rPr>
              <a:t>&gt;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sum_sq(x.data(),</a:t>
            </a:r>
            <a:r>
              <a:rPr b="0" lang="en-US" sz="530" spc="-1" strike="noStrike">
                <a:solidFill>
                  <a:srgbClr val="bbbbbb"/>
                </a:solidFill>
                <a:latin typeface="DejaVu Sans Mono"/>
              </a:rPr>
              <a:t> </a:t>
            </a:r>
            <a:r>
              <a:rPr b="0" lang="en-US" sz="530" spc="-1" strike="noStrike">
                <a:solidFill>
                  <a:srgbClr val="031424"/>
                </a:solidFill>
                <a:latin typeface="DejaVu Sans Mono"/>
              </a:rPr>
              <a:t>x.size());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2" name="Rounded Rectangle 116"/>
          <p:cNvSpPr/>
          <p:nvPr/>
        </p:nvSpPr>
        <p:spPr>
          <a:xfrm>
            <a:off x="502920" y="448956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3" name="TextBox 117"/>
          <p:cNvSpPr/>
          <p:nvPr/>
        </p:nvSpPr>
        <p:spPr>
          <a:xfrm>
            <a:off x="612720" y="454464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a:t>
            </a:r>
            <a:endParaRPr b="0" lang="en-US" sz="1500" spc="-1" strike="noStrike">
              <a:solidFill>
                <a:srgbClr val="000000"/>
              </a:solidFill>
              <a:latin typeface="Arial"/>
            </a:endParaRPr>
          </a:p>
        </p:txBody>
      </p:sp>
      <p:sp>
        <p:nvSpPr>
          <p:cNvPr id="134" name="TextBox 118"/>
          <p:cNvSpPr/>
          <p:nvPr/>
        </p:nvSpPr>
        <p:spPr>
          <a:xfrm>
            <a:off x="956160" y="4928760"/>
            <a:ext cx="160632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import</a:t>
            </a:r>
            <a:r>
              <a:rPr b="0" lang="en-US" sz="530" spc="-1" strike="noStrike">
                <a:solidFill>
                  <a:srgbClr val="031424"/>
                </a:solidFill>
                <a:latin typeface="DejaVu Sans Mono"/>
              </a:rPr>
              <a:t> </a:t>
            </a:r>
            <a:r>
              <a:rPr b="1" lang="en-US" sz="530" spc="-1" strike="noStrike">
                <a:solidFill>
                  <a:srgbClr val="0e84b5"/>
                </a:solidFill>
                <a:latin typeface="DejaVu Sans Mono"/>
              </a:rPr>
              <a:t>numpy</a:t>
            </a:r>
            <a:r>
              <a:rPr b="0" lang="en-US" sz="530" spc="-1" strike="noStrike">
                <a:solidFill>
                  <a:srgbClr val="031424"/>
                </a:solidFill>
                <a:latin typeface="DejaVu Sans Mono"/>
              </a:rPr>
              <a:t> </a:t>
            </a:r>
            <a:r>
              <a:rPr b="1" lang="en-US" sz="530" spc="-1" strike="noStrike">
                <a:solidFill>
                  <a:srgbClr val="007020"/>
                </a:solidFill>
                <a:latin typeface="DejaVu Sans Mono"/>
              </a:rPr>
              <a:t>as</a:t>
            </a:r>
            <a:r>
              <a:rPr b="0" lang="en-US" sz="530" spc="-1" strike="noStrike">
                <a:solidFill>
                  <a:srgbClr val="031424"/>
                </a:solidFill>
                <a:latin typeface="DejaVu Sans Mono"/>
              </a:rPr>
              <a:t> </a:t>
            </a:r>
            <a:r>
              <a:rPr b="1" lang="en-US" sz="530" spc="-1" strike="noStrike">
                <a:solidFill>
                  <a:srgbClr val="0e84b5"/>
                </a:solidFill>
                <a:latin typeface="DejaVu Sans Mono"/>
              </a:rPr>
              <a:t>np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_native</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 </a:t>
            </a:r>
            <a:r>
              <a:rPr b="1" lang="en-US" sz="530" spc="-1" strike="noStrike">
                <a:solidFill>
                  <a:srgbClr val="007020"/>
                </a:solidFill>
                <a:latin typeface="DejaVu Sans Mono"/>
              </a:rPr>
              <a:t>as</a:t>
            </a:r>
            <a:r>
              <a:rPr b="0" lang="en-US" sz="530" spc="-1" strike="noStrike">
                <a:solidFill>
                  <a:srgbClr val="031424"/>
                </a:solidFill>
                <a:latin typeface="DejaVu Sans Mono"/>
              </a:rPr>
              <a:t> native_sum</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def</a:t>
            </a:r>
            <a:r>
              <a:rPr b="0" lang="en-US" sz="530" spc="-1" strike="noStrike">
                <a:solidFill>
                  <a:srgbClr val="031424"/>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(values):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x </a:t>
            </a:r>
            <a:r>
              <a:rPr b="0" lang="en-US" sz="530" spc="-1" strike="noStrike">
                <a:solidFill>
                  <a:srgbClr val="666666"/>
                </a:solidFill>
                <a:latin typeface="DejaVu Sans Mono"/>
              </a:rPr>
              <a:t>=</a:t>
            </a:r>
            <a:r>
              <a:rPr b="0" lang="en-US" sz="530" spc="-1" strike="noStrike">
                <a:solidFill>
                  <a:srgbClr val="031424"/>
                </a:solidFill>
                <a:latin typeface="DejaVu Sans Mono"/>
              </a:rPr>
              <a:t> np</a:t>
            </a:r>
            <a:r>
              <a:rPr b="0" lang="en-US" sz="530" spc="-1" strike="noStrike">
                <a:solidFill>
                  <a:srgbClr val="666666"/>
                </a:solidFill>
                <a:latin typeface="DejaVu Sans Mono"/>
              </a:rPr>
              <a:t>.</a:t>
            </a:r>
            <a:r>
              <a:rPr b="0" lang="en-US" sz="530" spc="-1" strike="noStrike">
                <a:solidFill>
                  <a:srgbClr val="031424"/>
                </a:solidFill>
                <a:latin typeface="DejaVu Sans Mono"/>
              </a:rPr>
              <a:t>ascontiguousarray(</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values, dtype</a:t>
            </a:r>
            <a:r>
              <a:rPr b="0" lang="en-US" sz="530" spc="-1" strike="noStrike">
                <a:solidFill>
                  <a:srgbClr val="666666"/>
                </a:solidFill>
                <a:latin typeface="DejaVu Sans Mono"/>
              </a:rPr>
              <a:t>=</a:t>
            </a:r>
            <a:r>
              <a:rPr b="0" lang="en-US" sz="530" spc="-1" strike="noStrike">
                <a:solidFill>
                  <a:srgbClr val="031424"/>
                </a:solidFill>
                <a:latin typeface="DejaVu Sans Mono"/>
              </a:rPr>
              <a:t>np</a:t>
            </a:r>
            <a:r>
              <a:rPr b="0" lang="en-US" sz="530" spc="-1" strike="noStrike">
                <a:solidFill>
                  <a:srgbClr val="666666"/>
                </a:solidFill>
                <a:latin typeface="DejaVu Sans Mono"/>
              </a:rPr>
              <a:t>.</a:t>
            </a:r>
            <a:r>
              <a:rPr b="0" lang="en-US" sz="530" spc="-1" strike="noStrike">
                <a:solidFill>
                  <a:srgbClr val="031424"/>
                </a:solidFill>
                <a:latin typeface="DejaVu Sans Mono"/>
              </a:rPr>
              <a:t>float64)</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1" lang="en-US" sz="530" spc="-1" strike="noStrike">
                <a:solidFill>
                  <a:srgbClr val="007020"/>
                </a:solidFill>
                <a:latin typeface="DejaVu Sans Mono"/>
              </a:rPr>
              <a:t>return</a:t>
            </a:r>
            <a:r>
              <a:rPr b="0" lang="en-US" sz="530" spc="-1" strike="noStrike">
                <a:solidFill>
                  <a:srgbClr val="031424"/>
                </a:solidFill>
                <a:latin typeface="DejaVu Sans Mono"/>
              </a:rPr>
              <a:t> native_sum(x)</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5" name="Rounded Rectangle 119"/>
          <p:cNvSpPr/>
          <p:nvPr/>
        </p:nvSpPr>
        <p:spPr>
          <a:xfrm>
            <a:off x="3246120" y="4489560"/>
            <a:ext cx="2513160" cy="1260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6" name="TextBox 120"/>
          <p:cNvSpPr/>
          <p:nvPr/>
        </p:nvSpPr>
        <p:spPr>
          <a:xfrm>
            <a:off x="3355920" y="4544640"/>
            <a:ext cx="229356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37" name="TextBox 121"/>
          <p:cNvSpPr/>
          <p:nvPr/>
        </p:nvSpPr>
        <p:spPr>
          <a:xfrm>
            <a:off x="3962520" y="4928760"/>
            <a:ext cx="108036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api</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print</a:t>
            </a:r>
            <a:r>
              <a:rPr b="0" lang="en-US" sz="530" spc="-1" strike="noStrike">
                <a:solidFill>
                  <a:srgbClr val="031424"/>
                </a:solidFill>
                <a:latin typeface="DejaVu Sans Mono"/>
              </a:rPr>
              <a:t>(sum_sq([</a:t>
            </a:r>
            <a:r>
              <a:rPr b="0" lang="en-US" sz="530" spc="-1" strike="noStrike">
                <a:solidFill>
                  <a:srgbClr val="40a070"/>
                </a:solidFill>
                <a:latin typeface="DejaVu Sans Mono"/>
              </a:rPr>
              <a:t>1.</a:t>
            </a:r>
            <a:r>
              <a:rPr b="0" lang="en-US" sz="530" spc="-1" strike="noStrike">
                <a:solidFill>
                  <a:srgbClr val="031424"/>
                </a:solidFill>
                <a:latin typeface="DejaVu Sans Mono"/>
              </a:rPr>
              <a:t>, </a:t>
            </a:r>
            <a:r>
              <a:rPr b="0" lang="en-US" sz="530" spc="-1" strike="noStrike">
                <a:solidFill>
                  <a:srgbClr val="40a070"/>
                </a:solidFill>
                <a:latin typeface="DejaVu Sans Mono"/>
              </a:rPr>
              <a:t>2.</a:t>
            </a:r>
            <a:r>
              <a:rPr b="0" lang="en-US" sz="530" spc="-1" strike="noStrike">
                <a:solidFill>
                  <a:srgbClr val="031424"/>
                </a:solidFill>
                <a:latin typeface="DejaVu Sans Mono"/>
              </a:rPr>
              <a:t>, </a:t>
            </a:r>
            <a:r>
              <a:rPr b="0" lang="en-US" sz="530" spc="-1" strike="noStrike">
                <a:solidFill>
                  <a:srgbClr val="40a070"/>
                </a:solidFill>
                <a:latin typeface="DejaVu Sans Mono"/>
              </a:rPr>
              <a:t>3.</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8" name="TextBox 122"/>
          <p:cNvSpPr/>
          <p:nvPr/>
        </p:nvSpPr>
        <p:spPr>
          <a:xfrm>
            <a:off x="502920" y="5925240"/>
            <a:ext cx="530208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031424"/>
                </a:solidFill>
                <a:latin typeface="Roboto"/>
              </a:rPr>
              <a:t>Configure → build → import → run</a:t>
            </a:r>
            <a:endParaRPr b="0" lang="en-US" sz="1800" spc="-1" strike="noStrike">
              <a:solidFill>
                <a:srgbClr val="000000"/>
              </a:solidFill>
              <a:latin typeface="Arial"/>
            </a:endParaRPr>
          </a:p>
        </p:txBody>
      </p:sp>
      <p:sp>
        <p:nvSpPr>
          <p:cNvPr id="139" name="Rectangle 123"/>
          <p:cNvSpPr/>
          <p:nvPr/>
        </p:nvSpPr>
        <p:spPr>
          <a:xfrm>
            <a:off x="5961960" y="1280160"/>
            <a:ext cx="30600" cy="5119200"/>
          </a:xfrm>
          <a:prstGeom prst="rect">
            <a:avLst/>
          </a:prstGeom>
          <a:solidFill>
            <a:srgbClr val="e6bc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40" name="TextBox 124"/>
          <p:cNvSpPr/>
          <p:nvPr/>
        </p:nvSpPr>
        <p:spPr>
          <a:xfrm>
            <a:off x="6849720" y="1828800"/>
            <a:ext cx="4358520" cy="3418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300" spc="-1" strike="noStrike">
                <a:solidFill>
                  <a:srgbClr val="007020"/>
                </a:solidFill>
                <a:latin typeface="DejaVu Sans Mono"/>
              </a:rPr>
              <a:t>import</a:t>
            </a:r>
            <a:r>
              <a:rPr b="0" lang="en-US" sz="1300" spc="-1" strike="noStrike">
                <a:solidFill>
                  <a:srgbClr val="031424"/>
                </a:solidFill>
                <a:latin typeface="DejaVu Sans Mono"/>
              </a:rPr>
              <a:t> </a:t>
            </a:r>
            <a:r>
              <a:rPr b="1" lang="en-US" sz="1300" spc="-1" strike="noStrike">
                <a:solidFill>
                  <a:srgbClr val="0e84b5"/>
                </a:solidFill>
                <a:latin typeface="DejaVu Sans Mono"/>
              </a:rPr>
              <a:t>numpy</a:t>
            </a:r>
            <a:r>
              <a:rPr b="0" lang="en-US" sz="1300" spc="-1" strike="noStrike">
                <a:solidFill>
                  <a:srgbClr val="031424"/>
                </a:solidFill>
                <a:latin typeface="DejaVu Sans Mono"/>
              </a:rPr>
              <a:t> </a:t>
            </a:r>
            <a:r>
              <a:rPr b="1" lang="en-US" sz="1300" spc="-1" strike="noStrike">
                <a:solidFill>
                  <a:srgbClr val="007020"/>
                </a:solidFill>
                <a:latin typeface="DejaVu Sans Mono"/>
              </a:rPr>
              <a:t>as</a:t>
            </a:r>
            <a:r>
              <a:rPr b="0" lang="en-US" sz="1300" spc="-1" strike="noStrike">
                <a:solidFill>
                  <a:srgbClr val="031424"/>
                </a:solidFill>
                <a:latin typeface="DejaVu Sans Mono"/>
              </a:rPr>
              <a:t> </a:t>
            </a:r>
            <a:r>
              <a:rPr b="1" lang="en-US" sz="1300" spc="-1" strike="noStrike">
                <a:solidFill>
                  <a:srgbClr val="0e84b5"/>
                </a:solidFill>
                <a:latin typeface="DejaVu Sans Mono"/>
              </a:rPr>
              <a:t>np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cppyy_kit.numpy_types</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NDArray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1" lang="en-US" sz="1300" spc="-1" strike="noStrike">
                <a:solidFill>
                  <a:srgbClr val="555555"/>
                </a:solidFill>
                <a:latin typeface="DejaVu Sans Mono"/>
              </a:rPr>
              <a:t>@cpp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def</a:t>
            </a:r>
            <a:r>
              <a:rPr b="0" lang="en-US" sz="1300" spc="-1" strike="noStrike">
                <a:solidFill>
                  <a:srgbClr val="031424"/>
                </a:solidFill>
                <a:latin typeface="DejaVu Sans Mono"/>
              </a:rPr>
              <a:t> </a:t>
            </a:r>
            <a:r>
              <a:rPr b="0" lang="en-US" sz="1300" spc="-1" strike="noStrike">
                <a:solidFill>
                  <a:srgbClr val="06287e"/>
                </a:solidFill>
                <a:latin typeface="DejaVu Sans Mono"/>
              </a:rPr>
              <a:t>sum_sq</a:t>
            </a:r>
            <a:r>
              <a:rPr b="0" lang="en-US" sz="1300" spc="-1" strike="noStrike">
                <a:solidFill>
                  <a:srgbClr val="031424"/>
                </a:solidFill>
                <a:latin typeface="DejaVu Sans Mono"/>
              </a:rPr>
              <a:t>(x: NDArray[np</a:t>
            </a:r>
            <a:r>
              <a:rPr b="0" lang="en-US" sz="1300" spc="-1" strike="noStrike">
                <a:solidFill>
                  <a:srgbClr val="666666"/>
                </a:solidFill>
                <a:latin typeface="DejaVu Sans Mono"/>
              </a:rPr>
              <a:t>.</a:t>
            </a:r>
            <a:r>
              <a:rPr b="0" lang="en-US" sz="1300" spc="-1" strike="noStrike">
                <a:solidFill>
                  <a:srgbClr val="031424"/>
                </a:solidFill>
                <a:latin typeface="DejaVu Sans Mono"/>
              </a:rPr>
              <a:t>float64]) </a:t>
            </a:r>
            <a:r>
              <a:rPr b="0" lang="en-US" sz="1300" spc="-1" strike="noStrike">
                <a:solidFill>
                  <a:srgbClr val="666666"/>
                </a:solidFill>
                <a:latin typeface="DejaVu Sans Mono"/>
              </a:rPr>
              <a:t>-&gt;</a:t>
            </a:r>
            <a:r>
              <a:rPr b="0" lang="en-US" sz="1300" spc="-1" strike="noStrike">
                <a:solidFill>
                  <a:srgbClr val="031424"/>
                </a:solidFill>
                <a:latin typeface="DejaVu Sans Mono"/>
              </a:rPr>
              <a:t> </a:t>
            </a:r>
            <a:r>
              <a:rPr b="0" lang="en-US" sz="1300" spc="-1" strike="noStrike">
                <a:solidFill>
                  <a:srgbClr val="007020"/>
                </a:solidFill>
                <a:latin typeface="DejaVu Sans Mono"/>
              </a:rPr>
              <a:t>float</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bbbbbb"/>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double total = 0;</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for (size_t i = 0; i &lt; x_size; ++i)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total += x[i] * x[i];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return total;</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x </a:t>
            </a:r>
            <a:r>
              <a:rPr b="0" lang="en-US" sz="1300" spc="-1" strike="noStrike">
                <a:solidFill>
                  <a:srgbClr val="666666"/>
                </a:solidFill>
                <a:latin typeface="DejaVu Sans Mono"/>
              </a:rPr>
              <a:t>=</a:t>
            </a:r>
            <a:r>
              <a:rPr b="0" lang="en-US" sz="1300" spc="-1" strike="noStrike">
                <a:solidFill>
                  <a:srgbClr val="031424"/>
                </a:solidFill>
                <a:latin typeface="DejaVu Sans Mono"/>
              </a:rPr>
              <a:t> np</a:t>
            </a:r>
            <a:r>
              <a:rPr b="0" lang="en-US" sz="1300" spc="-1" strike="noStrike">
                <a:solidFill>
                  <a:srgbClr val="666666"/>
                </a:solidFill>
                <a:latin typeface="DejaVu Sans Mono"/>
              </a:rPr>
              <a:t>.</a:t>
            </a:r>
            <a:r>
              <a:rPr b="0" lang="en-US" sz="1300" spc="-1" strike="noStrike">
                <a:solidFill>
                  <a:srgbClr val="031424"/>
                </a:solidFill>
                <a:latin typeface="DejaVu Sans Mono"/>
              </a:rPr>
              <a:t>array([</a:t>
            </a:r>
            <a:r>
              <a:rPr b="0" lang="en-US" sz="1300" spc="-1" strike="noStrike">
                <a:solidFill>
                  <a:srgbClr val="40a070"/>
                </a:solidFill>
                <a:latin typeface="DejaVu Sans Mono"/>
              </a:rPr>
              <a:t>1.</a:t>
            </a:r>
            <a:r>
              <a:rPr b="0" lang="en-US" sz="1300" spc="-1" strike="noStrike">
                <a:solidFill>
                  <a:srgbClr val="031424"/>
                </a:solidFill>
                <a:latin typeface="DejaVu Sans Mono"/>
              </a:rPr>
              <a:t>, </a:t>
            </a:r>
            <a:r>
              <a:rPr b="0" lang="en-US" sz="1300" spc="-1" strike="noStrike">
                <a:solidFill>
                  <a:srgbClr val="40a070"/>
                </a:solidFill>
                <a:latin typeface="DejaVu Sans Mono"/>
              </a:rPr>
              <a:t>2.</a:t>
            </a:r>
            <a:r>
              <a:rPr b="0" lang="en-US" sz="1300" spc="-1" strike="noStrike">
                <a:solidFill>
                  <a:srgbClr val="031424"/>
                </a:solidFill>
                <a:latin typeface="DejaVu Sans Mono"/>
              </a:rPr>
              <a:t>, </a:t>
            </a:r>
            <a:r>
              <a:rPr b="0" lang="en-US" sz="1300" spc="-1" strike="noStrike">
                <a:solidFill>
                  <a:srgbClr val="40a070"/>
                </a:solidFill>
                <a:latin typeface="DejaVu Sans Mono"/>
              </a:rPr>
              <a:t>3.</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07020"/>
                </a:solidFill>
                <a:latin typeface="DejaVu Sans Mono"/>
              </a:rPr>
              <a:t>print</a:t>
            </a:r>
            <a:r>
              <a:rPr b="0" lang="en-US" sz="1300" spc="-1" strike="noStrike">
                <a:solidFill>
                  <a:srgbClr val="031424"/>
                </a:solidFill>
                <a:latin typeface="DejaVu Sans Mono"/>
              </a:rPr>
              <a:t>(sum_sq(x))</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
        <p:nvSpPr>
          <p:cNvPr id="141" name="TextBox 125"/>
          <p:cNvSpPr/>
          <p:nvPr/>
        </p:nvSpPr>
        <p:spPr>
          <a:xfrm>
            <a:off x="6355080" y="5897880"/>
            <a:ext cx="5210640" cy="6080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700" spc="-1" strike="noStrike">
                <a:solidFill>
                  <a:srgbClr val="031424"/>
                </a:solidFill>
                <a:latin typeface="Roboto"/>
              </a:rPr>
              <a:t>Run Python. The kit handles the native function.</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2" name="Picture 5" descr=""/>
          <p:cNvPicPr/>
          <p:nvPr/>
        </p:nvPicPr>
        <p:blipFill>
          <a:blip r:embed="rId1"/>
          <a:stretch/>
        </p:blipFill>
        <p:spPr>
          <a:xfrm>
            <a:off x="10623600" y="345600"/>
            <a:ext cx="1059120" cy="1059120"/>
          </a:xfrm>
          <a:prstGeom prst="rect">
            <a:avLst/>
          </a:prstGeom>
          <a:ln w="0">
            <a:noFill/>
          </a:ln>
        </p:spPr>
      </p:pic>
      <p:cxnSp>
        <p:nvCxnSpPr>
          <p:cNvPr id="143" name="Straight Connector 7"/>
          <p:cNvCxnSpPr/>
          <p:nvPr/>
        </p:nvCxnSpPr>
        <p:spPr>
          <a:xfrm>
            <a:off x="0" y="1134720"/>
            <a:ext cx="4365360" cy="1800"/>
          </a:xfrm>
          <a:prstGeom prst="straightConnector1">
            <a:avLst/>
          </a:prstGeom>
          <a:ln w="38100">
            <a:solidFill>
              <a:srgbClr val="fed021"/>
            </a:solidFill>
            <a:round/>
          </a:ln>
        </p:spPr>
      </p:cxnSp>
      <p:sp>
        <p:nvSpPr>
          <p:cNvPr id="144" name="TextBox 143"/>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45" name="TextBox 144"/>
          <p:cNvSpPr/>
          <p:nvPr/>
        </p:nvSpPr>
        <p:spPr>
          <a:xfrm>
            <a:off x="1270080" y="1170360"/>
            <a:ext cx="678528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6" name="Picture 5" descr=""/>
          <p:cNvPicPr/>
          <p:nvPr/>
        </p:nvPicPr>
        <p:blipFill>
          <a:blip r:embed="rId1"/>
          <a:stretch/>
        </p:blipFill>
        <p:spPr>
          <a:xfrm>
            <a:off x="10623600" y="345600"/>
            <a:ext cx="1059120" cy="1059120"/>
          </a:xfrm>
          <a:prstGeom prst="rect">
            <a:avLst/>
          </a:prstGeom>
          <a:ln w="0">
            <a:noFill/>
          </a:ln>
        </p:spPr>
      </p:pic>
      <p:cxnSp>
        <p:nvCxnSpPr>
          <p:cNvPr id="147" name="Straight Connector 7"/>
          <p:cNvCxnSpPr/>
          <p:nvPr/>
        </p:nvCxnSpPr>
        <p:spPr>
          <a:xfrm>
            <a:off x="0" y="1134720"/>
            <a:ext cx="4365360" cy="1800"/>
          </a:xfrm>
          <a:prstGeom prst="straightConnector1">
            <a:avLst/>
          </a:prstGeom>
          <a:ln w="38100">
            <a:solidFill>
              <a:srgbClr val="fed021"/>
            </a:solidFill>
            <a:round/>
          </a:ln>
        </p:spPr>
      </p:cxnSp>
      <p:sp>
        <p:nvSpPr>
          <p:cNvPr id="148" name="TextBox 151"/>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49" name="TextBox 152"/>
          <p:cNvSpPr/>
          <p:nvPr/>
        </p:nvSpPr>
        <p:spPr>
          <a:xfrm>
            <a:off x="1270080" y="1170360"/>
            <a:ext cx="678528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
        <p:nvSpPr>
          <p:cNvPr id="150" name="Freeform 1"/>
          <p:cNvSpPr/>
          <p:nvPr/>
        </p:nvSpPr>
        <p:spPr>
          <a:xfrm>
            <a:off x="5029200" y="1774080"/>
            <a:ext cx="4068000" cy="1178640"/>
          </a:xfrm>
          <a:custGeom>
            <a:avLst/>
            <a:gdLst>
              <a:gd name="textAreaLeft" fmla="*/ 0 w 4068000"/>
              <a:gd name="textAreaRight" fmla="*/ 4069080 w 4068000"/>
              <a:gd name="textAreaTop" fmla="*/ 0 h 1178640"/>
              <a:gd name="textAreaBottom" fmla="*/ 1179720 h 1178640"/>
            </a:gdLst>
            <a:ahLst/>
            <a:rect l="textAreaLeft" t="textAreaTop" r="textAreaRight" b="textAreaBottom"/>
            <a:pathLst>
              <a:path w="4069080" h="1179576">
                <a:moveTo>
                  <a:pt x="4069080" y="0"/>
                </a:moveTo>
                <a:lnTo>
                  <a:pt x="0" y="1179576"/>
                </a:lnTo>
                <a:lnTo>
                  <a:pt x="406908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1" name="Rounded Rectangle 153"/>
          <p:cNvSpPr/>
          <p:nvPr/>
        </p:nvSpPr>
        <p:spPr>
          <a:xfrm>
            <a:off x="9006840" y="1481400"/>
            <a:ext cx="2696400" cy="7671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2" name="TextBox 154"/>
          <p:cNvSpPr/>
          <p:nvPr/>
        </p:nvSpPr>
        <p:spPr>
          <a:xfrm>
            <a:off x="9135000" y="1554480"/>
            <a:ext cx="244044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Release the GIL: Python threads can continue.</a:t>
            </a:r>
            <a:endParaRPr b="0" lang="en-US" sz="1600" spc="-1" strike="noStrike">
              <a:solidFill>
                <a:srgbClr val="000000"/>
              </a:solidFill>
              <a:latin typeface="Arial"/>
            </a:endParaRPr>
          </a:p>
        </p:txBody>
      </p:sp>
      <p:sp>
        <p:nvSpPr>
          <p:cNvPr id="153" name="Freeform 2"/>
          <p:cNvSpPr/>
          <p:nvPr/>
        </p:nvSpPr>
        <p:spPr>
          <a:xfrm>
            <a:off x="7498080" y="3145680"/>
            <a:ext cx="1599120" cy="1270080"/>
          </a:xfrm>
          <a:custGeom>
            <a:avLst/>
            <a:gdLst>
              <a:gd name="textAreaLeft" fmla="*/ 0 w 1599120"/>
              <a:gd name="textAreaRight" fmla="*/ 1600200 w 1599120"/>
              <a:gd name="textAreaTop" fmla="*/ 0 h 1270080"/>
              <a:gd name="textAreaBottom" fmla="*/ 1271160 h 1270080"/>
            </a:gdLst>
            <a:ahLst/>
            <a:rect l="textAreaLeft" t="textAreaTop" r="textAreaRight" b="textAreaBottom"/>
            <a:pathLst>
              <a:path w="1600201" h="1271016">
                <a:moveTo>
                  <a:pt x="1600201" y="0"/>
                </a:moveTo>
                <a:lnTo>
                  <a:pt x="0" y="1271016"/>
                </a:lnTo>
                <a:lnTo>
                  <a:pt x="1600201"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4" name="Rounded Rectangle 155"/>
          <p:cNvSpPr/>
          <p:nvPr/>
        </p:nvSpPr>
        <p:spPr>
          <a:xfrm>
            <a:off x="9006840" y="2853000"/>
            <a:ext cx="2696400" cy="7671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5" name="TextBox 156"/>
          <p:cNvSpPr/>
          <p:nvPr/>
        </p:nvSpPr>
        <p:spPr>
          <a:xfrm>
            <a:off x="9135000" y="2926080"/>
            <a:ext cx="244044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Split candidates across native workers.</a:t>
            </a:r>
            <a:endParaRPr b="0" lang="en-US" sz="1600" spc="-1" strike="noStrike">
              <a:solidFill>
                <a:srgbClr val="000000"/>
              </a:solidFill>
              <a:latin typeface="Arial"/>
            </a:endParaRPr>
          </a:p>
        </p:txBody>
      </p:sp>
      <p:sp>
        <p:nvSpPr>
          <p:cNvPr id="156" name="Freeform 3"/>
          <p:cNvSpPr/>
          <p:nvPr/>
        </p:nvSpPr>
        <p:spPr>
          <a:xfrm>
            <a:off x="6766560" y="4498920"/>
            <a:ext cx="2330640" cy="282240"/>
          </a:xfrm>
          <a:custGeom>
            <a:avLst/>
            <a:gdLst>
              <a:gd name="textAreaLeft" fmla="*/ 0 w 2330640"/>
              <a:gd name="textAreaRight" fmla="*/ 2331720 w 2330640"/>
              <a:gd name="textAreaTop" fmla="*/ 0 h 282240"/>
              <a:gd name="textAreaBottom" fmla="*/ 283320 h 282240"/>
            </a:gdLst>
            <a:ahLst/>
            <a:rect l="textAreaLeft" t="textAreaTop" r="textAreaRight" b="textAreaBottom"/>
            <a:pathLst>
              <a:path w="2331720" h="283464">
                <a:moveTo>
                  <a:pt x="2331720" y="0"/>
                </a:moveTo>
                <a:lnTo>
                  <a:pt x="0" y="283464"/>
                </a:lnTo>
                <a:lnTo>
                  <a:pt x="233172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7" name="Rounded Rectangle 157"/>
          <p:cNvSpPr/>
          <p:nvPr/>
        </p:nvSpPr>
        <p:spPr>
          <a:xfrm>
            <a:off x="9006840" y="4206240"/>
            <a:ext cx="2696400" cy="7671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8" name="TextBox 158"/>
          <p:cNvSpPr/>
          <p:nvPr/>
        </p:nvSpPr>
        <p:spPr>
          <a:xfrm>
            <a:off x="9135000" y="4279320"/>
            <a:ext cx="244044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Eigen views: use the existing coordinates.</a:t>
            </a:r>
            <a:endParaRPr b="0" lang="en-US" sz="1600" spc="-1" strike="noStrike">
              <a:solidFill>
                <a:srgbClr val="000000"/>
              </a:solidFill>
              <a:latin typeface="Arial"/>
            </a:endParaRPr>
          </a:p>
        </p:txBody>
      </p:sp>
      <p:sp>
        <p:nvSpPr>
          <p:cNvPr id="159" name="Freeform 4"/>
          <p:cNvSpPr/>
          <p:nvPr/>
        </p:nvSpPr>
        <p:spPr>
          <a:xfrm>
            <a:off x="7955280" y="5513760"/>
            <a:ext cx="1141920" cy="447120"/>
          </a:xfrm>
          <a:custGeom>
            <a:avLst/>
            <a:gdLst>
              <a:gd name="textAreaLeft" fmla="*/ 0 w 1141920"/>
              <a:gd name="textAreaRight" fmla="*/ 1143000 w 1141920"/>
              <a:gd name="textAreaTop" fmla="*/ 0 h 447120"/>
              <a:gd name="textAreaBottom" fmla="*/ 448200 h 447120"/>
            </a:gdLst>
            <a:ahLst/>
            <a:rect l="textAreaLeft" t="textAreaTop" r="textAreaRight" b="textAreaBottom"/>
            <a:pathLst>
              <a:path w="1143001" h="448056">
                <a:moveTo>
                  <a:pt x="1143001" y="173736"/>
                </a:moveTo>
                <a:lnTo>
                  <a:pt x="0" y="0"/>
                </a:lnTo>
                <a:lnTo>
                  <a:pt x="1143001" y="448056"/>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0" name="Rounded Rectangle 159"/>
          <p:cNvSpPr/>
          <p:nvPr/>
        </p:nvSpPr>
        <p:spPr>
          <a:xfrm>
            <a:off x="9006840" y="5394960"/>
            <a:ext cx="2696400" cy="8931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1" name="TextBox 160"/>
          <p:cNvSpPr/>
          <p:nvPr/>
        </p:nvSpPr>
        <p:spPr>
          <a:xfrm>
            <a:off x="9135000" y="5468040"/>
            <a:ext cx="2440440" cy="820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Distance error → square → sum. Higher score wins.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2" name="Picture 5" descr=""/>
          <p:cNvPicPr/>
          <p:nvPr/>
        </p:nvPicPr>
        <p:blipFill>
          <a:blip r:embed="rId1"/>
          <a:stretch/>
        </p:blipFill>
        <p:spPr>
          <a:xfrm>
            <a:off x="10623600" y="345600"/>
            <a:ext cx="1059120" cy="1059120"/>
          </a:xfrm>
          <a:prstGeom prst="rect">
            <a:avLst/>
          </a:prstGeom>
          <a:ln w="0">
            <a:noFill/>
          </a:ln>
        </p:spPr>
      </p:pic>
      <p:cxnSp>
        <p:nvCxnSpPr>
          <p:cNvPr id="163" name="Straight Connector 7"/>
          <p:cNvCxnSpPr/>
          <p:nvPr/>
        </p:nvCxnSpPr>
        <p:spPr>
          <a:xfrm>
            <a:off x="0" y="1134720"/>
            <a:ext cx="4365360" cy="1800"/>
          </a:xfrm>
          <a:prstGeom prst="straightConnector1">
            <a:avLst/>
          </a:prstGeom>
          <a:ln w="38100">
            <a:solidFill>
              <a:srgbClr val="fed021"/>
            </a:solidFill>
            <a:round/>
          </a:ln>
        </p:spPr>
      </p:cxnSp>
      <p:sp>
        <p:nvSpPr>
          <p:cNvPr id="164" name="TextBox 160"/>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Particle scoring: from Python loops to parallel C++</a:t>
            </a:r>
            <a:endParaRPr b="0" lang="en-US" sz="2800" spc="-1" strike="noStrike">
              <a:solidFill>
                <a:srgbClr val="000000"/>
              </a:solidFill>
              <a:latin typeface="Arial"/>
            </a:endParaRPr>
          </a:p>
        </p:txBody>
      </p:sp>
      <p:sp>
        <p:nvSpPr>
          <p:cNvPr id="165" name="TextBox 161"/>
          <p:cNvSpPr/>
          <p:nvPr/>
        </p:nvSpPr>
        <p:spPr>
          <a:xfrm>
            <a:off x="502920" y="1280160"/>
            <a:ext cx="109717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20,000 candidate positions × 32 landmarks · same inputs and scoring operation</a:t>
            </a:r>
            <a:endParaRPr b="0" lang="en-US" sz="2100" spc="-1" strike="noStrike">
              <a:solidFill>
                <a:srgbClr val="000000"/>
              </a:solidFill>
              <a:latin typeface="Arial"/>
            </a:endParaRPr>
          </a:p>
        </p:txBody>
      </p:sp>
      <p:sp>
        <p:nvSpPr>
          <p:cNvPr id="166" name="TextBox 162"/>
          <p:cNvSpPr/>
          <p:nvPr/>
        </p:nvSpPr>
        <p:spPr>
          <a:xfrm>
            <a:off x="594360" y="196596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Implementation</a:t>
            </a:r>
            <a:endParaRPr b="0" lang="en-US" sz="2100" spc="-1" strike="noStrike">
              <a:solidFill>
                <a:srgbClr val="000000"/>
              </a:solidFill>
              <a:latin typeface="Arial"/>
            </a:endParaRPr>
          </a:p>
        </p:txBody>
      </p:sp>
      <p:sp>
        <p:nvSpPr>
          <p:cNvPr id="167" name="TextBox 163"/>
          <p:cNvSpPr/>
          <p:nvPr/>
        </p:nvSpPr>
        <p:spPr>
          <a:xfrm>
            <a:off x="7543800" y="196596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Median / call</a:t>
            </a:r>
            <a:endParaRPr b="0" lang="en-US" sz="2100" spc="-1" strike="noStrike">
              <a:solidFill>
                <a:srgbClr val="000000"/>
              </a:solidFill>
              <a:latin typeface="Arial"/>
            </a:endParaRPr>
          </a:p>
        </p:txBody>
      </p:sp>
      <p:sp>
        <p:nvSpPr>
          <p:cNvPr id="168" name="TextBox 164"/>
          <p:cNvSpPr/>
          <p:nvPr/>
        </p:nvSpPr>
        <p:spPr>
          <a:xfrm>
            <a:off x="9875520" y="196596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Speedup</a:t>
            </a:r>
            <a:endParaRPr b="0" lang="en-US" sz="2100" spc="-1" strike="noStrike">
              <a:solidFill>
                <a:srgbClr val="000000"/>
              </a:solidFill>
              <a:latin typeface="Arial"/>
            </a:endParaRPr>
          </a:p>
        </p:txBody>
      </p:sp>
      <p:sp>
        <p:nvSpPr>
          <p:cNvPr id="169" name="TextBox 165"/>
          <p:cNvSpPr/>
          <p:nvPr/>
        </p:nvSpPr>
        <p:spPr>
          <a:xfrm>
            <a:off x="594360" y="246888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Python lists + math.hypot</a:t>
            </a:r>
            <a:endParaRPr b="0" lang="en-US" sz="2100" spc="-1" strike="noStrike">
              <a:solidFill>
                <a:srgbClr val="000000"/>
              </a:solidFill>
              <a:latin typeface="Arial"/>
            </a:endParaRPr>
          </a:p>
        </p:txBody>
      </p:sp>
      <p:sp>
        <p:nvSpPr>
          <p:cNvPr id="170" name="TextBox 166"/>
          <p:cNvSpPr/>
          <p:nvPr/>
        </p:nvSpPr>
        <p:spPr>
          <a:xfrm>
            <a:off x="7543800" y="246888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39.182 ms</a:t>
            </a:r>
            <a:endParaRPr b="0" lang="en-US" sz="2100" spc="-1" strike="noStrike">
              <a:solidFill>
                <a:srgbClr val="000000"/>
              </a:solidFill>
              <a:latin typeface="Arial"/>
            </a:endParaRPr>
          </a:p>
        </p:txBody>
      </p:sp>
      <p:sp>
        <p:nvSpPr>
          <p:cNvPr id="171" name="TextBox 167"/>
          <p:cNvSpPr/>
          <p:nvPr/>
        </p:nvSpPr>
        <p:spPr>
          <a:xfrm>
            <a:off x="9875520" y="246888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1.0×</a:t>
            </a:r>
            <a:endParaRPr b="0" lang="en-US" sz="2100" spc="-1" strike="noStrike">
              <a:solidFill>
                <a:srgbClr val="000000"/>
              </a:solidFill>
              <a:latin typeface="Arial"/>
            </a:endParaRPr>
          </a:p>
        </p:txBody>
      </p:sp>
      <p:sp>
        <p:nvSpPr>
          <p:cNvPr id="172" name="TextBox 168"/>
          <p:cNvSpPr/>
          <p:nvPr/>
        </p:nvSpPr>
        <p:spPr>
          <a:xfrm>
            <a:off x="594360" y="297180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broadcasting</a:t>
            </a:r>
            <a:endParaRPr b="0" lang="en-US" sz="2100" spc="-1" strike="noStrike">
              <a:solidFill>
                <a:srgbClr val="000000"/>
              </a:solidFill>
              <a:latin typeface="Arial"/>
            </a:endParaRPr>
          </a:p>
        </p:txBody>
      </p:sp>
      <p:sp>
        <p:nvSpPr>
          <p:cNvPr id="173" name="TextBox 169"/>
          <p:cNvSpPr/>
          <p:nvPr/>
        </p:nvSpPr>
        <p:spPr>
          <a:xfrm>
            <a:off x="7543800" y="297180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4.957 ms</a:t>
            </a:r>
            <a:endParaRPr b="0" lang="en-US" sz="2100" spc="-1" strike="noStrike">
              <a:solidFill>
                <a:srgbClr val="000000"/>
              </a:solidFill>
              <a:latin typeface="Arial"/>
            </a:endParaRPr>
          </a:p>
        </p:txBody>
      </p:sp>
      <p:sp>
        <p:nvSpPr>
          <p:cNvPr id="174" name="TextBox 170"/>
          <p:cNvSpPr/>
          <p:nvPr/>
        </p:nvSpPr>
        <p:spPr>
          <a:xfrm>
            <a:off x="9875520" y="297180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7.9×</a:t>
            </a:r>
            <a:endParaRPr b="0" lang="en-US" sz="2100" spc="-1" strike="noStrike">
              <a:solidFill>
                <a:srgbClr val="000000"/>
              </a:solidFill>
              <a:latin typeface="Arial"/>
            </a:endParaRPr>
          </a:p>
        </p:txBody>
      </p:sp>
      <p:sp>
        <p:nvSpPr>
          <p:cNvPr id="175" name="TextBox 171"/>
          <p:cNvSpPr/>
          <p:nvPr/>
        </p:nvSpPr>
        <p:spPr>
          <a:xfrm>
            <a:off x="594360" y="347472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one landmark at a time</a:t>
            </a:r>
            <a:endParaRPr b="0" lang="en-US" sz="2100" spc="-1" strike="noStrike">
              <a:solidFill>
                <a:srgbClr val="000000"/>
              </a:solidFill>
              <a:latin typeface="Arial"/>
            </a:endParaRPr>
          </a:p>
        </p:txBody>
      </p:sp>
      <p:sp>
        <p:nvSpPr>
          <p:cNvPr id="176" name="TextBox 172"/>
          <p:cNvSpPr/>
          <p:nvPr/>
        </p:nvSpPr>
        <p:spPr>
          <a:xfrm>
            <a:off x="7543800" y="347472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1.344 ms</a:t>
            </a:r>
            <a:endParaRPr b="0" lang="en-US" sz="2100" spc="-1" strike="noStrike">
              <a:solidFill>
                <a:srgbClr val="000000"/>
              </a:solidFill>
              <a:latin typeface="Arial"/>
            </a:endParaRPr>
          </a:p>
        </p:txBody>
      </p:sp>
      <p:sp>
        <p:nvSpPr>
          <p:cNvPr id="177" name="TextBox 173"/>
          <p:cNvSpPr/>
          <p:nvPr/>
        </p:nvSpPr>
        <p:spPr>
          <a:xfrm>
            <a:off x="9875520" y="347472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29.2×</a:t>
            </a:r>
            <a:endParaRPr b="0" lang="en-US" sz="2100" spc="-1" strike="noStrike">
              <a:solidFill>
                <a:srgbClr val="000000"/>
              </a:solidFill>
              <a:latin typeface="Arial"/>
            </a:endParaRPr>
          </a:p>
        </p:txBody>
      </p:sp>
      <p:sp>
        <p:nvSpPr>
          <p:cNvPr id="178" name="TextBox 174"/>
          <p:cNvSpPr/>
          <p:nvPr/>
        </p:nvSpPr>
        <p:spPr>
          <a:xfrm>
            <a:off x="594360" y="397764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Eigen C++: 1 worker</a:t>
            </a:r>
            <a:endParaRPr b="0" lang="en-US" sz="2100" spc="-1" strike="noStrike">
              <a:solidFill>
                <a:srgbClr val="000000"/>
              </a:solidFill>
              <a:latin typeface="Arial"/>
            </a:endParaRPr>
          </a:p>
        </p:txBody>
      </p:sp>
      <p:sp>
        <p:nvSpPr>
          <p:cNvPr id="179" name="TextBox 175"/>
          <p:cNvSpPr/>
          <p:nvPr/>
        </p:nvSpPr>
        <p:spPr>
          <a:xfrm>
            <a:off x="7543800" y="397764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0.904 ms</a:t>
            </a:r>
            <a:endParaRPr b="0" lang="en-US" sz="2100" spc="-1" strike="noStrike">
              <a:solidFill>
                <a:srgbClr val="000000"/>
              </a:solidFill>
              <a:latin typeface="Arial"/>
            </a:endParaRPr>
          </a:p>
        </p:txBody>
      </p:sp>
      <p:sp>
        <p:nvSpPr>
          <p:cNvPr id="180" name="TextBox 176"/>
          <p:cNvSpPr/>
          <p:nvPr/>
        </p:nvSpPr>
        <p:spPr>
          <a:xfrm>
            <a:off x="9875520" y="397764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43.3×</a:t>
            </a:r>
            <a:endParaRPr b="0" lang="en-US" sz="2100" spc="-1" strike="noStrike">
              <a:solidFill>
                <a:srgbClr val="000000"/>
              </a:solidFill>
              <a:latin typeface="Arial"/>
            </a:endParaRPr>
          </a:p>
        </p:txBody>
      </p:sp>
      <p:sp>
        <p:nvSpPr>
          <p:cNvPr id="181" name="TextBox 177"/>
          <p:cNvSpPr/>
          <p:nvPr/>
        </p:nvSpPr>
        <p:spPr>
          <a:xfrm>
            <a:off x="594360" y="4480560"/>
            <a:ext cx="66740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Eigen C++: 4 workers</a:t>
            </a:r>
            <a:endParaRPr b="0" lang="en-US" sz="2100" spc="-1" strike="noStrike">
              <a:solidFill>
                <a:srgbClr val="000000"/>
              </a:solidFill>
              <a:latin typeface="Arial"/>
            </a:endParaRPr>
          </a:p>
        </p:txBody>
      </p:sp>
      <p:sp>
        <p:nvSpPr>
          <p:cNvPr id="182" name="TextBox 178"/>
          <p:cNvSpPr/>
          <p:nvPr/>
        </p:nvSpPr>
        <p:spPr>
          <a:xfrm>
            <a:off x="7543800" y="4480560"/>
            <a:ext cx="20106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0.450 ms</a:t>
            </a:r>
            <a:endParaRPr b="0" lang="en-US" sz="2100" spc="-1" strike="noStrike">
              <a:solidFill>
                <a:srgbClr val="000000"/>
              </a:solidFill>
              <a:latin typeface="Arial"/>
            </a:endParaRPr>
          </a:p>
        </p:txBody>
      </p:sp>
      <p:sp>
        <p:nvSpPr>
          <p:cNvPr id="183" name="TextBox 179"/>
          <p:cNvSpPr/>
          <p:nvPr/>
        </p:nvSpPr>
        <p:spPr>
          <a:xfrm>
            <a:off x="9875520" y="4480560"/>
            <a:ext cx="16448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87.1×</a:t>
            </a:r>
            <a:endParaRPr b="0" lang="en-US" sz="2100" spc="-1" strike="noStrike">
              <a:solidFill>
                <a:srgbClr val="000000"/>
              </a:solidFill>
              <a:latin typeface="Arial"/>
            </a:endParaRPr>
          </a:p>
        </p:txBody>
      </p:sp>
      <p:sp>
        <p:nvSpPr>
          <p:cNvPr id="184" name="TextBox 180"/>
          <p:cNvSpPr/>
          <p:nvPr/>
        </p:nvSpPr>
        <p:spPr>
          <a:xfrm>
            <a:off x="594360" y="5212080"/>
            <a:ext cx="1097172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Speedup = Python median ÷ implementation median. Python is the 1× baseline.</a:t>
            </a:r>
            <a:endParaRPr b="0" lang="en-US" sz="1900" spc="-1" strike="noStrike">
              <a:solidFill>
                <a:srgbClr val="000000"/>
              </a:solidFill>
              <a:latin typeface="Arial"/>
            </a:endParaRPr>
          </a:p>
        </p:txBody>
      </p:sp>
      <p:sp>
        <p:nvSpPr>
          <p:cNvPr id="185" name="TextBox 181"/>
          <p:cNvSpPr/>
          <p:nvPr/>
        </p:nvSpPr>
        <p:spPr>
          <a:xfrm>
            <a:off x="594360" y="5715000"/>
            <a:ext cx="1097172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60 calls per method after 5 warmups · randomized order · Core Ultra 9 285H</a:t>
            </a:r>
            <a:endParaRPr b="0" lang="en-US" sz="1700" spc="-1" strike="noStrike">
              <a:solidFill>
                <a:srgbClr val="000000"/>
              </a:solidFill>
              <a:latin typeface="Arial"/>
            </a:endParaRPr>
          </a:p>
        </p:txBody>
      </p:sp>
      <p:sp>
        <p:nvSpPr>
          <p:cNvPr id="186" name="TextBox 182"/>
          <p:cNvSpPr/>
          <p:nvPr/>
        </p:nvSpPr>
        <p:spPr>
          <a:xfrm>
            <a:off x="594360" y="6172200"/>
            <a:ext cx="1097172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Input conversion and startup excluded. Native output preallocated; Python / NumPy allocate output.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pic>
        <p:nvPicPr>
          <p:cNvPr id="187" name="Picture 5" descr=""/>
          <p:cNvPicPr/>
          <p:nvPr/>
        </p:nvPicPr>
        <p:blipFill>
          <a:blip r:embed="rId1"/>
          <a:stretch/>
        </p:blipFill>
        <p:spPr>
          <a:xfrm>
            <a:off x="10623600" y="345600"/>
            <a:ext cx="1059120" cy="1059120"/>
          </a:xfrm>
          <a:prstGeom prst="rect">
            <a:avLst/>
          </a:prstGeom>
          <a:ln w="0">
            <a:noFill/>
          </a:ln>
        </p:spPr>
      </p:pic>
      <p:cxnSp>
        <p:nvCxnSpPr>
          <p:cNvPr id="188" name="Straight Connector 7"/>
          <p:cNvCxnSpPr/>
          <p:nvPr/>
        </p:nvCxnSpPr>
        <p:spPr>
          <a:xfrm>
            <a:off x="0" y="1134720"/>
            <a:ext cx="4365360" cy="1800"/>
          </a:xfrm>
          <a:prstGeom prst="straightConnector1">
            <a:avLst/>
          </a:prstGeom>
          <a:ln w="38100">
            <a:solidFill>
              <a:srgbClr val="fed021"/>
            </a:solidFill>
            <a:round/>
          </a:ln>
        </p:spPr>
      </p:cxnSp>
      <p:sp>
        <p:nvSpPr>
          <p:cNvPr id="189" name="TextBox 260"/>
          <p:cNvSpPr/>
          <p:nvPr/>
        </p:nvSpPr>
        <p:spPr>
          <a:xfrm>
            <a:off x="502920" y="320040"/>
            <a:ext cx="1014948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cppyy_kit helpers</a:t>
            </a:r>
            <a:endParaRPr b="0" lang="en-US" sz="2800" spc="-1" strike="noStrike">
              <a:solidFill>
                <a:srgbClr val="000000"/>
              </a:solidFill>
              <a:latin typeface="Arial"/>
            </a:endParaRPr>
          </a:p>
        </p:txBody>
      </p:sp>
      <p:sp>
        <p:nvSpPr>
          <p:cNvPr id="190" name="TextBox 261"/>
          <p:cNvSpPr/>
          <p:nvPr/>
        </p:nvSpPr>
        <p:spPr>
          <a:xfrm>
            <a:off x="594360" y="1280160"/>
            <a:ext cx="402300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Task</a:t>
            </a:r>
            <a:endParaRPr b="0" lang="en-US" sz="2200" spc="-1" strike="noStrike">
              <a:solidFill>
                <a:srgbClr val="000000"/>
              </a:solidFill>
              <a:latin typeface="Arial"/>
            </a:endParaRPr>
          </a:p>
        </p:txBody>
      </p:sp>
      <p:sp>
        <p:nvSpPr>
          <p:cNvPr id="191" name="TextBox 262"/>
          <p:cNvSpPr/>
          <p:nvPr/>
        </p:nvSpPr>
        <p:spPr>
          <a:xfrm>
            <a:off x="4754880" y="1280160"/>
            <a:ext cx="685764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API</a:t>
            </a:r>
            <a:endParaRPr b="0" lang="en-US" sz="2200" spc="-1" strike="noStrike">
              <a:solidFill>
                <a:srgbClr val="000000"/>
              </a:solidFill>
              <a:latin typeface="Arial"/>
            </a:endParaRPr>
          </a:p>
        </p:txBody>
      </p:sp>
      <p:sp>
        <p:nvSpPr>
          <p:cNvPr id="192" name="TextBox 263"/>
          <p:cNvSpPr/>
          <p:nvPr/>
        </p:nvSpPr>
        <p:spPr>
          <a:xfrm>
            <a:off x="594360" y="1920240"/>
            <a:ext cx="4023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Keep objects alive</a:t>
            </a:r>
            <a:endParaRPr b="0" lang="en-US" sz="2000" spc="-1" strike="noStrike">
              <a:solidFill>
                <a:srgbClr val="000000"/>
              </a:solidFill>
              <a:latin typeface="Arial"/>
            </a:endParaRPr>
          </a:p>
        </p:txBody>
      </p:sp>
      <p:sp>
        <p:nvSpPr>
          <p:cNvPr id="193" name="TextBox 264"/>
          <p:cNvSpPr/>
          <p:nvPr/>
        </p:nvSpPr>
        <p:spPr>
          <a:xfrm>
            <a:off x="6464160" y="1920240"/>
            <a:ext cx="343908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keep_alive</a:t>
            </a:r>
            <a:r>
              <a:rPr b="0" lang="en-US" sz="1800" spc="-1" strike="noStrike">
                <a:solidFill>
                  <a:srgbClr val="031424"/>
                </a:solidFill>
                <a:latin typeface="DejaVu Sans Mono"/>
              </a:rPr>
              <a:t>(owner, obj)</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callback</a:t>
            </a:r>
            <a:r>
              <a:rPr b="0" lang="en-US" sz="1800" spc="-1" strike="noStrike">
                <a:solidFill>
                  <a:srgbClr val="031424"/>
                </a:solidFill>
                <a:latin typeface="DejaVu Sans Mono"/>
              </a:rPr>
              <a:t>(fn, owner</a:t>
            </a:r>
            <a:r>
              <a:rPr b="0" lang="en-US" sz="1800" spc="-1" strike="noStrike">
                <a:solidFill>
                  <a:srgbClr val="666666"/>
                </a:solidFill>
                <a:latin typeface="DejaVu Sans Mono"/>
              </a:rPr>
              <a:t>=</a:t>
            </a:r>
            <a:r>
              <a:rPr b="0" lang="en-US" sz="1800" spc="-1" strike="noStrike">
                <a:solidFill>
                  <a:srgbClr val="031424"/>
                </a:solidFill>
                <a:latin typeface="DejaVu Sans Mono"/>
              </a:rPr>
              <a:t>owner)</a:t>
            </a:r>
            <a:endParaRPr b="0" lang="en-US" sz="1800" spc="-1" strike="noStrike">
              <a:solidFill>
                <a:srgbClr val="000000"/>
              </a:solidFill>
              <a:latin typeface="Arial"/>
            </a:endParaRPr>
          </a:p>
        </p:txBody>
      </p:sp>
      <p:sp>
        <p:nvSpPr>
          <p:cNvPr id="194" name="TextBox 265"/>
          <p:cNvSpPr/>
          <p:nvPr/>
        </p:nvSpPr>
        <p:spPr>
          <a:xfrm>
            <a:off x="594360" y="2569320"/>
            <a:ext cx="4023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Check array types and layout</a:t>
            </a:r>
            <a:endParaRPr b="0" lang="en-US" sz="2000" spc="-1" strike="noStrike">
              <a:solidFill>
                <a:srgbClr val="000000"/>
              </a:solidFill>
              <a:latin typeface="Arial"/>
            </a:endParaRPr>
          </a:p>
        </p:txBody>
      </p:sp>
      <p:sp>
        <p:nvSpPr>
          <p:cNvPr id="195" name="TextBox 266"/>
          <p:cNvSpPr/>
          <p:nvPr/>
        </p:nvSpPr>
        <p:spPr>
          <a:xfrm>
            <a:off x="6258240" y="2569320"/>
            <a:ext cx="385056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7c83"/>
                </a:solidFill>
                <a:latin typeface="DejaVu Sans Mono"/>
              </a:rPr>
              <a:t>NDArray</a:t>
            </a:r>
            <a:r>
              <a:rPr b="0" lang="en-US" sz="1800" spc="-1" strike="noStrike">
                <a:solidFill>
                  <a:srgbClr val="031424"/>
                </a:solidFill>
                <a:latin typeface="DejaVu Sans Mono"/>
              </a:rPr>
              <a:t>[T]   </a:t>
            </a:r>
            <a:r>
              <a:rPr b="1" lang="en-US" sz="1800" spc="-1" strike="noStrike">
                <a:solidFill>
                  <a:srgbClr val="007c83"/>
                </a:solidFill>
                <a:latin typeface="DejaVu Sans Mono"/>
              </a:rPr>
              <a:t>ConstNDArray</a:t>
            </a:r>
            <a:r>
              <a:rPr b="0" lang="en-US" sz="1800" spc="-1" strike="noStrike">
                <a:solidFill>
                  <a:srgbClr val="031424"/>
                </a:solidFill>
                <a:latin typeface="DejaVu Sans Mono"/>
              </a:rPr>
              <a:t>[T]</a:t>
            </a:r>
            <a:endParaRPr b="0" lang="en-US" sz="1800" spc="-1" strike="noStrike">
              <a:solidFill>
                <a:srgbClr val="000000"/>
              </a:solidFill>
              <a:latin typeface="Arial"/>
            </a:endParaRPr>
          </a:p>
        </p:txBody>
      </p:sp>
      <p:sp>
        <p:nvSpPr>
          <p:cNvPr id="196" name="TextBox 267"/>
          <p:cNvSpPr/>
          <p:nvPr/>
        </p:nvSpPr>
        <p:spPr>
          <a:xfrm>
            <a:off x="594360" y="3218760"/>
            <a:ext cx="4023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the GIL / use asyncio</a:t>
            </a:r>
            <a:endParaRPr b="0" lang="en-US" sz="2000" spc="-1" strike="noStrike">
              <a:solidFill>
                <a:srgbClr val="000000"/>
              </a:solidFill>
              <a:latin typeface="Arial"/>
            </a:endParaRPr>
          </a:p>
        </p:txBody>
      </p:sp>
      <p:sp>
        <p:nvSpPr>
          <p:cNvPr id="197" name="TextBox 268"/>
          <p:cNvSpPr/>
          <p:nvPr/>
        </p:nvSpPr>
        <p:spPr>
          <a:xfrm>
            <a:off x="6051960" y="3218760"/>
            <a:ext cx="426312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555555"/>
                </a:solidFill>
                <a:latin typeface="DejaVu Sans Mono"/>
              </a:rPr>
              <a:t>@cpp</a:t>
            </a:r>
            <a:r>
              <a:rPr b="0" lang="en-US" sz="1800" spc="-1" strike="noStrike">
                <a:solidFill>
                  <a:srgbClr val="031424"/>
                </a:solidFill>
                <a:latin typeface="DejaVu Sans Mono"/>
              </a:rPr>
              <a:t>(</a:t>
            </a:r>
            <a:r>
              <a:rPr b="1" lang="en-US" sz="1800" spc="-1" strike="noStrike">
                <a:solidFill>
                  <a:srgbClr val="005cc5"/>
                </a:solidFill>
                <a:latin typeface="DejaVu Sans Mono"/>
              </a:rPr>
              <a:t>nogil</a:t>
            </a:r>
            <a:r>
              <a:rPr b="0" lang="en-US" sz="1800" spc="-1" strike="noStrike">
                <a:solidFill>
                  <a:srgbClr val="666666"/>
                </a:solidFill>
                <a:latin typeface="DejaVu Sans Mono"/>
              </a:rPr>
              <a:t>=</a:t>
            </a:r>
            <a:r>
              <a:rPr b="1" lang="en-US" sz="1800" spc="-1" strike="noStrike">
                <a:solidFill>
                  <a:srgbClr val="007020"/>
                </a:solidFill>
                <a:latin typeface="DejaVu Sans Mono"/>
              </a:rPr>
              <a:t>True</a:t>
            </a:r>
            <a:r>
              <a:rPr b="0" lang="en-US" sz="1800" spc="-1" strike="noStrike">
                <a:solidFill>
                  <a:srgbClr val="031424"/>
                </a:solidFill>
                <a:latin typeface="DejaVu Sans Mono"/>
              </a:rPr>
              <a:t>)</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nogil</a:t>
            </a:r>
            <a:r>
              <a:rPr b="0" lang="en-US" sz="1800" spc="-1" strike="noStrike">
                <a:solidFill>
                  <a:srgbClr val="031424"/>
                </a:solidFill>
                <a:latin typeface="DejaVu Sans Mono"/>
              </a:rPr>
              <a:t>(fn)   </a:t>
            </a:r>
            <a:r>
              <a:rPr b="1" lang="en-US" sz="1800" spc="-1" strike="noStrike">
                <a:solidFill>
                  <a:srgbClr val="007020"/>
                </a:solidFill>
                <a:latin typeface="DejaVu Sans Mono"/>
              </a:rPr>
              <a:t>await</a:t>
            </a:r>
            <a:r>
              <a:rPr b="0" lang="en-US" sz="1800" spc="-1" strike="noStrike">
                <a:solidFill>
                  <a:srgbClr val="031424"/>
                </a:solidFill>
                <a:latin typeface="DejaVu Sans Mono"/>
              </a:rPr>
              <a:t> </a:t>
            </a:r>
            <a:r>
              <a:rPr b="1" lang="en-US" sz="1800" spc="-1" strike="noStrike">
                <a:solidFill>
                  <a:srgbClr val="005cc5"/>
                </a:solidFill>
                <a:latin typeface="DejaVu Sans Mono"/>
              </a:rPr>
              <a:t>run_async</a:t>
            </a:r>
            <a:r>
              <a:rPr b="0" lang="en-US" sz="1800" spc="-1" strike="noStrike">
                <a:solidFill>
                  <a:srgbClr val="031424"/>
                </a:solidFill>
                <a:latin typeface="DejaVu Sans Mono"/>
              </a:rPr>
              <a:t>(fn)</a:t>
            </a:r>
            <a:endParaRPr b="0" lang="en-US" sz="1800" spc="-1" strike="noStrike">
              <a:solidFill>
                <a:srgbClr val="000000"/>
              </a:solidFill>
              <a:latin typeface="Arial"/>
            </a:endParaRPr>
          </a:p>
        </p:txBody>
      </p:sp>
      <p:sp>
        <p:nvSpPr>
          <p:cNvPr id="198" name="TextBox 269"/>
          <p:cNvSpPr/>
          <p:nvPr/>
        </p:nvSpPr>
        <p:spPr>
          <a:xfrm>
            <a:off x="594360" y="3867840"/>
            <a:ext cx="4023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compiled code</a:t>
            </a:r>
            <a:endParaRPr b="0" lang="en-US" sz="2000" spc="-1" strike="noStrike">
              <a:solidFill>
                <a:srgbClr val="000000"/>
              </a:solidFill>
              <a:latin typeface="Arial"/>
            </a:endParaRPr>
          </a:p>
        </p:txBody>
      </p:sp>
      <p:sp>
        <p:nvSpPr>
          <p:cNvPr id="199" name="TextBox 270"/>
          <p:cNvSpPr/>
          <p:nvPr/>
        </p:nvSpPr>
        <p:spPr>
          <a:xfrm>
            <a:off x="5984640" y="3867840"/>
            <a:ext cx="439776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cppdef_cached</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   </a:t>
            </a:r>
            <a:r>
              <a:rPr b="1" lang="en-US" sz="1800" spc="-1" strike="noStrike">
                <a:solidFill>
                  <a:srgbClr val="005cc5"/>
                </a:solidFill>
                <a:latin typeface="DejaVu Sans Mono"/>
              </a:rPr>
              <a:t>warmup</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0" name="TextBox 271"/>
          <p:cNvSpPr/>
          <p:nvPr/>
        </p:nvSpPr>
        <p:spPr>
          <a:xfrm>
            <a:off x="594360" y="4517280"/>
            <a:ext cx="402300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Probe compilation without risking the live session</a:t>
            </a:r>
            <a:endParaRPr b="0" lang="en-US" sz="2000" spc="-1" strike="noStrike">
              <a:solidFill>
                <a:srgbClr val="000000"/>
              </a:solidFill>
              <a:latin typeface="Arial"/>
            </a:endParaRPr>
          </a:p>
        </p:txBody>
      </p:sp>
      <p:sp>
        <p:nvSpPr>
          <p:cNvPr id="201" name="TextBox 272"/>
          <p:cNvSpPr/>
          <p:nvPr/>
        </p:nvSpPr>
        <p:spPr>
          <a:xfrm>
            <a:off x="6602040" y="4517280"/>
            <a:ext cx="316332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probe_cppdef</a:t>
            </a:r>
            <a:r>
              <a:rPr b="0" lang="en-US" sz="1800" spc="-1" strike="noStrike">
                <a:solidFill>
                  <a:srgbClr val="031424"/>
                </a:solidFill>
                <a:latin typeface="DejaVu Sans Mono"/>
              </a:rPr>
              <a:t>(code, </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2" name="TextBox 273"/>
          <p:cNvSpPr/>
          <p:nvPr/>
        </p:nvSpPr>
        <p:spPr>
          <a:xfrm>
            <a:off x="594360" y="5216760"/>
            <a:ext cx="4023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resources before exit</a:t>
            </a:r>
            <a:endParaRPr b="0" lang="en-US" sz="2000" spc="-1" strike="noStrike">
              <a:solidFill>
                <a:srgbClr val="000000"/>
              </a:solidFill>
              <a:latin typeface="Arial"/>
            </a:endParaRPr>
          </a:p>
        </p:txBody>
      </p:sp>
      <p:sp>
        <p:nvSpPr>
          <p:cNvPr id="203" name="TextBox 274"/>
          <p:cNvSpPr/>
          <p:nvPr/>
        </p:nvSpPr>
        <p:spPr>
          <a:xfrm>
            <a:off x="6394680" y="5166360"/>
            <a:ext cx="357768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register_teardown</a:t>
            </a:r>
            <a:r>
              <a:rPr b="0" lang="en-US" sz="1800" spc="-1" strike="noStrike">
                <a:solidFill>
                  <a:srgbClr val="031424"/>
                </a:solidFill>
                <a:latin typeface="DejaVu Sans Mono"/>
              </a:rPr>
              <a:t>(cleanup)</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shutdown</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4" name="TextBox 275"/>
          <p:cNvSpPr/>
          <p:nvPr/>
        </p:nvSpPr>
        <p:spPr>
          <a:xfrm>
            <a:off x="594360" y="6080760"/>
            <a:ext cx="109724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Library kits also configure include paths, shared libraries and precompiled headers.</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5" name="Picture 5" descr=""/>
          <p:cNvPicPr/>
          <p:nvPr/>
        </p:nvPicPr>
        <p:blipFill>
          <a:blip r:embed="rId1"/>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160"/>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The kits: C++ libraries, ready to use from Python</a:t>
            </a:r>
            <a:endParaRPr b="0" lang="en-US" sz="2800" spc="-1" strike="noStrike">
              <a:solidFill>
                <a:srgbClr val="000000"/>
              </a:solidFill>
              <a:latin typeface="Arial"/>
            </a:endParaRPr>
          </a:p>
        </p:txBody>
      </p:sp>
      <p:sp>
        <p:nvSpPr>
          <p:cNvPr id="208" name="TextBox 161"/>
          <p:cNvSpPr/>
          <p:nvPr/>
        </p:nvSpPr>
        <p:spPr>
          <a:xfrm>
            <a:off x="502920" y="1261800"/>
            <a:ext cx="109717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library you need. Reuse its setup, bridges and Python helpers.</a:t>
            </a:r>
            <a:endParaRPr b="0" lang="en-US" sz="2200" spc="-1" strike="noStrike">
              <a:solidFill>
                <a:srgbClr val="000000"/>
              </a:solidFill>
              <a:latin typeface="Arial"/>
            </a:endParaRPr>
          </a:p>
        </p:txBody>
      </p:sp>
      <p:sp>
        <p:nvSpPr>
          <p:cNvPr id="209" name="TextBox 162"/>
          <p:cNvSpPr/>
          <p:nvPr/>
        </p:nvSpPr>
        <p:spPr>
          <a:xfrm>
            <a:off x="594360" y="270648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pcl_kit</a:t>
            </a:r>
            <a:endParaRPr b="0" lang="en-US" sz="2100" spc="-1" strike="noStrike">
              <a:solidFill>
                <a:srgbClr val="000000"/>
              </a:solidFill>
              <a:latin typeface="Arial"/>
            </a:endParaRPr>
          </a:p>
        </p:txBody>
      </p:sp>
      <p:sp>
        <p:nvSpPr>
          <p:cNvPr id="210" name="TextBox 163"/>
          <p:cNvSpPr/>
          <p:nvPr/>
        </p:nvSpPr>
        <p:spPr>
          <a:xfrm>
            <a:off x="594360" y="303588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PCL: point-cloud filtering and conversion</a:t>
            </a:r>
            <a:endParaRPr b="0" lang="en-US" sz="1700" spc="-1" strike="noStrike">
              <a:solidFill>
                <a:srgbClr val="000000"/>
              </a:solidFill>
              <a:latin typeface="Arial"/>
            </a:endParaRPr>
          </a:p>
        </p:txBody>
      </p:sp>
      <p:sp>
        <p:nvSpPr>
          <p:cNvPr id="211" name="TextBox 164"/>
          <p:cNvSpPr/>
          <p:nvPr/>
        </p:nvSpPr>
        <p:spPr>
          <a:xfrm>
            <a:off x="594360" y="347472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cv_kit</a:t>
            </a:r>
            <a:endParaRPr b="0" lang="en-US" sz="2100" spc="-1" strike="noStrike">
              <a:solidFill>
                <a:srgbClr val="000000"/>
              </a:solidFill>
              <a:latin typeface="Arial"/>
            </a:endParaRPr>
          </a:p>
        </p:txBody>
      </p:sp>
      <p:sp>
        <p:nvSpPr>
          <p:cNvPr id="212" name="TextBox 165"/>
          <p:cNvSpPr/>
          <p:nvPr/>
        </p:nvSpPr>
        <p:spPr>
          <a:xfrm>
            <a:off x="594360" y="380376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OpenCV: images and C++ image buffers</a:t>
            </a:r>
            <a:endParaRPr b="0" lang="en-US" sz="1700" spc="-1" strike="noStrike">
              <a:solidFill>
                <a:srgbClr val="000000"/>
              </a:solidFill>
              <a:latin typeface="Arial"/>
            </a:endParaRPr>
          </a:p>
        </p:txBody>
      </p:sp>
      <p:sp>
        <p:nvSpPr>
          <p:cNvPr id="213" name="TextBox 166"/>
          <p:cNvSpPr/>
          <p:nvPr/>
        </p:nvSpPr>
        <p:spPr>
          <a:xfrm>
            <a:off x="594360" y="424296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dbow_kit</a:t>
            </a:r>
            <a:endParaRPr b="0" lang="en-US" sz="2100" spc="-1" strike="noStrike">
              <a:solidFill>
                <a:srgbClr val="000000"/>
              </a:solidFill>
              <a:latin typeface="Arial"/>
            </a:endParaRPr>
          </a:p>
        </p:txBody>
      </p:sp>
      <p:sp>
        <p:nvSpPr>
          <p:cNvPr id="214" name="TextBox 167"/>
          <p:cNvSpPr/>
          <p:nvPr/>
        </p:nvSpPr>
        <p:spPr>
          <a:xfrm>
            <a:off x="594360" y="457200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DBoW2: visual place recognition</a:t>
            </a:r>
            <a:endParaRPr b="0" lang="en-US" sz="1700" spc="-1" strike="noStrike">
              <a:solidFill>
                <a:srgbClr val="000000"/>
              </a:solidFill>
              <a:latin typeface="Arial"/>
            </a:endParaRPr>
          </a:p>
        </p:txBody>
      </p:sp>
      <p:sp>
        <p:nvSpPr>
          <p:cNvPr id="215" name="TextBox 168"/>
          <p:cNvSpPr/>
          <p:nvPr/>
        </p:nvSpPr>
        <p:spPr>
          <a:xfrm>
            <a:off x="594360" y="501084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bt_kit</a:t>
            </a:r>
            <a:endParaRPr b="0" lang="en-US" sz="2100" spc="-1" strike="noStrike">
              <a:solidFill>
                <a:srgbClr val="000000"/>
              </a:solidFill>
              <a:latin typeface="Arial"/>
            </a:endParaRPr>
          </a:p>
        </p:txBody>
      </p:sp>
      <p:sp>
        <p:nvSpPr>
          <p:cNvPr id="216" name="TextBox 169"/>
          <p:cNvSpPr/>
          <p:nvPr/>
        </p:nvSpPr>
        <p:spPr>
          <a:xfrm>
            <a:off x="594360" y="534024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BehaviorTree.CPP: trees and Python actions</a:t>
            </a:r>
            <a:endParaRPr b="0" lang="en-US" sz="1700" spc="-1" strike="noStrike">
              <a:solidFill>
                <a:srgbClr val="000000"/>
              </a:solidFill>
              <a:latin typeface="Arial"/>
            </a:endParaRPr>
          </a:p>
        </p:txBody>
      </p:sp>
      <p:sp>
        <p:nvSpPr>
          <p:cNvPr id="217" name="TextBox 170"/>
          <p:cNvSpPr/>
          <p:nvPr/>
        </p:nvSpPr>
        <p:spPr>
          <a:xfrm>
            <a:off x="6355080" y="193860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ompl_kit</a:t>
            </a:r>
            <a:endParaRPr b="0" lang="en-US" sz="2100" spc="-1" strike="noStrike">
              <a:solidFill>
                <a:srgbClr val="000000"/>
              </a:solidFill>
              <a:latin typeface="Arial"/>
            </a:endParaRPr>
          </a:p>
        </p:txBody>
      </p:sp>
      <p:sp>
        <p:nvSpPr>
          <p:cNvPr id="218" name="TextBox 171"/>
          <p:cNvSpPr/>
          <p:nvPr/>
        </p:nvSpPr>
        <p:spPr>
          <a:xfrm>
            <a:off x="6355080" y="226764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OMPL: motion planning and validity callbacks</a:t>
            </a:r>
            <a:endParaRPr b="0" lang="en-US" sz="1700" spc="-1" strike="noStrike">
              <a:solidFill>
                <a:srgbClr val="000000"/>
              </a:solidFill>
              <a:latin typeface="Arial"/>
            </a:endParaRPr>
          </a:p>
        </p:txBody>
      </p:sp>
      <p:sp>
        <p:nvSpPr>
          <p:cNvPr id="219" name="TextBox 172"/>
          <p:cNvSpPr/>
          <p:nvPr/>
        </p:nvSpPr>
        <p:spPr>
          <a:xfrm>
            <a:off x="6355080" y="270648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moveit_kit</a:t>
            </a:r>
            <a:endParaRPr b="0" lang="en-US" sz="2100" spc="-1" strike="noStrike">
              <a:solidFill>
                <a:srgbClr val="000000"/>
              </a:solidFill>
              <a:latin typeface="Arial"/>
            </a:endParaRPr>
          </a:p>
        </p:txBody>
      </p:sp>
      <p:sp>
        <p:nvSpPr>
          <p:cNvPr id="220" name="TextBox 173"/>
          <p:cNvSpPr/>
          <p:nvPr/>
        </p:nvSpPr>
        <p:spPr>
          <a:xfrm>
            <a:off x="6355080" y="303588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MoveIt: robot models, kinematics and planning</a:t>
            </a:r>
            <a:endParaRPr b="0" lang="en-US" sz="1700" spc="-1" strike="noStrike">
              <a:solidFill>
                <a:srgbClr val="000000"/>
              </a:solidFill>
              <a:latin typeface="Arial"/>
            </a:endParaRPr>
          </a:p>
        </p:txBody>
      </p:sp>
      <p:sp>
        <p:nvSpPr>
          <p:cNvPr id="221" name="TextBox 174"/>
          <p:cNvSpPr/>
          <p:nvPr/>
        </p:nvSpPr>
        <p:spPr>
          <a:xfrm>
            <a:off x="6355080" y="347472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nav2_kit</a:t>
            </a:r>
            <a:endParaRPr b="0" lang="en-US" sz="2100" spc="-1" strike="noStrike">
              <a:solidFill>
                <a:srgbClr val="000000"/>
              </a:solidFill>
              <a:latin typeface="Arial"/>
            </a:endParaRPr>
          </a:p>
        </p:txBody>
      </p:sp>
      <p:sp>
        <p:nvSpPr>
          <p:cNvPr id="222" name="TextBox 175"/>
          <p:cNvSpPr/>
          <p:nvPr/>
        </p:nvSpPr>
        <p:spPr>
          <a:xfrm>
            <a:off x="6355080" y="380376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Nav2: write navigation plugins in Python</a:t>
            </a:r>
            <a:endParaRPr b="0" lang="en-US" sz="1700" spc="-1" strike="noStrike">
              <a:solidFill>
                <a:srgbClr val="000000"/>
              </a:solidFill>
              <a:latin typeface="Arial"/>
            </a:endParaRPr>
          </a:p>
        </p:txBody>
      </p:sp>
      <p:sp>
        <p:nvSpPr>
          <p:cNvPr id="223" name="TextBox 176"/>
          <p:cNvSpPr/>
          <p:nvPr/>
        </p:nvSpPr>
        <p:spPr>
          <a:xfrm>
            <a:off x="6355080" y="424296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control_kit</a:t>
            </a:r>
            <a:endParaRPr b="0" lang="en-US" sz="2100" spc="-1" strike="noStrike">
              <a:solidFill>
                <a:srgbClr val="000000"/>
              </a:solidFill>
              <a:latin typeface="Arial"/>
            </a:endParaRPr>
          </a:p>
        </p:txBody>
      </p:sp>
      <p:sp>
        <p:nvSpPr>
          <p:cNvPr id="224" name="TextBox 177"/>
          <p:cNvSpPr/>
          <p:nvPr/>
        </p:nvSpPr>
        <p:spPr>
          <a:xfrm>
            <a:off x="6355080" y="457200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ros2_control: write controllers in Python</a:t>
            </a:r>
            <a:endParaRPr b="0" lang="en-US" sz="1700" spc="-1" strike="noStrike">
              <a:solidFill>
                <a:srgbClr val="000000"/>
              </a:solidFill>
              <a:latin typeface="Arial"/>
            </a:endParaRPr>
          </a:p>
        </p:txBody>
      </p:sp>
      <p:sp>
        <p:nvSpPr>
          <p:cNvPr id="225" name="TextBox 178"/>
          <p:cNvSpPr/>
          <p:nvPr/>
        </p:nvSpPr>
        <p:spPr>
          <a:xfrm>
            <a:off x="6355080" y="501084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wbc_kit</a:t>
            </a:r>
            <a:endParaRPr b="0" lang="en-US" sz="2100" spc="-1" strike="noStrike">
              <a:solidFill>
                <a:srgbClr val="000000"/>
              </a:solidFill>
              <a:latin typeface="Arial"/>
            </a:endParaRPr>
          </a:p>
        </p:txBody>
      </p:sp>
      <p:sp>
        <p:nvSpPr>
          <p:cNvPr id="226" name="TextBox 179"/>
          <p:cNvSpPr/>
          <p:nvPr/>
        </p:nvSpPr>
        <p:spPr>
          <a:xfrm>
            <a:off x="6355080" y="534024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Crocoddyl: custom action models</a:t>
            </a:r>
            <a:endParaRPr b="0" lang="en-US" sz="1700" spc="-1" strike="noStrike">
              <a:solidFill>
                <a:srgbClr val="000000"/>
              </a:solidFill>
              <a:latin typeface="Arial"/>
            </a:endParaRPr>
          </a:p>
        </p:txBody>
      </p:sp>
      <p:sp>
        <p:nvSpPr>
          <p:cNvPr id="227" name="TextBox 180"/>
          <p:cNvSpPr/>
          <p:nvPr/>
        </p:nvSpPr>
        <p:spPr>
          <a:xfrm>
            <a:off x="594360" y="1938600"/>
            <a:ext cx="521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rclcpp_kit</a:t>
            </a:r>
            <a:endParaRPr b="0" lang="en-US" sz="2100" spc="-1" strike="noStrike">
              <a:solidFill>
                <a:srgbClr val="000000"/>
              </a:solidFill>
              <a:latin typeface="Arial"/>
            </a:endParaRPr>
          </a:p>
        </p:txBody>
      </p:sp>
      <p:sp>
        <p:nvSpPr>
          <p:cNvPr id="228" name="TextBox 181"/>
          <p:cNvSpPr/>
          <p:nvPr/>
        </p:nvSpPr>
        <p:spPr>
          <a:xfrm>
            <a:off x="594360" y="2267640"/>
            <a:ext cx="521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 2 C++: nodes, messages, TF and bags</a:t>
            </a:r>
            <a:endParaRPr b="0" lang="en-US" sz="1700" spc="-1" strike="noStrike">
              <a:solidFill>
                <a:srgbClr val="000000"/>
              </a:solidFill>
              <a:latin typeface="Arial"/>
            </a:endParaRPr>
          </a:p>
        </p:txBody>
      </p:sp>
      <p:sp>
        <p:nvSpPr>
          <p:cNvPr id="229" name="TextBox 182"/>
          <p:cNvSpPr/>
          <p:nvPr/>
        </p:nvSpPr>
        <p:spPr>
          <a:xfrm>
            <a:off x="594360" y="6099120"/>
            <a:ext cx="1097172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800" spc="-1" strike="noStrike">
                <a:solidFill>
                  <a:srgbClr val="031424"/>
                </a:solidFill>
                <a:latin typeface="Roboto"/>
              </a:rPr>
              <a:t>cppyy_kit provides the shared tools; each kit adds library-specific integration.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0" name="Picture 5" descr=""/>
          <p:cNvPicPr/>
          <p:nvPr/>
        </p:nvPicPr>
        <p:blipFill>
          <a:blip r:embed="rId1"/>
          <a:stretch/>
        </p:blipFill>
        <p:spPr>
          <a:xfrm>
            <a:off x="10623600" y="345600"/>
            <a:ext cx="1059120" cy="1059120"/>
          </a:xfrm>
          <a:prstGeom prst="rect">
            <a:avLst/>
          </a:prstGeom>
          <a:ln w="0">
            <a:noFill/>
          </a:ln>
        </p:spPr>
      </p:pic>
      <p:cxnSp>
        <p:nvCxnSpPr>
          <p:cNvPr id="231" name="Straight Connector 7"/>
          <p:cNvCxnSpPr/>
          <p:nvPr/>
        </p:nvCxnSpPr>
        <p:spPr>
          <a:xfrm>
            <a:off x="0" y="1134720"/>
            <a:ext cx="4365360" cy="1800"/>
          </a:xfrm>
          <a:prstGeom prst="straightConnector1">
            <a:avLst/>
          </a:prstGeom>
          <a:ln w="38100">
            <a:solidFill>
              <a:srgbClr val="fed021"/>
            </a:solidFill>
            <a:round/>
          </a:ln>
        </p:spPr>
      </p:cxnSp>
      <p:sp>
        <p:nvSpPr>
          <p:cNvPr id="232" name="TextBox 160"/>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Python ROS code, C++ ROS objects</a:t>
            </a:r>
            <a:endParaRPr b="0" lang="en-US" sz="2800" spc="-1" strike="noStrike">
              <a:solidFill>
                <a:srgbClr val="000000"/>
              </a:solidFill>
              <a:latin typeface="Arial"/>
            </a:endParaRPr>
          </a:p>
        </p:txBody>
      </p:sp>
      <p:sp>
        <p:nvSpPr>
          <p:cNvPr id="233" name="TextBox 161"/>
          <p:cNvSpPr/>
          <p:nvPr/>
        </p:nvSpPr>
        <p:spPr>
          <a:xfrm>
            <a:off x="502920" y="1280160"/>
            <a:ext cx="1097172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An rclpy-style interface with explicit routes into rclcpp</a:t>
            </a:r>
            <a:endParaRPr b="0" lang="en-US" sz="2300" spc="-1" strike="noStrike">
              <a:solidFill>
                <a:srgbClr val="000000"/>
              </a:solidFill>
              <a:latin typeface="Arial"/>
            </a:endParaRPr>
          </a:p>
        </p:txBody>
      </p:sp>
      <p:sp>
        <p:nvSpPr>
          <p:cNvPr id="234" name="TextBox 162"/>
          <p:cNvSpPr/>
          <p:nvPr/>
        </p:nvSpPr>
        <p:spPr>
          <a:xfrm>
            <a:off x="594360" y="2057400"/>
            <a:ext cx="68569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Keep messages in C++</a:t>
            </a:r>
            <a:endParaRPr b="0" lang="en-US" sz="2200" spc="-1" strike="noStrike">
              <a:solidFill>
                <a:srgbClr val="000000"/>
              </a:solidFill>
              <a:latin typeface="Arial"/>
            </a:endParaRPr>
          </a:p>
        </p:txBody>
      </p:sp>
      <p:sp>
        <p:nvSpPr>
          <p:cNvPr id="235" name="TextBox 163"/>
          <p:cNvSpPr/>
          <p:nvPr/>
        </p:nvSpPr>
        <p:spPr>
          <a:xfrm>
            <a:off x="594360" y="2496240"/>
            <a:ext cx="685692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Pass compatible native objects into C++ libraries and custom kernels.</a:t>
            </a:r>
            <a:endParaRPr b="0" lang="en-US" sz="1900" spc="-1" strike="noStrike">
              <a:solidFill>
                <a:srgbClr val="000000"/>
              </a:solidFill>
              <a:latin typeface="Arial"/>
            </a:endParaRPr>
          </a:p>
        </p:txBody>
      </p:sp>
      <p:sp>
        <p:nvSpPr>
          <p:cNvPr id="236" name="TextBox 164"/>
          <p:cNvSpPr/>
          <p:nvPr/>
        </p:nvSpPr>
        <p:spPr>
          <a:xfrm>
            <a:off x="594360" y="3246120"/>
            <a:ext cx="68569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Use native ROS facilities</a:t>
            </a:r>
            <a:endParaRPr b="0" lang="en-US" sz="2200" spc="-1" strike="noStrike">
              <a:solidFill>
                <a:srgbClr val="000000"/>
              </a:solidFill>
              <a:latin typeface="Arial"/>
            </a:endParaRPr>
          </a:p>
        </p:txBody>
      </p:sp>
      <p:sp>
        <p:nvSpPr>
          <p:cNvPr id="237" name="TextBox 165"/>
          <p:cNvSpPr/>
          <p:nvPr/>
        </p:nvSpPr>
        <p:spPr>
          <a:xfrm>
            <a:off x="594360" y="3684960"/>
            <a:ext cx="685692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Intra-process communication, C++ components and native callbacks.</a:t>
            </a:r>
            <a:endParaRPr b="0" lang="en-US" sz="1900" spc="-1" strike="noStrike">
              <a:solidFill>
                <a:srgbClr val="000000"/>
              </a:solidFill>
              <a:latin typeface="Arial"/>
            </a:endParaRPr>
          </a:p>
        </p:txBody>
      </p:sp>
      <p:sp>
        <p:nvSpPr>
          <p:cNvPr id="238" name="TextBox 166"/>
          <p:cNvSpPr/>
          <p:nvPr/>
        </p:nvSpPr>
        <p:spPr>
          <a:xfrm>
            <a:off x="594360" y="4434840"/>
            <a:ext cx="68569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execution path</a:t>
            </a:r>
            <a:endParaRPr b="0" lang="en-US" sz="2200" spc="-1" strike="noStrike">
              <a:solidFill>
                <a:srgbClr val="000000"/>
              </a:solidFill>
              <a:latin typeface="Arial"/>
            </a:endParaRPr>
          </a:p>
        </p:txBody>
      </p:sp>
      <p:sp>
        <p:nvSpPr>
          <p:cNvPr id="239" name="TextBox 167"/>
          <p:cNvSpPr/>
          <p:nvPr/>
        </p:nvSpPr>
        <p:spPr>
          <a:xfrm>
            <a:off x="594360" y="4873680"/>
            <a:ext cx="685692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Python for orchestration; selected native paths for the processing work.</a:t>
            </a:r>
            <a:endParaRPr b="0" lang="en-US" sz="1900" spc="-1" strike="noStrike">
              <a:solidFill>
                <a:srgbClr val="000000"/>
              </a:solidFill>
              <a:latin typeface="Arial"/>
            </a:endParaRPr>
          </a:p>
        </p:txBody>
      </p:sp>
      <p:sp>
        <p:nvSpPr>
          <p:cNvPr id="240" name="Rounded Rectangle 168"/>
          <p:cNvSpPr/>
          <p:nvPr/>
        </p:nvSpPr>
        <p:spPr>
          <a:xfrm>
            <a:off x="8001000" y="2148840"/>
            <a:ext cx="3610800" cy="6573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1" name="TextBox 169"/>
          <p:cNvSpPr/>
          <p:nvPr/>
        </p:nvSpPr>
        <p:spPr>
          <a:xfrm>
            <a:off x="8183880" y="2286000"/>
            <a:ext cx="324504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Python application</a:t>
            </a:r>
            <a:endParaRPr b="0" lang="en-US" sz="1900" spc="-1" strike="noStrike">
              <a:solidFill>
                <a:srgbClr val="000000"/>
              </a:solidFill>
              <a:latin typeface="Arial"/>
            </a:endParaRPr>
          </a:p>
        </p:txBody>
      </p:sp>
      <p:sp>
        <p:nvSpPr>
          <p:cNvPr id="242" name="Rounded Rectangle 170"/>
          <p:cNvSpPr/>
          <p:nvPr/>
        </p:nvSpPr>
        <p:spPr>
          <a:xfrm>
            <a:off x="8001000" y="3337560"/>
            <a:ext cx="3610800" cy="6573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3" name="TextBox 171"/>
          <p:cNvSpPr/>
          <p:nvPr/>
        </p:nvSpPr>
        <p:spPr>
          <a:xfrm>
            <a:off x="8183880" y="3474720"/>
            <a:ext cx="324504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rclcpp objects / messages</a:t>
            </a:r>
            <a:endParaRPr b="0" lang="en-US" sz="1900" spc="-1" strike="noStrike">
              <a:solidFill>
                <a:srgbClr val="000000"/>
              </a:solidFill>
              <a:latin typeface="Arial"/>
            </a:endParaRPr>
          </a:p>
        </p:txBody>
      </p:sp>
      <p:sp>
        <p:nvSpPr>
          <p:cNvPr id="244" name="Rounded Rectangle 172"/>
          <p:cNvSpPr/>
          <p:nvPr/>
        </p:nvSpPr>
        <p:spPr>
          <a:xfrm>
            <a:off x="8001000" y="4526280"/>
            <a:ext cx="3610800" cy="65736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5" name="TextBox 173"/>
          <p:cNvSpPr/>
          <p:nvPr/>
        </p:nvSpPr>
        <p:spPr>
          <a:xfrm>
            <a:off x="8183880" y="4663440"/>
            <a:ext cx="324504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C++ library / kernel</a:t>
            </a:r>
            <a:endParaRPr b="0" lang="en-US" sz="1900" spc="-1" strike="noStrike">
              <a:solidFill>
                <a:srgbClr val="000000"/>
              </a:solidFill>
              <a:latin typeface="Arial"/>
            </a:endParaRPr>
          </a:p>
        </p:txBody>
      </p:sp>
      <p:sp>
        <p:nvSpPr>
          <p:cNvPr id="246" name="TextBox 174"/>
          <p:cNvSpPr/>
          <p:nvPr/>
        </p:nvSpPr>
        <p:spPr>
          <a:xfrm>
            <a:off x="9601200" y="2834640"/>
            <a:ext cx="54756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47" name="TextBox 175"/>
          <p:cNvSpPr/>
          <p:nvPr/>
        </p:nvSpPr>
        <p:spPr>
          <a:xfrm>
            <a:off x="9601200" y="4023360"/>
            <a:ext cx="54756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48" name="TextBox 176"/>
          <p:cNvSpPr/>
          <p:nvPr/>
        </p:nvSpPr>
        <p:spPr>
          <a:xfrm>
            <a:off x="594360" y="5806440"/>
            <a:ext cx="1097172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Keep the native representation through the pipeline; convert where the next API requires it.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9" name="Picture 5" descr=""/>
          <p:cNvPicPr/>
          <p:nvPr/>
        </p:nvPicPr>
        <p:blipFill>
          <a:blip r:embed="rId1"/>
          <a:stretch/>
        </p:blipFill>
        <p:spPr>
          <a:xfrm>
            <a:off x="10623600" y="345600"/>
            <a:ext cx="1059120" cy="1059120"/>
          </a:xfrm>
          <a:prstGeom prst="rect">
            <a:avLst/>
          </a:prstGeom>
          <a:ln w="0">
            <a:noFill/>
          </a:ln>
        </p:spPr>
      </p:pic>
      <p:cxnSp>
        <p:nvCxnSpPr>
          <p:cNvPr id="250" name="Straight Connector 7"/>
          <p:cNvCxnSpPr/>
          <p:nvPr/>
        </p:nvCxnSpPr>
        <p:spPr>
          <a:xfrm>
            <a:off x="0" y="1134720"/>
            <a:ext cx="4365360" cy="1800"/>
          </a:xfrm>
          <a:prstGeom prst="straightConnector1">
            <a:avLst/>
          </a:prstGeom>
          <a:ln w="38100">
            <a:solidFill>
              <a:srgbClr val="fed021"/>
            </a:solidFill>
            <a:round/>
          </a:ln>
        </p:spPr>
      </p:cxnSp>
      <p:sp>
        <p:nvSpPr>
          <p:cNvPr id="251" name="TextBox 188"/>
          <p:cNvSpPr/>
          <p:nvPr/>
        </p:nvSpPr>
        <p:spPr>
          <a:xfrm>
            <a:off x="502920" y="320040"/>
            <a:ext cx="1014912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lower CPU cost across ROS operations</a:t>
            </a:r>
            <a:endParaRPr b="0" lang="en-US" sz="2800" spc="-1" strike="noStrike">
              <a:solidFill>
                <a:srgbClr val="000000"/>
              </a:solidFill>
              <a:latin typeface="Arial"/>
            </a:endParaRPr>
          </a:p>
        </p:txBody>
      </p:sp>
      <p:sp>
        <p:nvSpPr>
          <p:cNvPr id="252" name="TextBox 189"/>
          <p:cNvSpPr/>
          <p:nvPr/>
        </p:nvSpPr>
        <p:spPr>
          <a:xfrm>
            <a:off x="594360" y="1280160"/>
            <a:ext cx="10972080" cy="75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CPU work across the benchmarks; throughput gains depend on the operation.</a:t>
            </a:r>
            <a:endParaRPr b="0" lang="en-US" sz="2200" spc="-1" strike="noStrike">
              <a:solidFill>
                <a:srgbClr val="000000"/>
              </a:solidFill>
              <a:latin typeface="Arial"/>
            </a:endParaRPr>
          </a:p>
        </p:txBody>
      </p:sp>
      <p:sp>
        <p:nvSpPr>
          <p:cNvPr id="253" name="TextBox 190"/>
          <p:cNvSpPr/>
          <p:nvPr/>
        </p:nvSpPr>
        <p:spPr>
          <a:xfrm>
            <a:off x="594360" y="193860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ROS operation</a:t>
            </a:r>
            <a:endParaRPr b="0" lang="en-US" sz="2000" spc="-1" strike="noStrike">
              <a:solidFill>
                <a:srgbClr val="000000"/>
              </a:solidFill>
              <a:latin typeface="Arial"/>
            </a:endParaRPr>
          </a:p>
        </p:txBody>
      </p:sp>
      <p:sp>
        <p:nvSpPr>
          <p:cNvPr id="254" name="TextBox 191"/>
          <p:cNvSpPr/>
          <p:nvPr/>
        </p:nvSpPr>
        <p:spPr>
          <a:xfrm>
            <a:off x="7406640" y="193860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CPU time saved</a:t>
            </a:r>
            <a:endParaRPr b="0" lang="en-US" sz="2000" spc="-1" strike="noStrike">
              <a:solidFill>
                <a:srgbClr val="000000"/>
              </a:solidFill>
              <a:latin typeface="Arial"/>
            </a:endParaRPr>
          </a:p>
        </p:txBody>
      </p:sp>
      <p:sp>
        <p:nvSpPr>
          <p:cNvPr id="255" name="TextBox 192"/>
          <p:cNvSpPr/>
          <p:nvPr/>
        </p:nvSpPr>
        <p:spPr>
          <a:xfrm>
            <a:off x="9784080" y="193860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Throughput</a:t>
            </a:r>
            <a:endParaRPr b="0" lang="en-US" sz="2000" spc="-1" strike="noStrike">
              <a:solidFill>
                <a:srgbClr val="000000"/>
              </a:solidFill>
              <a:latin typeface="Arial"/>
            </a:endParaRPr>
          </a:p>
        </p:txBody>
      </p:sp>
      <p:sp>
        <p:nvSpPr>
          <p:cNvPr id="256" name="TextBox 193"/>
          <p:cNvSpPr/>
          <p:nvPr/>
        </p:nvSpPr>
        <p:spPr>
          <a:xfrm>
            <a:off x="594360" y="237744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Pub/sub relays</a:t>
            </a:r>
            <a:endParaRPr b="0" lang="en-US" sz="2000" spc="-1" strike="noStrike">
              <a:solidFill>
                <a:srgbClr val="000000"/>
              </a:solidFill>
              <a:latin typeface="Arial"/>
            </a:endParaRPr>
          </a:p>
        </p:txBody>
      </p:sp>
      <p:sp>
        <p:nvSpPr>
          <p:cNvPr id="257" name="TextBox 194"/>
          <p:cNvSpPr/>
          <p:nvPr/>
        </p:nvSpPr>
        <p:spPr>
          <a:xfrm>
            <a:off x="7406640" y="237744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77–81%</a:t>
            </a:r>
            <a:endParaRPr b="0" lang="en-US" sz="2000" spc="-1" strike="noStrike">
              <a:solidFill>
                <a:srgbClr val="000000"/>
              </a:solidFill>
              <a:latin typeface="Arial"/>
            </a:endParaRPr>
          </a:p>
        </p:txBody>
      </p:sp>
      <p:sp>
        <p:nvSpPr>
          <p:cNvPr id="258" name="TextBox 195"/>
          <p:cNvSpPr/>
          <p:nvPr/>
        </p:nvSpPr>
        <p:spPr>
          <a:xfrm>
            <a:off x="9784080" y="237744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2.9–3.0×</a:t>
            </a:r>
            <a:endParaRPr b="0" lang="en-US" sz="2000" spc="-1" strike="noStrike">
              <a:solidFill>
                <a:srgbClr val="000000"/>
              </a:solidFill>
              <a:latin typeface="Arial"/>
            </a:endParaRPr>
          </a:p>
        </p:txBody>
      </p:sp>
      <p:sp>
        <p:nvSpPr>
          <p:cNvPr id="259" name="TextBox 196"/>
          <p:cNvSpPr/>
          <p:nvPr/>
        </p:nvSpPr>
        <p:spPr>
          <a:xfrm>
            <a:off x="594360" y="281628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Services: client / server</a:t>
            </a:r>
            <a:endParaRPr b="0" lang="en-US" sz="2000" spc="-1" strike="noStrike">
              <a:solidFill>
                <a:srgbClr val="000000"/>
              </a:solidFill>
              <a:latin typeface="Arial"/>
            </a:endParaRPr>
          </a:p>
        </p:txBody>
      </p:sp>
      <p:sp>
        <p:nvSpPr>
          <p:cNvPr id="260" name="TextBox 197"/>
          <p:cNvSpPr/>
          <p:nvPr/>
        </p:nvSpPr>
        <p:spPr>
          <a:xfrm>
            <a:off x="7406640" y="281628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68–78%</a:t>
            </a:r>
            <a:endParaRPr b="0" lang="en-US" sz="2000" spc="-1" strike="noStrike">
              <a:solidFill>
                <a:srgbClr val="000000"/>
              </a:solidFill>
              <a:latin typeface="Arial"/>
            </a:endParaRPr>
          </a:p>
        </p:txBody>
      </p:sp>
      <p:sp>
        <p:nvSpPr>
          <p:cNvPr id="261" name="TextBox 198"/>
          <p:cNvSpPr/>
          <p:nvPr/>
        </p:nvSpPr>
        <p:spPr>
          <a:xfrm>
            <a:off x="9784080" y="281628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1.4–2.6×</a:t>
            </a:r>
            <a:endParaRPr b="0" lang="en-US" sz="2000" spc="-1" strike="noStrike">
              <a:solidFill>
                <a:srgbClr val="000000"/>
              </a:solidFill>
              <a:latin typeface="Arial"/>
            </a:endParaRPr>
          </a:p>
        </p:txBody>
      </p:sp>
      <p:sp>
        <p:nvSpPr>
          <p:cNvPr id="262" name="TextBox 199"/>
          <p:cNvSpPr/>
          <p:nvPr/>
        </p:nvSpPr>
        <p:spPr>
          <a:xfrm>
            <a:off x="594360" y="325512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Actions: client / server</a:t>
            </a:r>
            <a:endParaRPr b="0" lang="en-US" sz="2000" spc="-1" strike="noStrike">
              <a:solidFill>
                <a:srgbClr val="000000"/>
              </a:solidFill>
              <a:latin typeface="Arial"/>
            </a:endParaRPr>
          </a:p>
        </p:txBody>
      </p:sp>
      <p:sp>
        <p:nvSpPr>
          <p:cNvPr id="263" name="TextBox 200"/>
          <p:cNvSpPr/>
          <p:nvPr/>
        </p:nvSpPr>
        <p:spPr>
          <a:xfrm>
            <a:off x="7406640" y="325512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35–74%</a:t>
            </a:r>
            <a:endParaRPr b="0" lang="en-US" sz="2000" spc="-1" strike="noStrike">
              <a:solidFill>
                <a:srgbClr val="000000"/>
              </a:solidFill>
              <a:latin typeface="Arial"/>
            </a:endParaRPr>
          </a:p>
        </p:txBody>
      </p:sp>
      <p:sp>
        <p:nvSpPr>
          <p:cNvPr id="264" name="TextBox 201"/>
          <p:cNvSpPr/>
          <p:nvPr/>
        </p:nvSpPr>
        <p:spPr>
          <a:xfrm>
            <a:off x="9784080" y="325512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~1.0×</a:t>
            </a:r>
            <a:endParaRPr b="0" lang="en-US" sz="2000" spc="-1" strike="noStrike">
              <a:solidFill>
                <a:srgbClr val="000000"/>
              </a:solidFill>
              <a:latin typeface="Arial"/>
            </a:endParaRPr>
          </a:p>
        </p:txBody>
      </p:sp>
      <p:sp>
        <p:nvSpPr>
          <p:cNvPr id="265" name="TextBox 202"/>
          <p:cNvSpPr/>
          <p:nvPr/>
        </p:nvSpPr>
        <p:spPr>
          <a:xfrm>
            <a:off x="594360" y="369432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Remote parameters: get / atomic set</a:t>
            </a:r>
            <a:endParaRPr b="0" lang="en-US" sz="2000" spc="-1" strike="noStrike">
              <a:solidFill>
                <a:srgbClr val="000000"/>
              </a:solidFill>
              <a:latin typeface="Arial"/>
            </a:endParaRPr>
          </a:p>
        </p:txBody>
      </p:sp>
      <p:sp>
        <p:nvSpPr>
          <p:cNvPr id="266" name="TextBox 203"/>
          <p:cNvSpPr/>
          <p:nvPr/>
        </p:nvSpPr>
        <p:spPr>
          <a:xfrm>
            <a:off x="7406640" y="369432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75–84%</a:t>
            </a:r>
            <a:endParaRPr b="0" lang="en-US" sz="2000" spc="-1" strike="noStrike">
              <a:solidFill>
                <a:srgbClr val="000000"/>
              </a:solidFill>
              <a:latin typeface="Arial"/>
            </a:endParaRPr>
          </a:p>
        </p:txBody>
      </p:sp>
      <p:sp>
        <p:nvSpPr>
          <p:cNvPr id="267" name="TextBox 204"/>
          <p:cNvSpPr/>
          <p:nvPr/>
        </p:nvSpPr>
        <p:spPr>
          <a:xfrm>
            <a:off x="9784080" y="369432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4.0–6.3×</a:t>
            </a:r>
            <a:endParaRPr b="0" lang="en-US" sz="2000" spc="-1" strike="noStrike">
              <a:solidFill>
                <a:srgbClr val="000000"/>
              </a:solidFill>
              <a:latin typeface="Arial"/>
            </a:endParaRPr>
          </a:p>
        </p:txBody>
      </p:sp>
      <p:sp>
        <p:nvSpPr>
          <p:cNvPr id="268" name="TextBox 205"/>
          <p:cNvSpPr/>
          <p:nvPr/>
        </p:nvSpPr>
        <p:spPr>
          <a:xfrm>
            <a:off x="594360" y="413316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Local parameters: declare / get / set</a:t>
            </a:r>
            <a:endParaRPr b="0" lang="en-US" sz="2000" spc="-1" strike="noStrike">
              <a:solidFill>
                <a:srgbClr val="000000"/>
              </a:solidFill>
              <a:latin typeface="Arial"/>
            </a:endParaRPr>
          </a:p>
        </p:txBody>
      </p:sp>
      <p:sp>
        <p:nvSpPr>
          <p:cNvPr id="269" name="TextBox 206"/>
          <p:cNvSpPr/>
          <p:nvPr/>
        </p:nvSpPr>
        <p:spPr>
          <a:xfrm>
            <a:off x="7406640" y="413316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31–49%</a:t>
            </a:r>
            <a:endParaRPr b="0" lang="en-US" sz="2000" spc="-1" strike="noStrike">
              <a:solidFill>
                <a:srgbClr val="000000"/>
              </a:solidFill>
              <a:latin typeface="Arial"/>
            </a:endParaRPr>
          </a:p>
        </p:txBody>
      </p:sp>
      <p:sp>
        <p:nvSpPr>
          <p:cNvPr id="270" name="TextBox 207"/>
          <p:cNvSpPr/>
          <p:nvPr/>
        </p:nvSpPr>
        <p:spPr>
          <a:xfrm>
            <a:off x="9784080" y="413316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1" name="TextBox 208"/>
          <p:cNvSpPr/>
          <p:nvPr/>
        </p:nvSpPr>
        <p:spPr>
          <a:xfrm>
            <a:off x="594360" y="4572000"/>
            <a:ext cx="67201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Timers / executor</a:t>
            </a:r>
            <a:endParaRPr b="0" lang="en-US" sz="2000" spc="-1" strike="noStrike">
              <a:solidFill>
                <a:srgbClr val="000000"/>
              </a:solidFill>
              <a:latin typeface="Arial"/>
            </a:endParaRPr>
          </a:p>
        </p:txBody>
      </p:sp>
      <p:sp>
        <p:nvSpPr>
          <p:cNvPr id="272" name="TextBox 209"/>
          <p:cNvSpPr/>
          <p:nvPr/>
        </p:nvSpPr>
        <p:spPr>
          <a:xfrm>
            <a:off x="7406640" y="4572000"/>
            <a:ext cx="20566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74%</a:t>
            </a:r>
            <a:endParaRPr b="0" lang="en-US" sz="2000" spc="-1" strike="noStrike">
              <a:solidFill>
                <a:srgbClr val="000000"/>
              </a:solidFill>
              <a:latin typeface="Arial"/>
            </a:endParaRPr>
          </a:p>
        </p:txBody>
      </p:sp>
      <p:sp>
        <p:nvSpPr>
          <p:cNvPr id="273" name="TextBox 210"/>
          <p:cNvSpPr/>
          <p:nvPr/>
        </p:nvSpPr>
        <p:spPr>
          <a:xfrm>
            <a:off x="9784080" y="4572000"/>
            <a:ext cx="1828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4" name="TextBox 211"/>
          <p:cNvSpPr/>
          <p:nvPr/>
        </p:nvSpPr>
        <p:spPr>
          <a:xfrm>
            <a:off x="594360" y="5212080"/>
            <a:ext cx="109720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Actions illustrate the distinction: less CPU time, similar completion throughput.</a:t>
            </a:r>
            <a:endParaRPr b="0" lang="en-US" sz="2000" spc="-1" strike="noStrike">
              <a:solidFill>
                <a:srgbClr val="000000"/>
              </a:solidFill>
              <a:latin typeface="Arial"/>
            </a:endParaRPr>
          </a:p>
        </p:txBody>
      </p:sp>
      <p:sp>
        <p:nvSpPr>
          <p:cNvPr id="275" name="TextBox 212"/>
          <p:cNvSpPr/>
          <p:nvPr/>
        </p:nvSpPr>
        <p:spPr>
          <a:xfrm>
            <a:off x="594360" y="5760720"/>
            <a:ext cx="1097208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Recorded direct C++ paths vs stock rclpy · local x86-64 · Jazzy / CycloneDDS</a:t>
            </a:r>
            <a:endParaRPr b="0" lang="en-US" sz="1600" spc="-1" strike="noStrike">
              <a:solidFill>
                <a:srgbClr val="000000"/>
              </a:solidFill>
              <a:latin typeface="Arial"/>
            </a:endParaRPr>
          </a:p>
        </p:txBody>
      </p:sp>
      <p:sp>
        <p:nvSpPr>
          <p:cNvPr id="276" name="TextBox 213"/>
          <p:cNvSpPr/>
          <p:nvPr/>
        </p:nvSpPr>
        <p:spPr>
          <a:xfrm>
            <a:off x="594360" y="6245280"/>
            <a:ext cx="10972080" cy="3178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7" name="Picture 5" descr=""/>
          <p:cNvPicPr/>
          <p:nvPr/>
        </p:nvPicPr>
        <p:blipFill>
          <a:blip r:embed="rId1"/>
          <a:stretch/>
        </p:blipFill>
        <p:spPr>
          <a:xfrm>
            <a:off x="10623600" y="345600"/>
            <a:ext cx="1059120" cy="1059120"/>
          </a:xfrm>
          <a:prstGeom prst="rect">
            <a:avLst/>
          </a:prstGeom>
          <a:ln w="0">
            <a:noFill/>
          </a:ln>
        </p:spPr>
      </p:pic>
      <p:cxnSp>
        <p:nvCxnSpPr>
          <p:cNvPr id="278" name="Straight Connector 7"/>
          <p:cNvCxnSpPr/>
          <p:nvPr/>
        </p:nvCxnSpPr>
        <p:spPr>
          <a:xfrm>
            <a:off x="0" y="1134720"/>
            <a:ext cx="4365360" cy="1800"/>
          </a:xfrm>
          <a:prstGeom prst="straightConnector1">
            <a:avLst/>
          </a:prstGeom>
          <a:ln w="38100">
            <a:solidFill>
              <a:srgbClr val="fed021"/>
            </a:solidFill>
            <a:round/>
          </a:ln>
        </p:spPr>
      </p:cxnSp>
      <p:sp>
        <p:nvSpPr>
          <p:cNvPr id="279" name="TextBox 273"/>
          <p:cNvSpPr/>
          <p:nvPr/>
        </p:nvSpPr>
        <p:spPr>
          <a:xfrm>
            <a:off x="502920" y="320040"/>
            <a:ext cx="1014948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Designed to be usable by coding agents</a:t>
            </a:r>
            <a:endParaRPr b="0" lang="en-US" sz="2800" spc="-1" strike="noStrike">
              <a:solidFill>
                <a:srgbClr val="000000"/>
              </a:solidFill>
              <a:latin typeface="Arial"/>
            </a:endParaRPr>
          </a:p>
        </p:txBody>
      </p:sp>
      <p:sp>
        <p:nvSpPr>
          <p:cNvPr id="280" name="TextBox 274"/>
          <p:cNvSpPr/>
          <p:nvPr/>
        </p:nvSpPr>
        <p:spPr>
          <a:xfrm>
            <a:off x="594360" y="1280160"/>
            <a:ext cx="1097244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Give the agent a small API, useful context and a way to check its work.</a:t>
            </a:r>
            <a:endParaRPr b="0" lang="en-US" sz="2300" spc="-1" strike="noStrike">
              <a:solidFill>
                <a:srgbClr val="000000"/>
              </a:solidFill>
              <a:latin typeface="Arial"/>
            </a:endParaRPr>
          </a:p>
        </p:txBody>
      </p:sp>
      <p:sp>
        <p:nvSpPr>
          <p:cNvPr id="281" name="TextBox 275"/>
          <p:cNvSpPr/>
          <p:nvPr/>
        </p:nvSpPr>
        <p:spPr>
          <a:xfrm>
            <a:off x="594360" y="2148840"/>
            <a:ext cx="3657240" cy="75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integration glue to generate</a:t>
            </a:r>
            <a:endParaRPr b="0" lang="en-US" sz="2200" spc="-1" strike="noStrike">
              <a:solidFill>
                <a:srgbClr val="000000"/>
              </a:solidFill>
              <a:latin typeface="Arial"/>
            </a:endParaRPr>
          </a:p>
        </p:txBody>
      </p:sp>
      <p:sp>
        <p:nvSpPr>
          <p:cNvPr id="282" name="TextBox 276"/>
          <p:cNvSpPr/>
          <p:nvPr/>
        </p:nvSpPr>
        <p:spPr>
          <a:xfrm>
            <a:off x="4480560" y="2148840"/>
            <a:ext cx="708624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lifetime, callback and array helpers instead of generating that glue again.</a:t>
            </a:r>
            <a:endParaRPr b="0" lang="en-US" sz="2000" spc="-1" strike="noStrike">
              <a:solidFill>
                <a:srgbClr val="000000"/>
              </a:solidFill>
              <a:latin typeface="Arial"/>
            </a:endParaRPr>
          </a:p>
        </p:txBody>
      </p:sp>
      <p:sp>
        <p:nvSpPr>
          <p:cNvPr id="283" name="TextBox 277"/>
          <p:cNvSpPr/>
          <p:nvPr/>
        </p:nvSpPr>
        <p:spPr>
          <a:xfrm>
            <a:off x="594360" y="2935080"/>
            <a:ext cx="365724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The right context to read</a:t>
            </a:r>
            <a:endParaRPr b="0" lang="en-US" sz="2200" spc="-1" strike="noStrike">
              <a:solidFill>
                <a:srgbClr val="000000"/>
              </a:solidFill>
              <a:latin typeface="Arial"/>
            </a:endParaRPr>
          </a:p>
        </p:txBody>
      </p:sp>
      <p:sp>
        <p:nvSpPr>
          <p:cNvPr id="284" name="TextBox 278"/>
          <p:cNvSpPr/>
          <p:nvPr/>
        </p:nvSpPr>
        <p:spPr>
          <a:xfrm>
            <a:off x="4480560" y="2935080"/>
            <a:ext cx="708624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Task guides and kit API references explain supported calls, setup and ownership.</a:t>
            </a:r>
            <a:endParaRPr b="0" lang="en-US" sz="2000" spc="-1" strike="noStrike">
              <a:solidFill>
                <a:srgbClr val="000000"/>
              </a:solidFill>
              <a:latin typeface="Arial"/>
            </a:endParaRPr>
          </a:p>
        </p:txBody>
      </p:sp>
      <p:sp>
        <p:nvSpPr>
          <p:cNvPr id="285" name="TextBox 279"/>
          <p:cNvSpPr/>
          <p:nvPr/>
        </p:nvSpPr>
        <p:spPr>
          <a:xfrm>
            <a:off x="594360" y="3721680"/>
            <a:ext cx="3657240" cy="75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Concrete examples to adapt</a:t>
            </a:r>
            <a:endParaRPr b="0" lang="en-US" sz="2200" spc="-1" strike="noStrike">
              <a:solidFill>
                <a:srgbClr val="000000"/>
              </a:solidFill>
              <a:latin typeface="Arial"/>
            </a:endParaRPr>
          </a:p>
        </p:txBody>
      </p:sp>
      <p:sp>
        <p:nvSpPr>
          <p:cNvPr id="286" name="TextBox 280"/>
          <p:cNvSpPr/>
          <p:nvPr/>
        </p:nvSpPr>
        <p:spPr>
          <a:xfrm>
            <a:off x="4480560" y="3721680"/>
            <a:ext cx="708624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Runnable examples show the input, operation and expected result.</a:t>
            </a:r>
            <a:endParaRPr b="0" lang="en-US" sz="2000" spc="-1" strike="noStrike">
              <a:solidFill>
                <a:srgbClr val="000000"/>
              </a:solidFill>
              <a:latin typeface="Arial"/>
            </a:endParaRPr>
          </a:p>
        </p:txBody>
      </p:sp>
      <p:sp>
        <p:nvSpPr>
          <p:cNvPr id="287" name="TextBox 281"/>
          <p:cNvSpPr/>
          <p:nvPr/>
        </p:nvSpPr>
        <p:spPr>
          <a:xfrm>
            <a:off x="594360" y="4507920"/>
            <a:ext cx="365724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 short feedback loop</a:t>
            </a:r>
            <a:endParaRPr b="0" lang="en-US" sz="2200" spc="-1" strike="noStrike">
              <a:solidFill>
                <a:srgbClr val="000000"/>
              </a:solidFill>
              <a:latin typeface="Arial"/>
            </a:endParaRPr>
          </a:p>
        </p:txBody>
      </p:sp>
      <p:sp>
        <p:nvSpPr>
          <p:cNvPr id="288" name="TextBox 282"/>
          <p:cNvSpPr/>
          <p:nvPr/>
        </p:nvSpPr>
        <p:spPr>
          <a:xfrm>
            <a:off x="4480560" y="4507920"/>
            <a:ext cx="708624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 on real data, inspect outputs, compare results and measure performance.</a:t>
            </a:r>
            <a:endParaRPr b="0" lang="en-US" sz="2000" spc="-1" strike="noStrike">
              <a:solidFill>
                <a:srgbClr val="000000"/>
              </a:solidFill>
              <a:latin typeface="Arial"/>
            </a:endParaRPr>
          </a:p>
        </p:txBody>
      </p:sp>
      <p:sp>
        <p:nvSpPr>
          <p:cNvPr id="289" name="TextBox 283"/>
          <p:cNvSpPr/>
          <p:nvPr/>
        </p:nvSpPr>
        <p:spPr>
          <a:xfrm>
            <a:off x="594360" y="5715000"/>
            <a:ext cx="10972440" cy="7297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You describe the task. The agent reads the kit, writes a small experiment and verifies it.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6788520" y="347400"/>
            <a:ext cx="4653000" cy="78732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0" lang="en-US" sz="2400" spc="-1" strike="noStrike">
                <a:solidFill>
                  <a:srgbClr val="031424"/>
                </a:solidFill>
                <a:latin typeface="Roboto"/>
                <a:ea typeface="Roboto"/>
              </a:rPr>
              <a:t>After</a:t>
            </a:r>
            <a:endParaRPr b="0" lang="en-US" sz="2400" spc="-1" strike="noStrike">
              <a:solidFill>
                <a:srgbClr val="000000"/>
              </a:solidFill>
              <a:latin typeface="Arial"/>
            </a:endParaRPr>
          </a:p>
        </p:txBody>
      </p:sp>
      <p:pic>
        <p:nvPicPr>
          <p:cNvPr id="291" name="Picture 5" descr=""/>
          <p:cNvPicPr/>
          <p:nvPr/>
        </p:nvPicPr>
        <p:blipFill>
          <a:blip r:embed="rId1"/>
          <a:stretch/>
        </p:blipFill>
        <p:spPr>
          <a:xfrm>
            <a:off x="11547720" y="6235560"/>
            <a:ext cx="524880" cy="524880"/>
          </a:xfrm>
          <a:prstGeom prst="rect">
            <a:avLst/>
          </a:prstGeom>
          <a:ln w="0">
            <a:noFill/>
          </a:ln>
        </p:spPr>
      </p:pic>
      <p:cxnSp>
        <p:nvCxnSpPr>
          <p:cNvPr id="292" name="Straight Connector 7"/>
          <p:cNvCxnSpPr/>
          <p:nvPr/>
        </p:nvCxnSpPr>
        <p:spPr>
          <a:xfrm flipV="1">
            <a:off x="6095880" y="0"/>
            <a:ext cx="1800" cy="5812200"/>
          </a:xfrm>
          <a:prstGeom prst="straightConnector1">
            <a:avLst/>
          </a:prstGeom>
          <a:ln w="38100">
            <a:solidFill>
              <a:srgbClr val="031424"/>
            </a:solidFill>
            <a:round/>
          </a:ln>
        </p:spPr>
      </p:cxnSp>
      <p:cxnSp>
        <p:nvCxnSpPr>
          <p:cNvPr id="293" name="Straight Connector 9"/>
          <p:cNvCxnSpPr/>
          <p:nvPr/>
        </p:nvCxnSpPr>
        <p:spPr>
          <a:xfrm flipV="1">
            <a:off x="5970600" y="1047240"/>
            <a:ext cx="1800" cy="5812560"/>
          </a:xfrm>
          <a:prstGeom prst="straightConnector1">
            <a:avLst/>
          </a:prstGeom>
          <a:ln w="38100">
            <a:solidFill>
              <a:srgbClr val="fed021"/>
            </a:solidFill>
            <a:round/>
          </a:ln>
        </p:spPr>
      </p:cxnSp>
      <p:sp>
        <p:nvSpPr>
          <p:cNvPr id="294" name="Title 1"/>
          <p:cNvSpPr/>
          <p:nvPr/>
        </p:nvSpPr>
        <p:spPr>
          <a:xfrm>
            <a:off x="497880" y="347400"/>
            <a:ext cx="4653000" cy="78732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2400" spc="-1" strike="noStrike">
                <a:solidFill>
                  <a:srgbClr val="031424"/>
                </a:solidFill>
                <a:latin typeface="Roboto"/>
                <a:ea typeface="Roboto"/>
              </a:rPr>
              <a:t>Before</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7597800" y="5931720"/>
            <a:ext cx="4251960" cy="787320"/>
          </a:xfrm>
          <a:prstGeom prst="rect">
            <a:avLst/>
          </a:prstGeom>
          <a:noFill/>
          <a:ln w="0">
            <a:noFill/>
          </a:ln>
        </p:spPr>
        <p:txBody>
          <a:bodyPr lIns="91440" rIns="91440" tIns="45720" bIns="45720" anchor="ctr">
            <a:normAutofit/>
          </a:bodyPr>
          <a:p>
            <a:pPr indent="0" algn="r" defTabSz="914400">
              <a:lnSpc>
                <a:spcPct val="90000"/>
              </a:lnSpc>
              <a:buNone/>
              <a:tabLst>
                <a:tab algn="l" pos="0"/>
              </a:tabLst>
            </a:pPr>
            <a:r>
              <a:rPr b="0" lang="en-US" sz="1800" spc="-1" strike="noStrike">
                <a:solidFill>
                  <a:srgbClr val="031424"/>
                </a:solidFill>
                <a:latin typeface="Roboto"/>
                <a:ea typeface="Roboto"/>
              </a:rPr>
              <a:t>After</a:t>
            </a:r>
            <a:endParaRPr b="0" lang="en-US" sz="1800" spc="-1" strike="noStrike">
              <a:solidFill>
                <a:srgbClr val="000000"/>
              </a:solidFill>
              <a:latin typeface="Arial"/>
            </a:endParaRPr>
          </a:p>
        </p:txBody>
      </p:sp>
      <p:sp>
        <p:nvSpPr>
          <p:cNvPr id="296" name="Title 1"/>
          <p:cNvSpPr/>
          <p:nvPr/>
        </p:nvSpPr>
        <p:spPr>
          <a:xfrm>
            <a:off x="256680" y="196920"/>
            <a:ext cx="4653000" cy="78732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1800" spc="-1" strike="noStrike">
                <a:solidFill>
                  <a:srgbClr val="031424"/>
                </a:solidFill>
                <a:latin typeface="Roboto"/>
                <a:ea typeface="Roboto"/>
              </a:rPr>
              <a:t>Before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TIAGo Pro: software running in the demos</a:t>
            </a:r>
          </a:p>
        </p:txBody>
      </p:sp>
      <p:cxnSp>
        <p:nvCxnSpPr>
          <p:cNvPr id="208" name="Connector 207"/>
          <p:cNvCxnSpPr/>
          <p:nvPr/>
        </p:nvCxnSpPr>
        <p:spPr>
          <a:xfrm>
            <a:off x="1965960" y="2468880"/>
            <a:ext cx="5943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5486400" y="2560320"/>
            <a:ext cx="5943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7635240" y="2560320"/>
            <a:ext cx="5943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1965960" y="4389120"/>
            <a:ext cx="5943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5212080" y="4389120"/>
            <a:ext cx="315468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H="1">
            <a:off x="6858000" y="5394960"/>
            <a:ext cx="137160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858000" y="3794760"/>
            <a:ext cx="0" cy="160020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H="1">
            <a:off x="5486400" y="3383280"/>
            <a:ext cx="5943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9966960" y="5943600"/>
            <a:ext cx="0" cy="36576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H="1">
            <a:off x="1965960" y="6309360"/>
            <a:ext cx="589788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sp>
        <p:nvSpPr>
          <p:cNvPr id="218" name="Rounded Rectangle 217"/>
          <p:cNvSpPr/>
          <p:nvPr/>
        </p:nvSpPr>
        <p:spPr>
          <a:xfrm>
            <a:off x="411480" y="1828800"/>
            <a:ext cx="1554480" cy="40233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extBox 218"/>
          <p:cNvSpPr txBox="1"/>
          <p:nvPr/>
        </p:nvSpPr>
        <p:spPr>
          <a:xfrm>
            <a:off x="493776" y="1901952"/>
            <a:ext cx="1389888" cy="3913632"/>
          </a:xfrm>
          <a:prstGeom prst="rect">
            <a:avLst/>
          </a:prstGeom>
          <a:noFill/>
        </p:spPr>
        <p:txBody>
          <a:bodyPr wrap="square" lIns="36576" rIns="36576" tIns="0" bIns="0">
            <a:spAutoFit/>
          </a:bodyPr>
          <a:lstStyle/>
          <a:p>
            <a:pPr>
              <a:spcAft>
                <a:spcPts val="300"/>
              </a:spcAft>
            </a:pPr>
            <a:r>
              <a:rPr sz="1800" b="0">
                <a:solidFill>
                  <a:srgbClr val="252B35"/>
                </a:solidFill>
                <a:latin typeface="Roboto"/>
              </a:rPr>
              <a:t>RViz</a:t>
            </a:r>
          </a:p>
          <a:p>
            <a:pPr>
              <a:spcAft>
                <a:spcPts val="300"/>
              </a:spcAft>
            </a:pPr>
          </a:p>
          <a:p>
            <a:pPr>
              <a:spcAft>
                <a:spcPts val="300"/>
              </a:spcAft>
            </a:pPr>
            <a:r>
              <a:rPr sz="1800" b="0">
                <a:solidFill>
                  <a:srgbClr val="252B35"/>
                </a:solidFill>
                <a:latin typeface="Roboto"/>
              </a:rPr>
              <a:t>Nav2 Goal</a:t>
            </a:r>
          </a:p>
          <a:p>
            <a:pPr>
              <a:spcAft>
                <a:spcPts val="300"/>
              </a:spcAft>
            </a:pPr>
          </a:p>
          <a:p>
            <a:pPr>
              <a:spcAft>
                <a:spcPts val="300"/>
              </a:spcAft>
            </a:pPr>
          </a:p>
          <a:p>
            <a:pPr>
              <a:spcAft>
                <a:spcPts val="300"/>
              </a:spcAft>
            </a:pPr>
            <a:r>
              <a:rPr sz="1800" b="0">
                <a:solidFill>
                  <a:srgbClr val="252B35"/>
                </a:solidFill>
                <a:latin typeface="Roboto"/>
              </a:rPr>
              <a:t>Interact</a:t>
            </a:r>
          </a:p>
          <a:p>
            <a:pPr>
              <a:spcAft>
                <a:spcPts val="300"/>
              </a:spcAft>
            </a:pPr>
            <a:r>
              <a:rPr sz="1800" b="0">
                <a:solidFill>
                  <a:srgbClr val="252B35"/>
                </a:solidFill>
                <a:latin typeface="Roboto"/>
              </a:rPr>
              <a:t>force handle</a:t>
            </a:r>
          </a:p>
          <a:p>
            <a:pPr>
              <a:spcAft>
                <a:spcPts val="300"/>
              </a:spcAft>
            </a:pPr>
          </a:p>
          <a:p>
            <a:pPr>
              <a:spcAft>
                <a:spcPts val="300"/>
              </a:spcAft>
            </a:pPr>
            <a:r>
              <a:rPr sz="1800" b="0">
                <a:solidFill>
                  <a:srgbClr val="252B35"/>
                </a:solidFill>
                <a:latin typeface="Roboto"/>
              </a:rPr>
              <a:t>Robot / TF</a:t>
            </a:r>
          </a:p>
        </p:txBody>
      </p:sp>
      <p:sp>
        <p:nvSpPr>
          <p:cNvPr id="220" name="Rounded Rectangle 219"/>
          <p:cNvSpPr/>
          <p:nvPr/>
        </p:nvSpPr>
        <p:spPr>
          <a:xfrm>
            <a:off x="2560320" y="1828800"/>
            <a:ext cx="2926080" cy="19659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2642615" y="1901952"/>
            <a:ext cx="2761488" cy="1856231"/>
          </a:xfrm>
          <a:prstGeom prst="rect">
            <a:avLst/>
          </a:prstGeom>
          <a:noFill/>
        </p:spPr>
        <p:txBody>
          <a:bodyPr wrap="square" lIns="36576" rIns="36576" tIns="0" bIns="0">
            <a:spAutoFit/>
          </a:bodyPr>
          <a:lstStyle/>
          <a:p>
            <a:pPr>
              <a:spcAft>
                <a:spcPts val="300"/>
              </a:spcAft>
            </a:pPr>
            <a:r>
              <a:rPr sz="1600" b="0">
                <a:solidFill>
                  <a:srgbClr val="252B35"/>
                </a:solidFill>
                <a:latin typeface="Roboto"/>
              </a:rPr>
              <a:t>Nav2 processes</a:t>
            </a:r>
          </a:p>
          <a:p>
            <a:pPr>
              <a:spcAft>
                <a:spcPts val="300"/>
              </a:spcAft>
            </a:pPr>
            <a:r>
              <a:rPr sz="1600" b="0">
                <a:solidFill>
                  <a:srgbClr val="252B35"/>
                </a:solidFill>
                <a:latin typeface="Roboto"/>
              </a:rPr>
              <a:t>bt_navigator</a:t>
            </a:r>
          </a:p>
          <a:p>
            <a:pPr>
              <a:spcAft>
                <a:spcPts val="300"/>
              </a:spcAft>
            </a:pPr>
            <a:r>
              <a:rPr sz="1600" b="0">
                <a:solidFill>
                  <a:srgbClr val="252B35"/>
                </a:solidFill>
                <a:latin typeface="Roboto"/>
              </a:rPr>
              <a:t>planner / smoother / behaviors</a:t>
            </a:r>
          </a:p>
          <a:p>
            <a:pPr>
              <a:spcAft>
                <a:spcPts val="300"/>
              </a:spcAft>
            </a:pPr>
            <a:r>
              <a:rPr sz="1600" b="0">
                <a:solidFill>
                  <a:srgbClr val="252B35"/>
                </a:solidFill>
                <a:latin typeface="Roboto"/>
              </a:rPr>
              <a:t>controller_server → DWB</a:t>
            </a:r>
          </a:p>
          <a:p>
            <a:pPr>
              <a:spcAft>
                <a:spcPts val="300"/>
              </a:spcAft>
            </a:pPr>
            <a:r>
              <a:rPr sz="1600" b="0">
                <a:solidFill>
                  <a:srgbClr val="252B35"/>
                </a:solidFill>
                <a:latin typeface="Roboto"/>
              </a:rPr>
              <a:t>map / costmaps / lifecycle</a:t>
            </a:r>
          </a:p>
        </p:txBody>
      </p:sp>
      <p:sp>
        <p:nvSpPr>
          <p:cNvPr id="222" name="Rounded Rectangle 221"/>
          <p:cNvSpPr/>
          <p:nvPr/>
        </p:nvSpPr>
        <p:spPr>
          <a:xfrm>
            <a:off x="2560320" y="3977639"/>
            <a:ext cx="2651760" cy="91440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2642615" y="4050791"/>
            <a:ext cx="2487168" cy="804672"/>
          </a:xfrm>
          <a:prstGeom prst="rect">
            <a:avLst/>
          </a:prstGeom>
          <a:noFill/>
        </p:spPr>
        <p:txBody>
          <a:bodyPr wrap="square" lIns="36576" rIns="36576" tIns="0" bIns="0">
            <a:spAutoFit/>
          </a:bodyPr>
          <a:lstStyle/>
          <a:p>
            <a:pPr>
              <a:spcAft>
                <a:spcPts val="300"/>
              </a:spcAft>
            </a:pPr>
            <a:r>
              <a:rPr sz="1600" b="0">
                <a:solidFill>
                  <a:srgbClr val="252B35"/>
                </a:solidFill>
                <a:latin typeface="Roboto"/>
              </a:rPr>
              <a:t>Force UI process</a:t>
            </a:r>
          </a:p>
          <a:p>
            <a:pPr>
              <a:spcAft>
                <a:spcPts val="300"/>
              </a:spcAft>
            </a:pPr>
            <a:r>
              <a:rPr sz="1600" b="0">
                <a:solidFill>
                  <a:srgbClr val="252B35"/>
                </a:solidFill>
                <a:latin typeface="Roboto"/>
              </a:rPr>
              <a:t>RViz feedback → force [N]</a:t>
            </a:r>
          </a:p>
        </p:txBody>
      </p:sp>
      <p:sp>
        <p:nvSpPr>
          <p:cNvPr id="224" name="Rounded Rectangle 223"/>
          <p:cNvSpPr/>
          <p:nvPr/>
        </p:nvSpPr>
        <p:spPr>
          <a:xfrm>
            <a:off x="6080760" y="1920240"/>
            <a:ext cx="1554480" cy="1874519"/>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6163056" y="1993392"/>
            <a:ext cx="1389888" cy="1764791"/>
          </a:xfrm>
          <a:prstGeom prst="rect">
            <a:avLst/>
          </a:prstGeom>
          <a:noFill/>
        </p:spPr>
        <p:txBody>
          <a:bodyPr wrap="square" lIns="36576" rIns="36576" tIns="0" bIns="0">
            <a:spAutoFit/>
          </a:bodyPr>
          <a:lstStyle/>
          <a:p>
            <a:pPr>
              <a:spcAft>
                <a:spcPts val="300"/>
              </a:spcAft>
            </a:pPr>
            <a:r>
              <a:rPr sz="1400" b="0">
                <a:solidFill>
                  <a:srgbClr val="252B35"/>
                </a:solidFill>
                <a:latin typeface="Roboto"/>
              </a:rPr>
              <a:t>ros_gz_bridge</a:t>
            </a:r>
          </a:p>
          <a:p>
            <a:pPr>
              <a:spcAft>
                <a:spcPts val="300"/>
              </a:spcAft>
            </a:pPr>
            <a:r>
              <a:rPr sz="1400" b="0">
                <a:solidFill>
                  <a:srgbClr val="252B35"/>
                </a:solidFill>
                <a:latin typeface="Roboto"/>
              </a:rPr>
              <a:t>cmd_vel →</a:t>
            </a:r>
          </a:p>
          <a:p>
            <a:pPr>
              <a:spcAft>
                <a:spcPts val="300"/>
              </a:spcAft>
            </a:pPr>
            <a:r>
              <a:rPr sz="1400" b="0">
                <a:solidFill>
                  <a:srgbClr val="252B35"/>
                </a:solidFill>
                <a:latin typeface="Roboto"/>
              </a:rPr>
              <a:t>← odom / TF</a:t>
            </a:r>
          </a:p>
          <a:p>
            <a:pPr>
              <a:spcAft>
                <a:spcPts val="300"/>
              </a:spcAft>
            </a:pPr>
            <a:r>
              <a:rPr sz="1400" b="0">
                <a:solidFill>
                  <a:srgbClr val="252B35"/>
                </a:solidFill>
                <a:latin typeface="Roboto"/>
              </a:rPr>
              <a:t>← RGB-D</a:t>
            </a:r>
          </a:p>
          <a:p>
            <a:pPr>
              <a:spcAft>
                <a:spcPts val="300"/>
              </a:spcAft>
            </a:pPr>
            <a:r>
              <a:rPr sz="1400" b="0">
                <a:solidFill>
                  <a:srgbClr val="252B35"/>
                </a:solidFill>
                <a:latin typeface="Roboto"/>
              </a:rPr>
              <a:t>← laser scans</a:t>
            </a:r>
          </a:p>
          <a:p>
            <a:pPr>
              <a:spcAft>
                <a:spcPts val="300"/>
              </a:spcAft>
            </a:pPr>
            <a:r>
              <a:rPr sz="1400" b="0">
                <a:solidFill>
                  <a:srgbClr val="252B35"/>
                </a:solidFill>
                <a:latin typeface="Roboto"/>
              </a:rPr>
              <a:t>← clock</a:t>
            </a:r>
          </a:p>
        </p:txBody>
      </p:sp>
      <p:sp>
        <p:nvSpPr>
          <p:cNvPr id="226" name="Rounded Rectangle 225"/>
          <p:cNvSpPr/>
          <p:nvPr/>
        </p:nvSpPr>
        <p:spPr>
          <a:xfrm>
            <a:off x="8229600" y="1828800"/>
            <a:ext cx="3520440" cy="4114800"/>
          </a:xfrm>
          <a:prstGeom prst="roundRect">
            <a:avLst/>
          </a:prstGeom>
          <a:solidFill>
            <a:srgbClr val="EAF0F5"/>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8311896" y="1901952"/>
            <a:ext cx="3355848" cy="4005072"/>
          </a:xfrm>
          <a:prstGeom prst="rect">
            <a:avLst/>
          </a:prstGeom>
          <a:noFill/>
        </p:spPr>
        <p:txBody>
          <a:bodyPr wrap="square" lIns="36576" rIns="36576" tIns="0" bIns="0">
            <a:spAutoFit/>
          </a:bodyPr>
          <a:lstStyle/>
          <a:p>
            <a:pPr>
              <a:spcAft>
                <a:spcPts val="300"/>
              </a:spcAft>
            </a:pPr>
            <a:r>
              <a:rPr sz="1800" b="0">
                <a:solidFill>
                  <a:srgbClr val="252B35"/>
                </a:solidFill>
                <a:latin typeface="Roboto"/>
              </a:rPr>
              <a:t>Gazebo server process</a:t>
            </a:r>
          </a:p>
        </p:txBody>
      </p:sp>
      <p:sp>
        <p:nvSpPr>
          <p:cNvPr id="228" name="Rounded Rectangle 227"/>
          <p:cNvSpPr/>
          <p:nvPr/>
        </p:nvSpPr>
        <p:spPr>
          <a:xfrm>
            <a:off x="8394192" y="2304288"/>
            <a:ext cx="3191256" cy="685800"/>
          </a:xfrm>
          <a:prstGeom prst="roundRect">
            <a:avLst/>
          </a:prstGeom>
          <a:solidFill>
            <a:srgbClr val="FFFFFF"/>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8476488" y="2377440"/>
            <a:ext cx="3026664" cy="576072"/>
          </a:xfrm>
          <a:prstGeom prst="rect">
            <a:avLst/>
          </a:prstGeom>
          <a:noFill/>
        </p:spPr>
        <p:txBody>
          <a:bodyPr wrap="square" lIns="36576" rIns="36576" tIns="0" bIns="0">
            <a:spAutoFit/>
          </a:bodyPr>
          <a:lstStyle/>
          <a:p>
            <a:pPr>
              <a:spcAft>
                <a:spcPts val="300"/>
              </a:spcAft>
            </a:pPr>
            <a:r>
              <a:rPr sz="1700" b="0">
                <a:solidFill>
                  <a:srgbClr val="252B35"/>
                </a:solidFill>
                <a:latin typeface="Roboto"/>
              </a:rPr>
              <a:t>VelocityControl → base</a:t>
            </a:r>
          </a:p>
        </p:txBody>
      </p:sp>
      <p:sp>
        <p:nvSpPr>
          <p:cNvPr id="230" name="Rounded Rectangle 229"/>
          <p:cNvSpPr/>
          <p:nvPr/>
        </p:nvSpPr>
        <p:spPr>
          <a:xfrm>
            <a:off x="8394192" y="3200400"/>
            <a:ext cx="3191256" cy="1691640"/>
          </a:xfrm>
          <a:prstGeom prst="roundRect">
            <a:avLst/>
          </a:prstGeom>
          <a:solidFill>
            <a:srgbClr val="FFFFFF"/>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8476488" y="3273552"/>
            <a:ext cx="3026664" cy="1581912"/>
          </a:xfrm>
          <a:prstGeom prst="rect">
            <a:avLst/>
          </a:prstGeom>
          <a:noFill/>
        </p:spPr>
        <p:txBody>
          <a:bodyPr wrap="square" lIns="36576" rIns="36576" tIns="0" bIns="0">
            <a:spAutoFit/>
          </a:bodyPr>
          <a:lstStyle/>
          <a:p>
            <a:pPr>
              <a:spcAft>
                <a:spcPts val="300"/>
              </a:spcAft>
            </a:pPr>
            <a:r>
              <a:rPr sz="1500" b="0">
                <a:solidFill>
                  <a:srgbClr val="252B35"/>
                </a:solidFill>
                <a:latin typeface="Roboto"/>
              </a:rPr>
              <a:t>gz_ros2_control</a:t>
            </a:r>
          </a:p>
          <a:p>
            <a:pPr>
              <a:spcAft>
                <a:spcPts val="300"/>
              </a:spcAft>
            </a:pPr>
            <a:r>
              <a:rPr sz="1500" b="0">
                <a:solidFill>
                  <a:srgbClr val="252B35"/>
                </a:solidFill>
                <a:latin typeface="Roboto"/>
              </a:rPr>
              <a:t>controller_manager</a:t>
            </a:r>
          </a:p>
          <a:p>
            <a:pPr>
              <a:spcAft>
                <a:spcPts val="300"/>
              </a:spcAft>
            </a:pPr>
            <a:r>
              <a:rPr sz="1500" b="0">
                <a:solidFill>
                  <a:srgbClr val="252B35"/>
                </a:solidFill>
                <a:latin typeface="Roboto"/>
              </a:rPr>
              <a:t>Arm / head / torso / grippers</a:t>
            </a:r>
          </a:p>
          <a:p>
            <a:pPr>
              <a:spcAft>
                <a:spcPts val="300"/>
              </a:spcAft>
            </a:pPr>
            <a:r>
              <a:rPr sz="1500" b="0">
                <a:solidFill>
                  <a:srgbClr val="252B35"/>
                </a:solidFill>
                <a:latin typeface="Roboto"/>
              </a:rPr>
              <a:t>Joint / wrist FT broadcasters</a:t>
            </a:r>
          </a:p>
          <a:p>
            <a:pPr>
              <a:spcAft>
                <a:spcPts val="300"/>
              </a:spcAft>
            </a:pPr>
            <a:r>
              <a:rPr sz="1500" b="0">
                <a:solidFill>
                  <a:srgbClr val="252B35"/>
                </a:solidFill>
                <a:latin typeface="Roboto"/>
              </a:rPr>
              <a:t>Position commands → joints</a:t>
            </a:r>
          </a:p>
        </p:txBody>
      </p:sp>
      <p:sp>
        <p:nvSpPr>
          <p:cNvPr id="232" name="Rounded Rectangle 231"/>
          <p:cNvSpPr/>
          <p:nvPr/>
        </p:nvSpPr>
        <p:spPr>
          <a:xfrm>
            <a:off x="8394192" y="5074920"/>
            <a:ext cx="3191256" cy="621792"/>
          </a:xfrm>
          <a:prstGeom prst="roundRect">
            <a:avLst/>
          </a:prstGeom>
          <a:solidFill>
            <a:srgbClr val="FFFFFF"/>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8476488" y="5148072"/>
            <a:ext cx="3026664" cy="512064"/>
          </a:xfrm>
          <a:prstGeom prst="rect">
            <a:avLst/>
          </a:prstGeom>
          <a:noFill/>
        </p:spPr>
        <p:txBody>
          <a:bodyPr wrap="square" lIns="36576" rIns="36576" tIns="0" bIns="0">
            <a:spAutoFit/>
          </a:bodyPr>
          <a:lstStyle/>
          <a:p>
            <a:pPr>
              <a:spcAft>
                <a:spcPts val="300"/>
              </a:spcAft>
            </a:pPr>
            <a:r>
              <a:rPr sz="1600" b="0">
                <a:solidFill>
                  <a:srgbClr val="252B35"/>
                </a:solidFill>
                <a:latin typeface="Roboto"/>
              </a:rPr>
              <a:t>Physics + simulated sensors</a:t>
            </a:r>
          </a:p>
        </p:txBody>
      </p:sp>
      <p:sp>
        <p:nvSpPr>
          <p:cNvPr id="234" name="Rounded Rectangle 233"/>
          <p:cNvSpPr/>
          <p:nvPr/>
        </p:nvSpPr>
        <p:spPr>
          <a:xfrm>
            <a:off x="7863840" y="6080760"/>
            <a:ext cx="3886200" cy="50292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7946136" y="6153912"/>
            <a:ext cx="3721608" cy="393192"/>
          </a:xfrm>
          <a:prstGeom prst="rect">
            <a:avLst/>
          </a:prstGeom>
          <a:noFill/>
        </p:spPr>
        <p:txBody>
          <a:bodyPr wrap="square" lIns="36576" rIns="36576" tIns="0" bIns="0">
            <a:spAutoFit/>
          </a:bodyPr>
          <a:lstStyle/>
          <a:p>
            <a:pPr>
              <a:spcAft>
                <a:spcPts val="300"/>
              </a:spcAft>
            </a:pPr>
            <a:r>
              <a:rPr sz="1500" b="0">
                <a:solidFill>
                  <a:srgbClr val="252B35"/>
                </a:solidFill>
                <a:latin typeface="Roboto"/>
              </a:rPr>
              <a:t>robot_state_publisher: joints → TF</a:t>
            </a:r>
          </a:p>
        </p:txBody>
      </p:sp>
      <p:sp>
        <p:nvSpPr>
          <p:cNvPr id="236" name="TextBox 235"/>
          <p:cNvSpPr txBox="1"/>
          <p:nvPr/>
        </p:nvSpPr>
        <p:spPr>
          <a:xfrm>
            <a:off x="3474720" y="6080760"/>
            <a:ext cx="4114800" cy="365760"/>
          </a:xfrm>
          <a:prstGeom prst="rect">
            <a:avLst/>
          </a:prstGeom>
          <a:noFill/>
        </p:spPr>
        <p:txBody>
          <a:bodyPr wrap="square" lIns="36576" rIns="36576" tIns="0" bIns="0">
            <a:spAutoFit/>
          </a:bodyPr>
          <a:lstStyle/>
          <a:p>
            <a:pPr>
              <a:spcAft>
                <a:spcPts val="300"/>
              </a:spcAft>
            </a:pPr>
            <a:r>
              <a:rPr sz="1300" b="0">
                <a:solidFill>
                  <a:srgbClr val="252B35"/>
                </a:solidFill>
                <a:latin typeface="Roboto"/>
              </a:rPr>
              <a:t>/joint_states → robot_state_publisher → RViz</a:t>
            </a:r>
          </a:p>
        </p:txBody>
      </p:sp>
      <p:sp>
        <p:nvSpPr>
          <p:cNvPr id="237" name="TextBox 236"/>
          <p:cNvSpPr txBox="1"/>
          <p:nvPr/>
        </p:nvSpPr>
        <p:spPr>
          <a:xfrm>
            <a:off x="5486400" y="4005072"/>
            <a:ext cx="2651760" cy="365760"/>
          </a:xfrm>
          <a:prstGeom prst="rect">
            <a:avLst/>
          </a:prstGeom>
          <a:noFill/>
        </p:spPr>
        <p:txBody>
          <a:bodyPr wrap="square" lIns="36576" rIns="36576" tIns="0" bIns="0">
            <a:spAutoFit/>
          </a:bodyPr>
          <a:lstStyle/>
          <a:p>
            <a:pPr>
              <a:spcAft>
                <a:spcPts val="300"/>
              </a:spcAft>
            </a:pPr>
            <a:r>
              <a:rPr sz="1400" b="0">
                <a:solidFill>
                  <a:srgbClr val="252B35"/>
                </a:solidFill>
                <a:latin typeface="Roboto"/>
              </a:rPr>
              <a:t>ROS force commands →</a:t>
            </a:r>
          </a:p>
        </p:txBody>
      </p:sp>
      <p:sp>
        <p:nvSpPr>
          <p:cNvPr id="238" name="TextBox 237"/>
          <p:cNvSpPr txBox="1"/>
          <p:nvPr/>
        </p:nvSpPr>
        <p:spPr>
          <a:xfrm>
            <a:off x="2578608" y="5120640"/>
            <a:ext cx="3017520" cy="594360"/>
          </a:xfrm>
          <a:prstGeom prst="rect">
            <a:avLst/>
          </a:prstGeom>
          <a:noFill/>
        </p:spPr>
        <p:txBody>
          <a:bodyPr wrap="square" lIns="36576" rIns="36576" tIns="0" bIns="0">
            <a:spAutoFit/>
          </a:bodyPr>
          <a:lstStyle/>
          <a:p>
            <a:pPr>
              <a:spcAft>
                <a:spcPts val="300"/>
              </a:spcAft>
            </a:pPr>
            <a:r>
              <a:rPr sz="1400" b="0">
                <a:solidFill>
                  <a:srgbClr val="252B35"/>
                </a:solidFill>
                <a:latin typeface="Roboto"/>
              </a:rPr>
              <a:t>Gazebo GUI: separate viewer</a:t>
            </a:r>
          </a:p>
          <a:p>
            <a:pPr>
              <a:spcAft>
                <a:spcPts val="300"/>
              </a:spcAft>
            </a:pPr>
            <a:r>
              <a:rPr sz="1400" b="0">
                <a:solidFill>
                  <a:srgbClr val="252B35"/>
                </a:solidFill>
                <a:latin typeface="Roboto"/>
              </a:rPr>
              <a:t>Simulation-truth map → odom TF</a:t>
            </a:r>
          </a:p>
        </p:txBody>
      </p:sp>
      <p:sp>
        <p:nvSpPr>
          <p:cNvPr id="239" name="Rounded Rectangle 238"/>
          <p:cNvSpPr/>
          <p:nvPr/>
        </p:nvSpPr>
        <p:spPr>
          <a:xfrm>
            <a:off x="2560320" y="1051560"/>
            <a:ext cx="2926080" cy="603504"/>
          </a:xfrm>
          <a:prstGeom prst="roundRect">
            <a:avLst/>
          </a:prstGeom>
          <a:solidFill>
            <a:srgbClr val="FFF0B7"/>
          </a:solidFill>
          <a:ln>
            <a:solidFill>
              <a:srgbClr val="C29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2642615" y="1124712"/>
            <a:ext cx="2761488" cy="493776"/>
          </a:xfrm>
          <a:prstGeom prst="rect">
            <a:avLst/>
          </a:prstGeom>
          <a:noFill/>
        </p:spPr>
        <p:txBody>
          <a:bodyPr wrap="square" lIns="36576" rIns="36576" tIns="0" bIns="0">
            <a:spAutoFit/>
          </a:bodyPr>
          <a:lstStyle/>
          <a:p>
            <a:pPr>
              <a:spcAft>
                <a:spcPts val="300"/>
              </a:spcAft>
            </a:pPr>
            <a:r>
              <a:rPr sz="1700" b="0">
                <a:solidFill>
                  <a:srgbClr val="252B35"/>
                </a:solidFill>
                <a:latin typeface="Roboto"/>
              </a:rPr>
              <a:t>1  Add Python DWB critic</a:t>
            </a:r>
          </a:p>
        </p:txBody>
      </p:sp>
      <p:cxnSp>
        <p:nvCxnSpPr>
          <p:cNvPr id="241" name="Connector 240"/>
          <p:cNvCxnSpPr/>
          <p:nvPr/>
        </p:nvCxnSpPr>
        <p:spPr>
          <a:xfrm>
            <a:off x="4023360" y="1655064"/>
            <a:ext cx="0" cy="173736"/>
          </a:xfrm>
          <a:prstGeom prst="line">
            <a:avLst/>
          </a:prstGeom>
          <a:ln w="22860">
            <a:solidFill>
              <a:srgbClr val="C29226"/>
            </a:solidFill>
            <a:tailEnd type="triangle" w="sm" len="sm"/>
          </a:ln>
        </p:spPr>
        <p:style>
          <a:lnRef idx="2">
            <a:schemeClr val="accent1"/>
          </a:lnRef>
          <a:fillRef idx="0">
            <a:schemeClr val="accent1"/>
          </a:fillRef>
          <a:effectRef idx="1">
            <a:schemeClr val="accent1"/>
          </a:effectRef>
          <a:fontRef idx="minor">
            <a:schemeClr val="tx1"/>
          </a:fontRef>
        </p:style>
      </p:cxnSp>
      <p:sp>
        <p:nvSpPr>
          <p:cNvPr id="242" name="Rounded Rectangle 241"/>
          <p:cNvSpPr/>
          <p:nvPr/>
        </p:nvSpPr>
        <p:spPr>
          <a:xfrm>
            <a:off x="7726679" y="1051560"/>
            <a:ext cx="4023360" cy="603504"/>
          </a:xfrm>
          <a:prstGeom prst="roundRect">
            <a:avLst/>
          </a:prstGeom>
          <a:solidFill>
            <a:srgbClr val="FFF0B7"/>
          </a:solidFill>
          <a:ln>
            <a:solidFill>
              <a:srgbClr val="C29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7808975" y="1124712"/>
            <a:ext cx="3858768" cy="493776"/>
          </a:xfrm>
          <a:prstGeom prst="rect">
            <a:avLst/>
          </a:prstGeom>
          <a:noFill/>
        </p:spPr>
        <p:txBody>
          <a:bodyPr wrap="square" lIns="36576" rIns="36576" tIns="0" bIns="0">
            <a:spAutoFit/>
          </a:bodyPr>
          <a:lstStyle/>
          <a:p>
            <a:pPr>
              <a:spcAft>
                <a:spcPts val="300"/>
              </a:spcAft>
            </a:pPr>
            <a:r>
              <a:rPr sz="1700" b="0">
                <a:solidFill>
                  <a:srgbClr val="252B35"/>
                </a:solidFill>
                <a:latin typeface="Roboto"/>
              </a:rPr>
              <a:t>2  Replace left-arm controller</a:t>
            </a:r>
          </a:p>
        </p:txBody>
      </p:sp>
      <p:cxnSp>
        <p:nvCxnSpPr>
          <p:cNvPr id="244" name="Connector 243"/>
          <p:cNvCxnSpPr/>
          <p:nvPr/>
        </p:nvCxnSpPr>
        <p:spPr>
          <a:xfrm>
            <a:off x="9738360" y="1655064"/>
            <a:ext cx="0" cy="173736"/>
          </a:xfrm>
          <a:prstGeom prst="line">
            <a:avLst/>
          </a:prstGeom>
          <a:ln w="22860">
            <a:solidFill>
              <a:srgbClr val="C29226"/>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Navigation: the base can move sideways</a:t>
            </a:r>
          </a:p>
        </p:txBody>
      </p:sp>
      <p:sp>
        <p:nvSpPr>
          <p:cNvPr id="211" name="TextBox 210"/>
          <p:cNvSpPr txBox="1"/>
          <p:nvPr/>
        </p:nvSpPr>
        <p:spPr>
          <a:xfrm>
            <a:off x="640080" y="5897880"/>
            <a:ext cx="10972800" cy="45720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800" b="0">
                <a:solidFill>
                  <a:srgbClr val="031424"/>
                </a:solidFill>
                <a:latin typeface="DejaVu Sans Mono"/>
              </a:rPr>
              <a:t>./roscon_uk_2026/run_robot_demo.sh</a:t>
            </a:r>
            <a:r>
              <a:rPr sz="1800" b="0">
                <a:solidFill>
                  <a:srgbClr val="BBBBBB"/>
                </a:solidFill>
                <a:latin typeface="DejaVu Sans Mono"/>
              </a:rPr>
              <a:t> </a:t>
            </a:r>
            <a:r>
              <a:rPr sz="1800" b="0">
                <a:solidFill>
                  <a:srgbClr val="031424"/>
                </a:solidFill>
                <a:latin typeface="DejaVu Sans Mono"/>
              </a:rPr>
              <a:t>baseline</a:t>
            </a:r>
          </a:p>
          <a:p>
            <a:pPr algn="l" marL="0" indent="0">
              <a:lnSpc>
                <a:spcPct val="104000"/>
              </a:lnSpc>
              <a:spcAft>
                <a:spcPts val="0"/>
              </a:spcAft>
            </a:pPr>
          </a:p>
        </p:txBody>
      </p:sp>
      <p:pic>
        <p:nvPicPr>
          <p:cNvPr id="212" name="navigation_baseline.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569464" y="1280160"/>
            <a:ext cx="7022592" cy="438912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2"/>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Nav2: score trajectories in Python</a:t>
            </a:r>
          </a:p>
        </p:txBody>
      </p:sp>
      <p:sp>
        <p:nvSpPr>
          <p:cNvPr id="208" name="TextBox 207"/>
          <p:cNvSpPr txBox="1"/>
          <p:nvPr/>
        </p:nvSpPr>
        <p:spPr>
          <a:xfrm>
            <a:off x="640080" y="1280160"/>
            <a:ext cx="10972800" cy="53035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800" b="1">
                <a:solidFill>
                  <a:srgbClr val="007020"/>
                </a:solidFill>
                <a:latin typeface="DejaVu Sans Mono"/>
              </a:rPr>
              <a:t>def</a:t>
            </a:r>
            <a:r>
              <a:rPr sz="1800" b="0">
                <a:solidFill>
                  <a:srgbClr val="031424"/>
                </a:solidFill>
                <a:latin typeface="DejaVu Sans Mono"/>
              </a:rPr>
              <a:t> </a:t>
            </a:r>
            <a:r>
              <a:rPr sz="1800" b="0">
                <a:solidFill>
                  <a:srgbClr val="06287E"/>
                </a:solidFill>
                <a:latin typeface="DejaVu Sans Mono"/>
              </a:rPr>
              <a:t>score</a:t>
            </a:r>
            <a:r>
              <a:rPr sz="1800" b="0">
                <a:solidFill>
                  <a:srgbClr val="031424"/>
                </a:solidFill>
                <a:latin typeface="DejaVu Sans Mono"/>
              </a:rPr>
              <a:t>(</a:t>
            </a:r>
            <a:r>
              <a:rPr sz="1800" b="0">
                <a:solidFill>
                  <a:srgbClr val="007020"/>
                </a:solidFill>
                <a:latin typeface="DejaVu Sans Mono"/>
              </a:rPr>
              <a:t>self</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vx</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vy</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wz</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final_heading</a:t>
            </a:r>
            <a:r>
              <a:rPr sz="1800" b="0">
                <a:solidFill>
                  <a:srgbClr val="031424"/>
                </a:solidFill>
                <a:latin typeface="DejaVu Sans Mono"/>
              </a:rPr>
              <a:t>)</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0">
                <a:solidFill>
                  <a:srgbClr val="031424"/>
                </a:solidFill>
                <a:latin typeface="DejaVu Sans Mono"/>
              </a:rPr>
              <a:t>translating</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31424"/>
                </a:solidFill>
                <a:latin typeface="DejaVu Sans Mono"/>
              </a:rPr>
              <a:t>math</a:t>
            </a:r>
            <a:r>
              <a:rPr sz="1800" b="0">
                <a:solidFill>
                  <a:srgbClr val="666666"/>
                </a:solidFill>
                <a:latin typeface="DejaVu Sans Mono"/>
              </a:rPr>
              <a:t>.</a:t>
            </a:r>
            <a:r>
              <a:rPr sz="1800" b="0">
                <a:solidFill>
                  <a:srgbClr val="031424"/>
                </a:solidFill>
                <a:latin typeface="DejaVu Sans Mono"/>
              </a:rPr>
              <a:t>hypot</a:t>
            </a:r>
            <a:r>
              <a:rPr sz="1800" b="0">
                <a:solidFill>
                  <a:srgbClr val="031424"/>
                </a:solidFill>
                <a:latin typeface="DejaVu Sans Mono"/>
              </a:rPr>
              <a:t>(</a:t>
            </a:r>
            <a:r>
              <a:rPr sz="1800" b="0">
                <a:solidFill>
                  <a:srgbClr val="031424"/>
                </a:solidFill>
                <a:latin typeface="DejaVu Sans Mono"/>
              </a:rPr>
              <a:t>vx</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vy</a:t>
            </a:r>
            <a:r>
              <a:rPr sz="1800" b="0">
                <a:solidFill>
                  <a:srgbClr val="031424"/>
                </a:solidFill>
                <a:latin typeface="DejaVu Sans Mono"/>
              </a:rPr>
              <a:t>)</a:t>
            </a:r>
            <a:r>
              <a:rPr sz="1800" b="0">
                <a:solidFill>
                  <a:srgbClr val="031424"/>
                </a:solidFill>
                <a:latin typeface="DejaVu Sans Mono"/>
              </a:rPr>
              <a:t> </a:t>
            </a:r>
            <a:r>
              <a:rPr sz="1800" b="0">
                <a:solidFill>
                  <a:srgbClr val="666666"/>
                </a:solidFill>
                <a:latin typeface="DejaVu Sans Mono"/>
              </a:rPr>
              <a:t>&gt;</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translation_epsilon</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if</a:t>
            </a:r>
            <a:r>
              <a:rPr sz="1800" b="0">
                <a:solidFill>
                  <a:srgbClr val="031424"/>
                </a:solidFill>
                <a:latin typeface="DejaVu Sans Mono"/>
              </a:rPr>
              <a:t> </a:t>
            </a:r>
            <a:r>
              <a:rPr sz="1800" b="0">
                <a:solidFill>
                  <a:srgbClr val="031424"/>
                </a:solidFill>
                <a:latin typeface="DejaVu Sans Mono"/>
              </a:rPr>
              <a:t>translating</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if</a:t>
            </a:r>
            <a:r>
              <a:rPr sz="1800" b="0">
                <a:solidFill>
                  <a:srgbClr val="031424"/>
                </a:solidFill>
                <a:latin typeface="DejaVu Sans Mono"/>
              </a:rPr>
              <a:t> </a:t>
            </a:r>
            <a:r>
              <a:rPr sz="1800" b="0">
                <a:solidFill>
                  <a:srgbClr val="007020"/>
                </a:solidFill>
                <a:latin typeface="DejaVu Sans Mono"/>
              </a:rPr>
              <a:t>abs</a:t>
            </a:r>
            <a:r>
              <a:rPr sz="1800" b="0">
                <a:solidFill>
                  <a:srgbClr val="031424"/>
                </a:solidFill>
                <a:latin typeface="DejaVu Sans Mono"/>
              </a:rPr>
              <a:t>(</a:t>
            </a:r>
            <a:r>
              <a:rPr sz="1800" b="0">
                <a:solidFill>
                  <a:srgbClr val="031424"/>
                </a:solidFill>
                <a:latin typeface="DejaVu Sans Mono"/>
              </a:rPr>
              <a:t>math</a:t>
            </a:r>
            <a:r>
              <a:rPr sz="1800" b="0">
                <a:solidFill>
                  <a:srgbClr val="666666"/>
                </a:solidFill>
                <a:latin typeface="DejaVu Sans Mono"/>
              </a:rPr>
              <a:t>.</a:t>
            </a:r>
            <a:r>
              <a:rPr sz="1800" b="0">
                <a:solidFill>
                  <a:srgbClr val="031424"/>
                </a:solidFill>
                <a:latin typeface="DejaVu Sans Mono"/>
              </a:rPr>
              <a:t>atan2</a:t>
            </a:r>
            <a:r>
              <a:rPr sz="1800" b="0">
                <a:solidFill>
                  <a:srgbClr val="031424"/>
                </a:solidFill>
                <a:latin typeface="DejaVu Sans Mono"/>
              </a:rPr>
              <a:t>(</a:t>
            </a:r>
            <a:r>
              <a:rPr sz="1800" b="0">
                <a:solidFill>
                  <a:srgbClr val="031424"/>
                </a:solidFill>
                <a:latin typeface="DejaVu Sans Mono"/>
              </a:rPr>
              <a:t>vy</a:t>
            </a:r>
            <a:r>
              <a:rPr sz="1800" b="0">
                <a:solidFill>
                  <a:srgbClr val="031424"/>
                </a:solidFill>
                <a:latin typeface="DejaVu Sans Mono"/>
              </a:rPr>
              <a:t>,</a:t>
            </a:r>
            <a:r>
              <a:rPr sz="1800" b="0">
                <a:solidFill>
                  <a:srgbClr val="031424"/>
                </a:solidFill>
                <a:latin typeface="DejaVu Sans Mono"/>
              </a:rPr>
              <a:t> </a:t>
            </a:r>
            <a:r>
              <a:rPr sz="1800" b="0">
                <a:solidFill>
                  <a:srgbClr val="031424"/>
                </a:solidFill>
                <a:latin typeface="DejaVu Sans Mono"/>
              </a:rPr>
              <a:t>vx</a:t>
            </a:r>
            <a:r>
              <a:rPr sz="1800" b="0">
                <a:solidFill>
                  <a:srgbClr val="031424"/>
                </a:solidFill>
                <a:latin typeface="DejaVu Sans Mono"/>
              </a:rPr>
              <a:t>)</a:t>
            </a:r>
            <a:r>
              <a:rPr sz="1800" b="0">
                <a:solidFill>
                  <a:srgbClr val="031424"/>
                </a:solidFill>
                <a:latin typeface="DejaVu Sans Mono"/>
              </a:rPr>
              <a:t>)</a:t>
            </a:r>
            <a:r>
              <a:rPr sz="1800" b="0">
                <a:solidFill>
                  <a:srgbClr val="031424"/>
                </a:solidFill>
                <a:latin typeface="DejaVu Sans Mono"/>
              </a:rPr>
              <a:t> </a:t>
            </a:r>
            <a:r>
              <a:rPr sz="1800" b="0">
                <a:solidFill>
                  <a:srgbClr val="666666"/>
                </a:solidFill>
                <a:latin typeface="DejaVu Sans Mono"/>
              </a:rPr>
              <a:t>&gt;</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camera_half_angle</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return</a:t>
            </a:r>
            <a:r>
              <a:rPr sz="1800" b="0">
                <a:solidFill>
                  <a:srgbClr val="031424"/>
                </a:solidFill>
                <a:latin typeface="DejaVu Sans Mono"/>
              </a:rPr>
              <a:t> </a:t>
            </a:r>
            <a:r>
              <a:rPr sz="1800" b="1">
                <a:solidFill>
                  <a:srgbClr val="007020"/>
                </a:solidFill>
                <a:latin typeface="DejaVu Sans Mono"/>
              </a:rPr>
              <a:t>None</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if</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near_goal</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return</a:t>
            </a:r>
            <a:r>
              <a:rPr sz="1800" b="0">
                <a:solidFill>
                  <a:srgbClr val="031424"/>
                </a:solidFill>
                <a:latin typeface="DejaVu Sans Mono"/>
              </a:rPr>
              <a:t> </a:t>
            </a:r>
            <a:r>
              <a:rPr sz="1800" b="0">
                <a:solidFill>
                  <a:srgbClr val="40A070"/>
                </a:solidFill>
                <a:latin typeface="DejaVu Sans Mono"/>
              </a:rPr>
              <a:t>0.0</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if</a:t>
            </a:r>
            <a:r>
              <a:rPr sz="1800" b="0">
                <a:solidFill>
                  <a:srgbClr val="031424"/>
                </a:solidFill>
                <a:latin typeface="DejaVu Sans Mono"/>
              </a:rPr>
              <a:t> </a:t>
            </a:r>
            <a:r>
              <a:rPr sz="1800" b="0">
                <a:solidFill>
                  <a:srgbClr val="031424"/>
                </a:solidFill>
                <a:latin typeface="DejaVu Sans Mono"/>
              </a:rPr>
              <a:t>translating</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if</a:t>
            </a:r>
            <a:r>
              <a:rPr sz="1800" b="0">
                <a:solidFill>
                  <a:srgbClr val="031424"/>
                </a:solidFill>
                <a:latin typeface="DejaVu Sans Mono"/>
              </a:rPr>
              <a:t> </a:t>
            </a:r>
            <a:r>
              <a:rPr sz="1800" b="0">
                <a:solidFill>
                  <a:srgbClr val="031424"/>
                </a:solidFill>
                <a:latin typeface="DejaVu Sans Mono"/>
              </a:rPr>
              <a:t>(</a:t>
            </a:r>
            <a:r>
              <a:rPr sz="1800" b="0">
                <a:solidFill>
                  <a:srgbClr val="007020"/>
                </a:solidFill>
                <a:latin typeface="DejaVu Sans Mono"/>
              </a:rPr>
              <a:t>abs</a:t>
            </a:r>
            <a:r>
              <a:rPr sz="1800" b="0">
                <a:solidFill>
                  <a:srgbClr val="031424"/>
                </a:solidFill>
                <a:latin typeface="DejaVu Sans Mono"/>
              </a:rPr>
              <a:t>(</a:t>
            </a:r>
            <a:r>
              <a:rPr sz="1800" b="0">
                <a:solidFill>
                  <a:srgbClr val="031424"/>
                </a:solidFill>
                <a:latin typeface="DejaVu Sans Mono"/>
              </a:rPr>
              <a:t>angle</a:t>
            </a:r>
            <a:r>
              <a:rPr sz="1800" b="0">
                <a:solidFill>
                  <a:srgbClr val="031424"/>
                </a:solidFill>
                <a:latin typeface="DejaVu Sans Mono"/>
              </a:rPr>
              <a:t>(</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path_heading</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yaw</a:t>
            </a:r>
            <a:r>
              <a:rPr sz="1800" b="0">
                <a:solidFill>
                  <a:srgbClr val="031424"/>
                </a:solidFill>
                <a:latin typeface="DejaVu Sans Mono"/>
              </a:rPr>
              <a:t>)</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0">
                <a:solidFill>
                  <a:srgbClr val="666666"/>
                </a:solidFill>
                <a:latin typeface="DejaVu Sans Mono"/>
              </a:rPr>
              <a:t>&gt;</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camera_half_angle</a:t>
            </a:r>
            <a:r>
              <a:rPr sz="1800" b="0">
                <a:solidFill>
                  <a:srgbClr val="031424"/>
                </a:solidFill>
                <a:latin typeface="DejaVu Sans Mono"/>
              </a:rPr>
              <a:t>)</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return</a:t>
            </a:r>
            <a:r>
              <a:rPr sz="1800" b="0">
                <a:solidFill>
                  <a:srgbClr val="031424"/>
                </a:solidFill>
                <a:latin typeface="DejaVu Sans Mono"/>
              </a:rPr>
              <a:t> </a:t>
            </a:r>
            <a:r>
              <a:rPr sz="1800" b="1">
                <a:solidFill>
                  <a:srgbClr val="007020"/>
                </a:solidFill>
                <a:latin typeface="DejaVu Sans Mono"/>
              </a:rPr>
              <a:t>None</a:t>
            </a:r>
          </a:p>
          <a:p>
            <a:pPr algn="l" marL="0" indent="0">
              <a:lnSpc>
                <a:spcPct val="104000"/>
              </a:lnSpc>
              <a:spcAft>
                <a:spcPts val="0"/>
              </a:spcAft>
            </a:pPr>
            <a:r>
              <a:rPr sz="1800" b="0">
                <a:solidFill>
                  <a:srgbClr val="031424"/>
                </a:solidFill>
                <a:latin typeface="DejaVu Sans Mono"/>
              </a:rPr>
              <a:t>    </a:t>
            </a:r>
            <a:r>
              <a:rPr sz="1800" b="0">
                <a:solidFill>
                  <a:srgbClr val="031424"/>
                </a:solidFill>
                <a:latin typeface="DejaVu Sans Mono"/>
              </a:rPr>
              <a:t>error</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31424"/>
                </a:solidFill>
                <a:latin typeface="DejaVu Sans Mono"/>
              </a:rPr>
              <a:t>angle</a:t>
            </a:r>
            <a:r>
              <a:rPr sz="1800" b="0">
                <a:solidFill>
                  <a:srgbClr val="031424"/>
                </a:solidFill>
                <a:latin typeface="DejaVu Sans Mono"/>
              </a:rPr>
              <a:t>(</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path_heading</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31424"/>
                </a:solidFill>
                <a:latin typeface="DejaVu Sans Mono"/>
              </a:rPr>
              <a:t>final_heading</a:t>
            </a:r>
            <a:r>
              <a:rPr sz="1800" b="0">
                <a:solidFill>
                  <a:srgbClr val="031424"/>
                </a:solidFill>
                <a:latin typeface="DejaVu Sans Mono"/>
              </a:rPr>
              <a:t>)</a:t>
            </a:r>
          </a:p>
          <a:p>
            <a:pPr algn="l" marL="0" indent="0">
              <a:lnSpc>
                <a:spcPct val="104000"/>
              </a:lnSpc>
              <a:spcAft>
                <a:spcPts val="0"/>
              </a:spcAft>
            </a:pPr>
            <a:r>
              <a:rPr sz="1800" b="0">
                <a:solidFill>
                  <a:srgbClr val="031424"/>
                </a:solidFill>
                <a:latin typeface="DejaVu Sans Mono"/>
              </a:rPr>
              <a:t>    </a:t>
            </a:r>
            <a:r>
              <a:rPr sz="1800" b="1">
                <a:solidFill>
                  <a:srgbClr val="007020"/>
                </a:solidFill>
                <a:latin typeface="DejaVu Sans Mono"/>
              </a:rPr>
              <a:t>return</a:t>
            </a:r>
            <a:r>
              <a:rPr sz="1800" b="0">
                <a:solidFill>
                  <a:srgbClr val="031424"/>
                </a:solidFill>
                <a:latin typeface="DejaVu Sans Mono"/>
              </a:rPr>
              <a:t> </a:t>
            </a:r>
            <a:r>
              <a:rPr sz="1800" b="0">
                <a:solidFill>
                  <a:srgbClr val="007020"/>
                </a:solidFill>
                <a:latin typeface="DejaVu Sans Mono"/>
              </a:rPr>
              <a:t>self</a:t>
            </a:r>
            <a:r>
              <a:rPr sz="1800" b="0">
                <a:solidFill>
                  <a:srgbClr val="666666"/>
                </a:solidFill>
                <a:latin typeface="DejaVu Sans Mono"/>
              </a:rPr>
              <a:t>.</a:t>
            </a:r>
            <a:r>
              <a:rPr sz="1800" b="0">
                <a:solidFill>
                  <a:srgbClr val="031424"/>
                </a:solidFill>
                <a:latin typeface="DejaVu Sans Mono"/>
              </a:rPr>
              <a:t>heading_weight</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31424"/>
                </a:solidFill>
                <a:latin typeface="DejaVu Sans Mono"/>
              </a:rPr>
              <a:t>error</a:t>
            </a:r>
            <a:r>
              <a:rPr sz="1800" b="0">
                <a:solidFill>
                  <a:srgbClr val="031424"/>
                </a:solidFill>
                <a:latin typeface="DejaVu Sans Mono"/>
              </a:rPr>
              <a:t> </a:t>
            </a:r>
            <a:r>
              <a:rPr sz="1800" b="0">
                <a:solidFill>
                  <a:srgbClr val="666666"/>
                </a:solidFill>
                <a:latin typeface="DejaVu Sans Mono"/>
              </a:rPr>
              <a:t>*</a:t>
            </a:r>
            <a:r>
              <a:rPr sz="1800" b="0">
                <a:solidFill>
                  <a:srgbClr val="031424"/>
                </a:solidFill>
                <a:latin typeface="DejaVu Sans Mono"/>
              </a:rPr>
              <a:t> </a:t>
            </a:r>
            <a:r>
              <a:rPr sz="1800" b="0">
                <a:solidFill>
                  <a:srgbClr val="031424"/>
                </a:solidFill>
                <a:latin typeface="DejaVu Sans Mono"/>
              </a:rPr>
              <a:t>error</a:t>
            </a:r>
          </a:p>
          <a:p>
            <a:pPr algn="l" marL="0" indent="0">
              <a:lnSpc>
                <a:spcPct val="104000"/>
              </a:lnSpc>
              <a:spcAft>
                <a:spcPts val="0"/>
              </a:spcAft>
            </a:p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Nav2: export the adapter and select the policy</a:t>
            </a:r>
          </a:p>
        </p:txBody>
      </p:sp>
      <p:sp>
        <p:nvSpPr>
          <p:cNvPr id="208" name="TextBox 207"/>
          <p:cNvSpPr txBox="1"/>
          <p:nvPr/>
        </p:nvSpPr>
        <p:spPr>
          <a:xfrm>
            <a:off x="594360" y="1371600"/>
            <a:ext cx="5486400" cy="365760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400" b="1">
                <a:solidFill>
                  <a:srgbClr val="007020"/>
                </a:solidFill>
                <a:latin typeface="DejaVu Sans Mono"/>
              </a:rPr>
              <a:t>import</a:t>
            </a:r>
            <a:r>
              <a:rPr sz="1400" b="0">
                <a:solidFill>
                  <a:srgbClr val="031424"/>
                </a:solidFill>
                <a:latin typeface="DejaVu Sans Mono"/>
              </a:rPr>
              <a:t> </a:t>
            </a:r>
            <a:r>
              <a:rPr sz="1400" b="1">
                <a:solidFill>
                  <a:srgbClr val="0E84B5"/>
                </a:solidFill>
                <a:latin typeface="DejaVu Sans Mono"/>
              </a:rPr>
              <a:t>os</a:t>
            </a:r>
          </a:p>
          <a:p>
            <a:pPr algn="l" marL="0" indent="0">
              <a:lnSpc>
                <a:spcPct val="104000"/>
              </a:lnSpc>
              <a:spcAft>
                <a:spcPts val="0"/>
              </a:spcAft>
            </a:pPr>
            <a:r>
              <a:rPr sz="1400" b="1">
                <a:solidFill>
                  <a:srgbClr val="007020"/>
                </a:solidFill>
                <a:latin typeface="DejaVu Sans Mono"/>
              </a:rPr>
              <a:t>from</a:t>
            </a:r>
            <a:r>
              <a:rPr sz="1400" b="0">
                <a:solidFill>
                  <a:srgbClr val="031424"/>
                </a:solidFill>
                <a:latin typeface="DejaVu Sans Mono"/>
              </a:rPr>
              <a:t> </a:t>
            </a:r>
            <a:r>
              <a:rPr sz="1400" b="1">
                <a:solidFill>
                  <a:srgbClr val="0E84B5"/>
                </a:solidFill>
                <a:latin typeface="DejaVu Sans Mono"/>
              </a:rPr>
              <a:t>nav2_kit</a:t>
            </a:r>
            <a:r>
              <a:rPr sz="1400" b="1">
                <a:solidFill>
                  <a:srgbClr val="0E84B5"/>
                </a:solidFill>
                <a:latin typeface="DejaVu Sans Mono"/>
              </a:rPr>
              <a:t>.</a:t>
            </a:r>
            <a:r>
              <a:rPr sz="1400" b="1">
                <a:solidFill>
                  <a:srgbClr val="0E84B5"/>
                </a:solidFill>
                <a:latin typeface="DejaVu Sans Mono"/>
              </a:rPr>
              <a:t>python_critic</a:t>
            </a:r>
            <a:r>
              <a:rPr sz="1400" b="0">
                <a:solidFill>
                  <a:srgbClr val="031424"/>
                </a:solidFill>
                <a:latin typeface="DejaVu Sans Mono"/>
              </a:rPr>
              <a:t> </a:t>
            </a:r>
            <a:r>
              <a:rPr sz="1400" b="1">
                <a:solidFill>
                  <a:srgbClr val="007020"/>
                </a:solidFill>
                <a:latin typeface="DejaVu Sans Mono"/>
              </a:rPr>
              <a:t>import</a:t>
            </a:r>
            <a:r>
              <a:rPr sz="1400" b="0">
                <a:solidFill>
                  <a:srgbClr val="031424"/>
                </a:solidFill>
                <a:latin typeface="DejaVu Sans Mono"/>
              </a:rPr>
              <a:t> </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31424"/>
                </a:solidFill>
                <a:latin typeface="DejaVu Sans Mono"/>
              </a:rPr>
              <a:t>install_python_critic_plugin</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a:t>
            </a:r>
          </a:p>
          <a:p>
            <a:pPr algn="l" marL="0" indent="0">
              <a:lnSpc>
                <a:spcPct val="104000"/>
              </a:lnSpc>
              <a:spcAft>
                <a:spcPts val="0"/>
              </a:spcAft>
            </a:pPr>
          </a:p>
          <a:p>
            <a:pPr algn="l" marL="0" indent="0">
              <a:lnSpc>
                <a:spcPct val="104000"/>
              </a:lnSpc>
              <a:spcAft>
                <a:spcPts val="0"/>
              </a:spcAft>
            </a:pPr>
            <a:r>
              <a:rPr sz="1400" b="0">
                <a:solidFill>
                  <a:srgbClr val="031424"/>
                </a:solidFill>
                <a:latin typeface="DejaVu Sans Mono"/>
              </a:rPr>
              <a:t>prefix</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install_python_critic_plugin</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31424"/>
                </a:solidFill>
                <a:latin typeface="DejaVu Sans Mono"/>
              </a:rPr>
              <a:t>artifacts</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4070A0"/>
                </a:solidFill>
                <a:latin typeface="DejaVu Sans Mono"/>
              </a:rPr>
              <a:t>"</a:t>
            </a:r>
            <a:r>
              <a:rPr sz="1400" b="0">
                <a:solidFill>
                  <a:srgbClr val="4070A0"/>
                </a:solidFill>
                <a:latin typeface="DejaVu Sans Mono"/>
              </a:rPr>
              <a:t>python_critic</a:t>
            </a:r>
            <a:r>
              <a:rPr sz="1400" b="0">
                <a:solidFill>
                  <a:srgbClr val="4070A0"/>
                </a:solidFill>
                <a:latin typeface="DejaVu Sans Mono"/>
              </a:rPr>
              <a:t>"</a:t>
            </a:r>
          </a:p>
          <a:p>
            <a:pPr algn="l" marL="0" indent="0">
              <a:lnSpc>
                <a:spcPct val="104000"/>
              </a:lnSpc>
              <a:spcAft>
                <a:spcPts val="0"/>
              </a:spcAft>
            </a:pP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os</a:t>
            </a:r>
            <a:r>
              <a:rPr sz="1400" b="0">
                <a:solidFill>
                  <a:srgbClr val="666666"/>
                </a:solidFill>
                <a:latin typeface="DejaVu Sans Mono"/>
              </a:rPr>
              <a:t>.</a:t>
            </a:r>
            <a:r>
              <a:rPr sz="1400" b="0">
                <a:solidFill>
                  <a:srgbClr val="031424"/>
                </a:solidFill>
                <a:latin typeface="DejaVu Sans Mono"/>
              </a:rPr>
              <a:t>environ</a:t>
            </a:r>
            <a:r>
              <a:rPr sz="1400" b="0">
                <a:solidFill>
                  <a:srgbClr val="031424"/>
                </a:solidFill>
                <a:latin typeface="DejaVu Sans Mono"/>
              </a:rPr>
              <a:t>[</a:t>
            </a:r>
            <a:r>
              <a:rPr sz="1400" b="0">
                <a:solidFill>
                  <a:srgbClr val="4070A0"/>
                </a:solidFill>
                <a:latin typeface="DejaVu Sans Mono"/>
              </a:rPr>
              <a:t>"</a:t>
            </a:r>
            <a:r>
              <a:rPr sz="1400" b="0">
                <a:solidFill>
                  <a:srgbClr val="4070A0"/>
                </a:solidFill>
                <a:latin typeface="DejaVu Sans Mono"/>
              </a:rPr>
              <a:t>AMENT_PREFIX_PATH</a:t>
            </a:r>
            <a:r>
              <a:rPr sz="1400" b="0">
                <a:solidFill>
                  <a:srgbClr val="4070A0"/>
                </a:solidFill>
                <a:latin typeface="DejaVu Sans Mono"/>
              </a:rPr>
              <a:t>"</a:t>
            </a:r>
            <a:r>
              <a:rPr sz="1400" b="0">
                <a:solidFill>
                  <a:srgbClr val="031424"/>
                </a:solidFill>
                <a:latin typeface="DejaVu Sans Mono"/>
              </a:rPr>
              <a:t>]</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str</a:t>
            </a:r>
            <a:r>
              <a:rPr sz="1400" b="0">
                <a:solidFill>
                  <a:srgbClr val="031424"/>
                </a:solidFill>
                <a:latin typeface="DejaVu Sans Mono"/>
              </a:rPr>
              <a:t>(</a:t>
            </a:r>
            <a:r>
              <a:rPr sz="1400" b="0">
                <a:solidFill>
                  <a:srgbClr val="031424"/>
                </a:solidFill>
                <a:latin typeface="DejaVu Sans Mono"/>
              </a:rPr>
              <a:t>prefix</a:t>
            </a:r>
            <a:r>
              <a:rPr sz="1400" b="0">
                <a:solidFill>
                  <a:srgbClr val="031424"/>
                </a:solidFill>
                <a:latin typeface="DejaVu Sans Mono"/>
              </a:rPr>
              <a:t>)</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4070A0"/>
                </a:solidFill>
                <a:latin typeface="DejaVu Sans Mono"/>
              </a:rPr>
              <a:t>"</a:t>
            </a:r>
            <a:r>
              <a:rPr sz="1400" b="0">
                <a:solidFill>
                  <a:srgbClr val="4070A0"/>
                </a:solidFill>
                <a:latin typeface="DejaVu Sans Mono"/>
              </a:rPr>
              <a:t>:</a:t>
            </a:r>
            <a:r>
              <a:rPr sz="1400" b="0">
                <a:solidFill>
                  <a:srgbClr val="4070A0"/>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os</a:t>
            </a:r>
            <a:r>
              <a:rPr sz="1400" b="0">
                <a:solidFill>
                  <a:srgbClr val="666666"/>
                </a:solidFill>
                <a:latin typeface="DejaVu Sans Mono"/>
              </a:rPr>
              <a:t>.</a:t>
            </a:r>
            <a:r>
              <a:rPr sz="1400" b="0">
                <a:solidFill>
                  <a:srgbClr val="031424"/>
                </a:solidFill>
                <a:latin typeface="DejaVu Sans Mono"/>
              </a:rPr>
              <a:t>environ</a:t>
            </a:r>
            <a:r>
              <a:rPr sz="1400" b="0">
                <a:solidFill>
                  <a:srgbClr val="666666"/>
                </a:solidFill>
                <a:latin typeface="DejaVu Sans Mono"/>
              </a:rPr>
              <a:t>.</a:t>
            </a:r>
            <a:r>
              <a:rPr sz="1400" b="0">
                <a:solidFill>
                  <a:srgbClr val="031424"/>
                </a:solidFill>
                <a:latin typeface="DejaVu Sans Mono"/>
              </a:rPr>
              <a:t>get</a:t>
            </a:r>
            <a:r>
              <a:rPr sz="1400" b="0">
                <a:solidFill>
                  <a:srgbClr val="031424"/>
                </a:solidFill>
                <a:latin typeface="DejaVu Sans Mono"/>
              </a:rPr>
              <a:t>(</a:t>
            </a:r>
            <a:r>
              <a:rPr sz="1400" b="0">
                <a:solidFill>
                  <a:srgbClr val="4070A0"/>
                </a:solidFill>
                <a:latin typeface="DejaVu Sans Mono"/>
              </a:rPr>
              <a:t>"</a:t>
            </a:r>
            <a:r>
              <a:rPr sz="1400" b="0">
                <a:solidFill>
                  <a:srgbClr val="4070A0"/>
                </a:solidFill>
                <a:latin typeface="DejaVu Sans Mono"/>
              </a:rPr>
              <a:t>AMENT_PREFIX_PATH</a:t>
            </a:r>
            <a:r>
              <a:rPr sz="1400" b="0">
                <a:solidFill>
                  <a:srgbClr val="4070A0"/>
                </a:solidFill>
                <a:latin typeface="DejaVu Sans Mono"/>
              </a:rPr>
              <a:t>"</a:t>
            </a:r>
            <a:r>
              <a:rPr sz="1400" b="0">
                <a:solidFill>
                  <a:srgbClr val="031424"/>
                </a:solidFill>
                <a:latin typeface="DejaVu Sans Mono"/>
              </a:rPr>
              <a:t>,</a:t>
            </a:r>
            <a:r>
              <a:rPr sz="1400" b="0">
                <a:solidFill>
                  <a:srgbClr val="031424"/>
                </a:solidFill>
                <a:latin typeface="DejaVu Sans Mono"/>
              </a:rPr>
              <a:t> </a:t>
            </a:r>
            <a:r>
              <a:rPr sz="1400" b="0">
                <a:solidFill>
                  <a:srgbClr val="4070A0"/>
                </a:solidFill>
                <a:latin typeface="DejaVu Sans Mono"/>
              </a:rPr>
              <a:t>"</a:t>
            </a:r>
            <a:r>
              <a:rPr sz="1400" b="0">
                <a:solidFill>
                  <a:srgbClr val="4070A0"/>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a:t>
            </a:r>
          </a:p>
          <a:p>
            <a:pPr algn="l" marL="0" indent="0">
              <a:lnSpc>
                <a:spcPct val="104000"/>
              </a:lnSpc>
              <a:spcAft>
                <a:spcPts val="0"/>
              </a:spcAft>
            </a:pPr>
          </a:p>
        </p:txBody>
      </p:sp>
      <p:sp>
        <p:nvSpPr>
          <p:cNvPr id="209" name="TextBox 208"/>
          <p:cNvSpPr txBox="1"/>
          <p:nvPr/>
        </p:nvSpPr>
        <p:spPr>
          <a:xfrm>
            <a:off x="6400800" y="1371600"/>
            <a:ext cx="5212080" cy="43891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200" b="0">
                <a:solidFill>
                  <a:srgbClr val="60A0B0"/>
                </a:solidFill>
                <a:latin typeface="DejaVu Sans Mono"/>
              </a:rPr>
              <a:t># Under FollowPath; retain stock critics.</a:t>
            </a:r>
          </a:p>
          <a:p>
            <a:pPr algn="l" marL="0" indent="0">
              <a:lnSpc>
                <a:spcPct val="104000"/>
              </a:lnSpc>
              <a:spcAft>
                <a:spcPts val="0"/>
              </a:spcAft>
            </a:pPr>
            <a:r>
              <a:rPr sz="1200" b="1">
                <a:solidFill>
                  <a:srgbClr val="062873"/>
                </a:solidFill>
                <a:latin typeface="DejaVu Sans Mono"/>
              </a:rPr>
              <a:t>ForwardCamera.class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nav2_kit_python::PythonCritic</a:t>
            </a:r>
          </a:p>
          <a:p>
            <a:pPr algn="l" marL="0" indent="0">
              <a:lnSpc>
                <a:spcPct val="104000"/>
              </a:lnSpc>
              <a:spcAft>
                <a:spcPts val="0"/>
              </a:spcAft>
            </a:pPr>
            <a:r>
              <a:rPr sz="1200" b="1">
                <a:solidFill>
                  <a:srgbClr val="062873"/>
                </a:solidFill>
                <a:latin typeface="DejaVu Sans Mono"/>
              </a:rPr>
              <a:t>ForwardCamera.scale</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1.0</a:t>
            </a:r>
          </a:p>
          <a:p>
            <a:pPr algn="l" marL="0" indent="0">
              <a:lnSpc>
                <a:spcPct val="104000"/>
              </a:lnSpc>
              <a:spcAft>
                <a:spcPts val="0"/>
              </a:spcAft>
            </a:pPr>
            <a:r>
              <a:rPr sz="1200" b="1">
                <a:solidFill>
                  <a:srgbClr val="062873"/>
                </a:solidFill>
                <a:latin typeface="DejaVu Sans Mono"/>
              </a:rPr>
              <a:t>ForwardCamera.python_module</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forward_camera_policy</a:t>
            </a:r>
          </a:p>
          <a:p>
            <a:pPr algn="l" marL="0" indent="0">
              <a:lnSpc>
                <a:spcPct val="104000"/>
              </a:lnSpc>
              <a:spcAft>
                <a:spcPts val="0"/>
              </a:spcAft>
            </a:pPr>
            <a:r>
              <a:rPr sz="1200" b="1">
                <a:solidFill>
                  <a:srgbClr val="062873"/>
                </a:solidFill>
                <a:latin typeface="DejaVu Sans Mono"/>
              </a:rPr>
              <a:t>ForwardCamera.python_class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ForwardCameraPolicy</a:t>
            </a:r>
          </a:p>
          <a:p>
            <a:pPr algn="l" marL="0" indent="0">
              <a:lnSpc>
                <a:spcPct val="104000"/>
              </a:lnSpc>
              <a:spcAft>
                <a:spcPts val="0"/>
              </a:spcAft>
            </a:pPr>
            <a:r>
              <a:rPr sz="1200" b="1">
                <a:solidFill>
                  <a:srgbClr val="062873"/>
                </a:solidFill>
                <a:latin typeface="DejaVu Sans Mono"/>
              </a:rPr>
              <a:t>ForwardCamera.python_path</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/path/to/nav2_kit/demos</a:t>
            </a:r>
          </a:p>
          <a:p>
            <a:pPr algn="l" marL="0" indent="0">
              <a:lnSpc>
                <a:spcPct val="104000"/>
              </a:lnSpc>
              <a:spcAft>
                <a:spcPts val="0"/>
              </a:spcAft>
            </a:pPr>
            <a:r>
              <a:rPr sz="1200" b="1">
                <a:solidFill>
                  <a:srgbClr val="062873"/>
                </a:solidFill>
                <a:latin typeface="DejaVu Sans Mono"/>
              </a:rPr>
              <a:t>ForwardCamera.python_options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&gt;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{"camera_half_angle": 0.5236,</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"goal_tolerance": 0.25,</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"heading_weight": 80.0,</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"translation_epsilon": 0.0001}</a:t>
            </a:r>
          </a:p>
          <a:p>
            <a:pPr algn="l" marL="0" indent="0">
              <a:lnSpc>
                <a:spcPct val="104000"/>
              </a:lnSpc>
              <a:spcAft>
                <a:spcPts val="0"/>
              </a:spcAft>
            </a:pPr>
          </a:p>
        </p:txBody>
      </p:sp>
      <p:sp>
        <p:nvSpPr>
          <p:cNvPr id="210" name="TextBox 209"/>
          <p:cNvSpPr txBox="1"/>
          <p:nvPr/>
        </p:nvSpPr>
        <p:spPr>
          <a:xfrm>
            <a:off x="594360" y="5303520"/>
            <a:ext cx="10972800" cy="914400"/>
          </a:xfrm>
          <a:prstGeom prst="rect">
            <a:avLst/>
          </a:prstGeom>
          <a:noFill/>
        </p:spPr>
        <p:txBody>
          <a:bodyPr wrap="square" lIns="0" rIns="0">
            <a:noAutofit/>
          </a:bodyPr>
          <a:lstStyle/>
          <a:p>
            <a:pPr algn="l">
              <a:spcAft>
                <a:spcPts val="500"/>
              </a:spcAft>
              <a:defRPr sz="2200" b="0">
                <a:solidFill>
                  <a:srgbClr val="031424"/>
                </a:solidFill>
                <a:latin typeface="Roboto"/>
              </a:defRPr>
            </a:pPr>
            <a:r>
              <a:t>Add ForwardCamera to FollowPath.critics.</a:t>
            </a:r>
          </a:p>
          <a:p>
            <a:pPr algn="l">
              <a:spcAft>
                <a:spcPts val="500"/>
              </a:spcAft>
              <a:defRPr sz="2200" b="0">
                <a:solidFill>
                  <a:srgbClr val="031424"/>
                </a:solidFill>
                <a:latin typeface="Roboto"/>
              </a:defRPr>
            </a:pPr>
            <a:r>
              <a:t>The kit supplies the C++ interface, plugin library and pluginlib export.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Navigation: turn first, then move forward</a:t>
            </a:r>
          </a:p>
        </p:txBody>
      </p:sp>
      <p:sp>
        <p:nvSpPr>
          <p:cNvPr id="211" name="TextBox 210"/>
          <p:cNvSpPr txBox="1"/>
          <p:nvPr/>
        </p:nvSpPr>
        <p:spPr>
          <a:xfrm>
            <a:off x="640080" y="5897880"/>
            <a:ext cx="10972800" cy="45720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800" b="0">
                <a:solidFill>
                  <a:srgbClr val="031424"/>
                </a:solidFill>
                <a:latin typeface="DejaVu Sans Mono"/>
              </a:rPr>
              <a:t>./roscon_uk_2026/run_robot_demo.sh</a:t>
            </a:r>
            <a:r>
              <a:rPr sz="1800" b="0">
                <a:solidFill>
                  <a:srgbClr val="BBBBBB"/>
                </a:solidFill>
                <a:latin typeface="DejaVu Sans Mono"/>
              </a:rPr>
              <a:t> </a:t>
            </a:r>
            <a:r>
              <a:rPr sz="1800" b="0">
                <a:solidFill>
                  <a:srgbClr val="031424"/>
                </a:solidFill>
                <a:latin typeface="DejaVu Sans Mono"/>
              </a:rPr>
              <a:t>forward</a:t>
            </a:r>
          </a:p>
          <a:p>
            <a:pPr algn="l" marL="0" indent="0">
              <a:lnSpc>
                <a:spcPct val="104000"/>
              </a:lnSpc>
              <a:spcAft>
                <a:spcPts val="0"/>
              </a:spcAft>
            </a:pPr>
          </a:p>
        </p:txBody>
      </p:sp>
      <p:pic>
        <p:nvPicPr>
          <p:cNvPr id="212" name="navigation_forward.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569464" y="1280160"/>
            <a:ext cx="7022592" cy="438912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2"/>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ros2_control: Python admittance, C++ kinematics</a:t>
            </a:r>
          </a:p>
        </p:txBody>
      </p:sp>
      <p:sp>
        <p:nvSpPr>
          <p:cNvPr id="208" name="TextBox 207"/>
          <p:cNvSpPr txBox="1"/>
          <p:nvPr/>
        </p:nvSpPr>
        <p:spPr>
          <a:xfrm>
            <a:off x="640080" y="1234440"/>
            <a:ext cx="10972800" cy="53035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600" b="0">
                <a:solidFill>
                  <a:srgbClr val="031424"/>
                </a:solidFill>
                <a:latin typeface="DejaVu Sans Mono"/>
              </a:rPr>
              <a:t>steps</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max</a:t>
            </a:r>
            <a:r>
              <a:rPr sz="1600" b="0">
                <a:solidFill>
                  <a:srgbClr val="031424"/>
                </a:solidFill>
                <a:latin typeface="DejaVu Sans Mono"/>
              </a:rPr>
              <a:t>(</a:t>
            </a:r>
            <a:r>
              <a:rPr sz="1600" b="0">
                <a:solidFill>
                  <a:srgbClr val="40A070"/>
                </a:solidFill>
                <a:latin typeface="DejaVu Sans Mono"/>
              </a:rPr>
              <a:t>1</a:t>
            </a:r>
            <a:r>
              <a:rPr sz="1600" b="0">
                <a:solidFill>
                  <a:srgbClr val="031424"/>
                </a:solidFill>
                <a:latin typeface="DejaVu Sans Mono"/>
              </a:rPr>
              <a:t>,</a:t>
            </a:r>
            <a:r>
              <a:rPr sz="1600" b="0">
                <a:solidFill>
                  <a:srgbClr val="031424"/>
                </a:solidFill>
                <a:latin typeface="DejaVu Sans Mono"/>
              </a:rPr>
              <a:t> </a:t>
            </a:r>
            <a:r>
              <a:rPr sz="1600" b="0">
                <a:solidFill>
                  <a:srgbClr val="031424"/>
                </a:solidFill>
                <a:latin typeface="DejaVu Sans Mono"/>
              </a:rPr>
              <a:t>math</a:t>
            </a:r>
            <a:r>
              <a:rPr sz="1600" b="0">
                <a:solidFill>
                  <a:srgbClr val="666666"/>
                </a:solidFill>
                <a:latin typeface="DejaVu Sans Mono"/>
              </a:rPr>
              <a:t>.</a:t>
            </a:r>
            <a:r>
              <a:rPr sz="1600" b="0">
                <a:solidFill>
                  <a:srgbClr val="031424"/>
                </a:solidFill>
                <a:latin typeface="DejaVu Sans Mono"/>
              </a:rPr>
              <a:t>ceil</a:t>
            </a:r>
            <a:r>
              <a:rPr sz="1600" b="0">
                <a:solidFill>
                  <a:srgbClr val="031424"/>
                </a:solidFill>
                <a:latin typeface="DejaVu Sans Mono"/>
              </a:rPr>
              <a:t>(</a:t>
            </a:r>
            <a:r>
              <a:rPr sz="1600" b="0">
                <a:solidFill>
                  <a:srgbClr val="031424"/>
                </a:solidFill>
                <a:latin typeface="DejaVu Sans Mono"/>
              </a:rPr>
              <a:t>dt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40A070"/>
                </a:solidFill>
                <a:latin typeface="DejaVu Sans Mono"/>
              </a:rPr>
              <a:t>0.002</a:t>
            </a:r>
            <a:r>
              <a:rPr sz="1600" b="0">
                <a:solidFill>
                  <a:srgbClr val="031424"/>
                </a:solidFill>
                <a:latin typeface="DejaVu Sans Mono"/>
              </a:rPr>
              <a: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h</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dt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steps</a:t>
            </a:r>
          </a:p>
          <a:p>
            <a:pPr algn="l" marL="0" indent="0">
              <a:lnSpc>
                <a:spcPct val="104000"/>
              </a:lnSpc>
              <a:spcAft>
                <a:spcPts val="0"/>
              </a:spcAft>
            </a:pPr>
            <a:r>
              <a:rPr sz="1600" b="1">
                <a:solidFill>
                  <a:srgbClr val="007020"/>
                </a:solidFill>
                <a:latin typeface="DejaVu Sans Mono"/>
              </a:rPr>
              <a:t>for</a:t>
            </a:r>
            <a:r>
              <a:rPr sz="1600" b="0">
                <a:solidFill>
                  <a:srgbClr val="031424"/>
                </a:solidFill>
                <a:latin typeface="DejaVu Sans Mono"/>
              </a:rPr>
              <a:t> </a:t>
            </a:r>
            <a:r>
              <a:rPr sz="1600" b="0">
                <a:solidFill>
                  <a:srgbClr val="031424"/>
                </a:solidFill>
                <a:latin typeface="DejaVu Sans Mono"/>
              </a:rPr>
              <a:t>_</a:t>
            </a:r>
            <a:r>
              <a:rPr sz="1600" b="0">
                <a:solidFill>
                  <a:srgbClr val="031424"/>
                </a:solidFill>
                <a:latin typeface="DejaVu Sans Mono"/>
              </a:rPr>
              <a:t> </a:t>
            </a:r>
            <a:r>
              <a:rPr sz="1600" b="1">
                <a:solidFill>
                  <a:srgbClr val="007020"/>
                </a:solidFill>
                <a:latin typeface="DejaVu Sans Mono"/>
              </a:rPr>
              <a:t>in</a:t>
            </a:r>
            <a:r>
              <a:rPr sz="1600" b="0">
                <a:solidFill>
                  <a:srgbClr val="031424"/>
                </a:solidFill>
                <a:latin typeface="DejaVu Sans Mono"/>
              </a:rPr>
              <a:t> </a:t>
            </a:r>
            <a:r>
              <a:rPr sz="1600" b="0">
                <a:solidFill>
                  <a:srgbClr val="007020"/>
                </a:solidFill>
                <a:latin typeface="DejaVu Sans Mono"/>
              </a:rPr>
              <a:t>range</a:t>
            </a:r>
            <a:r>
              <a:rPr sz="1600" b="0">
                <a:solidFill>
                  <a:srgbClr val="031424"/>
                </a:solidFill>
                <a:latin typeface="DejaVu Sans Mono"/>
              </a:rPr>
              <a:t>(</a:t>
            </a:r>
            <a:r>
              <a:rPr sz="1600" b="0">
                <a:solidFill>
                  <a:srgbClr val="031424"/>
                </a:solidFill>
                <a:latin typeface="DejaVu Sans Mono"/>
              </a:rPr>
              <a:t>steps</a:t>
            </a:r>
            <a:r>
              <a:rPr sz="1600" b="0">
                <a:solidFill>
                  <a:srgbClr val="031424"/>
                </a:solidFill>
                <a:latin typeface="DejaVu Sans Mono"/>
              </a:rPr>
              <a: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31424"/>
                </a:solidFill>
                <a:latin typeface="DejaVu Sans Mono"/>
              </a:rPr>
              <a:t>force</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a:t>
            </a:r>
            <a:r>
              <a:rPr sz="1600" b="0">
                <a:solidFill>
                  <a:srgbClr val="031424"/>
                </a:solidFill>
                <a:latin typeface="DejaVu Sans Mono"/>
              </a:rPr>
              <a:t> </a:t>
            </a:r>
            <a:r>
              <a:rPr sz="1600" b="1">
                <a:solidFill>
                  <a:srgbClr val="007020"/>
                </a:solidFill>
                <a:latin typeface="DejaVu Sans Mono"/>
              </a:rPr>
              <a:t>if</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force_age</a:t>
            </a:r>
            <a:r>
              <a:rPr sz="1600" b="0">
                <a:solidFill>
                  <a:srgbClr val="031424"/>
                </a:solidFill>
                <a:latin typeface="DejaVu Sans Mono"/>
              </a:rPr>
              <a:t> </a:t>
            </a:r>
            <a:r>
              <a:rPr sz="1600" b="0">
                <a:solidFill>
                  <a:srgbClr val="666666"/>
                </a:solidFill>
                <a:latin typeface="DejaVu Sans Mono"/>
              </a:rPr>
              <a:t>&lt;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force_timeout</a:t>
            </a:r>
          </a:p>
          <a:p>
            <a:pPr algn="l" marL="0" indent="0">
              <a:lnSpc>
                <a:spcPct val="104000"/>
              </a:lnSpc>
              <a:spcAft>
                <a:spcPts val="0"/>
              </a:spcAft>
            </a:pPr>
            <a:r>
              <a:rPr sz="1600" b="0">
                <a:solidFill>
                  <a:srgbClr val="031424"/>
                </a:solidFill>
                <a:latin typeface="DejaVu Sans Mono"/>
              </a:rPr>
              <a:t>             </a:t>
            </a:r>
            <a:r>
              <a:rPr sz="1600" b="1">
                <a:solidFill>
                  <a:srgbClr val="007020"/>
                </a:solidFill>
                <a:latin typeface="DejaVu Sans Mono"/>
              </a:rPr>
              <a:t>and</a:t>
            </a:r>
            <a:r>
              <a:rPr sz="1600" b="0">
                <a:solidFill>
                  <a:srgbClr val="031424"/>
                </a:solidFill>
                <a:latin typeface="DejaVu Sans Mono"/>
              </a:rPr>
              <a:t> </a:t>
            </a:r>
            <a:r>
              <a:rPr sz="1600" b="0">
                <a:solidFill>
                  <a:srgbClr val="031424"/>
                </a:solidFill>
                <a:latin typeface="DejaVu Sans Mono"/>
              </a:rPr>
              <a:t>time</a:t>
            </a:r>
            <a:r>
              <a:rPr sz="1600" b="0">
                <a:solidFill>
                  <a:srgbClr val="666666"/>
                </a:solidFill>
                <a:latin typeface="DejaVu Sans Mono"/>
              </a:rPr>
              <a:t>.</a:t>
            </a:r>
            <a:r>
              <a:rPr sz="1600" b="0">
                <a:solidFill>
                  <a:srgbClr val="031424"/>
                </a:solidFill>
                <a:latin typeface="DejaVu Sans Mono"/>
              </a:rPr>
              <a:t>monotonic</a:t>
            </a:r>
            <a:r>
              <a:rPr sz="1600" b="0">
                <a:solidFill>
                  <a:srgbClr val="031424"/>
                </a:solidFill>
                <a:latin typeface="DejaVu Sans Mono"/>
              </a:rPr>
              <a:t>(</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force_stamp</a:t>
            </a:r>
            <a:r>
              <a:rPr sz="1600" b="0">
                <a:solidFill>
                  <a:srgbClr val="031424"/>
                </a:solidFill>
                <a:latin typeface="DejaVu Sans Mono"/>
              </a:rPr>
              <a:t> </a:t>
            </a:r>
            <a:r>
              <a:rPr sz="1600" b="0">
                <a:solidFill>
                  <a:srgbClr val="666666"/>
                </a:solidFill>
                <a:latin typeface="DejaVu Sans Mono"/>
              </a:rPr>
              <a:t>&lt;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force_timeout</a:t>
            </a:r>
          </a:p>
          <a:p>
            <a:pPr algn="l" marL="0" indent="0">
              <a:lnSpc>
                <a:spcPct val="104000"/>
              </a:lnSpc>
              <a:spcAft>
                <a:spcPts val="0"/>
              </a:spcAft>
            </a:pPr>
            <a:r>
              <a:rPr sz="1600" b="0">
                <a:solidFill>
                  <a:srgbClr val="031424"/>
                </a:solidFill>
                <a:latin typeface="DejaVu Sans Mono"/>
              </a:rPr>
              <a:t>         </a:t>
            </a:r>
            <a:r>
              <a:rPr sz="1600" b="1">
                <a:solidFill>
                  <a:srgbClr val="007020"/>
                </a:solidFill>
                <a:latin typeface="DejaVu Sans Mono"/>
              </a:rPr>
              <a:t>else</a:t>
            </a:r>
            <a:r>
              <a:rPr sz="1600" b="0">
                <a:solidFill>
                  <a:srgbClr val="031424"/>
                </a:solidFill>
                <a:latin typeface="DejaVu Sans Mono"/>
              </a:rPr>
              <a:t> </a:t>
            </a:r>
            <a:r>
              <a:rPr sz="1600" b="0">
                <a:solidFill>
                  <a:srgbClr val="031424"/>
                </a:solidFill>
                <a:latin typeface="DejaVu Sans Mono"/>
              </a:rPr>
              <a:t>np</a:t>
            </a:r>
            <a:r>
              <a:rPr sz="1600" b="0">
                <a:solidFill>
                  <a:srgbClr val="666666"/>
                </a:solidFill>
                <a:latin typeface="DejaVu Sans Mono"/>
              </a:rPr>
              <a:t>.</a:t>
            </a:r>
            <a:r>
              <a:rPr sz="1600" b="0">
                <a:solidFill>
                  <a:srgbClr val="031424"/>
                </a:solidFill>
                <a:latin typeface="DejaVu Sans Mono"/>
              </a:rPr>
              <a:t>zeros</a:t>
            </a:r>
            <a:r>
              <a:rPr sz="1600" b="0">
                <a:solidFill>
                  <a:srgbClr val="031424"/>
                </a:solidFill>
                <a:latin typeface="DejaVu Sans Mono"/>
              </a:rPr>
              <a:t>(</a:t>
            </a:r>
            <a:r>
              <a:rPr sz="1600" b="0">
                <a:solidFill>
                  <a:srgbClr val="40A070"/>
                </a:solidFill>
                <a:latin typeface="DejaVu Sans Mono"/>
              </a:rPr>
              <a:t>3</a:t>
            </a:r>
            <a:r>
              <a:rPr sz="1600" b="0">
                <a:solidFill>
                  <a:srgbClr val="031424"/>
                </a:solidFill>
                <a:latin typeface="DejaVu Sans Mono"/>
              </a:rPr>
              <a: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31424"/>
                </a:solidFill>
                <a:latin typeface="DejaVu Sans Mono"/>
              </a:rPr>
              <a:t>acceleration</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a:t>
            </a:r>
            <a:r>
              <a:rPr sz="1600" b="0">
                <a:solidFill>
                  <a:srgbClr val="031424"/>
                </a:solidFill>
                <a:latin typeface="DejaVu Sans Mono"/>
              </a:rPr>
              <a:t>force</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damping</a:t>
            </a:r>
            <a:r>
              <a:rPr sz="1600" b="0">
                <a:solidFill>
                  <a:srgbClr val="666666"/>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p>
          <a:p>
            <a:pPr algn="l" marL="0" indent="0">
              <a:lnSpc>
                <a:spcPct val="104000"/>
              </a:lnSpc>
              <a:spcAft>
                <a:spcPts val="0"/>
              </a:spcAft>
            </a:pP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stiffness</a:t>
            </a:r>
            <a:r>
              <a:rPr sz="1600" b="0">
                <a:solidFill>
                  <a:srgbClr val="666666"/>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mass</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r>
              <a:rPr sz="1600" b="0">
                <a:solidFill>
                  <a:srgbClr val="031424"/>
                </a:solidFill>
                <a:latin typeface="DejaVu Sans Mono"/>
              </a:rPr>
              <a:t> </a:t>
            </a:r>
            <a:r>
              <a:rPr sz="1600" b="0">
                <a:solidFill>
                  <a:srgbClr val="666666"/>
                </a:solidFill>
                <a:latin typeface="DejaVu Sans Mono"/>
              </a:rPr>
              <a:t>+</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h</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acceleration</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_bound</a:t>
            </a:r>
            <a:r>
              <a:rPr sz="1600" b="0">
                <a:solidFill>
                  <a:srgbClr val="031424"/>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max_cartesian_speed</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r>
              <a:rPr sz="1600" b="0">
                <a:solidFill>
                  <a:srgbClr val="031424"/>
                </a:solidFill>
                <a:latin typeface="DejaVu Sans Mono"/>
              </a:rPr>
              <a:t> </a:t>
            </a:r>
            <a:r>
              <a:rPr sz="1600" b="0">
                <a:solidFill>
                  <a:srgbClr val="666666"/>
                </a:solidFill>
                <a:latin typeface="DejaVu Sans Mono"/>
              </a:rPr>
              <a:t>+</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h</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p>
          <a:p>
            <a:pPr algn="l" marL="0" indent="0">
              <a:lnSpc>
                <a:spcPct val="104000"/>
              </a:lnSpc>
              <a:spcAft>
                <a:spcPts val="0"/>
              </a:spcAft>
            </a:pPr>
            <a:r>
              <a:rPr sz="1600" b="0">
                <a:solidFill>
                  <a:srgbClr val="031424"/>
                </a:solidFill>
                <a:latin typeface="DejaVu Sans Mono"/>
              </a:rPr>
              <a:t>    </a:t>
            </a:r>
            <a:r>
              <a:rPr sz="1600" b="1">
                <a:solidFill>
                  <a:srgbClr val="007020"/>
                </a:solidFill>
                <a:latin typeface="DejaVu Sans Mono"/>
              </a:rPr>
              <a:t>if</a:t>
            </a:r>
            <a:r>
              <a:rPr sz="1600" b="0">
                <a:solidFill>
                  <a:srgbClr val="031424"/>
                </a:solidFill>
                <a:latin typeface="DejaVu Sans Mono"/>
              </a:rPr>
              <a:t> </a:t>
            </a:r>
            <a:r>
              <a:rPr sz="1600" b="0">
                <a:solidFill>
                  <a:srgbClr val="031424"/>
                </a:solidFill>
                <a:latin typeface="DejaVu Sans Mono"/>
              </a:rPr>
              <a:t>np</a:t>
            </a:r>
            <a:r>
              <a:rPr sz="1600" b="0">
                <a:solidFill>
                  <a:srgbClr val="666666"/>
                </a:solidFill>
                <a:latin typeface="DejaVu Sans Mono"/>
              </a:rPr>
              <a:t>.</a:t>
            </a:r>
            <a:r>
              <a:rPr sz="1600" b="0">
                <a:solidFill>
                  <a:srgbClr val="031424"/>
                </a:solidFill>
                <a:latin typeface="DejaVu Sans Mono"/>
              </a:rPr>
              <a:t>linalg</a:t>
            </a:r>
            <a:r>
              <a:rPr sz="1600" b="0">
                <a:solidFill>
                  <a:srgbClr val="666666"/>
                </a:solidFill>
                <a:latin typeface="DejaVu Sans Mono"/>
              </a:rPr>
              <a:t>.</a:t>
            </a:r>
            <a:r>
              <a:rPr sz="1600" b="0">
                <a:solidFill>
                  <a:srgbClr val="031424"/>
                </a:solidFill>
                <a:latin typeface="DejaVu Sans Mono"/>
              </a:rPr>
              <a:t>norm</a:t>
            </a:r>
            <a:r>
              <a:rPr sz="1600" b="0">
                <a:solidFill>
                  <a:srgbClr val="031424"/>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&gt;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max_displacement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_bound</a:t>
            </a:r>
            <a:r>
              <a:rPr sz="1600" b="0">
                <a:solidFill>
                  <a:srgbClr val="031424"/>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max_displacement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31424"/>
                </a:solidFill>
                <a:latin typeface="DejaVu Sans Mono"/>
              </a:rPr>
              <a:t>normal</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max_displacement</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r>
              <a:rPr sz="1600" b="0">
                <a:solidFill>
                  <a:srgbClr val="031424"/>
                </a:solidFill>
                <a:latin typeface="DejaVu Sans Mono"/>
              </a:rPr>
              <a:t> </a:t>
            </a:r>
            <a:r>
              <a:rPr sz="1600" b="0">
                <a:solidFill>
                  <a:srgbClr val="666666"/>
                </a:solidFill>
                <a:latin typeface="DejaVu Sans Mono"/>
              </a:rPr>
              <a:t>-</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max</a:t>
            </a:r>
            <a:r>
              <a:rPr sz="1600" b="0">
                <a:solidFill>
                  <a:srgbClr val="031424"/>
                </a:solidFill>
                <a:latin typeface="DejaVu Sans Mono"/>
              </a:rPr>
              <a:t>(</a:t>
            </a:r>
            <a:r>
              <a:rPr sz="1600" b="0">
                <a:solidFill>
                  <a:srgbClr val="40A070"/>
                </a:solidFill>
                <a:latin typeface="DejaVu Sans Mono"/>
              </a:rPr>
              <a:t>0.0</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float</a:t>
            </a:r>
            <a:r>
              <a:rPr sz="1600" b="0">
                <a:solidFill>
                  <a:srgbClr val="031424"/>
                </a:solidFill>
                <a:latin typeface="DejaVu Sans Mono"/>
              </a:rPr>
              <a:t>(</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velocity</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normal</a:t>
            </a:r>
            <a:r>
              <a:rPr sz="1600" b="0">
                <a:solidFill>
                  <a:srgbClr val="031424"/>
                </a:solidFill>
                <a:latin typeface="DejaVu Sans Mono"/>
              </a:rPr>
              <a:t>)</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normal</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force_age</a:t>
            </a:r>
            <a:r>
              <a:rPr sz="1600" b="0">
                <a:solidFill>
                  <a:srgbClr val="031424"/>
                </a:solidFill>
                <a:latin typeface="DejaVu Sans Mono"/>
              </a:rPr>
              <a:t> </a:t>
            </a:r>
            <a:r>
              <a:rPr sz="1600" b="0">
                <a:solidFill>
                  <a:srgbClr val="666666"/>
                </a:solidFill>
                <a:latin typeface="DejaVu Sans Mono"/>
              </a:rPr>
              <a:t>+</a:t>
            </a:r>
            <a:r>
              <a:rPr sz="1600" b="0">
                <a:solidFill>
                  <a:srgbClr val="666666"/>
                </a:solidFill>
                <a:latin typeface="DejaVu Sans Mono"/>
              </a:rPr>
              <a:t>=</a:t>
            </a:r>
            <a:r>
              <a:rPr sz="1600" b="0">
                <a:solidFill>
                  <a:srgbClr val="031424"/>
                </a:solidFill>
                <a:latin typeface="DejaVu Sans Mono"/>
              </a:rPr>
              <a:t> </a:t>
            </a:r>
            <a:r>
              <a:rPr sz="1600" b="0">
                <a:solidFill>
                  <a:srgbClr val="031424"/>
                </a:solidFill>
                <a:latin typeface="DejaVu Sans Mono"/>
              </a:rPr>
              <a:t>h</a:t>
            </a:r>
          </a:p>
          <a:p>
            <a:pPr algn="l" marL="0" indent="0">
              <a:lnSpc>
                <a:spcPct val="104000"/>
              </a:lnSpc>
              <a:spcAft>
                <a:spcPts val="0"/>
              </a:spcAft>
            </a:pP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target</a:t>
            </a:r>
            <a:r>
              <a:rPr sz="1600" b="0">
                <a:solidFill>
                  <a:srgbClr val="031424"/>
                </a:solidFill>
                <a:latin typeface="DejaVu Sans Mono"/>
              </a:rPr>
              <a:t>[</a:t>
            </a:r>
            <a:r>
              <a:rPr sz="1600" b="0">
                <a:solidFill>
                  <a:srgbClr val="031424"/>
                </a:solidFill>
                <a:latin typeface="DejaVu Sans Mono"/>
              </a:rPr>
              <a:t>:</a:t>
            </a:r>
            <a:r>
              <a:rPr sz="1600" b="0">
                <a:solidFill>
                  <a:srgbClr val="40A070"/>
                </a:solidFill>
                <a:latin typeface="DejaVu Sans Mono"/>
              </a:rPr>
              <a:t>3</a:t>
            </a:r>
            <a:r>
              <a:rPr sz="1600" b="0">
                <a:solidFill>
                  <a:srgbClr val="031424"/>
                </a:solidFill>
                <a:latin typeface="DejaVu Sans Mono"/>
              </a:rPr>
              <a:t>,</a:t>
            </a:r>
            <a:r>
              <a:rPr sz="1600" b="0">
                <a:solidFill>
                  <a:srgbClr val="031424"/>
                </a:solidFill>
                <a:latin typeface="DejaVu Sans Mono"/>
              </a:rPr>
              <a:t> </a:t>
            </a:r>
            <a:r>
              <a:rPr sz="1600" b="0">
                <a:solidFill>
                  <a:srgbClr val="40A070"/>
                </a:solidFill>
                <a:latin typeface="DejaVu Sans Mono"/>
              </a:rPr>
              <a:t>3</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reference</a:t>
            </a:r>
            <a:r>
              <a:rPr sz="1600" b="0">
                <a:solidFill>
                  <a:srgbClr val="031424"/>
                </a:solidFill>
                <a:latin typeface="DejaVu Sans Mono"/>
              </a:rPr>
              <a:t>[</a:t>
            </a:r>
            <a:r>
              <a:rPr sz="1600" b="0">
                <a:solidFill>
                  <a:srgbClr val="031424"/>
                </a:solidFill>
                <a:latin typeface="DejaVu Sans Mono"/>
              </a:rPr>
              <a:t>:</a:t>
            </a:r>
            <a:r>
              <a:rPr sz="1600" b="0">
                <a:solidFill>
                  <a:srgbClr val="40A070"/>
                </a:solidFill>
                <a:latin typeface="DejaVu Sans Mono"/>
              </a:rPr>
              <a:t>3</a:t>
            </a:r>
            <a:r>
              <a:rPr sz="1600" b="0">
                <a:solidFill>
                  <a:srgbClr val="031424"/>
                </a:solidFill>
                <a:latin typeface="DejaVu Sans Mono"/>
              </a:rPr>
              <a:t>,</a:t>
            </a:r>
            <a:r>
              <a:rPr sz="1600" b="0">
                <a:solidFill>
                  <a:srgbClr val="031424"/>
                </a:solidFill>
                <a:latin typeface="DejaVu Sans Mono"/>
              </a:rPr>
              <a:t> </a:t>
            </a:r>
            <a:r>
              <a:rPr sz="1600" b="0">
                <a:solidFill>
                  <a:srgbClr val="40A070"/>
                </a:solidFill>
                <a:latin typeface="DejaVu Sans Mono"/>
              </a:rPr>
              <a:t>3</a:t>
            </a:r>
            <a:r>
              <a:rPr sz="1600" b="0">
                <a:solidFill>
                  <a:srgbClr val="031424"/>
                </a:solidFill>
                <a:latin typeface="DejaVu Sans Mono"/>
              </a:rPr>
              <a:t>]</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offset</a:t>
            </a:r>
          </a:p>
          <a:p>
            <a:pPr algn="l" marL="0" indent="0">
              <a:lnSpc>
                <a:spcPct val="104000"/>
              </a:lnSpc>
              <a:spcAft>
                <a:spcPts val="0"/>
              </a:spcAft>
            </a:pPr>
            <a:r>
              <a:rPr sz="1600" b="0">
                <a:solidFill>
                  <a:srgbClr val="031424"/>
                </a:solidFill>
                <a:latin typeface="DejaVu Sans Mono"/>
              </a:rPr>
              <a:t>command</a:t>
            </a:r>
            <a:r>
              <a:rPr sz="1600" b="0">
                <a:solidFill>
                  <a:srgbClr val="031424"/>
                </a:solidFill>
                <a:latin typeface="DejaVu Sans Mono"/>
              </a:rPr>
              <a:t> </a:t>
            </a:r>
            <a:r>
              <a:rPr sz="1600" b="0">
                <a:solidFill>
                  <a:srgbClr val="666666"/>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chain</a:t>
            </a:r>
            <a:r>
              <a:rPr sz="1600" b="0">
                <a:solidFill>
                  <a:srgbClr val="666666"/>
                </a:solidFill>
                <a:latin typeface="DejaVu Sans Mono"/>
              </a:rPr>
              <a:t>.</a:t>
            </a:r>
            <a:r>
              <a:rPr sz="1600" b="0">
                <a:solidFill>
                  <a:srgbClr val="031424"/>
                </a:solidFill>
                <a:latin typeface="DejaVu Sans Mono"/>
              </a:rPr>
              <a:t>step</a:t>
            </a:r>
            <a:r>
              <a:rPr sz="1600" b="0">
                <a:solidFill>
                  <a:srgbClr val="031424"/>
                </a:solidFill>
                <a:latin typeface="DejaVu Sans Mono"/>
              </a:rPr>
              <a:t>(</a:t>
            </a:r>
            <a:r>
              <a:rPr sz="1600" b="0">
                <a:solidFill>
                  <a:srgbClr val="031424"/>
                </a:solidFill>
                <a:latin typeface="DejaVu Sans Mono"/>
              </a:rPr>
              <a:t>q</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target</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lower</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upper</a:t>
            </a:r>
            <a:r>
              <a:rPr sz="1600" b="0">
                <a:solidFill>
                  <a:srgbClr val="031424"/>
                </a:solidFill>
                <a:latin typeface="DejaVu Sans Mono"/>
              </a:rPr>
              <a:t>,</a:t>
            </a:r>
            <a:r>
              <a:rPr sz="1600" b="0">
                <a:solidFill>
                  <a:srgbClr val="031424"/>
                </a:solidFill>
                <a:latin typeface="DejaVu Sans Mono"/>
              </a:rPr>
              <a:t> </a:t>
            </a:r>
            <a:r>
              <a:rPr sz="1600" b="0">
                <a:solidFill>
                  <a:srgbClr val="031424"/>
                </a:solidFill>
                <a:latin typeface="DejaVu Sans Mono"/>
              </a:rPr>
              <a:t>dt</a:t>
            </a:r>
            <a:r>
              <a:rPr sz="1600" b="0">
                <a:solidFill>
                  <a:srgbClr val="031424"/>
                </a:solidFill>
                <a:latin typeface="DejaVu Sans Mono"/>
              </a:rPr>
              <a:t>,</a:t>
            </a:r>
          </a:p>
          <a:p>
            <a:pPr algn="l" marL="0" indent="0">
              <a:lnSpc>
                <a:spcPct val="104000"/>
              </a:lnSpc>
              <a:spcAft>
                <a:spcPts val="0"/>
              </a:spcAft>
            </a:pP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tracking_gain</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damping_lambda</a:t>
            </a:r>
            <a:r>
              <a:rPr sz="1600" b="0">
                <a:solidFill>
                  <a:srgbClr val="031424"/>
                </a:solidFill>
                <a:latin typeface="DejaVu Sans Mono"/>
              </a:rPr>
              <a:t>,</a:t>
            </a:r>
            <a:r>
              <a:rPr sz="1600" b="0">
                <a:solidFill>
                  <a:srgbClr val="031424"/>
                </a:solidFill>
                <a:latin typeface="DejaVu Sans Mono"/>
              </a:rPr>
              <a:t> </a:t>
            </a:r>
            <a:r>
              <a:rPr sz="1600" b="0">
                <a:solidFill>
                  <a:srgbClr val="007020"/>
                </a:solidFill>
                <a:latin typeface="DejaVu Sans Mono"/>
              </a:rPr>
              <a:t>self</a:t>
            </a:r>
            <a:r>
              <a:rPr sz="1600" b="0">
                <a:solidFill>
                  <a:srgbClr val="666666"/>
                </a:solidFill>
                <a:latin typeface="DejaVu Sans Mono"/>
              </a:rPr>
              <a:t>.</a:t>
            </a:r>
            <a:r>
              <a:rPr sz="1600" b="0">
                <a:solidFill>
                  <a:srgbClr val="031424"/>
                </a:solidFill>
                <a:latin typeface="DejaVu Sans Mono"/>
              </a:rPr>
              <a:t>joint_speed</a:t>
            </a:r>
            <a:r>
              <a:rPr sz="1600" b="0">
                <a:solidFill>
                  <a:srgbClr val="031424"/>
                </a:solidFill>
                <a:latin typeface="DejaVu Sans Mono"/>
              </a:rPr>
              <a:t>)</a:t>
            </a:r>
          </a:p>
          <a:p>
            <a:pPr algn="l" marL="0" indent="0">
              <a:lnSpc>
                <a:spcPct val="104000"/>
              </a:lnSpc>
              <a:spcAft>
                <a:spcPts val="0"/>
              </a:spcAft>
            </a:pPr>
            <a:r>
              <a:rPr sz="1600" b="1">
                <a:solidFill>
                  <a:srgbClr val="007020"/>
                </a:solidFill>
                <a:latin typeface="DejaVu Sans Mono"/>
              </a:rPr>
              <a:t>return</a:t>
            </a:r>
            <a:r>
              <a:rPr sz="1600" b="0">
                <a:solidFill>
                  <a:srgbClr val="031424"/>
                </a:solidFill>
                <a:latin typeface="DejaVu Sans Mono"/>
              </a:rPr>
              <a:t> </a:t>
            </a:r>
            <a:r>
              <a:rPr sz="1600" b="0">
                <a:solidFill>
                  <a:srgbClr val="031424"/>
                </a:solidFill>
                <a:latin typeface="DejaVu Sans Mono"/>
              </a:rPr>
              <a:t>command</a:t>
            </a:r>
            <a:r>
              <a:rPr sz="1600" b="0">
                <a:solidFill>
                  <a:srgbClr val="666666"/>
                </a:solidFill>
                <a:latin typeface="DejaVu Sans Mono"/>
              </a:rPr>
              <a:t>.</a:t>
            </a:r>
            <a:r>
              <a:rPr sz="1600" b="0">
                <a:solidFill>
                  <a:srgbClr val="031424"/>
                </a:solidFill>
                <a:latin typeface="DejaVu Sans Mono"/>
              </a:rPr>
              <a:t>tolist</a:t>
            </a:r>
            <a:r>
              <a:rPr sz="1600" b="0">
                <a:solidFill>
                  <a:srgbClr val="031424"/>
                </a:solidFill>
                <a:latin typeface="DejaVu Sans Mono"/>
              </a:rPr>
              <a:t>(</a:t>
            </a:r>
            <a:r>
              <a:rPr sz="1600" b="0">
                <a:solidFill>
                  <a:srgbClr val="031424"/>
                </a:solidFill>
                <a:latin typeface="DejaVu Sans Mono"/>
              </a:rPr>
              <a:t>)</a:t>
            </a:r>
          </a:p>
          <a:p>
            <a:pPr algn="l" marL="0" indent="0">
              <a:lnSpc>
                <a:spcPct val="104000"/>
              </a:lnSpc>
              <a:spcAft>
                <a:spcPts val="0"/>
              </a:spcAft>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ros2_control: registration and activation</a:t>
            </a:r>
          </a:p>
        </p:txBody>
      </p:sp>
      <p:sp>
        <p:nvSpPr>
          <p:cNvPr id="208" name="TextBox 207"/>
          <p:cNvSpPr txBox="1"/>
          <p:nvPr/>
        </p:nvSpPr>
        <p:spPr>
          <a:xfrm>
            <a:off x="594360" y="1325880"/>
            <a:ext cx="5486400" cy="182880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300" b="1">
                <a:solidFill>
                  <a:srgbClr val="007020"/>
                </a:solidFill>
                <a:latin typeface="DejaVu Sans Mono"/>
              </a:rPr>
              <a:t>from</a:t>
            </a:r>
            <a:r>
              <a:rPr sz="1300" b="0">
                <a:solidFill>
                  <a:srgbClr val="031424"/>
                </a:solidFill>
                <a:latin typeface="DejaVu Sans Mono"/>
              </a:rPr>
              <a:t> </a:t>
            </a:r>
            <a:r>
              <a:rPr sz="1300" b="1">
                <a:solidFill>
                  <a:srgbClr val="0E84B5"/>
                </a:solidFill>
                <a:latin typeface="DejaVu Sans Mono"/>
              </a:rPr>
              <a:t>control_kit</a:t>
            </a:r>
            <a:r>
              <a:rPr sz="1300" b="1">
                <a:solidFill>
                  <a:srgbClr val="0E84B5"/>
                </a:solidFill>
                <a:latin typeface="DejaVu Sans Mono"/>
              </a:rPr>
              <a:t>.</a:t>
            </a:r>
            <a:r>
              <a:rPr sz="1300" b="1">
                <a:solidFill>
                  <a:srgbClr val="0E84B5"/>
                </a:solidFill>
                <a:latin typeface="DejaVu Sans Mono"/>
              </a:rPr>
              <a:t>python_control</a:t>
            </a:r>
            <a:r>
              <a:rPr sz="1300" b="0">
                <a:solidFill>
                  <a:srgbClr val="031424"/>
                </a:solidFill>
                <a:latin typeface="DejaVu Sans Mono"/>
              </a:rPr>
              <a:t> </a:t>
            </a:r>
            <a:r>
              <a:rPr sz="1300" b="1">
                <a:solidFill>
                  <a:srgbClr val="007020"/>
                </a:solidFill>
                <a:latin typeface="DejaVu Sans Mono"/>
              </a:rPr>
              <a:t>import</a:t>
            </a:r>
            <a:r>
              <a:rPr sz="1300" b="0">
                <a:solidFill>
                  <a:srgbClr val="031424"/>
                </a:solidFill>
                <a:latin typeface="DejaVu Sans Mono"/>
              </a:rPr>
              <a:t> </a:t>
            </a:r>
            <a:r>
              <a:rPr sz="1300" b="0">
                <a:solidFill>
                  <a:srgbClr val="031424"/>
                </a:solidFill>
                <a:latin typeface="DejaVu Sans Mono"/>
              </a:rPr>
              <a:t>(</a:t>
            </a:r>
          </a:p>
          <a:p>
            <a:pPr algn="l" marL="0" indent="0">
              <a:lnSpc>
                <a:spcPct val="104000"/>
              </a:lnSpc>
              <a:spcAft>
                <a:spcPts val="0"/>
              </a:spcAft>
            </a:pPr>
            <a:r>
              <a:rPr sz="1300" b="0">
                <a:solidFill>
                  <a:srgbClr val="031424"/>
                </a:solidFill>
                <a:latin typeface="DejaVu Sans Mono"/>
              </a:rPr>
              <a:t>    </a:t>
            </a:r>
            <a:r>
              <a:rPr sz="1300" b="0">
                <a:solidFill>
                  <a:srgbClr val="031424"/>
                </a:solidFill>
                <a:latin typeface="DejaVu Sans Mono"/>
              </a:rPr>
              <a:t>install_python_controller_plugin</a:t>
            </a:r>
            <a:r>
              <a:rPr sz="1300" b="0">
                <a:solidFill>
                  <a:srgbClr val="031424"/>
                </a:solidFill>
                <a:latin typeface="DejaVu Sans Mono"/>
              </a:rPr>
              <a:t>,</a:t>
            </a:r>
          </a:p>
          <a:p>
            <a:pPr algn="l" marL="0" indent="0">
              <a:lnSpc>
                <a:spcPct val="104000"/>
              </a:lnSpc>
              <a:spcAft>
                <a:spcPts val="0"/>
              </a:spcAft>
            </a:pPr>
            <a:r>
              <a:rPr sz="1300" b="0">
                <a:solidFill>
                  <a:srgbClr val="031424"/>
                </a:solidFill>
                <a:latin typeface="DejaVu Sans Mono"/>
              </a:rPr>
              <a:t>)</a:t>
            </a:r>
          </a:p>
          <a:p>
            <a:pPr algn="l" marL="0" indent="0">
              <a:lnSpc>
                <a:spcPct val="104000"/>
              </a:lnSpc>
              <a:spcAft>
                <a:spcPts val="0"/>
              </a:spcAft>
            </a:pPr>
            <a:r>
              <a:rPr sz="1300" b="0">
                <a:solidFill>
                  <a:srgbClr val="031424"/>
                </a:solidFill>
                <a:latin typeface="DejaVu Sans Mono"/>
              </a:rPr>
              <a:t>prefix</a:t>
            </a:r>
            <a:r>
              <a:rPr sz="1300" b="0">
                <a:solidFill>
                  <a:srgbClr val="031424"/>
                </a:solidFill>
                <a:latin typeface="DejaVu Sans Mono"/>
              </a:rPr>
              <a:t> </a:t>
            </a:r>
            <a:r>
              <a:rPr sz="1300" b="0">
                <a:solidFill>
                  <a:srgbClr val="666666"/>
                </a:solidFill>
                <a:latin typeface="DejaVu Sans Mono"/>
              </a:rPr>
              <a:t>=</a:t>
            </a:r>
            <a:r>
              <a:rPr sz="1300" b="0">
                <a:solidFill>
                  <a:srgbClr val="031424"/>
                </a:solidFill>
                <a:latin typeface="DejaVu Sans Mono"/>
              </a:rPr>
              <a:t> </a:t>
            </a:r>
            <a:r>
              <a:rPr sz="1300" b="0">
                <a:solidFill>
                  <a:srgbClr val="031424"/>
                </a:solidFill>
                <a:latin typeface="DejaVu Sans Mono"/>
              </a:rPr>
              <a:t>install_python_controller_plugin</a:t>
            </a:r>
            <a:r>
              <a:rPr sz="1300" b="0">
                <a:solidFill>
                  <a:srgbClr val="031424"/>
                </a:solidFill>
                <a:latin typeface="DejaVu Sans Mono"/>
              </a:rPr>
              <a:t>(</a:t>
            </a:r>
            <a:r>
              <a:rPr sz="1300" b="0">
                <a:solidFill>
                  <a:srgbClr val="031424"/>
                </a:solidFill>
                <a:latin typeface="DejaVu Sans Mono"/>
              </a:rPr>
              <a:t>overlay</a:t>
            </a:r>
            <a:r>
              <a:rPr sz="1300" b="0">
                <a:solidFill>
                  <a:srgbClr val="031424"/>
                </a:solidFill>
                <a:latin typeface="DejaVu Sans Mono"/>
              </a:rPr>
              <a:t>)</a:t>
            </a:r>
          </a:p>
          <a:p>
            <a:pPr algn="l" marL="0" indent="0">
              <a:lnSpc>
                <a:spcPct val="104000"/>
              </a:lnSpc>
              <a:spcAft>
                <a:spcPts val="0"/>
              </a:spcAft>
            </a:pPr>
            <a:r>
              <a:rPr sz="1300" b="0">
                <a:solidFill>
                  <a:srgbClr val="60A0B0"/>
                </a:solidFill>
                <a:latin typeface="DejaVu Sans Mono"/>
              </a:rPr>
              <a:t># Put prefix in AMENT_PREFIX_PATH</a:t>
            </a:r>
          </a:p>
          <a:p>
            <a:pPr algn="l" marL="0" indent="0">
              <a:lnSpc>
                <a:spcPct val="104000"/>
              </a:lnSpc>
              <a:spcAft>
                <a:spcPts val="0"/>
              </a:spcAft>
            </a:pPr>
            <a:r>
              <a:rPr sz="1300" b="0">
                <a:solidFill>
                  <a:srgbClr val="60A0B0"/>
                </a:solidFill>
                <a:latin typeface="DejaVu Sans Mono"/>
              </a:rPr>
              <a:t># before starting Gazebo.</a:t>
            </a:r>
          </a:p>
          <a:p>
            <a:pPr algn="l" marL="0" indent="0">
              <a:lnSpc>
                <a:spcPct val="104000"/>
              </a:lnSpc>
              <a:spcAft>
                <a:spcPts val="0"/>
              </a:spcAft>
            </a:pPr>
          </a:p>
        </p:txBody>
      </p:sp>
      <p:sp>
        <p:nvSpPr>
          <p:cNvPr id="209" name="TextBox 208"/>
          <p:cNvSpPr txBox="1"/>
          <p:nvPr/>
        </p:nvSpPr>
        <p:spPr>
          <a:xfrm>
            <a:off x="594360" y="3200400"/>
            <a:ext cx="5486400" cy="25603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300" b="0">
                <a:solidFill>
                  <a:srgbClr val="031424"/>
                </a:solidFill>
                <a:latin typeface="DejaVu Sans Mono"/>
              </a:rPr>
              <a:t>ros2</a:t>
            </a:r>
            <a:r>
              <a:rPr sz="1300" b="0">
                <a:solidFill>
                  <a:srgbClr val="BBBBBB"/>
                </a:solidFill>
                <a:latin typeface="DejaVu Sans Mono"/>
              </a:rPr>
              <a:t> </a:t>
            </a:r>
            <a:r>
              <a:rPr sz="1300" b="0">
                <a:solidFill>
                  <a:srgbClr val="031424"/>
                </a:solidFill>
                <a:latin typeface="DejaVu Sans Mono"/>
              </a:rPr>
              <a:t>run</a:t>
            </a:r>
            <a:r>
              <a:rPr sz="1300" b="0">
                <a:solidFill>
                  <a:srgbClr val="BBBBBB"/>
                </a:solidFill>
                <a:latin typeface="DejaVu Sans Mono"/>
              </a:rPr>
              <a:t> </a:t>
            </a:r>
            <a:r>
              <a:rPr sz="1300" b="0">
                <a:solidFill>
                  <a:srgbClr val="031424"/>
                </a:solidFill>
                <a:latin typeface="DejaVu Sans Mono"/>
              </a:rPr>
              <a:t>controller_manager</a:t>
            </a:r>
            <a:r>
              <a:rPr sz="1300" b="0">
                <a:solidFill>
                  <a:srgbClr val="BBBBBB"/>
                </a:solidFill>
                <a:latin typeface="DejaVu Sans Mono"/>
              </a:rPr>
              <a:t> </a:t>
            </a:r>
            <a:r>
              <a:rPr sz="1300" b="0">
                <a:solidFill>
                  <a:srgbClr val="031424"/>
                </a:solidFill>
                <a:latin typeface="DejaVu Sans Mono"/>
              </a:rPr>
              <a:t>spawner</a:t>
            </a:r>
            <a:r>
              <a:rPr sz="1300" b="0">
                <a:solidFill>
                  <a:srgbClr val="BBBBBB"/>
                </a:solidFill>
                <a:latin typeface="DejaVu Sans Mono"/>
              </a:rPr>
              <a:t> </a:t>
            </a:r>
            <a:r>
              <a:rPr sz="1300" b="1">
                <a:solidFill>
                  <a:srgbClr val="4070A0"/>
                </a:solidFill>
                <a:latin typeface="DejaVu Sans Mono"/>
              </a:rPr>
              <a:t>\</a:t>
            </a:r>
          </a:p>
          <a:p>
            <a:pPr algn="l" marL="0" indent="0">
              <a:lnSpc>
                <a:spcPct val="104000"/>
              </a:lnSpc>
              <a:spcAft>
                <a:spcPts val="0"/>
              </a:spcAft>
            </a:pPr>
            <a:r>
              <a:rPr sz="1300" b="0">
                <a:solidFill>
                  <a:srgbClr val="BBBBBB"/>
                </a:solidFill>
                <a:latin typeface="DejaVu Sans Mono"/>
              </a:rPr>
              <a:t>  </a:t>
            </a:r>
            <a:r>
              <a:rPr sz="1300" b="0">
                <a:solidFill>
                  <a:srgbClr val="031424"/>
                </a:solidFill>
                <a:latin typeface="DejaVu Sans Mono"/>
              </a:rPr>
              <a:t>cppyy_admittance_arm_left</a:t>
            </a:r>
            <a:r>
              <a:rPr sz="1300" b="0">
                <a:solidFill>
                  <a:srgbClr val="BBBBBB"/>
                </a:solidFill>
                <a:latin typeface="DejaVu Sans Mono"/>
              </a:rPr>
              <a:t> </a:t>
            </a:r>
            <a:r>
              <a:rPr sz="1300" b="1">
                <a:solidFill>
                  <a:srgbClr val="4070A0"/>
                </a:solidFill>
                <a:latin typeface="DejaVu Sans Mono"/>
              </a:rPr>
              <a:t>\</a:t>
            </a:r>
          </a:p>
          <a:p>
            <a:pPr algn="l" marL="0" indent="0">
              <a:lnSpc>
                <a:spcPct val="104000"/>
              </a:lnSpc>
              <a:spcAft>
                <a:spcPts val="0"/>
              </a:spcAft>
            </a:pPr>
            <a:r>
              <a:rPr sz="1300" b="0">
                <a:solidFill>
                  <a:srgbClr val="BBBBBB"/>
                </a:solidFill>
                <a:latin typeface="DejaVu Sans Mono"/>
              </a:rPr>
              <a:t>  </a:t>
            </a:r>
            <a:r>
              <a:rPr sz="1300" b="0">
                <a:solidFill>
                  <a:srgbClr val="031424"/>
                </a:solidFill>
                <a:latin typeface="DejaVu Sans Mono"/>
              </a:rPr>
              <a:t>-p</a:t>
            </a:r>
            <a:r>
              <a:rPr sz="1300" b="0">
                <a:solidFill>
                  <a:srgbClr val="BBBBBB"/>
                </a:solidFill>
                <a:latin typeface="DejaVu Sans Mono"/>
              </a:rPr>
              <a:t> </a:t>
            </a:r>
            <a:r>
              <a:rPr sz="1300" b="0">
                <a:solidFill>
                  <a:srgbClr val="031424"/>
                </a:solidFill>
                <a:latin typeface="DejaVu Sans Mono"/>
              </a:rPr>
              <a:t>controller.yaml</a:t>
            </a:r>
            <a:r>
              <a:rPr sz="1300" b="0">
                <a:solidFill>
                  <a:srgbClr val="BBBBBB"/>
                </a:solidFill>
                <a:latin typeface="DejaVu Sans Mono"/>
              </a:rPr>
              <a:t> </a:t>
            </a:r>
            <a:r>
              <a:rPr sz="1300" b="0">
                <a:solidFill>
                  <a:srgbClr val="031424"/>
                </a:solidFill>
                <a:latin typeface="DejaVu Sans Mono"/>
              </a:rPr>
              <a:t>--inactive</a:t>
            </a:r>
          </a:p>
          <a:p>
            <a:pPr algn="l" marL="0" indent="0">
              <a:lnSpc>
                <a:spcPct val="104000"/>
              </a:lnSpc>
              <a:spcAft>
                <a:spcPts val="0"/>
              </a:spcAft>
            </a:pPr>
          </a:p>
          <a:p>
            <a:pPr algn="l" marL="0" indent="0">
              <a:lnSpc>
                <a:spcPct val="104000"/>
              </a:lnSpc>
              <a:spcAft>
                <a:spcPts val="0"/>
              </a:spcAft>
            </a:pPr>
            <a:r>
              <a:rPr sz="1300" b="0">
                <a:solidFill>
                  <a:srgbClr val="031424"/>
                </a:solidFill>
                <a:latin typeface="DejaVu Sans Mono"/>
              </a:rPr>
              <a:t>ros2</a:t>
            </a:r>
            <a:r>
              <a:rPr sz="1300" b="0">
                <a:solidFill>
                  <a:srgbClr val="BBBBBB"/>
                </a:solidFill>
                <a:latin typeface="DejaVu Sans Mono"/>
              </a:rPr>
              <a:t> </a:t>
            </a:r>
            <a:r>
              <a:rPr sz="1300" b="0">
                <a:solidFill>
                  <a:srgbClr val="031424"/>
                </a:solidFill>
                <a:latin typeface="DejaVu Sans Mono"/>
              </a:rPr>
              <a:t>control</a:t>
            </a:r>
            <a:r>
              <a:rPr sz="1300" b="0">
                <a:solidFill>
                  <a:srgbClr val="BBBBBB"/>
                </a:solidFill>
                <a:latin typeface="DejaVu Sans Mono"/>
              </a:rPr>
              <a:t> </a:t>
            </a:r>
            <a:r>
              <a:rPr sz="1300" b="0">
                <a:solidFill>
                  <a:srgbClr val="031424"/>
                </a:solidFill>
                <a:latin typeface="DejaVu Sans Mono"/>
              </a:rPr>
              <a:t>switch_controllers</a:t>
            </a:r>
            <a:r>
              <a:rPr sz="1300" b="0">
                <a:solidFill>
                  <a:srgbClr val="BBBBBB"/>
                </a:solidFill>
                <a:latin typeface="DejaVu Sans Mono"/>
              </a:rPr>
              <a:t> </a:t>
            </a:r>
            <a:r>
              <a:rPr sz="1300" b="0">
                <a:solidFill>
                  <a:srgbClr val="031424"/>
                </a:solidFill>
                <a:latin typeface="DejaVu Sans Mono"/>
              </a:rPr>
              <a:t>--strict</a:t>
            </a:r>
            <a:r>
              <a:rPr sz="1300" b="0">
                <a:solidFill>
                  <a:srgbClr val="BBBBBB"/>
                </a:solidFill>
                <a:latin typeface="DejaVu Sans Mono"/>
              </a:rPr>
              <a:t> </a:t>
            </a:r>
            <a:r>
              <a:rPr sz="1300" b="1">
                <a:solidFill>
                  <a:srgbClr val="4070A0"/>
                </a:solidFill>
                <a:latin typeface="DejaVu Sans Mono"/>
              </a:rPr>
              <a:t>\</a:t>
            </a:r>
          </a:p>
          <a:p>
            <a:pPr algn="l" marL="0" indent="0">
              <a:lnSpc>
                <a:spcPct val="104000"/>
              </a:lnSpc>
              <a:spcAft>
                <a:spcPts val="0"/>
              </a:spcAft>
            </a:pPr>
            <a:r>
              <a:rPr sz="1300" b="0">
                <a:solidFill>
                  <a:srgbClr val="BBBBBB"/>
                </a:solidFill>
                <a:latin typeface="DejaVu Sans Mono"/>
              </a:rPr>
              <a:t>  </a:t>
            </a:r>
            <a:r>
              <a:rPr sz="1300" b="0">
                <a:solidFill>
                  <a:srgbClr val="031424"/>
                </a:solidFill>
                <a:latin typeface="DejaVu Sans Mono"/>
              </a:rPr>
              <a:t>--activate</a:t>
            </a:r>
            <a:r>
              <a:rPr sz="1300" b="0">
                <a:solidFill>
                  <a:srgbClr val="BBBBBB"/>
                </a:solidFill>
                <a:latin typeface="DejaVu Sans Mono"/>
              </a:rPr>
              <a:t> </a:t>
            </a:r>
            <a:r>
              <a:rPr sz="1300" b="0">
                <a:solidFill>
                  <a:srgbClr val="031424"/>
                </a:solidFill>
                <a:latin typeface="DejaVu Sans Mono"/>
              </a:rPr>
              <a:t>cppyy_admittance_arm_left</a:t>
            </a:r>
            <a:r>
              <a:rPr sz="1300" b="0">
                <a:solidFill>
                  <a:srgbClr val="BBBBBB"/>
                </a:solidFill>
                <a:latin typeface="DejaVu Sans Mono"/>
              </a:rPr>
              <a:t> </a:t>
            </a:r>
            <a:r>
              <a:rPr sz="1300" b="1">
                <a:solidFill>
                  <a:srgbClr val="4070A0"/>
                </a:solidFill>
                <a:latin typeface="DejaVu Sans Mono"/>
              </a:rPr>
              <a:t>\</a:t>
            </a:r>
          </a:p>
          <a:p>
            <a:pPr algn="l" marL="0" indent="0">
              <a:lnSpc>
                <a:spcPct val="104000"/>
              </a:lnSpc>
              <a:spcAft>
                <a:spcPts val="0"/>
              </a:spcAft>
            </a:pPr>
            <a:r>
              <a:rPr sz="1300" b="0">
                <a:solidFill>
                  <a:srgbClr val="BBBBBB"/>
                </a:solidFill>
                <a:latin typeface="DejaVu Sans Mono"/>
              </a:rPr>
              <a:t>  </a:t>
            </a:r>
            <a:r>
              <a:rPr sz="1300" b="0">
                <a:solidFill>
                  <a:srgbClr val="031424"/>
                </a:solidFill>
                <a:latin typeface="DejaVu Sans Mono"/>
              </a:rPr>
              <a:t>--deactivate</a:t>
            </a:r>
            <a:r>
              <a:rPr sz="1300" b="0">
                <a:solidFill>
                  <a:srgbClr val="BBBBBB"/>
                </a:solidFill>
                <a:latin typeface="DejaVu Sans Mono"/>
              </a:rPr>
              <a:t> </a:t>
            </a:r>
            <a:r>
              <a:rPr sz="1300" b="0">
                <a:solidFill>
                  <a:srgbClr val="031424"/>
                </a:solidFill>
                <a:latin typeface="DejaVu Sans Mono"/>
              </a:rPr>
              <a:t>arm_left_controller</a:t>
            </a:r>
          </a:p>
          <a:p>
            <a:pPr algn="l" marL="0" indent="0">
              <a:lnSpc>
                <a:spcPct val="104000"/>
              </a:lnSpc>
              <a:spcAft>
                <a:spcPts val="0"/>
              </a:spcAft>
            </a:pPr>
          </a:p>
        </p:txBody>
      </p:sp>
      <p:sp>
        <p:nvSpPr>
          <p:cNvPr id="210" name="TextBox 209"/>
          <p:cNvSpPr txBox="1"/>
          <p:nvPr/>
        </p:nvSpPr>
        <p:spPr>
          <a:xfrm>
            <a:off x="6400800" y="1325880"/>
            <a:ext cx="5303520" cy="53035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200" b="1">
                <a:solidFill>
                  <a:srgbClr val="062873"/>
                </a:solidFill>
                <a:latin typeface="DejaVu Sans Mono"/>
              </a:rPr>
              <a:t>cppyy_admittance_arm_left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ros__parameters</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type</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control_kit_python/PythonController</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joints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a:t>
            </a:r>
            <a:r>
              <a:rPr sz="1200" b="0">
                <a:solidFill>
                  <a:srgbClr val="BB60D5"/>
                </a:solidFill>
                <a:latin typeface="DejaVu Sans Mono"/>
              </a:rPr>
              <a:t>arm_left_1_joint</a:t>
            </a:r>
            <a:r>
              <a:rPr sz="1200" b="0">
                <a:solidFill>
                  <a:srgbClr val="031424"/>
                </a:solidFill>
                <a:latin typeface="DejaVu Sans Mono"/>
              </a:rPr>
              <a:t>,</a:t>
            </a:r>
            <a:r>
              <a:rPr sz="1200" b="0">
                <a:solidFill>
                  <a:srgbClr val="BBBBBB"/>
                </a:solidFill>
                <a:latin typeface="DejaVu Sans Mono"/>
              </a:rPr>
              <a:t> </a:t>
            </a:r>
            <a:r>
              <a:rPr sz="1200" b="0">
                <a:solidFill>
                  <a:srgbClr val="BB60D5"/>
                </a:solidFill>
                <a:latin typeface="DejaVu Sans Mono"/>
              </a:rPr>
              <a:t>arm_left_2_joint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0">
                <a:solidFill>
                  <a:srgbClr val="BB60D5"/>
                </a:solidFill>
                <a:latin typeface="DejaVu Sans Mono"/>
              </a:rPr>
              <a:t>arm_left_3_joint</a:t>
            </a:r>
            <a:r>
              <a:rPr sz="1200" b="0">
                <a:solidFill>
                  <a:srgbClr val="031424"/>
                </a:solidFill>
                <a:latin typeface="DejaVu Sans Mono"/>
              </a:rPr>
              <a:t>,</a:t>
            </a:r>
            <a:r>
              <a:rPr sz="1200" b="0">
                <a:solidFill>
                  <a:srgbClr val="BBBBBB"/>
                </a:solidFill>
                <a:latin typeface="DejaVu Sans Mono"/>
              </a:rPr>
              <a:t> </a:t>
            </a:r>
            <a:r>
              <a:rPr sz="1200" b="0">
                <a:solidFill>
                  <a:srgbClr val="BB60D5"/>
                </a:solidFill>
                <a:latin typeface="DejaVu Sans Mono"/>
              </a:rPr>
              <a:t>arm_left_4_joint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0">
                <a:solidFill>
                  <a:srgbClr val="BB60D5"/>
                </a:solidFill>
                <a:latin typeface="DejaVu Sans Mono"/>
              </a:rPr>
              <a:t>arm_left_5_joint</a:t>
            </a:r>
            <a:r>
              <a:rPr sz="1200" b="0">
                <a:solidFill>
                  <a:srgbClr val="031424"/>
                </a:solidFill>
                <a:latin typeface="DejaVu Sans Mono"/>
              </a:rPr>
              <a:t>,</a:t>
            </a:r>
            <a:r>
              <a:rPr sz="1200" b="0">
                <a:solidFill>
                  <a:srgbClr val="BBBBBB"/>
                </a:solidFill>
                <a:latin typeface="DejaVu Sans Mono"/>
              </a:rPr>
              <a:t> </a:t>
            </a:r>
            <a:r>
              <a:rPr sz="1200" b="0">
                <a:solidFill>
                  <a:srgbClr val="BB60D5"/>
                </a:solidFill>
                <a:latin typeface="DejaVu Sans Mono"/>
              </a:rPr>
              <a:t>arm_left_6_joint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0">
                <a:solidFill>
                  <a:srgbClr val="BB60D5"/>
                </a:solidFill>
                <a:latin typeface="DejaVu Sans Mono"/>
              </a:rPr>
              <a:t>arm_left_7_joint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python_module</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python_admittance_controller</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python_class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CartesianAdmittance</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python_path</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/path/to/control_kit/demos</a:t>
            </a:r>
          </a:p>
          <a:p>
            <a:pPr algn="l" marL="0" indent="0">
              <a:lnSpc>
                <a:spcPct val="104000"/>
              </a:lnSpc>
              <a:spcAft>
                <a:spcPts val="0"/>
              </a:spcAft>
            </a:pPr>
            <a:r>
              <a:rPr sz="1200" b="0">
                <a:solidFill>
                  <a:srgbClr val="BBBBBB"/>
                </a:solidFill>
                <a:latin typeface="DejaVu Sans Mono"/>
              </a:rPr>
              <a:t>    </a:t>
            </a:r>
            <a:r>
              <a:rPr sz="1200" b="1">
                <a:solidFill>
                  <a:srgbClr val="062873"/>
                </a:solidFill>
                <a:latin typeface="DejaVu Sans Mono"/>
              </a:rPr>
              <a:t>python_options</a:t>
            </a:r>
            <a:r>
              <a:rPr sz="1200" b="0">
                <a:solidFill>
                  <a:srgbClr val="031424"/>
                </a:solidFill>
                <a:latin typeface="DejaVu Sans Mono"/>
              </a:rPr>
              <a:t>:</a:t>
            </a:r>
            <a:r>
              <a:rPr sz="1200" b="0">
                <a:solidFill>
                  <a:srgbClr val="BBBBBB"/>
                </a:solidFill>
                <a:latin typeface="DejaVu Sans Mono"/>
              </a:rPr>
              <a:t> </a:t>
            </a:r>
            <a:r>
              <a:rPr sz="1200" b="0">
                <a:solidFill>
                  <a:srgbClr val="031424"/>
                </a:solidFill>
                <a:latin typeface="DejaVu Sans Mono"/>
              </a:rPr>
              <a:t>&gt;</a:t>
            </a:r>
            <a:r>
              <a:rPr sz="1200" b="0">
                <a:solidFill>
                  <a:srgbClr val="031424"/>
                </a:solidFill>
                <a:latin typeface="DejaVu Sans Mono"/>
              </a:rPr>
              <a:t>-</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{"urdf_path": "/path/to/robot.urdf",</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"base_link": "torso_lift_link",</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"tip_link": "gripper_left_grasping_link",</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"lower_limits": [...],</a:t>
            </a:r>
          </a:p>
          <a:p>
            <a:pPr algn="l" marL="0" indent="0">
              <a:lnSpc>
                <a:spcPct val="104000"/>
              </a:lnSpc>
              <a:spcAft>
                <a:spcPts val="0"/>
              </a:spcAft>
            </a:pPr>
            <a:r>
              <a:rPr sz="1200" b="0">
                <a:solidFill>
                  <a:srgbClr val="BBBBBB"/>
                </a:solidFill>
                <a:latin typeface="DejaVu Sans Mono"/>
              </a:rPr>
              <a:t>       </a:t>
            </a:r>
            <a:r>
              <a:rPr sz="1200" b="0">
                <a:solidFill>
                  <a:srgbClr val="60ADD5"/>
                </a:solidFill>
                <a:latin typeface="DejaVu Sans Mono"/>
              </a:rPr>
              <a:t>"upper_limits": [...]}</a:t>
            </a:r>
          </a:p>
          <a:p>
            <a:pPr algn="l" marL="0" indent="0">
              <a:lnSpc>
                <a:spcPct val="104000"/>
              </a:lnSpc>
              <a:spcAft>
                <a:spcPts val="0"/>
              </a:spcAft>
            </a:pPr>
          </a:p>
        </p:txBody>
      </p:sp>
      <p:sp>
        <p:nvSpPr>
          <p:cNvPr id="211" name="TextBox 210"/>
          <p:cNvSpPr txBox="1"/>
          <p:nvPr/>
        </p:nvSpPr>
        <p:spPr>
          <a:xfrm>
            <a:off x="594360" y="5989320"/>
            <a:ext cx="10972800" cy="411480"/>
          </a:xfrm>
          <a:prstGeom prst="rect">
            <a:avLst/>
          </a:prstGeom>
          <a:noFill/>
        </p:spPr>
        <p:txBody>
          <a:bodyPr wrap="square" lIns="0" rIns="0">
            <a:noAutofit/>
          </a:bodyPr>
          <a:lstStyle/>
          <a:p>
            <a:pPr algn="l">
              <a:spcAft>
                <a:spcPts val="500"/>
              </a:spcAft>
              <a:defRPr sz="1800" b="0">
                <a:solidFill>
                  <a:srgbClr val="031424"/>
                </a:solidFill>
                <a:latin typeface="Roboto"/>
              </a:defRPr>
            </a:pPr>
            <a:r>
              <a:t>The launcher fills the paths and joint limits, loads the controller and restores it on exit.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Same Python interface: arm admittance</a:t>
            </a:r>
          </a:p>
        </p:txBody>
      </p:sp>
      <p:sp>
        <p:nvSpPr>
          <p:cNvPr id="211" name="TextBox 210"/>
          <p:cNvSpPr txBox="1"/>
          <p:nvPr/>
        </p:nvSpPr>
        <p:spPr>
          <a:xfrm>
            <a:off x="640080" y="5897880"/>
            <a:ext cx="10972800" cy="45720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800" b="0">
                <a:solidFill>
                  <a:srgbClr val="031424"/>
                </a:solidFill>
                <a:latin typeface="DejaVu Sans Mono"/>
              </a:rPr>
              <a:t>./roscon_uk_2026/run_robot_demo.sh</a:t>
            </a:r>
            <a:r>
              <a:rPr sz="1800" b="0">
                <a:solidFill>
                  <a:srgbClr val="BBBBBB"/>
                </a:solidFill>
                <a:latin typeface="DejaVu Sans Mono"/>
              </a:rPr>
              <a:t> </a:t>
            </a:r>
            <a:r>
              <a:rPr sz="1800" b="0">
                <a:solidFill>
                  <a:srgbClr val="031424"/>
                </a:solidFill>
                <a:latin typeface="DejaVu Sans Mono"/>
              </a:rPr>
              <a:t>admittance</a:t>
            </a:r>
          </a:p>
          <a:p>
            <a:pPr algn="l" marL="0" indent="0">
              <a:lnSpc>
                <a:spcPct val="104000"/>
              </a:lnSpc>
              <a:spcAft>
                <a:spcPts val="0"/>
              </a:spcAft>
            </a:pPr>
          </a:p>
        </p:txBody>
      </p:sp>
      <p:pic>
        <p:nvPicPr>
          <p:cNvPr id="212" name="controller_admittance.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569464" y="1280160"/>
            <a:ext cx="7022592" cy="438912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2"/>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Controller code: configuration and limits</a:t>
            </a:r>
          </a:p>
        </p:txBody>
      </p:sp>
      <p:sp>
        <p:nvSpPr>
          <p:cNvPr id="208" name="TextBox 207"/>
          <p:cNvSpPr txBox="1"/>
          <p:nvPr/>
        </p:nvSpPr>
        <p:spPr>
          <a:xfrm>
            <a:off x="640080" y="1234440"/>
            <a:ext cx="10972800" cy="53035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250" b="1">
                <a:solidFill>
                  <a:srgbClr val="007020"/>
                </a:solidFill>
                <a:latin typeface="DejaVu Sans Mono"/>
              </a:rPr>
              <a:t>import</a:t>
            </a:r>
            <a:r>
              <a:rPr sz="1250" b="0">
                <a:solidFill>
                  <a:srgbClr val="031424"/>
                </a:solidFill>
                <a:latin typeface="DejaVu Sans Mono"/>
              </a:rPr>
              <a:t> </a:t>
            </a:r>
            <a:r>
              <a:rPr sz="1250" b="1">
                <a:solidFill>
                  <a:srgbClr val="0E84B5"/>
                </a:solidFill>
                <a:latin typeface="DejaVu Sans Mono"/>
              </a:rPr>
              <a:t>math</a:t>
            </a:r>
          </a:p>
          <a:p>
            <a:pPr algn="l" marL="0" indent="0">
              <a:lnSpc>
                <a:spcPct val="104000"/>
              </a:lnSpc>
              <a:spcAft>
                <a:spcPts val="0"/>
              </a:spcAft>
            </a:pPr>
            <a:r>
              <a:rPr sz="1250" b="1">
                <a:solidFill>
                  <a:srgbClr val="007020"/>
                </a:solidFill>
                <a:latin typeface="DejaVu Sans Mono"/>
              </a:rPr>
              <a:t>import</a:t>
            </a:r>
            <a:r>
              <a:rPr sz="1250" b="0">
                <a:solidFill>
                  <a:srgbClr val="031424"/>
                </a:solidFill>
                <a:latin typeface="DejaVu Sans Mono"/>
              </a:rPr>
              <a:t> </a:t>
            </a:r>
            <a:r>
              <a:rPr sz="1250" b="1">
                <a:solidFill>
                  <a:srgbClr val="0E84B5"/>
                </a:solidFill>
                <a:latin typeface="DejaVu Sans Mono"/>
              </a:rPr>
              <a:t>numpy</a:t>
            </a:r>
            <a:r>
              <a:rPr sz="1250" b="0">
                <a:solidFill>
                  <a:srgbClr val="031424"/>
                </a:solidFill>
                <a:latin typeface="DejaVu Sans Mono"/>
              </a:rPr>
              <a:t> </a:t>
            </a:r>
            <a:r>
              <a:rPr sz="1250" b="1">
                <a:solidFill>
                  <a:srgbClr val="007020"/>
                </a:solidFill>
                <a:latin typeface="DejaVu Sans Mono"/>
              </a:rPr>
              <a:t>as</a:t>
            </a:r>
            <a:r>
              <a:rPr sz="1250" b="0">
                <a:solidFill>
                  <a:srgbClr val="031424"/>
                </a:solidFill>
                <a:latin typeface="DejaVu Sans Mono"/>
              </a:rPr>
              <a:t> </a:t>
            </a:r>
            <a:r>
              <a:rPr sz="1250" b="1">
                <a:solidFill>
                  <a:srgbClr val="0E84B5"/>
                </a:solidFill>
                <a:latin typeface="DejaVu Sans Mono"/>
              </a:rPr>
              <a:t>np</a:t>
            </a:r>
          </a:p>
          <a:p>
            <a:pPr algn="l" marL="0" indent="0">
              <a:lnSpc>
                <a:spcPct val="104000"/>
              </a:lnSpc>
              <a:spcAft>
                <a:spcPts val="0"/>
              </a:spcAft>
            </a:pPr>
            <a:r>
              <a:rPr sz="1250" b="1">
                <a:solidFill>
                  <a:srgbClr val="007020"/>
                </a:solidFill>
                <a:latin typeface="DejaVu Sans Mono"/>
              </a:rPr>
              <a:t>from</a:t>
            </a:r>
            <a:r>
              <a:rPr sz="1250" b="0">
                <a:solidFill>
                  <a:srgbClr val="031424"/>
                </a:solidFill>
                <a:latin typeface="DejaVu Sans Mono"/>
              </a:rPr>
              <a:t> </a:t>
            </a:r>
            <a:r>
              <a:rPr sz="1250" b="1">
                <a:solidFill>
                  <a:srgbClr val="0E84B5"/>
                </a:solidFill>
                <a:latin typeface="DejaVu Sans Mono"/>
              </a:rPr>
              <a:t>control_kit</a:t>
            </a:r>
            <a:r>
              <a:rPr sz="1250" b="1">
                <a:solidFill>
                  <a:srgbClr val="0E84B5"/>
                </a:solidFill>
                <a:latin typeface="DejaVu Sans Mono"/>
              </a:rPr>
              <a:t>.</a:t>
            </a:r>
            <a:r>
              <a:rPr sz="1250" b="1">
                <a:solidFill>
                  <a:srgbClr val="0E84B5"/>
                </a:solidFill>
                <a:latin typeface="DejaVu Sans Mono"/>
              </a:rPr>
              <a:t>admittance</a:t>
            </a:r>
            <a:r>
              <a:rPr sz="1250" b="0">
                <a:solidFill>
                  <a:srgbClr val="031424"/>
                </a:solidFill>
                <a:latin typeface="DejaVu Sans Mono"/>
              </a:rPr>
              <a:t> </a:t>
            </a:r>
            <a:r>
              <a:rPr sz="1250" b="1">
                <a:solidFill>
                  <a:srgbClr val="007020"/>
                </a:solidFill>
                <a:latin typeface="DejaVu Sans Mono"/>
              </a:rPr>
              <a:t>import</a:t>
            </a:r>
            <a:r>
              <a:rPr sz="1250" b="0">
                <a:solidFill>
                  <a:srgbClr val="031424"/>
                </a:solidFill>
                <a:latin typeface="DejaVu Sans Mono"/>
              </a:rPr>
              <a:t> </a:t>
            </a:r>
            <a:r>
              <a:rPr sz="1250" b="0">
                <a:solidFill>
                  <a:srgbClr val="031424"/>
                </a:solidFill>
                <a:latin typeface="DejaVu Sans Mono"/>
              </a:rPr>
              <a:t>Chain</a:t>
            </a:r>
          </a:p>
          <a:p>
            <a:pPr algn="l" marL="0" indent="0">
              <a:lnSpc>
                <a:spcPct val="104000"/>
              </a:lnSpc>
              <a:spcAft>
                <a:spcPts val="0"/>
              </a:spcAft>
            </a:pPr>
          </a:p>
          <a:p>
            <a:pPr algn="l" marL="0" indent="0">
              <a:lnSpc>
                <a:spcPct val="104000"/>
              </a:lnSpc>
              <a:spcAft>
                <a:spcPts val="0"/>
              </a:spcAft>
            </a:pPr>
            <a:r>
              <a:rPr sz="1250" b="1">
                <a:solidFill>
                  <a:srgbClr val="007020"/>
                </a:solidFill>
                <a:latin typeface="DejaVu Sans Mono"/>
              </a:rPr>
              <a:t>class</a:t>
            </a:r>
            <a:r>
              <a:rPr sz="1250" b="0">
                <a:solidFill>
                  <a:srgbClr val="031424"/>
                </a:solidFill>
                <a:latin typeface="DejaVu Sans Mono"/>
              </a:rPr>
              <a:t> </a:t>
            </a:r>
            <a:r>
              <a:rPr sz="1250" b="1">
                <a:solidFill>
                  <a:srgbClr val="0E84B5"/>
                </a:solidFill>
                <a:latin typeface="DejaVu Sans Mono"/>
              </a:rPr>
              <a:t>CartesianAdmittance</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def</a:t>
            </a:r>
            <a:r>
              <a:rPr sz="1250" b="0">
                <a:solidFill>
                  <a:srgbClr val="031424"/>
                </a:solidFill>
                <a:latin typeface="DejaVu Sans Mono"/>
              </a:rPr>
              <a:t> </a:t>
            </a:r>
            <a:r>
              <a:rPr sz="1250" b="0">
                <a:solidFill>
                  <a:srgbClr val="06287E"/>
                </a:solidFill>
                <a:latin typeface="DejaVu Sans Mono"/>
              </a:rPr>
              <a:t>configure</a:t>
            </a:r>
            <a:r>
              <a:rPr sz="1250" b="0">
                <a:solidFill>
                  <a:srgbClr val="031424"/>
                </a:solidFill>
                <a:latin typeface="DejaVu Sans Mono"/>
              </a:rPr>
              <a:t>(</a:t>
            </a:r>
            <a:r>
              <a:rPr sz="1250" b="0">
                <a:solidFill>
                  <a:srgbClr val="007020"/>
                </a:solidFill>
                <a:latin typeface="DejaVu Sans Mono"/>
              </a:rPr>
              <a:t>self</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joint_names</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options</a:t>
            </a:r>
            <a:r>
              <a:rPr sz="1250" b="0">
                <a:solidFill>
                  <a:srgbClr val="031424"/>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joints</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07020"/>
                </a:solidFill>
                <a:latin typeface="DejaVu Sans Mono"/>
              </a:rPr>
              <a:t>list</a:t>
            </a:r>
            <a:r>
              <a:rPr sz="1250" b="0">
                <a:solidFill>
                  <a:srgbClr val="031424"/>
                </a:solidFill>
                <a:latin typeface="DejaVu Sans Mono"/>
              </a:rPr>
              <a:t>(</a:t>
            </a:r>
            <a:r>
              <a:rPr sz="1250" b="0">
                <a:solidFill>
                  <a:srgbClr val="031424"/>
                </a:solidFill>
                <a:latin typeface="DejaVu Sans Mono"/>
              </a:rPr>
              <a:t>joint_names</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31424"/>
                </a:solidFill>
                <a:latin typeface="DejaVu Sans Mono"/>
              </a:rPr>
              <a:t>defaults</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mass</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2.0</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damping</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30.0</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stiffness</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80.0</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max_displacement</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0.03</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max_cartesian_speed</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0.06</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joint_speed</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0.10</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tracking_gain</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4.0</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damping_lambda</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0.04</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force_timeout</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0.3</a:t>
            </a:r>
            <a:r>
              <a:rPr sz="1250" b="0">
                <a:solidFill>
                  <a:srgbClr val="031424"/>
                </a:solidFill>
                <a:latin typeface="DejaVu Sans Mono"/>
              </a:rPr>
              <a:t>,</a:t>
            </a:r>
            <a:r>
              <a:rPr sz="1250" b="0">
                <a:solidFill>
                  <a:srgbClr val="031424"/>
                </a:solidFill>
                <a:latin typeface="DejaVu Sans Mono"/>
              </a:rPr>
              <a:t> </a:t>
            </a:r>
            <a:r>
              <a:rPr sz="1250" b="0">
                <a:solidFill>
                  <a:srgbClr val="4070A0"/>
                </a:solidFill>
                <a:latin typeface="DejaVu Sans Mono"/>
              </a:rPr>
              <a:t>"</a:t>
            </a:r>
            <a:r>
              <a:rPr sz="1250" b="0">
                <a:solidFill>
                  <a:srgbClr val="4070A0"/>
                </a:solidFill>
                <a:latin typeface="DejaVu Sans Mono"/>
              </a:rPr>
              <a:t>max_force</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40A070"/>
                </a:solidFill>
                <a:latin typeface="DejaVu Sans Mono"/>
              </a:rPr>
              <a:t>20.0</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for</a:t>
            </a:r>
            <a:r>
              <a:rPr sz="1250" b="0">
                <a:solidFill>
                  <a:srgbClr val="031424"/>
                </a:solidFill>
                <a:latin typeface="DejaVu Sans Mono"/>
              </a:rPr>
              <a:t> </a:t>
            </a:r>
            <a:r>
              <a:rPr sz="1250" b="0">
                <a:solidFill>
                  <a:srgbClr val="031424"/>
                </a:solidFill>
                <a:latin typeface="DejaVu Sans Mono"/>
              </a:rPr>
              <a:t>key</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default</a:t>
            </a:r>
            <a:r>
              <a:rPr sz="1250" b="0">
                <a:solidFill>
                  <a:srgbClr val="031424"/>
                </a:solidFill>
                <a:latin typeface="DejaVu Sans Mono"/>
              </a:rPr>
              <a:t> </a:t>
            </a:r>
            <a:r>
              <a:rPr sz="1250" b="1">
                <a:solidFill>
                  <a:srgbClr val="007020"/>
                </a:solidFill>
                <a:latin typeface="DejaVu Sans Mono"/>
              </a:rPr>
              <a:t>in</a:t>
            </a:r>
            <a:r>
              <a:rPr sz="1250" b="0">
                <a:solidFill>
                  <a:srgbClr val="031424"/>
                </a:solidFill>
                <a:latin typeface="DejaVu Sans Mono"/>
              </a:rPr>
              <a:t> </a:t>
            </a:r>
            <a:r>
              <a:rPr sz="1250" b="0">
                <a:solidFill>
                  <a:srgbClr val="031424"/>
                </a:solidFill>
                <a:latin typeface="DejaVu Sans Mono"/>
              </a:rPr>
              <a:t>defaults</a:t>
            </a:r>
            <a:r>
              <a:rPr sz="1250" b="0">
                <a:solidFill>
                  <a:srgbClr val="666666"/>
                </a:solidFill>
                <a:latin typeface="DejaVu Sans Mono"/>
              </a:rPr>
              <a:t>.</a:t>
            </a:r>
            <a:r>
              <a:rPr sz="1250" b="0">
                <a:solidFill>
                  <a:srgbClr val="031424"/>
                </a:solidFill>
                <a:latin typeface="DejaVu Sans Mono"/>
              </a:rPr>
              <a:t>items</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31424"/>
                </a:solidFill>
                <a:latin typeface="DejaVu Sans Mono"/>
              </a:rPr>
              <a:t>value</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07020"/>
                </a:solidFill>
                <a:latin typeface="DejaVu Sans Mono"/>
              </a:rPr>
              <a:t>float</a:t>
            </a:r>
            <a:r>
              <a:rPr sz="1250" b="0">
                <a:solidFill>
                  <a:srgbClr val="031424"/>
                </a:solidFill>
                <a:latin typeface="DejaVu Sans Mono"/>
              </a:rPr>
              <a:t>(</a:t>
            </a:r>
            <a:r>
              <a:rPr sz="1250" b="0">
                <a:solidFill>
                  <a:srgbClr val="031424"/>
                </a:solidFill>
                <a:latin typeface="DejaVu Sans Mono"/>
              </a:rPr>
              <a:t>options</a:t>
            </a:r>
            <a:r>
              <a:rPr sz="1250" b="0">
                <a:solidFill>
                  <a:srgbClr val="666666"/>
                </a:solidFill>
                <a:latin typeface="DejaVu Sans Mono"/>
              </a:rPr>
              <a:t>.</a:t>
            </a:r>
            <a:r>
              <a:rPr sz="1250" b="0">
                <a:solidFill>
                  <a:srgbClr val="031424"/>
                </a:solidFill>
                <a:latin typeface="DejaVu Sans Mono"/>
              </a:rPr>
              <a:t>get</a:t>
            </a:r>
            <a:r>
              <a:rPr sz="1250" b="0">
                <a:solidFill>
                  <a:srgbClr val="031424"/>
                </a:solidFill>
                <a:latin typeface="DejaVu Sans Mono"/>
              </a:rPr>
              <a:t>(</a:t>
            </a:r>
            <a:r>
              <a:rPr sz="1250" b="0">
                <a:solidFill>
                  <a:srgbClr val="031424"/>
                </a:solidFill>
                <a:latin typeface="DejaVu Sans Mono"/>
              </a:rPr>
              <a:t>key</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default</a:t>
            </a:r>
            <a:r>
              <a:rPr sz="1250" b="0">
                <a:solidFill>
                  <a:srgbClr val="031424"/>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if</a:t>
            </a:r>
            <a:r>
              <a:rPr sz="1250" b="0">
                <a:solidFill>
                  <a:srgbClr val="031424"/>
                </a:solidFill>
                <a:latin typeface="DejaVu Sans Mono"/>
              </a:rPr>
              <a:t> </a:t>
            </a:r>
            <a:r>
              <a:rPr sz="1250" b="1">
                <a:solidFill>
                  <a:srgbClr val="007020"/>
                </a:solidFill>
                <a:latin typeface="DejaVu Sans Mono"/>
              </a:rPr>
              <a:t>not</a:t>
            </a:r>
            <a:r>
              <a:rPr sz="1250" b="0">
                <a:solidFill>
                  <a:srgbClr val="031424"/>
                </a:solidFill>
                <a:latin typeface="DejaVu Sans Mono"/>
              </a:rPr>
              <a:t> </a:t>
            </a:r>
            <a:r>
              <a:rPr sz="1250" b="0">
                <a:solidFill>
                  <a:srgbClr val="031424"/>
                </a:solidFill>
                <a:latin typeface="DejaVu Sans Mono"/>
              </a:rPr>
              <a:t>math</a:t>
            </a:r>
            <a:r>
              <a:rPr sz="1250" b="0">
                <a:solidFill>
                  <a:srgbClr val="666666"/>
                </a:solidFill>
                <a:latin typeface="DejaVu Sans Mono"/>
              </a:rPr>
              <a:t>.</a:t>
            </a:r>
            <a:r>
              <a:rPr sz="1250" b="0">
                <a:solidFill>
                  <a:srgbClr val="031424"/>
                </a:solidFill>
                <a:latin typeface="DejaVu Sans Mono"/>
              </a:rPr>
              <a:t>isfinite</a:t>
            </a:r>
            <a:r>
              <a:rPr sz="1250" b="0">
                <a:solidFill>
                  <a:srgbClr val="031424"/>
                </a:solidFill>
                <a:latin typeface="DejaVu Sans Mono"/>
              </a:rPr>
              <a:t>(</a:t>
            </a:r>
            <a:r>
              <a:rPr sz="1250" b="0">
                <a:solidFill>
                  <a:srgbClr val="031424"/>
                </a:solidFill>
                <a:latin typeface="DejaVu Sans Mono"/>
              </a:rPr>
              <a:t>value</a:t>
            </a:r>
            <a:r>
              <a:rPr sz="1250" b="0">
                <a:solidFill>
                  <a:srgbClr val="031424"/>
                </a:solidFill>
                <a:latin typeface="DejaVu Sans Mono"/>
              </a:rPr>
              <a:t>)</a:t>
            </a:r>
            <a:r>
              <a:rPr sz="1250" b="0">
                <a:solidFill>
                  <a:srgbClr val="031424"/>
                </a:solidFill>
                <a:latin typeface="DejaVu Sans Mono"/>
              </a:rPr>
              <a:t> </a:t>
            </a:r>
            <a:r>
              <a:rPr sz="1250" b="1">
                <a:solidFill>
                  <a:srgbClr val="007020"/>
                </a:solidFill>
                <a:latin typeface="DejaVu Sans Mono"/>
              </a:rPr>
              <a:t>or</a:t>
            </a:r>
            <a:r>
              <a:rPr sz="1250" b="0">
                <a:solidFill>
                  <a:srgbClr val="031424"/>
                </a:solidFill>
                <a:latin typeface="DejaVu Sans Mono"/>
              </a:rPr>
              <a:t> </a:t>
            </a:r>
            <a:r>
              <a:rPr sz="1250" b="0">
                <a:solidFill>
                  <a:srgbClr val="031424"/>
                </a:solidFill>
                <a:latin typeface="DejaVu Sans Mono"/>
              </a:rPr>
              <a:t>value</a:t>
            </a:r>
            <a:r>
              <a:rPr sz="1250" b="0">
                <a:solidFill>
                  <a:srgbClr val="031424"/>
                </a:solidFill>
                <a:latin typeface="DejaVu Sans Mono"/>
              </a:rPr>
              <a:t> </a:t>
            </a:r>
            <a:r>
              <a:rPr sz="1250" b="0">
                <a:solidFill>
                  <a:srgbClr val="666666"/>
                </a:solidFill>
                <a:latin typeface="DejaVu Sans Mono"/>
              </a:rPr>
              <a:t>&lt;</a:t>
            </a:r>
            <a:r>
              <a:rPr sz="1250" b="0">
                <a:solidFill>
                  <a:srgbClr val="666666"/>
                </a:solidFill>
                <a:latin typeface="DejaVu Sans Mono"/>
              </a:rPr>
              <a:t>=</a:t>
            </a:r>
            <a:r>
              <a:rPr sz="1250" b="0">
                <a:solidFill>
                  <a:srgbClr val="031424"/>
                </a:solidFill>
                <a:latin typeface="DejaVu Sans Mono"/>
              </a:rPr>
              <a:t> </a:t>
            </a:r>
            <a:r>
              <a:rPr sz="1250" b="0">
                <a:solidFill>
                  <a:srgbClr val="40A070"/>
                </a:solidFill>
                <a:latin typeface="DejaVu Sans Mono"/>
              </a:rPr>
              <a:t>0</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raise</a:t>
            </a:r>
            <a:r>
              <a:rPr sz="1250" b="0">
                <a:solidFill>
                  <a:srgbClr val="031424"/>
                </a:solidFill>
                <a:latin typeface="DejaVu Sans Mono"/>
              </a:rPr>
              <a:t> </a:t>
            </a:r>
            <a:r>
              <a:rPr sz="1250" b="0">
                <a:solidFill>
                  <a:srgbClr val="007020"/>
                </a:solidFill>
                <a:latin typeface="DejaVu Sans Mono"/>
              </a:rPr>
              <a:t>ValueError</a:t>
            </a:r>
            <a:r>
              <a:rPr sz="1250" b="0">
                <a:solidFill>
                  <a:srgbClr val="031424"/>
                </a:solidFill>
                <a:latin typeface="DejaVu Sans Mono"/>
              </a:rPr>
              <a:t>(</a:t>
            </a:r>
            <a:r>
              <a:rPr sz="1250" b="0">
                <a:solidFill>
                  <a:srgbClr val="4070A0"/>
                </a:solidFill>
                <a:latin typeface="DejaVu Sans Mono"/>
              </a:rPr>
              <a:t>f</a:t>
            </a:r>
            <a:r>
              <a:rPr sz="1250" b="0">
                <a:solidFill>
                  <a:srgbClr val="4070A0"/>
                </a:solidFill>
                <a:latin typeface="DejaVu Sans Mono"/>
              </a:rPr>
              <a:t>"</a:t>
            </a:r>
            <a:r>
              <a:rPr sz="1250" b="0">
                <a:solidFill>
                  <a:srgbClr val="70A0D0"/>
                </a:solidFill>
                <a:latin typeface="DejaVu Sans Mono"/>
              </a:rPr>
              <a:t>{</a:t>
            </a:r>
            <a:r>
              <a:rPr sz="1250" b="0">
                <a:solidFill>
                  <a:srgbClr val="031424"/>
                </a:solidFill>
                <a:latin typeface="DejaVu Sans Mono"/>
              </a:rPr>
              <a:t>key</a:t>
            </a:r>
            <a:r>
              <a:rPr sz="1250" b="0">
                <a:solidFill>
                  <a:srgbClr val="70A0D0"/>
                </a:solidFill>
                <a:latin typeface="DejaVu Sans Mono"/>
              </a:rPr>
              <a:t>}</a:t>
            </a:r>
            <a:r>
              <a:rPr sz="1250" b="0">
                <a:solidFill>
                  <a:srgbClr val="4070A0"/>
                </a:solidFill>
                <a:latin typeface="DejaVu Sans Mono"/>
              </a:rPr>
              <a:t> must be finite and positive</a:t>
            </a:r>
            <a:r>
              <a:rPr sz="1250" b="0">
                <a:solidFill>
                  <a:srgbClr val="4070A0"/>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setattr</a:t>
            </a:r>
            <a:r>
              <a:rPr sz="1250" b="0">
                <a:solidFill>
                  <a:srgbClr val="031424"/>
                </a:solidFill>
                <a:latin typeface="DejaVu Sans Mono"/>
              </a:rPr>
              <a:t>(</a:t>
            </a:r>
            <a:r>
              <a:rPr sz="1250" b="0">
                <a:solidFill>
                  <a:srgbClr val="007020"/>
                </a:solidFill>
                <a:latin typeface="DejaVu Sans Mono"/>
              </a:rPr>
              <a:t>self</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key</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value</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lower</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array</a:t>
            </a:r>
            <a:r>
              <a:rPr sz="1250" b="0">
                <a:solidFill>
                  <a:srgbClr val="031424"/>
                </a:solidFill>
                <a:latin typeface="DejaVu Sans Mono"/>
              </a:rPr>
              <a:t>(</a:t>
            </a:r>
            <a:r>
              <a:rPr sz="1250" b="0">
                <a:solidFill>
                  <a:srgbClr val="031424"/>
                </a:solidFill>
                <a:latin typeface="DejaVu Sans Mono"/>
              </a:rPr>
              <a:t>options</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lower_limits</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dtype</a:t>
            </a:r>
            <a:r>
              <a:rPr sz="1250" b="0">
                <a:solidFill>
                  <a:srgbClr val="666666"/>
                </a:solidFill>
                <a:latin typeface="DejaVu Sans Mono"/>
              </a:rPr>
              <a:t>=</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float64</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upper</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array</a:t>
            </a:r>
            <a:r>
              <a:rPr sz="1250" b="0">
                <a:solidFill>
                  <a:srgbClr val="031424"/>
                </a:solidFill>
                <a:latin typeface="DejaVu Sans Mono"/>
              </a:rPr>
              <a:t>(</a:t>
            </a:r>
            <a:r>
              <a:rPr sz="1250" b="0">
                <a:solidFill>
                  <a:srgbClr val="031424"/>
                </a:solidFill>
                <a:latin typeface="DejaVu Sans Mono"/>
              </a:rPr>
              <a:t>options</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upper_limits</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dtype</a:t>
            </a:r>
            <a:r>
              <a:rPr sz="1250" b="0">
                <a:solidFill>
                  <a:srgbClr val="666666"/>
                </a:solidFill>
                <a:latin typeface="DejaVu Sans Mono"/>
              </a:rPr>
              <a:t>=</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float64</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if</a:t>
            </a:r>
            <a:r>
              <a:rPr sz="1250" b="0">
                <a:solidFill>
                  <a:srgbClr val="031424"/>
                </a:solidFill>
                <a:latin typeface="DejaVu Sans Mono"/>
              </a:rPr>
              <a:t> </a:t>
            </a:r>
            <a:r>
              <a:rPr sz="1250" b="0">
                <a:solidFill>
                  <a:srgbClr val="031424"/>
                </a:solidFill>
                <a:latin typeface="DejaVu Sans Mono"/>
              </a:rPr>
              <a:t>(</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lower</a:t>
            </a:r>
            <a:r>
              <a:rPr sz="1250" b="0">
                <a:solidFill>
                  <a:srgbClr val="666666"/>
                </a:solidFill>
                <a:latin typeface="DejaVu Sans Mono"/>
              </a:rPr>
              <a:t>.</a:t>
            </a:r>
            <a:r>
              <a:rPr sz="1250" b="0">
                <a:solidFill>
                  <a:srgbClr val="031424"/>
                </a:solidFill>
                <a:latin typeface="DejaVu Sans Mono"/>
              </a:rPr>
              <a:t>shape</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a:t>
            </a:r>
            <a:r>
              <a:rPr sz="1250" b="0">
                <a:solidFill>
                  <a:srgbClr val="007020"/>
                </a:solidFill>
                <a:latin typeface="DejaVu Sans Mono"/>
              </a:rPr>
              <a:t>len</a:t>
            </a:r>
            <a:r>
              <a:rPr sz="1250" b="0">
                <a:solidFill>
                  <a:srgbClr val="031424"/>
                </a:solidFill>
                <a:latin typeface="DejaVu Sans Mono"/>
              </a:rPr>
              <a:t>(</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joints</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1">
                <a:solidFill>
                  <a:srgbClr val="007020"/>
                </a:solidFill>
                <a:latin typeface="DejaVu Sans Mono"/>
              </a:rPr>
              <a:t>or</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upper</a:t>
            </a:r>
            <a:r>
              <a:rPr sz="1250" b="0">
                <a:solidFill>
                  <a:srgbClr val="666666"/>
                </a:solidFill>
                <a:latin typeface="DejaVu Sans Mono"/>
              </a:rPr>
              <a:t>.</a:t>
            </a:r>
            <a:r>
              <a:rPr sz="1250" b="0">
                <a:solidFill>
                  <a:srgbClr val="031424"/>
                </a:solidFill>
                <a:latin typeface="DejaVu Sans Mono"/>
              </a:rPr>
              <a:t>shape</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lower</a:t>
            </a:r>
            <a:r>
              <a:rPr sz="1250" b="0">
                <a:solidFill>
                  <a:srgbClr val="666666"/>
                </a:solidFill>
                <a:latin typeface="DejaVu Sans Mono"/>
              </a:rPr>
              <a:t>.</a:t>
            </a:r>
            <a:r>
              <a:rPr sz="1250" b="0">
                <a:solidFill>
                  <a:srgbClr val="031424"/>
                </a:solidFill>
                <a:latin typeface="DejaVu Sans Mono"/>
              </a:rPr>
              <a:t>shape</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or</a:t>
            </a:r>
            <a:r>
              <a:rPr sz="1250" b="0">
                <a:solidFill>
                  <a:srgbClr val="031424"/>
                </a:solidFill>
                <a:latin typeface="DejaVu Sans Mono"/>
              </a:rPr>
              <a:t> </a:t>
            </a:r>
            <a:r>
              <a:rPr sz="1250" b="1">
                <a:solidFill>
                  <a:srgbClr val="007020"/>
                </a:solidFill>
                <a:latin typeface="DejaVu Sans Mono"/>
              </a:rPr>
              <a:t>not</a:t>
            </a:r>
            <a:r>
              <a:rPr sz="1250" b="0">
                <a:solidFill>
                  <a:srgbClr val="031424"/>
                </a:solidFill>
                <a:latin typeface="DejaVu Sans Mono"/>
              </a:rPr>
              <a:t> </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isfinite</a:t>
            </a:r>
            <a:r>
              <a:rPr sz="1250" b="0">
                <a:solidFill>
                  <a:srgbClr val="031424"/>
                </a:solidFill>
                <a:latin typeface="DejaVu Sans Mono"/>
              </a:rPr>
              <a:t>(</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lower</a:t>
            </a:r>
            <a:r>
              <a:rPr sz="1250" b="0">
                <a:solidFill>
                  <a:srgbClr val="031424"/>
                </a:solidFill>
                <a:latin typeface="DejaVu Sans Mono"/>
              </a:rPr>
              <a:t>)</a:t>
            </a:r>
            <a:r>
              <a:rPr sz="1250" b="0">
                <a:solidFill>
                  <a:srgbClr val="666666"/>
                </a:solidFill>
                <a:latin typeface="DejaVu Sans Mono"/>
              </a:rPr>
              <a:t>.</a:t>
            </a:r>
            <a:r>
              <a:rPr sz="1250" b="0">
                <a:solidFill>
                  <a:srgbClr val="031424"/>
                </a:solidFill>
                <a:latin typeface="DejaVu Sans Mono"/>
              </a:rPr>
              <a:t>all</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1">
                <a:solidFill>
                  <a:srgbClr val="007020"/>
                </a:solidFill>
                <a:latin typeface="DejaVu Sans Mono"/>
              </a:rPr>
              <a:t>or</a:t>
            </a:r>
            <a:r>
              <a:rPr sz="1250" b="0">
                <a:solidFill>
                  <a:srgbClr val="031424"/>
                </a:solidFill>
                <a:latin typeface="DejaVu Sans Mono"/>
              </a:rPr>
              <a:t> </a:t>
            </a:r>
            <a:r>
              <a:rPr sz="1250" b="1">
                <a:solidFill>
                  <a:srgbClr val="007020"/>
                </a:solidFill>
                <a:latin typeface="DejaVu Sans Mono"/>
              </a:rPr>
              <a:t>not</a:t>
            </a:r>
            <a:r>
              <a:rPr sz="1250" b="0">
                <a:solidFill>
                  <a:srgbClr val="031424"/>
                </a:solidFill>
                <a:latin typeface="DejaVu Sans Mono"/>
              </a:rPr>
              <a:t> </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isfinite</a:t>
            </a:r>
            <a:r>
              <a:rPr sz="1250" b="0">
                <a:solidFill>
                  <a:srgbClr val="031424"/>
                </a:solidFill>
                <a:latin typeface="DejaVu Sans Mono"/>
              </a:rPr>
              <a:t>(</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upper</a:t>
            </a:r>
            <a:r>
              <a:rPr sz="1250" b="0">
                <a:solidFill>
                  <a:srgbClr val="031424"/>
                </a:solidFill>
                <a:latin typeface="DejaVu Sans Mono"/>
              </a:rPr>
              <a:t>)</a:t>
            </a:r>
            <a:r>
              <a:rPr sz="1250" b="0">
                <a:solidFill>
                  <a:srgbClr val="666666"/>
                </a:solidFill>
                <a:latin typeface="DejaVu Sans Mono"/>
              </a:rPr>
              <a:t>.</a:t>
            </a:r>
            <a:r>
              <a:rPr sz="1250" b="0">
                <a:solidFill>
                  <a:srgbClr val="031424"/>
                </a:solidFill>
                <a:latin typeface="DejaVu Sans Mono"/>
              </a:rPr>
              <a:t>all</a:t>
            </a:r>
            <a:r>
              <a:rPr sz="1250" b="0">
                <a:solidFill>
                  <a:srgbClr val="031424"/>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or</a:t>
            </a:r>
            <a:r>
              <a:rPr sz="1250" b="0">
                <a:solidFill>
                  <a:srgbClr val="031424"/>
                </a:solidFill>
                <a:latin typeface="DejaVu Sans Mono"/>
              </a:rPr>
              <a:t> </a:t>
            </a:r>
            <a:r>
              <a:rPr sz="1250" b="0">
                <a:solidFill>
                  <a:srgbClr val="031424"/>
                </a:solidFill>
                <a:latin typeface="DejaVu Sans Mono"/>
              </a:rPr>
              <a:t>np</a:t>
            </a:r>
            <a:r>
              <a:rPr sz="1250" b="0">
                <a:solidFill>
                  <a:srgbClr val="666666"/>
                </a:solidFill>
                <a:latin typeface="DejaVu Sans Mono"/>
              </a:rPr>
              <a:t>.</a:t>
            </a:r>
            <a:r>
              <a:rPr sz="1250" b="0">
                <a:solidFill>
                  <a:srgbClr val="031424"/>
                </a:solidFill>
                <a:latin typeface="DejaVu Sans Mono"/>
              </a:rPr>
              <a:t>any</a:t>
            </a:r>
            <a:r>
              <a:rPr sz="1250" b="0">
                <a:solidFill>
                  <a:srgbClr val="031424"/>
                </a:solidFill>
                <a:latin typeface="DejaVu Sans Mono"/>
              </a:rPr>
              <a:t>(</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lower</a:t>
            </a:r>
            <a:r>
              <a:rPr sz="1250" b="0">
                <a:solidFill>
                  <a:srgbClr val="031424"/>
                </a:solidFill>
                <a:latin typeface="DejaVu Sans Mono"/>
              </a:rPr>
              <a:t> </a:t>
            </a:r>
            <a:r>
              <a:rPr sz="1250" b="0">
                <a:solidFill>
                  <a:srgbClr val="666666"/>
                </a:solidFill>
                <a:latin typeface="DejaVu Sans Mono"/>
              </a:rPr>
              <a:t>&gt;</a:t>
            </a:r>
            <a:r>
              <a:rPr sz="1250" b="0">
                <a:solidFill>
                  <a:srgbClr val="666666"/>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upper</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1">
                <a:solidFill>
                  <a:srgbClr val="007020"/>
                </a:solidFill>
                <a:latin typeface="DejaVu Sans Mono"/>
              </a:rPr>
              <a:t>raise</a:t>
            </a:r>
            <a:r>
              <a:rPr sz="1250" b="0">
                <a:solidFill>
                  <a:srgbClr val="031424"/>
                </a:solidFill>
                <a:latin typeface="DejaVu Sans Mono"/>
              </a:rPr>
              <a:t> </a:t>
            </a:r>
            <a:r>
              <a:rPr sz="1250" b="0">
                <a:solidFill>
                  <a:srgbClr val="007020"/>
                </a:solidFill>
                <a:latin typeface="DejaVu Sans Mono"/>
              </a:rPr>
              <a:t>ValueError</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Finite ordered joint limits must match the joint count</a:t>
            </a:r>
            <a:r>
              <a:rPr sz="1250" b="0">
                <a:solidFill>
                  <a:srgbClr val="4070A0"/>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base_link</a:t>
            </a:r>
            <a:r>
              <a:rPr sz="1250" b="0">
                <a:solidFill>
                  <a:srgbClr val="031424"/>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tip_link</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options</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base_link</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031424"/>
                </a:solidFill>
                <a:latin typeface="DejaVu Sans Mono"/>
              </a:rPr>
              <a:t>options</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tip_link</a:t>
            </a:r>
            <a:r>
              <a:rPr sz="1250" b="0">
                <a:solidFill>
                  <a:srgbClr val="4070A0"/>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chain</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Chain</a:t>
            </a:r>
            <a:r>
              <a:rPr sz="1250" b="0">
                <a:solidFill>
                  <a:srgbClr val="031424"/>
                </a:solidFill>
                <a:latin typeface="DejaVu Sans Mono"/>
              </a:rPr>
              <a:t>(</a:t>
            </a:r>
            <a:r>
              <a:rPr sz="1250" b="0">
                <a:solidFill>
                  <a:srgbClr val="031424"/>
                </a:solidFill>
                <a:latin typeface="DejaVu Sans Mono"/>
              </a:rPr>
              <a:t>options</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urdf_path</a:t>
            </a:r>
            <a:r>
              <a:rPr sz="1250" b="0">
                <a:solidFill>
                  <a:srgbClr val="4070A0"/>
                </a:solidFill>
                <a:latin typeface="DejaVu Sans Mono"/>
              </a:rPr>
              <a:t>"</a:t>
            </a:r>
            <a:r>
              <a:rPr sz="1250" b="0">
                <a:solidFill>
                  <a:srgbClr val="031424"/>
                </a:solidFill>
                <a:latin typeface="DejaVu Sans Mono"/>
              </a:rPr>
              <a:t>]</a:t>
            </a:r>
            <a:r>
              <a:rPr sz="1250" b="0">
                <a:solidFill>
                  <a:srgbClr val="031424"/>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joints</a:t>
            </a:r>
            <a:r>
              <a:rPr sz="1250" b="0">
                <a:solidFill>
                  <a:srgbClr val="031424"/>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base_link</a:t>
            </a:r>
            <a:r>
              <a:rPr sz="1250" b="0">
                <a:solidFill>
                  <a:srgbClr val="031424"/>
                </a:solidFill>
                <a:latin typeface="DejaVu Sans Mono"/>
              </a:rPr>
              <a:t>,</a:t>
            </a: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tip_link</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evidence_path</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0">
                <a:solidFill>
                  <a:srgbClr val="031424"/>
                </a:solidFill>
                <a:latin typeface="DejaVu Sans Mono"/>
              </a:rPr>
              <a:t>options</a:t>
            </a:r>
            <a:r>
              <a:rPr sz="1250" b="0">
                <a:solidFill>
                  <a:srgbClr val="666666"/>
                </a:solidFill>
                <a:latin typeface="DejaVu Sans Mono"/>
              </a:rPr>
              <a:t>.</a:t>
            </a:r>
            <a:r>
              <a:rPr sz="1250" b="0">
                <a:solidFill>
                  <a:srgbClr val="031424"/>
                </a:solidFill>
                <a:latin typeface="DejaVu Sans Mono"/>
              </a:rPr>
              <a:t>get</a:t>
            </a:r>
            <a:r>
              <a:rPr sz="1250" b="0">
                <a:solidFill>
                  <a:srgbClr val="031424"/>
                </a:solidFill>
                <a:latin typeface="DejaVu Sans Mono"/>
              </a:rPr>
              <a:t>(</a:t>
            </a:r>
            <a:r>
              <a:rPr sz="1250" b="0">
                <a:solidFill>
                  <a:srgbClr val="4070A0"/>
                </a:solidFill>
                <a:latin typeface="DejaVu Sans Mono"/>
              </a:rPr>
              <a:t>"</a:t>
            </a:r>
            <a:r>
              <a:rPr sz="1250" b="0">
                <a:solidFill>
                  <a:srgbClr val="4070A0"/>
                </a:solidFill>
                <a:latin typeface="DejaVu Sans Mono"/>
              </a:rPr>
              <a:t>evidence_path</a:t>
            </a:r>
            <a:r>
              <a:rPr sz="1250" b="0">
                <a:solidFill>
                  <a:srgbClr val="4070A0"/>
                </a:solidFill>
                <a:latin typeface="DejaVu Sans Mono"/>
              </a:rPr>
              <a:t>"</a:t>
            </a:r>
            <a:r>
              <a:rPr sz="1250" b="0">
                <a:solidFill>
                  <a:srgbClr val="031424"/>
                </a:solidFill>
                <a:latin typeface="DejaVu Sans Mono"/>
              </a:rPr>
              <a:t>)</a:t>
            </a:r>
          </a:p>
          <a:p>
            <a:pPr algn="l" marL="0" indent="0">
              <a:lnSpc>
                <a:spcPct val="104000"/>
              </a:lnSpc>
              <a:spcAft>
                <a:spcPts val="0"/>
              </a:spcAft>
            </a:pPr>
            <a:r>
              <a:rPr sz="1250" b="0">
                <a:solidFill>
                  <a:srgbClr val="031424"/>
                </a:solidFill>
                <a:latin typeface="DejaVu Sans Mono"/>
              </a:rPr>
              <a:t>        </a:t>
            </a:r>
            <a:r>
              <a:rPr sz="1250" b="0">
                <a:solidFill>
                  <a:srgbClr val="007020"/>
                </a:solidFill>
                <a:latin typeface="DejaVu Sans Mono"/>
              </a:rPr>
              <a:t>self</a:t>
            </a:r>
            <a:r>
              <a:rPr sz="1250" b="0">
                <a:solidFill>
                  <a:srgbClr val="666666"/>
                </a:solidFill>
                <a:latin typeface="DejaVu Sans Mono"/>
              </a:rPr>
              <a:t>.</a:t>
            </a:r>
            <a:r>
              <a:rPr sz="1250" b="0">
                <a:solidFill>
                  <a:srgbClr val="031424"/>
                </a:solidFill>
                <a:latin typeface="DejaVu Sans Mono"/>
              </a:rPr>
              <a:t>active</a:t>
            </a:r>
            <a:r>
              <a:rPr sz="1250" b="0">
                <a:solidFill>
                  <a:srgbClr val="031424"/>
                </a:solidFill>
                <a:latin typeface="DejaVu Sans Mono"/>
              </a:rPr>
              <a:t> </a:t>
            </a:r>
            <a:r>
              <a:rPr sz="1250" b="0">
                <a:solidFill>
                  <a:srgbClr val="666666"/>
                </a:solidFill>
                <a:latin typeface="DejaVu Sans Mono"/>
              </a:rPr>
              <a:t>=</a:t>
            </a:r>
            <a:r>
              <a:rPr sz="1250" b="0">
                <a:solidFill>
                  <a:srgbClr val="031424"/>
                </a:solidFill>
                <a:latin typeface="DejaVu Sans Mono"/>
              </a:rPr>
              <a:t> </a:t>
            </a:r>
            <a:r>
              <a:rPr sz="1250" b="1">
                <a:solidFill>
                  <a:srgbClr val="007020"/>
                </a:solidFill>
                <a:latin typeface="DejaVu Sans Mono"/>
              </a:rPr>
              <a:t>False</a:t>
            </a:r>
          </a:p>
          <a:p>
            <a:pPr algn="l" marL="0" indent="0">
              <a:lnSpc>
                <a:spcPct val="104000"/>
              </a:lnSpc>
              <a:spcAft>
                <a:spcPts val="0"/>
              </a:spcAft>
            </a:p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pPr algn="l">
              <a:spcAft>
                <a:spcPts val="500"/>
              </a:spcAft>
              <a:defRPr sz="2800" b="0">
                <a:solidFill>
                  <a:srgbClr val="031424"/>
                </a:solidFill>
                <a:latin typeface="Roboto"/>
              </a:defRPr>
            </a:pPr>
            <a:r>
              <a:t>Controller code: activation and force input</a:t>
            </a:r>
          </a:p>
        </p:txBody>
      </p:sp>
      <p:sp>
        <p:nvSpPr>
          <p:cNvPr id="208" name="TextBox 207"/>
          <p:cNvSpPr txBox="1"/>
          <p:nvPr/>
        </p:nvSpPr>
        <p:spPr>
          <a:xfrm>
            <a:off x="640080" y="1234440"/>
            <a:ext cx="10972800" cy="5303520"/>
          </a:xfrm>
          <a:prstGeom prst="rect">
            <a:avLst/>
          </a:prstGeom>
          <a:noFill/>
        </p:spPr>
        <p:txBody>
          <a:bodyPr wrap="square" lIns="0" rIns="0">
            <a:noAutofit/>
          </a:bodyPr>
          <a:lstStyle/>
          <a:p>
            <a:pPr algn="l" marL="0" indent="0">
              <a:lnSpc>
                <a:spcPct val="104000"/>
              </a:lnSpc>
              <a:spcAft>
                <a:spcPts val="0"/>
              </a:spcAft>
              <a:defRPr sz="2200" b="0">
                <a:solidFill>
                  <a:srgbClr val="031424"/>
                </a:solidFill>
                <a:latin typeface="Roboto"/>
              </a:defRPr>
            </a:pPr>
            <a:r>
              <a:rPr sz="1400" b="0">
                <a:solidFill>
                  <a:srgbClr val="031424"/>
                </a:solidFill>
                <a:latin typeface="DejaVu Sans Mono"/>
              </a:rPr>
              <a:t>    </a:t>
            </a:r>
            <a:r>
              <a:rPr sz="1400" b="1">
                <a:solidFill>
                  <a:srgbClr val="007020"/>
                </a:solidFill>
                <a:latin typeface="DejaVu Sans Mono"/>
              </a:rPr>
              <a:t>def</a:t>
            </a:r>
            <a:r>
              <a:rPr sz="1400" b="0">
                <a:solidFill>
                  <a:srgbClr val="031424"/>
                </a:solidFill>
                <a:latin typeface="DejaVu Sans Mono"/>
              </a:rPr>
              <a:t> </a:t>
            </a:r>
            <a:r>
              <a:rPr sz="1400" b="0">
                <a:solidFill>
                  <a:srgbClr val="06287E"/>
                </a:solidFill>
                <a:latin typeface="DejaVu Sans Mono"/>
              </a:rPr>
              <a:t>activate</a:t>
            </a:r>
            <a:r>
              <a:rPr sz="1400" b="0">
                <a:solidFill>
                  <a:srgbClr val="031424"/>
                </a:solidFill>
                <a:latin typeface="DejaVu Sans Mono"/>
              </a:rPr>
              <a:t>(</a:t>
            </a:r>
            <a:r>
              <a:rPr sz="1400" b="0">
                <a:solidFill>
                  <a:srgbClr val="007020"/>
                </a:solidFill>
                <a:latin typeface="DejaVu Sans Mono"/>
              </a:rPr>
              <a:t>self</a:t>
            </a:r>
            <a:r>
              <a:rPr sz="1400" b="0">
                <a:solidFill>
                  <a:srgbClr val="031424"/>
                </a:solidFill>
                <a:latin typeface="DejaVu Sans Mono"/>
              </a:rPr>
              <a:t>,</a:t>
            </a:r>
            <a:r>
              <a:rPr sz="1400" b="0">
                <a:solidFill>
                  <a:srgbClr val="031424"/>
                </a:solidFill>
                <a:latin typeface="DejaVu Sans Mono"/>
              </a:rPr>
              <a:t> </a:t>
            </a:r>
            <a:r>
              <a:rPr sz="1400" b="0">
                <a:solidFill>
                  <a:srgbClr val="031424"/>
                </a:solidFill>
                <a:latin typeface="DejaVu Sans Mono"/>
              </a:rPr>
              <a:t>measured_positions</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31424"/>
                </a:solidFill>
                <a:latin typeface="DejaVu Sans Mono"/>
              </a:rPr>
              <a:t>q</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_positions</a:t>
            </a:r>
            <a:r>
              <a:rPr sz="1400" b="0">
                <a:solidFill>
                  <a:srgbClr val="031424"/>
                </a:solidFill>
                <a:latin typeface="DejaVu Sans Mono"/>
              </a:rPr>
              <a:t>(</a:t>
            </a:r>
            <a:r>
              <a:rPr sz="1400" b="0">
                <a:solidFill>
                  <a:srgbClr val="031424"/>
                </a:solidFill>
                <a:latin typeface="DejaVu Sans Mono"/>
              </a:rPr>
              <a:t>measured_positions</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reference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chain</a:t>
            </a:r>
            <a:r>
              <a:rPr sz="1400" b="0">
                <a:solidFill>
                  <a:srgbClr val="666666"/>
                </a:solidFill>
                <a:latin typeface="DejaVu Sans Mono"/>
              </a:rPr>
              <a:t>.</a:t>
            </a:r>
            <a:r>
              <a:rPr sz="1400" b="0">
                <a:solidFill>
                  <a:srgbClr val="031424"/>
                </a:solidFill>
                <a:latin typeface="DejaVu Sans Mono"/>
              </a:rPr>
              <a:t>fk</a:t>
            </a:r>
            <a:r>
              <a:rPr sz="1400" b="0">
                <a:solidFill>
                  <a:srgbClr val="031424"/>
                </a:solidFill>
                <a:latin typeface="DejaVu Sans Mono"/>
              </a:rPr>
              <a:t>(</a:t>
            </a:r>
            <a:r>
              <a:rPr sz="1400" b="0">
                <a:solidFill>
                  <a:srgbClr val="031424"/>
                </a:solidFill>
                <a:latin typeface="DejaVu Sans Mono"/>
              </a:rPr>
              <a:t>q</a:t>
            </a:r>
            <a:r>
              <a:rPr sz="1400" b="0">
                <a:solidFill>
                  <a:srgbClr val="031424"/>
                </a:solidFill>
                <a:latin typeface="DejaVu Sans Mono"/>
              </a:rPr>
              <a:t>)</a:t>
            </a:r>
            <a:r>
              <a:rPr sz="1400" b="0">
                <a:solidFill>
                  <a:srgbClr val="666666"/>
                </a:solidFill>
                <a:latin typeface="DejaVu Sans Mono"/>
              </a:rPr>
              <a:t>.</a:t>
            </a:r>
            <a:r>
              <a:rPr sz="1400" b="0">
                <a:solidFill>
                  <a:srgbClr val="031424"/>
                </a:solidFill>
                <a:latin typeface="DejaVu Sans Mono"/>
              </a:rPr>
              <a:t>copy</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target</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reference</a:t>
            </a:r>
            <a:r>
              <a:rPr sz="1400" b="0">
                <a:solidFill>
                  <a:srgbClr val="666666"/>
                </a:solidFill>
                <a:latin typeface="DejaVu Sans Mono"/>
              </a:rPr>
              <a:t>.</a:t>
            </a:r>
            <a:r>
              <a:rPr sz="1400" b="0">
                <a:solidFill>
                  <a:srgbClr val="031424"/>
                </a:solidFill>
                <a:latin typeface="DejaVu Sans Mono"/>
              </a:rPr>
              <a:t>copy</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offset</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zeros</a:t>
            </a:r>
            <a:r>
              <a:rPr sz="1400" b="0">
                <a:solidFill>
                  <a:srgbClr val="031424"/>
                </a:solidFill>
                <a:latin typeface="DejaVu Sans Mono"/>
              </a:rPr>
              <a:t>(</a:t>
            </a:r>
            <a:r>
              <a:rPr sz="1400" b="0">
                <a:solidFill>
                  <a:srgbClr val="40A070"/>
                </a:solidFill>
                <a:latin typeface="DejaVu Sans Mono"/>
              </a:rPr>
              <a:t>3</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velocity</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zeros</a:t>
            </a:r>
            <a:r>
              <a:rPr sz="1400" b="0">
                <a:solidFill>
                  <a:srgbClr val="031424"/>
                </a:solidFill>
                <a:latin typeface="DejaVu Sans Mono"/>
              </a:rPr>
              <a:t>(</a:t>
            </a:r>
            <a:r>
              <a:rPr sz="1400" b="0">
                <a:solidFill>
                  <a:srgbClr val="40A070"/>
                </a:solidFill>
                <a:latin typeface="DejaVu Sans Mono"/>
              </a:rPr>
              <a:t>3</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zeros</a:t>
            </a:r>
            <a:r>
              <a:rPr sz="1400" b="0">
                <a:solidFill>
                  <a:srgbClr val="031424"/>
                </a:solidFill>
                <a:latin typeface="DejaVu Sans Mono"/>
              </a:rPr>
              <a:t>(</a:t>
            </a:r>
            <a:r>
              <a:rPr sz="1400" b="0">
                <a:solidFill>
                  <a:srgbClr val="40A070"/>
                </a:solidFill>
                <a:latin typeface="DejaVu Sans Mono"/>
              </a:rPr>
              <a:t>3</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force_age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force_timeout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force_stamp</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math</a:t>
            </a:r>
            <a:r>
              <a:rPr sz="1400" b="0">
                <a:solidFill>
                  <a:srgbClr val="666666"/>
                </a:solidFill>
                <a:latin typeface="DejaVu Sans Mono"/>
              </a:rPr>
              <a:t>.</a:t>
            </a:r>
            <a:r>
              <a:rPr sz="1400" b="0">
                <a:solidFill>
                  <a:srgbClr val="031424"/>
                </a:solidFill>
                <a:latin typeface="DejaVu Sans Mono"/>
              </a:rPr>
              <a:t>inf</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active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1">
                <a:solidFill>
                  <a:srgbClr val="007020"/>
                </a:solidFill>
                <a:latin typeface="DejaVu Sans Mono"/>
              </a:rPr>
              <a:t>True</a:t>
            </a:r>
          </a:p>
          <a:p>
            <a:pPr algn="l" marL="0" indent="0">
              <a:lnSpc>
                <a:spcPct val="104000"/>
              </a:lnSpc>
              <a:spcAft>
                <a:spcPts val="0"/>
              </a:spcAft>
            </a:pPr>
          </a:p>
          <a:p>
            <a:pPr algn="l" marL="0" indent="0">
              <a:lnSpc>
                <a:spcPct val="104000"/>
              </a:lnSpc>
              <a:spcAft>
                <a:spcPts val="0"/>
              </a:spcAft>
            </a:pPr>
            <a:r>
              <a:rPr sz="1400" b="0">
                <a:solidFill>
                  <a:srgbClr val="031424"/>
                </a:solidFill>
                <a:latin typeface="DejaVu Sans Mono"/>
              </a:rPr>
              <a:t>    </a:t>
            </a:r>
            <a:r>
              <a:rPr sz="1400" b="1">
                <a:solidFill>
                  <a:srgbClr val="007020"/>
                </a:solidFill>
                <a:latin typeface="DejaVu Sans Mono"/>
              </a:rPr>
              <a:t>def</a:t>
            </a:r>
            <a:r>
              <a:rPr sz="1400" b="0">
                <a:solidFill>
                  <a:srgbClr val="031424"/>
                </a:solidFill>
                <a:latin typeface="DejaVu Sans Mono"/>
              </a:rPr>
              <a:t> </a:t>
            </a:r>
            <a:r>
              <a:rPr sz="1400" b="0">
                <a:solidFill>
                  <a:srgbClr val="06287E"/>
                </a:solidFill>
                <a:latin typeface="DejaVu Sans Mono"/>
              </a:rPr>
              <a:t>set_target</a:t>
            </a:r>
            <a:r>
              <a:rPr sz="1400" b="0">
                <a:solidFill>
                  <a:srgbClr val="031424"/>
                </a:solidFill>
                <a:latin typeface="DejaVu Sans Mono"/>
              </a:rPr>
              <a:t>(</a:t>
            </a:r>
            <a:r>
              <a:rPr sz="1400" b="0">
                <a:solidFill>
                  <a:srgbClr val="007020"/>
                </a:solidFill>
                <a:latin typeface="DejaVu Sans Mono"/>
              </a:rPr>
              <a:t>self</a:t>
            </a:r>
            <a:r>
              <a:rPr sz="1400" b="0">
                <a:solidFill>
                  <a:srgbClr val="031424"/>
                </a:solidFill>
                <a:latin typeface="DejaVu Sans Mono"/>
              </a:rPr>
              <a:t>,</a:t>
            </a:r>
            <a:r>
              <a:rPr sz="1400" b="0">
                <a:solidFill>
                  <a:srgbClr val="031424"/>
                </a:solidFill>
                <a:latin typeface="DejaVu Sans Mono"/>
              </a:rPr>
              <a:t> </a:t>
            </a:r>
            <a:r>
              <a:rPr sz="1400" b="0">
                <a:solidFill>
                  <a:srgbClr val="031424"/>
                </a:solidFill>
                <a:latin typeface="DejaVu Sans Mono"/>
              </a:rPr>
              <a:t>values</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31424"/>
                </a:solidFill>
                <a:latin typeface="DejaVu Sans Mono"/>
              </a:rPr>
              <a:t>force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array</a:t>
            </a:r>
            <a:r>
              <a:rPr sz="1400" b="0">
                <a:solidFill>
                  <a:srgbClr val="031424"/>
                </a:solidFill>
                <a:latin typeface="DejaVu Sans Mono"/>
              </a:rPr>
              <a:t>(</a:t>
            </a:r>
            <a:r>
              <a:rPr sz="1400" b="0">
                <a:solidFill>
                  <a:srgbClr val="031424"/>
                </a:solidFill>
                <a:latin typeface="DejaVu Sans Mono"/>
              </a:rPr>
              <a:t>values</a:t>
            </a:r>
            <a:r>
              <a:rPr sz="1400" b="0">
                <a:solidFill>
                  <a:srgbClr val="031424"/>
                </a:solidFill>
                <a:latin typeface="DejaVu Sans Mono"/>
              </a:rPr>
              <a:t>,</a:t>
            </a:r>
            <a:r>
              <a:rPr sz="1400" b="0">
                <a:solidFill>
                  <a:srgbClr val="031424"/>
                </a:solidFill>
                <a:latin typeface="DejaVu Sans Mono"/>
              </a:rPr>
              <a:t> </a:t>
            </a:r>
            <a:r>
              <a:rPr sz="1400" b="0">
                <a:solidFill>
                  <a:srgbClr val="031424"/>
                </a:solidFill>
                <a:latin typeface="DejaVu Sans Mono"/>
              </a:rPr>
              <a:t>dtype</a:t>
            </a:r>
            <a:r>
              <a:rPr sz="1400" b="0">
                <a:solidFill>
                  <a:srgbClr val="666666"/>
                </a:solidFill>
                <a:latin typeface="DejaVu Sans Mono"/>
              </a:rPr>
              <a:t>=</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float64</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1">
                <a:solidFill>
                  <a:srgbClr val="007020"/>
                </a:solidFill>
                <a:latin typeface="DejaVu Sans Mono"/>
              </a:rPr>
              <a:t>if</a:t>
            </a:r>
            <a:r>
              <a:rPr sz="1400" b="0">
                <a:solidFill>
                  <a:srgbClr val="031424"/>
                </a:solidFill>
                <a:latin typeface="DejaVu Sans Mono"/>
              </a:rPr>
              <a:t> </a:t>
            </a:r>
            <a:r>
              <a:rPr sz="1400" b="0">
                <a:solidFill>
                  <a:srgbClr val="031424"/>
                </a:solidFill>
                <a:latin typeface="DejaVu Sans Mono"/>
              </a:rPr>
              <a:t>force</a:t>
            </a:r>
            <a:r>
              <a:rPr sz="1400" b="0">
                <a:solidFill>
                  <a:srgbClr val="666666"/>
                </a:solidFill>
                <a:latin typeface="DejaVu Sans Mono"/>
              </a:rPr>
              <a:t>.</a:t>
            </a:r>
            <a:r>
              <a:rPr sz="1400" b="0">
                <a:solidFill>
                  <a:srgbClr val="031424"/>
                </a:solidFill>
                <a:latin typeface="DejaVu Sans Mono"/>
              </a:rPr>
              <a:t>shape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a:t>
            </a:r>
            <a:r>
              <a:rPr sz="1400" b="0">
                <a:solidFill>
                  <a:srgbClr val="40A070"/>
                </a:solidFill>
                <a:latin typeface="DejaVu Sans Mono"/>
              </a:rPr>
              <a:t>3</a:t>
            </a:r>
            <a:r>
              <a:rPr sz="1400" b="0">
                <a:solidFill>
                  <a:srgbClr val="031424"/>
                </a:solidFill>
                <a:latin typeface="DejaVu Sans Mono"/>
              </a:rPr>
              <a:t>,</a:t>
            </a:r>
            <a:r>
              <a:rPr sz="1400" b="0">
                <a:solidFill>
                  <a:srgbClr val="031424"/>
                </a:solidFill>
                <a:latin typeface="DejaVu Sans Mono"/>
              </a:rPr>
              <a:t>)</a:t>
            </a:r>
            <a:r>
              <a:rPr sz="1400" b="0">
                <a:solidFill>
                  <a:srgbClr val="031424"/>
                </a:solidFill>
                <a:latin typeface="DejaVu Sans Mono"/>
              </a:rPr>
              <a:t> </a:t>
            </a:r>
            <a:r>
              <a:rPr sz="1400" b="1">
                <a:solidFill>
                  <a:srgbClr val="007020"/>
                </a:solidFill>
                <a:latin typeface="DejaVu Sans Mono"/>
              </a:rPr>
              <a:t>or</a:t>
            </a:r>
            <a:r>
              <a:rPr sz="1400" b="0">
                <a:solidFill>
                  <a:srgbClr val="031424"/>
                </a:solidFill>
                <a:latin typeface="DejaVu Sans Mono"/>
              </a:rPr>
              <a:t> </a:t>
            </a:r>
            <a:r>
              <a:rPr sz="1400" b="1">
                <a:solidFill>
                  <a:srgbClr val="007020"/>
                </a:solidFill>
                <a:latin typeface="DejaVu Sans Mono"/>
              </a:rPr>
              <a:t>not</a:t>
            </a:r>
            <a:r>
              <a:rPr sz="1400" b="0">
                <a:solidFill>
                  <a:srgbClr val="031424"/>
                </a:solidFill>
                <a:latin typeface="DejaVu Sans Mono"/>
              </a:rPr>
              <a:t> </a:t>
            </a:r>
            <a:r>
              <a:rPr sz="1400" b="0">
                <a:solidFill>
                  <a:srgbClr val="031424"/>
                </a:solidFill>
                <a:latin typeface="DejaVu Sans Mono"/>
              </a:rPr>
              <a:t>np</a:t>
            </a:r>
            <a:r>
              <a:rPr sz="1400" b="0">
                <a:solidFill>
                  <a:srgbClr val="666666"/>
                </a:solidFill>
                <a:latin typeface="DejaVu Sans Mono"/>
              </a:rPr>
              <a:t>.</a:t>
            </a:r>
            <a:r>
              <a:rPr sz="1400" b="0">
                <a:solidFill>
                  <a:srgbClr val="031424"/>
                </a:solidFill>
                <a:latin typeface="DejaVu Sans Mono"/>
              </a:rPr>
              <a:t>isfinite</a:t>
            </a:r>
            <a:r>
              <a:rPr sz="1400" b="0">
                <a:solidFill>
                  <a:srgbClr val="031424"/>
                </a:solidFill>
                <a:latin typeface="DejaVu Sans Mono"/>
              </a:rPr>
              <a:t>(</a:t>
            </a:r>
            <a:r>
              <a:rPr sz="1400" b="0">
                <a:solidFill>
                  <a:srgbClr val="031424"/>
                </a:solidFill>
                <a:latin typeface="DejaVu Sans Mono"/>
              </a:rPr>
              <a:t>force</a:t>
            </a:r>
            <a:r>
              <a:rPr sz="1400" b="0">
                <a:solidFill>
                  <a:srgbClr val="031424"/>
                </a:solidFill>
                <a:latin typeface="DejaVu Sans Mono"/>
              </a:rPr>
              <a:t>)</a:t>
            </a:r>
            <a:r>
              <a:rPr sz="1400" b="0">
                <a:solidFill>
                  <a:srgbClr val="666666"/>
                </a:solidFill>
                <a:latin typeface="DejaVu Sans Mono"/>
              </a:rPr>
              <a:t>.</a:t>
            </a:r>
            <a:r>
              <a:rPr sz="1400" b="0">
                <a:solidFill>
                  <a:srgbClr val="031424"/>
                </a:solidFill>
                <a:latin typeface="DejaVu Sans Mono"/>
              </a:rPr>
              <a:t>all</a:t>
            </a:r>
            <a:r>
              <a:rPr sz="1400" b="0">
                <a:solidFill>
                  <a:srgbClr val="031424"/>
                </a:solidFill>
                <a:latin typeface="DejaVu Sans Mono"/>
              </a:rPr>
              <a:t>(</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1">
                <a:solidFill>
                  <a:srgbClr val="007020"/>
                </a:solidFill>
                <a:latin typeface="DejaVu Sans Mono"/>
              </a:rPr>
              <a:t>raise</a:t>
            </a:r>
            <a:r>
              <a:rPr sz="1400" b="0">
                <a:solidFill>
                  <a:srgbClr val="031424"/>
                </a:solidFill>
                <a:latin typeface="DejaVu Sans Mono"/>
              </a:rPr>
              <a:t> </a:t>
            </a:r>
            <a:r>
              <a:rPr sz="1400" b="0">
                <a:solidFill>
                  <a:srgbClr val="007020"/>
                </a:solidFill>
                <a:latin typeface="DejaVu Sans Mono"/>
              </a:rPr>
              <a:t>ValueError</a:t>
            </a:r>
            <a:r>
              <a:rPr sz="1400" b="0">
                <a:solidFill>
                  <a:srgbClr val="031424"/>
                </a:solidFill>
                <a:latin typeface="DejaVu Sans Mono"/>
              </a:rPr>
              <a:t>(</a:t>
            </a:r>
            <a:r>
              <a:rPr sz="1400" b="0">
                <a:solidFill>
                  <a:srgbClr val="4070A0"/>
                </a:solidFill>
                <a:latin typeface="DejaVu Sans Mono"/>
              </a:rPr>
              <a:t>"</a:t>
            </a:r>
            <a:r>
              <a:rPr sz="1400" b="0">
                <a:solidFill>
                  <a:srgbClr val="4070A0"/>
                </a:solidFill>
                <a:latin typeface="DejaVu Sans Mono"/>
              </a:rPr>
              <a:t>Virtual force requires three finite values in newtons</a:t>
            </a:r>
            <a:r>
              <a:rPr sz="1400" b="0">
                <a:solidFill>
                  <a:srgbClr val="4070A0"/>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1">
                <a:solidFill>
                  <a:srgbClr val="007020"/>
                </a:solidFill>
                <a:latin typeface="DejaVu Sans Mono"/>
              </a:rPr>
              <a:t>if</a:t>
            </a:r>
            <a:r>
              <a:rPr sz="1400" b="0">
                <a:solidFill>
                  <a:srgbClr val="031424"/>
                </a:solidFill>
                <a:latin typeface="DejaVu Sans Mono"/>
              </a:rPr>
              <a:t> </a:t>
            </a:r>
            <a:r>
              <a:rPr sz="1400" b="1">
                <a:solidFill>
                  <a:srgbClr val="007020"/>
                </a:solidFill>
                <a:latin typeface="DejaVu Sans Mono"/>
              </a:rPr>
              <a:t>not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active</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1">
                <a:solidFill>
                  <a:srgbClr val="007020"/>
                </a:solidFill>
                <a:latin typeface="DejaVu Sans Mono"/>
              </a:rPr>
              <a:t>raise</a:t>
            </a:r>
            <a:r>
              <a:rPr sz="1400" b="0">
                <a:solidFill>
                  <a:srgbClr val="031424"/>
                </a:solidFill>
                <a:latin typeface="DejaVu Sans Mono"/>
              </a:rPr>
              <a:t> </a:t>
            </a:r>
            <a:r>
              <a:rPr sz="1400" b="0">
                <a:solidFill>
                  <a:srgbClr val="007020"/>
                </a:solidFill>
                <a:latin typeface="DejaVu Sans Mono"/>
              </a:rPr>
              <a:t>ValueError</a:t>
            </a:r>
            <a:r>
              <a:rPr sz="1400" b="0">
                <a:solidFill>
                  <a:srgbClr val="031424"/>
                </a:solidFill>
                <a:latin typeface="DejaVu Sans Mono"/>
              </a:rPr>
              <a:t>(</a:t>
            </a:r>
            <a:r>
              <a:rPr sz="1400" b="0">
                <a:solidFill>
                  <a:srgbClr val="4070A0"/>
                </a:solidFill>
                <a:latin typeface="DejaVu Sans Mono"/>
              </a:rPr>
              <a:t>"</a:t>
            </a:r>
            <a:r>
              <a:rPr sz="1400" b="0">
                <a:solidFill>
                  <a:srgbClr val="4070A0"/>
                </a:solidFill>
                <a:latin typeface="DejaVu Sans Mono"/>
              </a:rPr>
              <a:t>Activate the admittance controller before applying force</a:t>
            </a:r>
            <a:r>
              <a:rPr sz="1400" b="0">
                <a:solidFill>
                  <a:srgbClr val="4070A0"/>
                </a:solidFill>
                <a:latin typeface="DejaVu Sans Mono"/>
              </a:rPr>
              <a:t>"</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_bound</a:t>
            </a:r>
            <a:r>
              <a:rPr sz="1400" b="0">
                <a:solidFill>
                  <a:srgbClr val="031424"/>
                </a:solidFill>
                <a:latin typeface="DejaVu Sans Mono"/>
              </a:rPr>
              <a:t>(</a:t>
            </a:r>
            <a:r>
              <a:rPr sz="1400" b="0">
                <a:solidFill>
                  <a:srgbClr val="031424"/>
                </a:solidFill>
                <a:latin typeface="DejaVu Sans Mono"/>
              </a:rPr>
              <a:t>force</a:t>
            </a:r>
            <a:r>
              <a:rPr sz="1400" b="0">
                <a:solidFill>
                  <a:srgbClr val="031424"/>
                </a:solidFill>
                <a:latin typeface="DejaVu Sans Mono"/>
              </a:rPr>
              <a:t>,</a:t>
            </a: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max_force</a:t>
            </a:r>
            <a:r>
              <a:rPr sz="1400" b="0">
                <a:solidFill>
                  <a:srgbClr val="031424"/>
                </a:solidFill>
                <a:latin typeface="DejaVu Sans Mono"/>
              </a:rPr>
              <a:t>)</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force_age</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40A070"/>
                </a:solidFill>
                <a:latin typeface="DejaVu Sans Mono"/>
              </a:rPr>
              <a:t>0.0</a:t>
            </a:r>
          </a:p>
          <a:p>
            <a:pPr algn="l" marL="0" indent="0">
              <a:lnSpc>
                <a:spcPct val="104000"/>
              </a:lnSpc>
              <a:spcAft>
                <a:spcPts val="0"/>
              </a:spcAft>
            </a:pPr>
            <a:r>
              <a:rPr sz="1400" b="0">
                <a:solidFill>
                  <a:srgbClr val="031424"/>
                </a:solidFill>
                <a:latin typeface="DejaVu Sans Mono"/>
              </a:rPr>
              <a:t>        </a:t>
            </a:r>
            <a:r>
              <a:rPr sz="1400" b="0">
                <a:solidFill>
                  <a:srgbClr val="007020"/>
                </a:solidFill>
                <a:latin typeface="DejaVu Sans Mono"/>
              </a:rPr>
              <a:t>self</a:t>
            </a:r>
            <a:r>
              <a:rPr sz="1400" b="0">
                <a:solidFill>
                  <a:srgbClr val="666666"/>
                </a:solidFill>
                <a:latin typeface="DejaVu Sans Mono"/>
              </a:rPr>
              <a:t>.</a:t>
            </a:r>
            <a:r>
              <a:rPr sz="1400" b="0">
                <a:solidFill>
                  <a:srgbClr val="031424"/>
                </a:solidFill>
                <a:latin typeface="DejaVu Sans Mono"/>
              </a:rPr>
              <a:t>force_stamp</a:t>
            </a:r>
            <a:r>
              <a:rPr sz="1400" b="0">
                <a:solidFill>
                  <a:srgbClr val="031424"/>
                </a:solidFill>
                <a:latin typeface="DejaVu Sans Mono"/>
              </a:rPr>
              <a:t> </a:t>
            </a:r>
            <a:r>
              <a:rPr sz="1400" b="0">
                <a:solidFill>
                  <a:srgbClr val="666666"/>
                </a:solidFill>
                <a:latin typeface="DejaVu Sans Mono"/>
              </a:rPr>
              <a:t>=</a:t>
            </a:r>
            <a:r>
              <a:rPr sz="1400" b="0">
                <a:solidFill>
                  <a:srgbClr val="031424"/>
                </a:solidFill>
                <a:latin typeface="DejaVu Sans Mono"/>
              </a:rPr>
              <a:t> </a:t>
            </a:r>
            <a:r>
              <a:rPr sz="1400" b="0">
                <a:solidFill>
                  <a:srgbClr val="031424"/>
                </a:solidFill>
                <a:latin typeface="DejaVu Sans Mono"/>
              </a:rPr>
              <a:t>time</a:t>
            </a:r>
            <a:r>
              <a:rPr sz="1400" b="0">
                <a:solidFill>
                  <a:srgbClr val="666666"/>
                </a:solidFill>
                <a:latin typeface="DejaVu Sans Mono"/>
              </a:rPr>
              <a:t>.</a:t>
            </a:r>
            <a:r>
              <a:rPr sz="1400" b="0">
                <a:solidFill>
                  <a:srgbClr val="031424"/>
                </a:solidFill>
                <a:latin typeface="DejaVu Sans Mono"/>
              </a:rPr>
              <a:t>monotonic</a:t>
            </a:r>
            <a:r>
              <a:rPr sz="1400" b="0">
                <a:solidFill>
                  <a:srgbClr val="031424"/>
                </a:solidFill>
                <a:latin typeface="DejaVu Sans Mono"/>
              </a:rPr>
              <a:t>(</a:t>
            </a:r>
            <a:r>
              <a:rPr sz="1400" b="0">
                <a:solidFill>
                  <a:srgbClr val="031424"/>
                </a:solidFill>
                <a:latin typeface="DejaVu Sans Mono"/>
              </a:rPr>
              <a:t>)</a:t>
            </a:r>
          </a:p>
          <a:p>
            <a:pPr algn="l" marL="0" indent="0">
              <a:lnSpc>
                <a:spcPct val="104000"/>
              </a:lnSpc>
              <a:spcAft>
                <a:spcPts val="0"/>
              </a:spcAft>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launch-time setup (1/2)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r>
              <a:rPr sz="1200">
                <a:solidFill>
                  <a:srgbClr val="596675"/>
                </a:solidFill>
                <a:latin typeface="Liberation Mono"/>
              </a:rPr>
              <a:t>nav2_setup.py: presentation extract of navigation/nav.launch.py</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4070A0"/>
                </a:solidFill>
                <a:latin typeface="Liberation Mono"/>
              </a:rPr>
              <a:t>"""Call before starting controller_server with the resulting parameters."""</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json</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pathlib</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Path</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nav2_kit</a:t>
            </a:r>
            <a:r>
              <a:rPr sz="1500">
                <a:solidFill>
                  <a:srgbClr val="0E84B5"/>
                </a:solidFill>
                <a:latin typeface="Liberation Mono"/>
              </a:rPr>
              <a:t>.</a:t>
            </a:r>
            <a:r>
              <a:rPr sz="1500">
                <a:solidFill>
                  <a:srgbClr val="0E84B5"/>
                </a:solidFill>
                <a:latin typeface="Liberation Mono"/>
              </a:rPr>
              <a:t>python_critic</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install_python_critic_plugin</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configure_forward_navigation</a:t>
            </a:r>
            <a:r>
              <a:rPr sz="1500">
                <a:solidFill>
                  <a:srgbClr val="202632"/>
                </a:solidFill>
                <a:latin typeface="Liberation Mono"/>
              </a:rPr>
              <a:t>(</a:t>
            </a:r>
            <a:r>
              <a:rPr sz="1500">
                <a:solidFill>
                  <a:srgbClr val="202632"/>
                </a:solidFill>
                <a:latin typeface="Liberation Mono"/>
              </a:rPr>
              <a:t>controller_parameters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repo</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artifacts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repo</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repo</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resolve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install_python_critic_plugin</a:t>
            </a:r>
            <a:r>
              <a:rPr sz="1500">
                <a:solidFill>
                  <a:srgbClr val="202632"/>
                </a:solidFill>
                <a:latin typeface="Liberation Mono"/>
              </a:rPr>
              <a:t>(</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artifacts</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python_critic</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prefix</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follow</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controller_parameters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FollowPath</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launch-time setup (2/2)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r>
              <a:rPr sz="1200">
                <a:solidFill>
                  <a:srgbClr val="596675"/>
                </a:solidFill>
                <a:latin typeface="Liberation Mono"/>
              </a:rPr>
              <a:t>nav2_setup.py: presentation extract of navigation/nav.launch.py</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follow</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critics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ObstacleFootprint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follow</a:t>
            </a:r>
            <a:r>
              <a:rPr sz="1500">
                <a:solidFill>
                  <a:srgbClr val="666666"/>
                </a:solidFill>
                <a:latin typeface="Liberation Mono"/>
              </a:rPr>
              <a:t>.</a:t>
            </a:r>
            <a:r>
              <a:rPr sz="1500">
                <a:solidFill>
                  <a:srgbClr val="202632"/>
                </a:solidFill>
                <a:latin typeface="Liberation Mono"/>
              </a:rPr>
              <a:t>update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min_vel_x</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min_vel_y</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40A070"/>
                </a:solidFill>
                <a:latin typeface="Liberation Mono"/>
              </a:rPr>
              <a:t>0.2</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max_vel_y</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0.2</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ObstacleFootprint.scale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0.02</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ForwardCamera.class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nav2_kit_python::PythonCritic</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ForwardCamera.scale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1.0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ForwardCamera.python_module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forward_camera_policy</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ForwardCamera.python_class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ForwardCameraPolicy</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ForwardCamera.python_path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repo</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nav2_kit/demos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ForwardCamera.python_options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json</a:t>
            </a:r>
            <a:r>
              <a:rPr sz="1500">
                <a:solidFill>
                  <a:srgbClr val="666666"/>
                </a:solidFill>
                <a:latin typeface="Liberation Mono"/>
              </a:rPr>
              <a:t>.</a:t>
            </a:r>
            <a:r>
              <a:rPr sz="1500">
                <a:solidFill>
                  <a:srgbClr val="202632"/>
                </a:solidFill>
                <a:latin typeface="Liberation Mono"/>
              </a:rPr>
              <a:t>dumps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camera_half_angle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0.5236</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goal_tolerance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0.25</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heading_weight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80.0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translation_epsilon</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0.0001</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the complete Python policy (1/2)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forward_camera_policy.py   |   lines 1–24</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4070A0"/>
                </a:solidFill>
                <a:latin typeface="Liberation Mono"/>
              </a:rPr>
              <a:t>"""DWB policy for a base carrying a forward-facing depth camera.</a:t>
            </a:r>
          </a:p>
          <a:p>
            <a:pPr>
              <a:lnSpc>
                <a:spcPts val="1570"/>
              </a:lnSpc>
              <a:spcBef>
                <a:spcPts val="0"/>
              </a:spcBef>
              <a:spcAft>
                <a:spcPts val="0"/>
              </a:spcAft>
            </a:pPr>
          </a:p>
          <a:p>
            <a:pPr>
              <a:lnSpc>
                <a:spcPts val="1570"/>
              </a:lnSpc>
              <a:spcBef>
                <a:spcPts val="0"/>
              </a:spcBef>
              <a:spcAft>
                <a:spcPts val="0"/>
              </a:spcAft>
            </a:pPr>
            <a:r>
              <a:rPr sz="1500">
                <a:solidFill>
                  <a:srgbClr val="4070A0"/>
                </a:solidFill>
                <a:latin typeface="Liberation Mono"/>
              </a:rPr>
              <a:t>The policy constrains translation and scores heading. Stock DWB critics retain</a:t>
            </a:r>
          </a:p>
          <a:p>
            <a:pPr>
              <a:lnSpc>
                <a:spcPts val="1570"/>
              </a:lnSpc>
              <a:spcBef>
                <a:spcPts val="0"/>
              </a:spcBef>
              <a:spcAft>
                <a:spcPts val="0"/>
              </a:spcAft>
            </a:pPr>
            <a:r>
              <a:rPr sz="1500">
                <a:solidFill>
                  <a:srgbClr val="4070A0"/>
                </a:solidFill>
                <a:latin typeface="Liberation Mono"/>
              </a:rPr>
              <a:t>path distance, collision checking, oscillation handling, and final goal rotation.</a:t>
            </a:r>
          </a:p>
          <a:p>
            <a:pPr>
              <a:lnSpc>
                <a:spcPts val="1570"/>
              </a:lnSpc>
              <a:spcBef>
                <a:spcPts val="0"/>
              </a:spcBef>
              <a:spcAft>
                <a:spcPts val="0"/>
              </a:spcAft>
            </a:pPr>
            <a:r>
              <a:rPr sz="1500">
                <a:solidFill>
                  <a:srgbClr val="4070A0"/>
                </a:solidFill>
                <a:latin typeface="Liberation Mono"/>
              </a:rPr>
              <a:t>"""</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math</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angle</a:t>
            </a:r>
            <a:r>
              <a:rPr sz="1500">
                <a:solidFill>
                  <a:srgbClr val="202632"/>
                </a:solidFill>
                <a:latin typeface="Liberation Mono"/>
              </a:rPr>
              <a:t>(</a:t>
            </a:r>
            <a:r>
              <a:rPr sz="1500">
                <a:solidFill>
                  <a:srgbClr val="202632"/>
                </a:solidFill>
                <a:latin typeface="Liberation Mono"/>
              </a:rPr>
              <a:t>value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atan2</a:t>
            </a:r>
            <a:r>
              <a:rPr sz="1500">
                <a:solidFill>
                  <a:srgbClr val="202632"/>
                </a:solidFill>
                <a:latin typeface="Liberation Mono"/>
              </a:rPr>
              <a:t>(</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sin</a:t>
            </a:r>
            <a:r>
              <a:rPr sz="1500">
                <a:solidFill>
                  <a:srgbClr val="202632"/>
                </a:solidFill>
                <a:latin typeface="Liberation Mono"/>
              </a:rPr>
              <a:t>(</a:t>
            </a:r>
            <a:r>
              <a:rPr sz="1500">
                <a:solidFill>
                  <a:srgbClr val="202632"/>
                </a:solidFill>
                <a:latin typeface="Liberation Mono"/>
              </a:rPr>
              <a:t>value</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cos</a:t>
            </a:r>
            <a:r>
              <a:rPr sz="1500">
                <a:solidFill>
                  <a:srgbClr val="202632"/>
                </a:solidFill>
                <a:latin typeface="Liberation Mono"/>
              </a:rPr>
              <a:t>(</a:t>
            </a:r>
            <a:r>
              <a:rPr sz="1500">
                <a:solidFill>
                  <a:srgbClr val="202632"/>
                </a:solidFill>
                <a:latin typeface="Liberation Mono"/>
              </a:rPr>
              <a:t>value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class</a:t>
            </a:r>
            <a:r>
              <a:rPr sz="1500">
                <a:solidFill>
                  <a:srgbClr val="BBBBBB"/>
                </a:solidFill>
                <a:latin typeface="Liberation Mono"/>
              </a:rPr>
              <a:t> </a:t>
            </a:r>
            <a:r>
              <a:rPr sz="1500">
                <a:solidFill>
                  <a:srgbClr val="0E84B5"/>
                </a:solidFill>
                <a:latin typeface="Liberation Mono"/>
              </a:rPr>
              <a:t>ForwardCameraPolicy</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configure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options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camera_half_angle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camera_half_angle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pi</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6</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goal_tolerance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goal_tolerance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0.25</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heading_weight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heading_weight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80.0</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translation_epsilon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translation_epsilon</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0.0001</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values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camera_half_angle</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goal_tolerance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heading_weight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translation_epsilon</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all</a:t>
            </a:r>
            <a:r>
              <a:rPr sz="1500">
                <a:solidFill>
                  <a:srgbClr val="202632"/>
                </a:solidFill>
                <a:latin typeface="Liberation Mono"/>
              </a:rPr>
              <a:t>(</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v</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and</a:t>
            </a:r>
            <a:r>
              <a:rPr sz="1500">
                <a:solidFill>
                  <a:srgbClr val="202632"/>
                </a:solidFill>
                <a:latin typeface="Liberation Mono"/>
              </a:rPr>
              <a:t> </a:t>
            </a:r>
            <a:r>
              <a:rPr sz="1500">
                <a:solidFill>
                  <a:srgbClr val="202632"/>
                </a:solidFill>
                <a:latin typeface="Liberation Mono"/>
              </a:rPr>
              <a:t>v</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40A070"/>
                </a:solidFill>
                <a:latin typeface="Liberation Mono"/>
              </a:rPr>
              <a:t>0</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v</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Policy options must be finite and positive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camera_half_angle</a:t>
            </a:r>
            <a:r>
              <a:rPr sz="1500">
                <a:solidFill>
                  <a:srgbClr val="202632"/>
                </a:solidFill>
                <a:latin typeface="Liberation Mono"/>
              </a:rPr>
              <a:t> </a:t>
            </a:r>
            <a:r>
              <a:rPr sz="1500">
                <a:solidFill>
                  <a:srgbClr val="666666"/>
                </a:solidFill>
                <a:latin typeface="Liberation Mono"/>
              </a:rPr>
              <a:t>&gt;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pi</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2</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camera_half_angle must be less than pi/2 radians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the complete Python policy (2/2)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forward_camera_policy.py   |   lines 25–47</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prepare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yaw</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path_heading</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goal_distance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yaw</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yaw</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path_heading</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path_heading</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near_goal</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goal_distance</a:t>
            </a:r>
            <a:r>
              <a:rPr sz="1500">
                <a:solidFill>
                  <a:srgbClr val="202632"/>
                </a:solidFill>
                <a:latin typeface="Liberation Mono"/>
              </a:rPr>
              <a:t> </a:t>
            </a:r>
            <a:r>
              <a:rPr sz="1500">
                <a:solidFill>
                  <a:srgbClr val="666666"/>
                </a:solidFill>
                <a:latin typeface="Liberation Mono"/>
              </a:rPr>
              <a:t>&lt;</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goal_tolerance</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score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vx</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vy</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wz</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final_heading</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translating</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hypot</a:t>
            </a:r>
            <a:r>
              <a:rPr sz="1500">
                <a:solidFill>
                  <a:srgbClr val="202632"/>
                </a:solidFill>
                <a:latin typeface="Liberation Mono"/>
              </a:rPr>
              <a:t>(</a:t>
            </a:r>
            <a:r>
              <a:rPr sz="1500">
                <a:solidFill>
                  <a:srgbClr val="202632"/>
                </a:solidFill>
                <a:latin typeface="Liberation Mono"/>
              </a:rPr>
              <a:t>vx</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vy</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translation_epsilon</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translating</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DWB velocities use the base frame. Reverse and sideways motion</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leave the front camera's configured viewing cone.</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abs</a:t>
            </a:r>
            <a:r>
              <a:rPr sz="1500">
                <a:solidFill>
                  <a:srgbClr val="202632"/>
                </a:solidFill>
                <a:latin typeface="Liberation Mono"/>
              </a:rPr>
              <a:t>(</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atan2</a:t>
            </a:r>
            <a:r>
              <a:rPr sz="1500">
                <a:solidFill>
                  <a:srgbClr val="202632"/>
                </a:solidFill>
                <a:latin typeface="Liberation Mono"/>
              </a:rPr>
              <a:t>(</a:t>
            </a:r>
            <a:r>
              <a:rPr sz="1500">
                <a:solidFill>
                  <a:srgbClr val="202632"/>
                </a:solidFill>
                <a:latin typeface="Liberation Mono"/>
              </a:rPr>
              <a:t>vy</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vx</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camera_half_angle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007020"/>
                </a:solidFill>
                <a:latin typeface="Liberation Mono"/>
              </a:rPr>
              <a:t>None</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RotateToGoal owns the final yaw once inside the XY tolerance.</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near_goal</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40A070"/>
                </a:solidFill>
                <a:latin typeface="Liberation Mono"/>
              </a:rPr>
              <a:t>0.0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translating</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Turn before moving into a new path direction. Pure rotation,</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including a zero command, stays available for other DWB critics.</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abs</a:t>
            </a:r>
            <a:r>
              <a:rPr sz="1500">
                <a:solidFill>
                  <a:srgbClr val="202632"/>
                </a:solidFill>
                <a:latin typeface="Liberation Mono"/>
              </a:rPr>
              <a:t>(</a:t>
            </a:r>
            <a:r>
              <a:rPr sz="1500">
                <a:solidFill>
                  <a:srgbClr val="202632"/>
                </a:solidFill>
                <a:latin typeface="Liberation Mono"/>
              </a:rPr>
              <a:t>angle</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path_heading</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yaw</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camera_half_angle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007020"/>
                </a:solidFill>
                <a:latin typeface="Liberation Mono"/>
              </a:rPr>
              <a:t>None</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error</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angle</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path_heading</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final_heading</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heading_weight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error</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error</a:t>
            </a:r>
          </a:p>
          <a:p>
            <a:pPr>
              <a:lnSpc>
                <a:spcPts val="1570"/>
              </a:lnSpc>
              <a:spcBef>
                <a:spcPts val="0"/>
              </a:spcBef>
              <a:spcAft>
                <a:spcPts val="0"/>
              </a:spcAft>
            </a:p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ros2_control: setup before loading (1/2)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r>
              <a:rPr sz="1200">
                <a:solidFill>
                  <a:srgbClr val="596675"/>
                </a:solidFill>
                <a:latin typeface="Liberation Mono"/>
              </a:rPr>
              <a:t>controller_setup.py: presentation extract of admittance_demo.py setup</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4070A0"/>
                </a:solidFill>
                <a:latin typeface="Liberation Mono"/>
              </a:rPr>
              <a:t>"""Build the adapter before Gazebo starts; write its arm configuration."""</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json</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pathlib</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Path</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xml</a:t>
            </a:r>
            <a:r>
              <a:rPr sz="1500">
                <a:solidFill>
                  <a:srgbClr val="0E84B5"/>
                </a:solidFill>
                <a:latin typeface="Liberation Mono"/>
              </a:rPr>
              <a:t>.</a:t>
            </a:r>
            <a:r>
              <a:rPr sz="1500">
                <a:solidFill>
                  <a:srgbClr val="0E84B5"/>
                </a:solidFill>
                <a:latin typeface="Liberation Mono"/>
              </a:rPr>
              <a:t>etree</a:t>
            </a:r>
            <a:r>
              <a:rPr sz="1500">
                <a:solidFill>
                  <a:srgbClr val="0E84B5"/>
                </a:solidFill>
                <a:latin typeface="Liberation Mono"/>
              </a:rPr>
              <a:t>.</a:t>
            </a:r>
            <a:r>
              <a:rPr sz="1500">
                <a:solidFill>
                  <a:srgbClr val="0E84B5"/>
                </a:solidFill>
                <a:latin typeface="Liberation Mono"/>
              </a:rPr>
              <a:t>ElementTree</a:t>
            </a:r>
            <a:r>
              <a:rPr sz="1500">
                <a:solidFill>
                  <a:srgbClr val="BBBBBB"/>
                </a:solidFill>
                <a:latin typeface="Liberation Mono"/>
              </a:rPr>
              <a:t> </a:t>
            </a:r>
            <a:r>
              <a:rPr sz="1500">
                <a:solidFill>
                  <a:srgbClr val="007020"/>
                </a:solidFill>
                <a:latin typeface="Liberation Mono"/>
              </a:rPr>
              <a:t>as</a:t>
            </a:r>
            <a:r>
              <a:rPr sz="1500">
                <a:solidFill>
                  <a:srgbClr val="BBBBBB"/>
                </a:solidFill>
                <a:latin typeface="Liberation Mono"/>
              </a:rPr>
              <a:t> </a:t>
            </a:r>
            <a:r>
              <a:rPr sz="1500">
                <a:solidFill>
                  <a:srgbClr val="0E84B5"/>
                </a:solidFill>
                <a:latin typeface="Liberation Mono"/>
              </a:rPr>
              <a:t>ET</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control_kit</a:t>
            </a:r>
            <a:r>
              <a:rPr sz="1500">
                <a:solidFill>
                  <a:srgbClr val="0E84B5"/>
                </a:solidFill>
                <a:latin typeface="Liberation Mono"/>
              </a:rPr>
              <a:t>.</a:t>
            </a:r>
            <a:r>
              <a:rPr sz="1500">
                <a:solidFill>
                  <a:srgbClr val="0E84B5"/>
                </a:solidFill>
                <a:latin typeface="Liberation Mono"/>
              </a:rPr>
              <a:t>python_control</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install_python_controller_plugin</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prepare_admittance</a:t>
            </a:r>
            <a:r>
              <a:rPr sz="1500">
                <a:solidFill>
                  <a:srgbClr val="202632"/>
                </a:solidFill>
                <a:latin typeface="Liberation Mono"/>
              </a:rPr>
              <a:t>(</a:t>
            </a:r>
            <a:r>
              <a:rPr sz="1500">
                <a:solidFill>
                  <a:srgbClr val="202632"/>
                </a:solidFill>
                <a:latin typeface="Liberation Mono"/>
              </a:rPr>
              <a:t>repo</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urdf_path</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overlay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repo</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repo</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resolve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install_python_controller_plugin</a:t>
            </a:r>
            <a:r>
              <a:rPr sz="1500">
                <a:solidFill>
                  <a:srgbClr val="202632"/>
                </a:solidFill>
                <a:latin typeface="Liberation Mono"/>
              </a:rPr>
              <a:t>(</a:t>
            </a:r>
            <a:r>
              <a:rPr sz="1500">
                <a:solidFill>
                  <a:srgbClr val="202632"/>
                </a:solidFill>
                <a:latin typeface="Liberation Mono"/>
              </a:rPr>
              <a:t>overlay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prefix</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joints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arm_left_</a:t>
            </a:r>
            <a:r>
              <a:rPr sz="1500">
                <a:solidFill>
                  <a:srgbClr val="70A0D0"/>
                </a:solidFill>
                <a:latin typeface="Liberation Mono"/>
              </a:rPr>
              <a:t>{</a:t>
            </a:r>
            <a:r>
              <a:rPr sz="1500">
                <a:solidFill>
                  <a:srgbClr val="202632"/>
                </a:solidFill>
                <a:latin typeface="Liberation Mono"/>
              </a:rPr>
              <a:t>i</a:t>
            </a:r>
            <a:r>
              <a:rPr sz="1500">
                <a:solidFill>
                  <a:srgbClr val="70A0D0"/>
                </a:solidFill>
                <a:latin typeface="Liberation Mono"/>
              </a:rPr>
              <a:t>}</a:t>
            </a:r>
            <a:r>
              <a:rPr sz="1500">
                <a:solidFill>
                  <a:srgbClr val="4070A0"/>
                </a:solidFill>
                <a:latin typeface="Liberation Mono"/>
              </a:rPr>
              <a:t>_joint</a:t>
            </a:r>
            <a:r>
              <a:rPr sz="1500">
                <a:solidFill>
                  <a:srgbClr val="4070A0"/>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i</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007020"/>
                </a:solidFill>
                <a:latin typeface="Liberation Mono"/>
              </a:rPr>
              <a:t>range</a:t>
            </a:r>
            <a:r>
              <a:rPr sz="1500">
                <a:solidFill>
                  <a:srgbClr val="202632"/>
                </a:solidFill>
                <a:latin typeface="Liberation Mono"/>
              </a:rPr>
              <a:t>(</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8</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model</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ET</a:t>
            </a:r>
            <a:r>
              <a:rPr sz="1500">
                <a:solidFill>
                  <a:srgbClr val="666666"/>
                </a:solidFill>
                <a:latin typeface="Liberation Mono"/>
              </a:rPr>
              <a:t>.</a:t>
            </a:r>
            <a:r>
              <a:rPr sz="1500">
                <a:solidFill>
                  <a:srgbClr val="202632"/>
                </a:solidFill>
                <a:latin typeface="Liberation Mono"/>
              </a:rPr>
              <a:t>parse</a:t>
            </a:r>
            <a:r>
              <a:rPr sz="1500">
                <a:solidFill>
                  <a:srgbClr val="202632"/>
                </a:solidFill>
                <a:latin typeface="Liberation Mono"/>
              </a:rPr>
              <a:t>(</a:t>
            </a:r>
            <a:r>
              <a:rPr sz="1500">
                <a:solidFill>
                  <a:srgbClr val="202632"/>
                </a:solidFill>
                <a:latin typeface="Liberation Mono"/>
              </a:rPr>
              <a:t>urdf_path</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getroot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limits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j</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name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limit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j</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model</a:t>
            </a:r>
            <a:r>
              <a:rPr sz="1500">
                <a:solidFill>
                  <a:srgbClr val="666666"/>
                </a:solidFill>
                <a:latin typeface="Liberation Mono"/>
              </a:rPr>
              <a:t>.</a:t>
            </a:r>
            <a:r>
              <a:rPr sz="1500">
                <a:solidFill>
                  <a:srgbClr val="202632"/>
                </a:solidFill>
                <a:latin typeface="Liberation Mono"/>
              </a:rPr>
              <a:t>findall</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joint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options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ros2_control: setup before loading (2/2)</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r>
              <a:rPr sz="1200">
                <a:solidFill>
                  <a:srgbClr val="596675"/>
                </a:solidFill>
                <a:latin typeface="Liberation Mono"/>
              </a:rPr>
              <a:t>controller_setup.py: presentation extract of admittance_demo.py setup</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urdf_path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urdf_path</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resolve</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base_link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torso_lift_link</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tip_link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gripper_left_grasping_link</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lower_limits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limits</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lower</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j</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upper_limits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limits</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upper</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j</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parameters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type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control_kit_python/PythonController</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joints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joints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python_module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python_admittance_controller</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python_class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CartesianAdmittance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repo</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control_kit/demos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python_options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json</a:t>
            </a:r>
            <a:r>
              <a:rPr sz="1500">
                <a:solidFill>
                  <a:srgbClr val="666666"/>
                </a:solidFill>
                <a:latin typeface="Liberation Mono"/>
              </a:rPr>
              <a:t>.</a:t>
            </a:r>
            <a:r>
              <a:rPr sz="1500">
                <a:solidFill>
                  <a:srgbClr val="202632"/>
                </a:solidFill>
                <a:latin typeface="Liberation Mono"/>
              </a:rPr>
              <a:t>dumps</a:t>
            </a:r>
            <a:r>
              <a:rPr sz="1500">
                <a:solidFill>
                  <a:srgbClr val="202632"/>
                </a:solidFill>
                <a:latin typeface="Liberation Mono"/>
              </a:rPr>
              <a:t>(</a:t>
            </a:r>
            <a:r>
              <a:rPr sz="1500">
                <a:solidFill>
                  <a:srgbClr val="202632"/>
                </a:solidFill>
                <a:latin typeface="Liberation Mono"/>
              </a:rPr>
              <a:t>options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output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admittance.yaml</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output</a:t>
            </a:r>
            <a:r>
              <a:rPr sz="1500">
                <a:solidFill>
                  <a:srgbClr val="666666"/>
                </a:solidFill>
                <a:latin typeface="Liberation Mono"/>
              </a:rPr>
              <a:t>.</a:t>
            </a:r>
            <a:r>
              <a:rPr sz="1500">
                <a:solidFill>
                  <a:srgbClr val="202632"/>
                </a:solidFill>
                <a:latin typeface="Liberation Mono"/>
              </a:rPr>
              <a:t>write_text</a:t>
            </a:r>
            <a:r>
              <a:rPr sz="1500">
                <a:solidFill>
                  <a:srgbClr val="202632"/>
                </a:solidFill>
                <a:latin typeface="Liberation Mono"/>
              </a:rPr>
              <a:t>(</a:t>
            </a:r>
            <a:r>
              <a:rPr sz="1500">
                <a:solidFill>
                  <a:srgbClr val="202632"/>
                </a:solidFill>
                <a:latin typeface="Liberation Mono"/>
              </a:rPr>
              <a:t>json</a:t>
            </a:r>
            <a:r>
              <a:rPr sz="1500">
                <a:solidFill>
                  <a:srgbClr val="666666"/>
                </a:solidFill>
                <a:latin typeface="Liberation Mono"/>
              </a:rPr>
              <a:t>.</a:t>
            </a:r>
            <a:r>
              <a:rPr sz="1500">
                <a:solidFill>
                  <a:srgbClr val="202632"/>
                </a:solidFill>
                <a:latin typeface="Liberation Mono"/>
              </a:rPr>
              <a:t>dumps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cppyy_admittance_arm_left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ros__parameters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parameters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indent</a:t>
            </a:r>
            <a:r>
              <a:rPr sz="1500">
                <a:solidFill>
                  <a:srgbClr val="666666"/>
                </a:solidFill>
                <a:latin typeface="Liberation Mono"/>
              </a:rPr>
              <a:t>=</a:t>
            </a:r>
            <a:r>
              <a:rPr sz="1500">
                <a:solidFill>
                  <a:srgbClr val="40A070"/>
                </a:solidFill>
                <a:latin typeface="Liberation Mono"/>
              </a:rPr>
              <a:t>2</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output</a:t>
            </a:r>
          </a:p>
          <a:p>
            <a:pPr>
              <a:lnSpc>
                <a:spcPts val="1570"/>
              </a:lnSpc>
              <a:spcBef>
                <a:spcPts val="0"/>
              </a:spcBef>
              <a:spcAft>
                <a:spcPts val="0"/>
              </a:spcAft>
            </a:p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ros2_control: load, activate and restore (1/1)</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controller_lifecycle.sh   |   lines 1–18</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60A0B0"/>
                </a:solidFill>
                <a:latin typeface="Liberation Mono"/>
              </a:rPr>
              <a:t># In the simulator environment, after Gazebo starts with the overlay.</a:t>
            </a:r>
          </a:p>
          <a:p>
            <a:pPr>
              <a:lnSpc>
                <a:spcPts val="1570"/>
              </a:lnSpc>
              <a:spcBef>
                <a:spcPts val="0"/>
              </a:spcBef>
              <a:spcAft>
                <a:spcPts val="0"/>
              </a:spcAft>
            </a:pPr>
            <a:r>
              <a:rPr sz="1500">
                <a:solidFill>
                  <a:srgbClr val="60A0B0"/>
                </a:solidFill>
                <a:latin typeface="Liberation Mono"/>
              </a:rPr>
              <a:t># CONFIG is the file returned by prepare_admittance().</a:t>
            </a:r>
          </a:p>
          <a:p>
            <a:pPr>
              <a:lnSpc>
                <a:spcPts val="1570"/>
              </a:lnSpc>
              <a:spcBef>
                <a:spcPts val="0"/>
              </a:spcBef>
              <a:spcAft>
                <a:spcPts val="0"/>
              </a:spcAft>
            </a:pPr>
            <a:r>
              <a:rPr sz="1500">
                <a:solidFill>
                  <a:srgbClr val="202632"/>
                </a:solidFill>
                <a:latin typeface="Liberation Mono"/>
              </a:rPr>
              <a:t>ros2</a:t>
            </a:r>
            <a:r>
              <a:rPr sz="1500">
                <a:solidFill>
                  <a:srgbClr val="BBBBBB"/>
                </a:solidFill>
                <a:latin typeface="Liberation Mono"/>
              </a:rPr>
              <a:t> </a:t>
            </a:r>
            <a:r>
              <a:rPr sz="1500">
                <a:solidFill>
                  <a:srgbClr val="202632"/>
                </a:solidFill>
                <a:latin typeface="Liberation Mono"/>
              </a:rPr>
              <a:t>run</a:t>
            </a:r>
            <a:r>
              <a:rPr sz="1500">
                <a:solidFill>
                  <a:srgbClr val="BBBBBB"/>
                </a:solidFill>
                <a:latin typeface="Liberation Mono"/>
              </a:rPr>
              <a:t> </a:t>
            </a:r>
            <a:r>
              <a:rPr sz="1500">
                <a:solidFill>
                  <a:srgbClr val="202632"/>
                </a:solidFill>
                <a:latin typeface="Liberation Mono"/>
              </a:rPr>
              <a:t>controller_manager</a:t>
            </a:r>
            <a:r>
              <a:rPr sz="1500">
                <a:solidFill>
                  <a:srgbClr val="BBBBBB"/>
                </a:solidFill>
                <a:latin typeface="Liberation Mono"/>
              </a:rPr>
              <a:t> </a:t>
            </a:r>
            <a:r>
              <a:rPr sz="1500">
                <a:solidFill>
                  <a:srgbClr val="202632"/>
                </a:solidFill>
                <a:latin typeface="Liberation Mono"/>
              </a:rPr>
              <a:t>spawner</a:t>
            </a:r>
            <a:r>
              <a:rPr sz="1500">
                <a:solidFill>
                  <a:srgbClr val="BBBBBB"/>
                </a:solidFill>
                <a:latin typeface="Liberation Mono"/>
              </a:rPr>
              <a:t> </a:t>
            </a:r>
            <a:r>
              <a:rPr sz="1500">
                <a:solidFill>
                  <a:srgbClr val="202632"/>
                </a:solidFill>
                <a:latin typeface="Liberation Mono"/>
              </a:rPr>
              <a:t>cppyy_admittance_arm_left</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-p</a:t>
            </a:r>
            <a:r>
              <a:rPr sz="1500">
                <a:solidFill>
                  <a:srgbClr val="BBBBBB"/>
                </a:solidFill>
                <a:latin typeface="Liberation Mono"/>
              </a:rPr>
              <a:t> </a:t>
            </a:r>
            <a:r>
              <a:rPr sz="1500">
                <a:solidFill>
                  <a:srgbClr val="4070A0"/>
                </a:solidFill>
                <a:latin typeface="Liberation Mono"/>
              </a:rPr>
              <a:t>"</a:t>
            </a:r>
            <a:r>
              <a:rPr sz="1500">
                <a:solidFill>
                  <a:srgbClr val="BB60D5"/>
                </a:solidFill>
                <a:latin typeface="Liberation Mono"/>
              </a:rPr>
              <a:t>$CONFIG</a:t>
            </a:r>
            <a:r>
              <a:rPr sz="1500">
                <a:solidFill>
                  <a:srgbClr val="4070A0"/>
                </a:solidFill>
                <a:latin typeface="Liberation Mono"/>
              </a:rPr>
              <a:t>"</a:t>
            </a:r>
            <a:r>
              <a:rPr sz="1500">
                <a:solidFill>
                  <a:srgbClr val="BBBBBB"/>
                </a:solidFill>
                <a:latin typeface="Liberation Mono"/>
              </a:rPr>
              <a:t> </a:t>
            </a:r>
            <a:r>
              <a:rPr sz="1500">
                <a:solidFill>
                  <a:srgbClr val="202632"/>
                </a:solidFill>
                <a:latin typeface="Liberation Mono"/>
              </a:rPr>
              <a:t>--inactive</a:t>
            </a:r>
            <a:r>
              <a:rPr sz="1500">
                <a:solidFill>
                  <a:srgbClr val="BBBBBB"/>
                </a:solidFill>
                <a:latin typeface="Liberation Mono"/>
              </a:rPr>
              <a:t> </a:t>
            </a:r>
            <a:r>
              <a:rPr sz="1500">
                <a:solidFill>
                  <a:srgbClr val="202632"/>
                </a:solidFill>
                <a:latin typeface="Liberation Mono"/>
              </a:rPr>
              <a:t>--controller-manager-timeout</a:t>
            </a:r>
            <a:r>
              <a:rPr sz="1500">
                <a:solidFill>
                  <a:srgbClr val="BBBBBB"/>
                </a:solidFill>
                <a:latin typeface="Liberation Mono"/>
              </a:rPr>
              <a:t> </a:t>
            </a:r>
            <a:r>
              <a:rPr sz="1500">
                <a:solidFill>
                  <a:srgbClr val="40A070"/>
                </a:solidFill>
                <a:latin typeface="Liberation Mono"/>
              </a:rPr>
              <a:t>30</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ros2</a:t>
            </a:r>
            <a:r>
              <a:rPr sz="1500">
                <a:solidFill>
                  <a:srgbClr val="BBBBBB"/>
                </a:solidFill>
                <a:latin typeface="Liberation Mono"/>
              </a:rPr>
              <a:t> </a:t>
            </a:r>
            <a:r>
              <a:rPr sz="1500">
                <a:solidFill>
                  <a:srgbClr val="202632"/>
                </a:solidFill>
                <a:latin typeface="Liberation Mono"/>
              </a:rPr>
              <a:t>control</a:t>
            </a:r>
            <a:r>
              <a:rPr sz="1500">
                <a:solidFill>
                  <a:srgbClr val="BBBBBB"/>
                </a:solidFill>
                <a:latin typeface="Liberation Mono"/>
              </a:rPr>
              <a:t> </a:t>
            </a:r>
            <a:r>
              <a:rPr sz="1500">
                <a:solidFill>
                  <a:srgbClr val="202632"/>
                </a:solidFill>
                <a:latin typeface="Liberation Mono"/>
              </a:rPr>
              <a:t>switch_controllers</a:t>
            </a:r>
            <a:r>
              <a:rPr sz="1500">
                <a:solidFill>
                  <a:srgbClr val="BBBBBB"/>
                </a:solidFill>
                <a:latin typeface="Liberation Mono"/>
              </a:rPr>
              <a:t> </a:t>
            </a:r>
            <a:r>
              <a:rPr sz="1500">
                <a:solidFill>
                  <a:srgbClr val="202632"/>
                </a:solidFill>
                <a:latin typeface="Liberation Mono"/>
              </a:rPr>
              <a:t>--strict</a:t>
            </a:r>
            <a:r>
              <a:rPr sz="1500">
                <a:solidFill>
                  <a:srgbClr val="BBBBBB"/>
                </a:solidFill>
                <a:latin typeface="Liberation Mono"/>
              </a:rPr>
              <a:t> </a:t>
            </a:r>
            <a:r>
              <a:rPr sz="1500">
                <a:solidFill>
                  <a:srgbClr val="202632"/>
                </a:solidFill>
                <a:latin typeface="Liberation Mono"/>
              </a:rPr>
              <a:t>--activate-asap</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--deactivate</a:t>
            </a:r>
            <a:r>
              <a:rPr sz="1500">
                <a:solidFill>
                  <a:srgbClr val="BBBBBB"/>
                </a:solidFill>
                <a:latin typeface="Liberation Mono"/>
              </a:rPr>
              <a:t> </a:t>
            </a:r>
            <a:r>
              <a:rPr sz="1500">
                <a:solidFill>
                  <a:srgbClr val="202632"/>
                </a:solidFill>
                <a:latin typeface="Liberation Mono"/>
              </a:rPr>
              <a:t>arm_left_controller</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--activate</a:t>
            </a:r>
            <a:r>
              <a:rPr sz="1500">
                <a:solidFill>
                  <a:srgbClr val="BBBBBB"/>
                </a:solidFill>
                <a:latin typeface="Liberation Mono"/>
              </a:rPr>
              <a:t> </a:t>
            </a:r>
            <a:r>
              <a:rPr sz="1500">
                <a:solidFill>
                  <a:srgbClr val="202632"/>
                </a:solidFill>
                <a:latin typeface="Liberation Mono"/>
              </a:rPr>
              <a:t>cppyy_admittance_arm_left</a:t>
            </a:r>
            <a:r>
              <a:rPr sz="1500">
                <a:solidFill>
                  <a:srgbClr val="BBBBBB"/>
                </a:solidFill>
                <a:latin typeface="Liberation Mono"/>
              </a:rPr>
              <a:t> </a:t>
            </a:r>
            <a:r>
              <a:rPr sz="1500">
                <a:solidFill>
                  <a:srgbClr val="202632"/>
                </a:solidFill>
                <a:latin typeface="Liberation Mono"/>
              </a:rPr>
              <a:t>--switch-timeout</a:t>
            </a:r>
            <a:r>
              <a:rPr sz="1500">
                <a:solidFill>
                  <a:srgbClr val="BBBBBB"/>
                </a:solidFill>
                <a:latin typeface="Liberation Mono"/>
              </a:rPr>
              <a:t> </a:t>
            </a:r>
            <a:r>
              <a:rPr sz="1500">
                <a:solidFill>
                  <a:srgbClr val="40A070"/>
                </a:solidFill>
                <a:latin typeface="Liberation Mono"/>
              </a:rPr>
              <a:t>10</a:t>
            </a:r>
          </a:p>
          <a:p>
            <a:pPr>
              <a:lnSpc>
                <a:spcPts val="1570"/>
              </a:lnSpc>
              <a:spcBef>
                <a:spcPts val="0"/>
              </a:spcBef>
              <a:spcAft>
                <a:spcPts val="0"/>
              </a:spcAft>
            </a:pPr>
          </a:p>
          <a:p>
            <a:pPr>
              <a:lnSpc>
                <a:spcPts val="1570"/>
              </a:lnSpc>
              <a:spcBef>
                <a:spcPts val="0"/>
              </a:spcBef>
              <a:spcAft>
                <a:spcPts val="0"/>
              </a:spcAft>
            </a:pPr>
            <a:r>
              <a:rPr sz="1500">
                <a:solidFill>
                  <a:srgbClr val="60A0B0"/>
                </a:solidFill>
                <a:latin typeface="Liberation Mono"/>
              </a:rPr>
              <a:t># The RViz force UI publishes [Fx, Fy, Fz] to this topic.</a:t>
            </a:r>
          </a:p>
          <a:p>
            <a:pPr>
              <a:lnSpc>
                <a:spcPts val="1570"/>
              </a:lnSpc>
              <a:spcBef>
                <a:spcPts val="0"/>
              </a:spcBef>
              <a:spcAft>
                <a:spcPts val="0"/>
              </a:spcAft>
            </a:pPr>
            <a:r>
              <a:rPr sz="1500">
                <a:solidFill>
                  <a:srgbClr val="202632"/>
                </a:solidFill>
                <a:latin typeface="Liberation Mono"/>
              </a:rPr>
              <a:t>ros2</a:t>
            </a:r>
            <a:r>
              <a:rPr sz="1500">
                <a:solidFill>
                  <a:srgbClr val="BBBBBB"/>
                </a:solidFill>
                <a:latin typeface="Liberation Mono"/>
              </a:rPr>
              <a:t> </a:t>
            </a:r>
            <a:r>
              <a:rPr sz="1500">
                <a:solidFill>
                  <a:srgbClr val="202632"/>
                </a:solidFill>
                <a:latin typeface="Liberation Mono"/>
              </a:rPr>
              <a:t>topic</a:t>
            </a:r>
            <a:r>
              <a:rPr sz="1500">
                <a:solidFill>
                  <a:srgbClr val="BBBBBB"/>
                </a:solidFill>
                <a:latin typeface="Liberation Mono"/>
              </a:rPr>
              <a:t> </a:t>
            </a:r>
            <a:r>
              <a:rPr sz="1500">
                <a:solidFill>
                  <a:srgbClr val="202632"/>
                </a:solidFill>
                <a:latin typeface="Liberation Mono"/>
              </a:rPr>
              <a:t>pub</a:t>
            </a:r>
            <a:r>
              <a:rPr sz="1500">
                <a:solidFill>
                  <a:srgbClr val="BBBBBB"/>
                </a:solidFill>
                <a:latin typeface="Liberation Mono"/>
              </a:rPr>
              <a:t> </a:t>
            </a:r>
            <a:r>
              <a:rPr sz="1500">
                <a:solidFill>
                  <a:srgbClr val="202632"/>
                </a:solidFill>
                <a:latin typeface="Liberation Mono"/>
              </a:rPr>
              <a:t>--rate</a:t>
            </a:r>
            <a:r>
              <a:rPr sz="1500">
                <a:solidFill>
                  <a:srgbClr val="BBBBBB"/>
                </a:solidFill>
                <a:latin typeface="Liberation Mono"/>
              </a:rPr>
              <a:t> </a:t>
            </a:r>
            <a:r>
              <a:rPr sz="1500">
                <a:solidFill>
                  <a:srgbClr val="40A070"/>
                </a:solidFill>
                <a:latin typeface="Liberation Mono"/>
              </a:rPr>
              <a:t>20</a:t>
            </a:r>
            <a:r>
              <a:rPr sz="1500">
                <a:solidFill>
                  <a:srgbClr val="BBBBBB"/>
                </a:solidFill>
                <a:latin typeface="Liberation Mono"/>
              </a:rPr>
              <a:t> </a:t>
            </a:r>
            <a:r>
              <a:rPr sz="1500">
                <a:solidFill>
                  <a:srgbClr val="202632"/>
                </a:solidFill>
                <a:latin typeface="Liberation Mono"/>
              </a:rPr>
              <a:t>/cppyy_admittance_arm_left/commands</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std_msgs/msg/Float64MultiArray</a:t>
            </a:r>
            <a:r>
              <a:rPr sz="1500">
                <a:solidFill>
                  <a:srgbClr val="BBBBBB"/>
                </a:solidFill>
                <a:latin typeface="Liberation Mono"/>
              </a:rPr>
              <a:t> </a:t>
            </a:r>
            <a:r>
              <a:rPr sz="1500">
                <a:solidFill>
                  <a:srgbClr val="4070A0"/>
                </a:solidFill>
                <a:latin typeface="Liberation Mono"/>
              </a:rPr>
              <a:t>'{data: [2.0, 0.0, 0.0]}'</a:t>
            </a:r>
          </a:p>
          <a:p>
            <a:pPr>
              <a:lnSpc>
                <a:spcPts val="1570"/>
              </a:lnSpc>
              <a:spcBef>
                <a:spcPts val="0"/>
              </a:spcBef>
              <a:spcAft>
                <a:spcPts val="0"/>
              </a:spcAft>
            </a:pPr>
          </a:p>
          <a:p>
            <a:pPr>
              <a:lnSpc>
                <a:spcPts val="1570"/>
              </a:lnSpc>
              <a:spcBef>
                <a:spcPts val="0"/>
              </a:spcBef>
              <a:spcAft>
                <a:spcPts val="0"/>
              </a:spcAft>
            </a:pPr>
            <a:r>
              <a:rPr sz="1500">
                <a:solidFill>
                  <a:srgbClr val="60A0B0"/>
                </a:solidFill>
                <a:latin typeface="Liberation Mono"/>
              </a:rPr>
              <a:t># Stop the publisher. Let the force timeout expire and the hand return.</a:t>
            </a:r>
          </a:p>
          <a:p>
            <a:pPr>
              <a:lnSpc>
                <a:spcPts val="1570"/>
              </a:lnSpc>
              <a:spcBef>
                <a:spcPts val="0"/>
              </a:spcBef>
              <a:spcAft>
                <a:spcPts val="0"/>
              </a:spcAft>
            </a:pPr>
            <a:r>
              <a:rPr sz="1500">
                <a:solidFill>
                  <a:srgbClr val="202632"/>
                </a:solidFill>
                <a:latin typeface="Liberation Mono"/>
              </a:rPr>
              <a:t>ros2</a:t>
            </a:r>
            <a:r>
              <a:rPr sz="1500">
                <a:solidFill>
                  <a:srgbClr val="BBBBBB"/>
                </a:solidFill>
                <a:latin typeface="Liberation Mono"/>
              </a:rPr>
              <a:t> </a:t>
            </a:r>
            <a:r>
              <a:rPr sz="1500">
                <a:solidFill>
                  <a:srgbClr val="202632"/>
                </a:solidFill>
                <a:latin typeface="Liberation Mono"/>
              </a:rPr>
              <a:t>control</a:t>
            </a:r>
            <a:r>
              <a:rPr sz="1500">
                <a:solidFill>
                  <a:srgbClr val="BBBBBB"/>
                </a:solidFill>
                <a:latin typeface="Liberation Mono"/>
              </a:rPr>
              <a:t> </a:t>
            </a:r>
            <a:r>
              <a:rPr sz="1500">
                <a:solidFill>
                  <a:srgbClr val="202632"/>
                </a:solidFill>
                <a:latin typeface="Liberation Mono"/>
              </a:rPr>
              <a:t>switch_controllers</a:t>
            </a:r>
            <a:r>
              <a:rPr sz="1500">
                <a:solidFill>
                  <a:srgbClr val="BBBBBB"/>
                </a:solidFill>
                <a:latin typeface="Liberation Mono"/>
              </a:rPr>
              <a:t> </a:t>
            </a:r>
            <a:r>
              <a:rPr sz="1500">
                <a:solidFill>
                  <a:srgbClr val="202632"/>
                </a:solidFill>
                <a:latin typeface="Liberation Mono"/>
              </a:rPr>
              <a:t>--strict</a:t>
            </a:r>
            <a:r>
              <a:rPr sz="1500">
                <a:solidFill>
                  <a:srgbClr val="BBBBBB"/>
                </a:solidFill>
                <a:latin typeface="Liberation Mono"/>
              </a:rPr>
              <a:t> </a:t>
            </a:r>
            <a:r>
              <a:rPr sz="1500">
                <a:solidFill>
                  <a:srgbClr val="202632"/>
                </a:solidFill>
                <a:latin typeface="Liberation Mono"/>
              </a:rPr>
              <a:t>--activate-asap</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--deactivate</a:t>
            </a:r>
            <a:r>
              <a:rPr sz="1500">
                <a:solidFill>
                  <a:srgbClr val="BBBBBB"/>
                </a:solidFill>
                <a:latin typeface="Liberation Mono"/>
              </a:rPr>
              <a:t> </a:t>
            </a:r>
            <a:r>
              <a:rPr sz="1500">
                <a:solidFill>
                  <a:srgbClr val="202632"/>
                </a:solidFill>
                <a:latin typeface="Liberation Mono"/>
              </a:rPr>
              <a:t>cppyy_admittance_arm_left</a:t>
            </a:r>
            <a:r>
              <a:rPr sz="1500">
                <a:solidFill>
                  <a:srgbClr val="BBBBBB"/>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--activate</a:t>
            </a:r>
            <a:r>
              <a:rPr sz="1500">
                <a:solidFill>
                  <a:srgbClr val="BBBBBB"/>
                </a:solidFill>
                <a:latin typeface="Liberation Mono"/>
              </a:rPr>
              <a:t> </a:t>
            </a:r>
            <a:r>
              <a:rPr sz="1500">
                <a:solidFill>
                  <a:srgbClr val="202632"/>
                </a:solidFill>
                <a:latin typeface="Liberation Mono"/>
              </a:rPr>
              <a:t>arm_left_controller</a:t>
            </a:r>
            <a:r>
              <a:rPr sz="1500">
                <a:solidFill>
                  <a:srgbClr val="BBBBBB"/>
                </a:solidFill>
                <a:latin typeface="Liberation Mono"/>
              </a:rPr>
              <a:t> </a:t>
            </a:r>
            <a:r>
              <a:rPr sz="1500">
                <a:solidFill>
                  <a:srgbClr val="202632"/>
                </a:solidFill>
                <a:latin typeface="Liberation Mono"/>
              </a:rPr>
              <a:t>--switch-timeout</a:t>
            </a:r>
            <a:r>
              <a:rPr sz="1500">
                <a:solidFill>
                  <a:srgbClr val="BBBBBB"/>
                </a:solidFill>
                <a:latin typeface="Liberation Mono"/>
              </a:rPr>
              <a:t> </a:t>
            </a:r>
            <a:r>
              <a:rPr sz="1500">
                <a:solidFill>
                  <a:srgbClr val="40A070"/>
                </a:solidFill>
                <a:latin typeface="Liberation Mono"/>
              </a:rPr>
              <a:t>10</a:t>
            </a:r>
          </a:p>
          <a:p>
            <a:pPr>
              <a:lnSpc>
                <a:spcPts val="1570"/>
              </a:lnSpc>
              <a:spcBef>
                <a:spcPts val="0"/>
              </a:spcBef>
              <a:spcAft>
                <a:spcPts val="0"/>
              </a:spcAft>
            </a:pPr>
            <a:r>
              <a:rPr sz="1500">
                <a:solidFill>
                  <a:srgbClr val="202632"/>
                </a:solidFill>
                <a:latin typeface="Liberation Mono"/>
              </a:rPr>
              <a:t>ros2</a:t>
            </a:r>
            <a:r>
              <a:rPr sz="1500">
                <a:solidFill>
                  <a:srgbClr val="BBBBBB"/>
                </a:solidFill>
                <a:latin typeface="Liberation Mono"/>
              </a:rPr>
              <a:t> </a:t>
            </a:r>
            <a:r>
              <a:rPr sz="1500">
                <a:solidFill>
                  <a:srgbClr val="202632"/>
                </a:solidFill>
                <a:latin typeface="Liberation Mono"/>
              </a:rPr>
              <a:t>control</a:t>
            </a:r>
            <a:r>
              <a:rPr sz="1500">
                <a:solidFill>
                  <a:srgbClr val="BBBBBB"/>
                </a:solidFill>
                <a:latin typeface="Liberation Mono"/>
              </a:rPr>
              <a:t> </a:t>
            </a:r>
            <a:r>
              <a:rPr sz="1500">
                <a:solidFill>
                  <a:srgbClr val="202632"/>
                </a:solidFill>
                <a:latin typeface="Liberation Mono"/>
              </a:rPr>
              <a:t>unload_controller</a:t>
            </a:r>
            <a:r>
              <a:rPr sz="1500">
                <a:solidFill>
                  <a:srgbClr val="BBBBBB"/>
                </a:solidFill>
                <a:latin typeface="Liberation Mono"/>
              </a:rPr>
              <a:t> </a:t>
            </a:r>
            <a:r>
              <a:rPr sz="1500">
                <a:solidFill>
                  <a:srgbClr val="202632"/>
                </a:solidFill>
                <a:latin typeface="Liberation Mono"/>
              </a:rPr>
              <a:t>cppyy_admittance_arm_left</a:t>
            </a:r>
          </a:p>
          <a:p>
            <a:pPr>
              <a:lnSpc>
                <a:spcPts val="1570"/>
              </a:lnSpc>
              <a:spcBef>
                <a:spcPts val="0"/>
              </a:spcBef>
              <a:spcAft>
                <a:spcPts val="0"/>
              </a:spcAft>
            </a:p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(1/6)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1–25</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4070A0"/>
                </a:solidFill>
                <a:latin typeface="Liberation Mono"/>
              </a:rPr>
              <a:t>"""Cartesian virtual-force admittance for the embedded Python controller bridge.</a:t>
            </a:r>
          </a:p>
          <a:p>
            <a:pPr>
              <a:lnSpc>
                <a:spcPts val="1570"/>
              </a:lnSpc>
              <a:spcBef>
                <a:spcPts val="0"/>
              </a:spcBef>
              <a:spcAft>
                <a:spcPts val="0"/>
              </a:spcAft>
            </a:pPr>
          </a:p>
          <a:p>
            <a:pPr>
              <a:lnSpc>
                <a:spcPts val="1570"/>
              </a:lnSpc>
              <a:spcBef>
                <a:spcPts val="0"/>
              </a:spcBef>
              <a:spcAft>
                <a:spcPts val="0"/>
              </a:spcAft>
            </a:pPr>
            <a:r>
              <a:rPr sz="1500">
                <a:solidFill>
                  <a:srgbClr val="4070A0"/>
                </a:solidFill>
                <a:latin typeface="Liberation Mono"/>
              </a:rPr>
              <a:t>set_target([fx, fy, fz]) applies a virtual force in newtons, expressed in the</a:t>
            </a:r>
          </a:p>
          <a:p>
            <a:pPr>
              <a:lnSpc>
                <a:spcPts val="1570"/>
              </a:lnSpc>
              <a:spcBef>
                <a:spcPts val="0"/>
              </a:spcBef>
              <a:spcAft>
                <a:spcPts val="0"/>
              </a:spcAft>
            </a:pPr>
            <a:r>
              <a:rPr sz="1500">
                <a:solidFill>
                  <a:srgbClr val="4070A0"/>
                </a:solidFill>
                <a:latin typeface="Liberation Mono"/>
              </a:rPr>
              <a:t>configured base_link frame. It does not read a physical force sensor.</a:t>
            </a:r>
          </a:p>
          <a:p>
            <a:pPr>
              <a:lnSpc>
                <a:spcPts val="1570"/>
              </a:lnSpc>
              <a:spcBef>
                <a:spcPts val="0"/>
              </a:spcBef>
              <a:spcAft>
                <a:spcPts val="0"/>
              </a:spcAft>
            </a:pPr>
            <a:r>
              <a:rPr sz="1500">
                <a:solidFill>
                  <a:srgbClr val="4070A0"/>
                </a:solidFill>
                <a:latin typeface="Liberation Mono"/>
              </a:rPr>
              <a:t>"""</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json</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math</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time</a:t>
            </a: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pathlib</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Path</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numpy</a:t>
            </a:r>
            <a:r>
              <a:rPr sz="1500">
                <a:solidFill>
                  <a:srgbClr val="BBBBBB"/>
                </a:solidFill>
                <a:latin typeface="Liberation Mono"/>
              </a:rPr>
              <a:t> </a:t>
            </a:r>
            <a:r>
              <a:rPr sz="1500">
                <a:solidFill>
                  <a:srgbClr val="007020"/>
                </a:solidFill>
                <a:latin typeface="Liberation Mono"/>
              </a:rPr>
              <a:t>as</a:t>
            </a:r>
            <a:r>
              <a:rPr sz="1500">
                <a:solidFill>
                  <a:srgbClr val="BBBBBB"/>
                </a:solidFill>
                <a:latin typeface="Liberation Mono"/>
              </a:rPr>
              <a:t> </a:t>
            </a:r>
            <a:r>
              <a:rPr sz="1500">
                <a:solidFill>
                  <a:srgbClr val="0E84B5"/>
                </a:solidFill>
                <a:latin typeface="Liberation Mono"/>
              </a:rPr>
              <a:t>np</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arm_kinematics</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Chain</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class</a:t>
            </a:r>
            <a:r>
              <a:rPr sz="1500">
                <a:solidFill>
                  <a:srgbClr val="BBBBBB"/>
                </a:solidFill>
                <a:latin typeface="Liberation Mono"/>
              </a:rPr>
              <a:t> </a:t>
            </a:r>
            <a:r>
              <a:rPr sz="1500">
                <a:solidFill>
                  <a:srgbClr val="0E84B5"/>
                </a:solidFill>
                <a:latin typeface="Liberation Mono"/>
              </a:rPr>
              <a:t>CartesianAdmittance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configure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joint_names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options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list</a:t>
            </a:r>
            <a:r>
              <a:rPr sz="1500">
                <a:solidFill>
                  <a:srgbClr val="202632"/>
                </a:solidFill>
                <a:latin typeface="Liberation Mono"/>
              </a:rPr>
              <a:t>(</a:t>
            </a:r>
            <a:r>
              <a:rPr sz="1500">
                <a:solidFill>
                  <a:srgbClr val="202632"/>
                </a:solidFill>
                <a:latin typeface="Liberation Mono"/>
              </a:rPr>
              <a:t>joint_names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defaults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mass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2.0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damping</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30.0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stiffness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80.0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max_displacement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0.03</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max_cartesian_speed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0.06</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joint_speed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0.10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tracking_gain</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4.0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damping_lambda</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force_timeout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0.3</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max_force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20.0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key</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default</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defaults</a:t>
            </a:r>
            <a:r>
              <a:rPr sz="1500">
                <a:solidFill>
                  <a:srgbClr val="666666"/>
                </a:solidFill>
                <a:latin typeface="Liberation Mono"/>
              </a:rPr>
              <a:t>.</a:t>
            </a:r>
            <a:r>
              <a:rPr sz="1500">
                <a:solidFill>
                  <a:srgbClr val="202632"/>
                </a:solidFill>
                <a:latin typeface="Liberation Mono"/>
              </a:rPr>
              <a:t>items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(2/6)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26–50</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value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202632"/>
                </a:solidFill>
                <a:latin typeface="Liberation Mono"/>
              </a:rPr>
              <a:t>key</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default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value</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value</a:t>
            </a:r>
            <a:r>
              <a:rPr sz="1500">
                <a:solidFill>
                  <a:srgbClr val="202632"/>
                </a:solidFill>
                <a:latin typeface="Liberation Mono"/>
              </a:rPr>
              <a:t> </a:t>
            </a:r>
            <a:r>
              <a:rPr sz="1500">
                <a:solidFill>
                  <a:srgbClr val="666666"/>
                </a:solidFill>
                <a:latin typeface="Liberation Mono"/>
              </a:rPr>
              <a:t>&lt;</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70A0D0"/>
                </a:solidFill>
                <a:latin typeface="Liberation Mono"/>
              </a:rPr>
              <a:t>{</a:t>
            </a:r>
            <a:r>
              <a:rPr sz="1500">
                <a:solidFill>
                  <a:srgbClr val="202632"/>
                </a:solidFill>
                <a:latin typeface="Liberation Mono"/>
              </a:rPr>
              <a:t>key</a:t>
            </a:r>
            <a:r>
              <a:rPr sz="1500">
                <a:solidFill>
                  <a:srgbClr val="70A0D0"/>
                </a:solidFill>
                <a:latin typeface="Liberation Mono"/>
              </a:rPr>
              <a:t>}</a:t>
            </a:r>
            <a:r>
              <a:rPr sz="1500">
                <a:solidFill>
                  <a:srgbClr val="4070A0"/>
                </a:solidFill>
                <a:latin typeface="Liberation Mono"/>
              </a:rPr>
              <a:t> must be finite and positive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setattr</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key</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value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options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lower_limits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options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upper_limits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666666"/>
                </a:solidFill>
                <a:latin typeface="Liberation Mono"/>
              </a:rPr>
              <a:t>.</a:t>
            </a:r>
            <a:r>
              <a:rPr sz="1500">
                <a:solidFill>
                  <a:srgbClr val="202632"/>
                </a:solidFill>
                <a:latin typeface="Liberation Mono"/>
              </a:rPr>
              <a:t>shape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len</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666666"/>
                </a:solidFill>
                <a:latin typeface="Liberation Mono"/>
              </a:rPr>
              <a:t>.</a:t>
            </a:r>
            <a:r>
              <a:rPr sz="1500">
                <a:solidFill>
                  <a:srgbClr val="202632"/>
                </a:solidFill>
                <a:latin typeface="Liberation Mono"/>
              </a:rPr>
              <a:t>shape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666666"/>
                </a:solidFill>
                <a:latin typeface="Liberation Mono"/>
              </a:rPr>
              <a:t>.</a:t>
            </a:r>
            <a:r>
              <a:rPr sz="1500">
                <a:solidFill>
                  <a:srgbClr val="202632"/>
                </a:solidFill>
                <a:latin typeface="Liberation Mono"/>
              </a:rPr>
              <a:t>shape</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any</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202632"/>
                </a:solidFill>
                <a:latin typeface="Liberation Mono"/>
              </a:rPr>
              <a:t> </a:t>
            </a:r>
            <a:r>
              <a:rPr sz="1500">
                <a:solidFill>
                  <a:srgbClr val="666666"/>
                </a:solidFill>
                <a:latin typeface="Liberation Mono"/>
              </a:rPr>
              <a:t>&gt;</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Finite ordered joint limits must match the joint count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base_link</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tip_link</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options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base_link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options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tip_link</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chain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Chain</a:t>
            </a:r>
            <a:r>
              <a:rPr sz="1500">
                <a:solidFill>
                  <a:srgbClr val="202632"/>
                </a:solidFill>
                <a:latin typeface="Liberation Mono"/>
              </a:rPr>
              <a:t>(</a:t>
            </a:r>
            <a:r>
              <a:rPr sz="1500">
                <a:solidFill>
                  <a:srgbClr val="202632"/>
                </a:solidFill>
                <a:latin typeface="Liberation Mono"/>
              </a:rPr>
              <a:t>options</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urdf_path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base_link</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tip_link</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evidence_path</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options</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evidence_path</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active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False</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_positions</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ascontiguousarray</a:t>
            </a:r>
            <a:r>
              <a:rPr sz="1500">
                <a:solidFill>
                  <a:srgbClr val="202632"/>
                </a:solidFill>
                <a:latin typeface="Liberation Mono"/>
              </a:rPr>
              <a:t>(</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q</a:t>
            </a:r>
            <a:r>
              <a:rPr sz="1500">
                <a:solidFill>
                  <a:srgbClr val="666666"/>
                </a:solidFill>
                <a:latin typeface="Liberation Mono"/>
              </a:rPr>
              <a:t>.</a:t>
            </a:r>
            <a:r>
              <a:rPr sz="1500">
                <a:solidFill>
                  <a:srgbClr val="202632"/>
                </a:solidFill>
                <a:latin typeface="Liberation Mono"/>
              </a:rPr>
              <a:t>shape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666666"/>
                </a:solidFill>
                <a:latin typeface="Liberation Mono"/>
              </a:rPr>
              <a:t>.</a:t>
            </a:r>
            <a:r>
              <a:rPr sz="1500">
                <a:solidFill>
                  <a:srgbClr val="202632"/>
                </a:solidFill>
                <a:latin typeface="Liberation Mono"/>
              </a:rPr>
              <a:t>shape</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any</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&lt;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any</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Feedback requires finite positions within the configured joint limits</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q</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555555"/>
                </a:solidFill>
                <a:latin typeface="Liberation Mono"/>
              </a:rPr>
              <a:t>@staticmethod</a:t>
            </a:r>
          </a:p>
          <a:p>
            <a:pPr>
              <a:lnSpc>
                <a:spcPts val="1570"/>
              </a:lnSpc>
              <a:spcBef>
                <a:spcPts val="0"/>
              </a:spcBef>
              <a:spcAft>
                <a:spcPts val="0"/>
              </a:spcAft>
            </a:p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(3/6)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51–75</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_bound</a:t>
            </a:r>
            <a:r>
              <a:rPr sz="1500">
                <a:solidFill>
                  <a:srgbClr val="202632"/>
                </a:solidFill>
                <a:latin typeface="Liberation Mono"/>
              </a:rPr>
              <a:t>(</a:t>
            </a:r>
            <a:r>
              <a:rPr sz="1500">
                <a:solidFill>
                  <a:srgbClr val="202632"/>
                </a:solidFill>
                <a:latin typeface="Liberation Mono"/>
              </a:rPr>
              <a:t>vector</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limit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linalg</a:t>
            </a:r>
            <a:r>
              <a:rPr sz="1500">
                <a:solidFill>
                  <a:srgbClr val="666666"/>
                </a:solidFill>
                <a:latin typeface="Liberation Mono"/>
              </a:rPr>
              <a:t>.</a:t>
            </a:r>
            <a:r>
              <a:rPr sz="1500">
                <a:solidFill>
                  <a:srgbClr val="202632"/>
                </a:solidFill>
                <a:latin typeface="Liberation Mono"/>
              </a:rPr>
              <a:t>norm</a:t>
            </a:r>
            <a:r>
              <a:rPr sz="1500">
                <a:solidFill>
                  <a:srgbClr val="202632"/>
                </a:solidFill>
                <a:latin typeface="Liberation Mono"/>
              </a:rPr>
              <a:t>(</a:t>
            </a:r>
            <a:r>
              <a:rPr sz="1500">
                <a:solidFill>
                  <a:srgbClr val="202632"/>
                </a:solidFill>
                <a:latin typeface="Liberation Mono"/>
              </a:rPr>
              <a:t>vector</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202632"/>
                </a:solidFill>
                <a:latin typeface="Liberation Mono"/>
              </a:rPr>
              <a:t>limit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vector</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limit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norm</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vector</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activate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measured_positions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_positions</a:t>
            </a:r>
            <a:r>
              <a:rPr sz="1500">
                <a:solidFill>
                  <a:srgbClr val="202632"/>
                </a:solidFill>
                <a:latin typeface="Liberation Mono"/>
              </a:rPr>
              <a:t>(</a:t>
            </a:r>
            <a:r>
              <a:rPr sz="1500">
                <a:solidFill>
                  <a:srgbClr val="202632"/>
                </a:solidFill>
                <a:latin typeface="Liberation Mono"/>
              </a:rPr>
              <a:t>measured_positions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reference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chain</a:t>
            </a:r>
            <a:r>
              <a:rPr sz="1500">
                <a:solidFill>
                  <a:srgbClr val="666666"/>
                </a:solidFill>
                <a:latin typeface="Liberation Mono"/>
              </a:rPr>
              <a:t>.</a:t>
            </a:r>
            <a:r>
              <a:rPr sz="1500">
                <a:solidFill>
                  <a:srgbClr val="202632"/>
                </a:solidFill>
                <a:latin typeface="Liberation Mono"/>
              </a:rPr>
              <a:t>fk</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copy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target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reference</a:t>
            </a:r>
            <a:r>
              <a:rPr sz="1500">
                <a:solidFill>
                  <a:srgbClr val="666666"/>
                </a:solidFill>
                <a:latin typeface="Liberation Mono"/>
              </a:rPr>
              <a:t>.</a:t>
            </a:r>
            <a:r>
              <a:rPr sz="1500">
                <a:solidFill>
                  <a:srgbClr val="202632"/>
                </a:solidFill>
                <a:latin typeface="Liberation Mono"/>
              </a:rPr>
              <a:t>copy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zeros</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zeros</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zeros</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force_age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force_timeout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force_stamp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inf</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callback_count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native_elapsed_ns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native_max_ns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last_measured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q</a:t>
            </a:r>
            <a:r>
              <a:rPr sz="1500">
                <a:solidFill>
                  <a:srgbClr val="666666"/>
                </a:solidFill>
                <a:latin typeface="Liberation Mono"/>
              </a:rPr>
              <a:t>.</a:t>
            </a:r>
            <a:r>
              <a:rPr sz="1500">
                <a:solidFill>
                  <a:srgbClr val="202632"/>
                </a:solidFill>
                <a:latin typeface="Liberation Mono"/>
              </a:rPr>
              <a:t>copy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peak_displacement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peak_command_step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active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True</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set_target</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force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(4/6)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76–100</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force</a:t>
            </a:r>
            <a:r>
              <a:rPr sz="1500">
                <a:solidFill>
                  <a:srgbClr val="666666"/>
                </a:solidFill>
                <a:latin typeface="Liberation Mono"/>
              </a:rPr>
              <a:t>.</a:t>
            </a:r>
            <a:r>
              <a:rPr sz="1500">
                <a:solidFill>
                  <a:srgbClr val="202632"/>
                </a:solidFill>
                <a:latin typeface="Liberation Mono"/>
              </a:rPr>
              <a:t>shape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force</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Virtual force requires three finite values in newtons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active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Activate the admittance controller before applying force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_bound</a:t>
            </a:r>
            <a:r>
              <a:rPr sz="1500">
                <a:solidFill>
                  <a:srgbClr val="202632"/>
                </a:solidFill>
                <a:latin typeface="Liberation Mono"/>
              </a:rPr>
              <a:t>(</a:t>
            </a:r>
            <a:r>
              <a:rPr sz="1500">
                <a:solidFill>
                  <a:srgbClr val="202632"/>
                </a:solidFill>
                <a:latin typeface="Liberation Mono"/>
              </a:rPr>
              <a:t>force</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max_force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force_age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force_stamp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time</a:t>
            </a:r>
            <a:r>
              <a:rPr sz="1500">
                <a:solidFill>
                  <a:srgbClr val="666666"/>
                </a:solidFill>
                <a:latin typeface="Liberation Mono"/>
              </a:rPr>
              <a:t>.</a:t>
            </a:r>
            <a:r>
              <a:rPr sz="1500">
                <a:solidFill>
                  <a:srgbClr val="202632"/>
                </a:solidFill>
                <a:latin typeface="Liberation Mono"/>
              </a:rPr>
              <a:t>monotonic</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update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measured_positions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active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Admittance controller is inactive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_positions</a:t>
            </a:r>
            <a:r>
              <a:rPr sz="1500">
                <a:solidFill>
                  <a:srgbClr val="202632"/>
                </a:solidFill>
                <a:latin typeface="Liberation Mono"/>
              </a:rPr>
              <a:t>(</a:t>
            </a:r>
            <a:r>
              <a:rPr sz="1500">
                <a:solidFill>
                  <a:srgbClr val="202632"/>
                </a:solidFill>
                <a:latin typeface="Liberation Mono"/>
              </a:rPr>
              <a:t>measured_positions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dt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40A070"/>
                </a:solidFill>
                <a:latin typeface="Liberation Mono"/>
              </a:rPr>
              <a:t>0</a:t>
            </a:r>
            <a:r>
              <a:rPr sz="1500">
                <a:solidFill>
                  <a:srgbClr val="202632"/>
                </a:solidFill>
                <a:latin typeface="Liberation Mono"/>
              </a:rPr>
              <a:t> </a:t>
            </a:r>
            <a:r>
              <a:rPr sz="1500">
                <a:solidFill>
                  <a:srgbClr val="666666"/>
                </a:solidFill>
                <a:latin typeface="Liberation Mono"/>
              </a:rPr>
              <a:t>&lt;</a:t>
            </a: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 </a:t>
            </a:r>
            <a:r>
              <a:rPr sz="1500">
                <a:solidFill>
                  <a:srgbClr val="666666"/>
                </a:solidFill>
                <a:latin typeface="Liberation Mono"/>
              </a:rPr>
              <a:t>&lt;</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0.1</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dt must be finite and between 0 and 0.1 seconds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Integrate M*x'' + D*x' + K*x = F. Substeps bound integration error</a:t>
            </a:r>
          </a:p>
          <a:p>
            <a:pPr>
              <a:lnSpc>
                <a:spcPts val="1570"/>
              </a:lnSpc>
              <a:spcBef>
                <a:spcPts val="0"/>
              </a:spcBef>
              <a:spcAft>
                <a:spcPts val="0"/>
              </a:spcAft>
            </a:pPr>
            <a:r>
              <a:rPr sz="1500">
                <a:solidFill>
                  <a:srgbClr val="202632"/>
                </a:solidFill>
                <a:latin typeface="Liberation Mono"/>
              </a:rPr>
              <a:t>        </a:t>
            </a:r>
            <a:r>
              <a:rPr sz="1500">
                <a:solidFill>
                  <a:srgbClr val="60A0B0"/>
                </a:solidFill>
                <a:latin typeface="Liberation Mono"/>
              </a:rPr>
              <a:t># when simulation updates arrive less frequently than the nominal loop.</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steps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ceil</a:t>
            </a:r>
            <a:r>
              <a:rPr sz="1500">
                <a:solidFill>
                  <a:srgbClr val="202632"/>
                </a:solidFill>
                <a:latin typeface="Liberation Mono"/>
              </a:rPr>
              <a:t>(</a:t>
            </a:r>
            <a:r>
              <a:rPr sz="1500">
                <a:solidFill>
                  <a:srgbClr val="202632"/>
                </a:solidFill>
                <a:latin typeface="Liberation Mono"/>
              </a:rPr>
              <a:t>dt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0.002</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h</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steps</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_</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007020"/>
                </a:solidFill>
                <a:latin typeface="Liberation Mono"/>
              </a:rPr>
              <a:t>range</a:t>
            </a:r>
            <a:r>
              <a:rPr sz="1500">
                <a:solidFill>
                  <a:srgbClr val="202632"/>
                </a:solidFill>
                <a:latin typeface="Liberation Mono"/>
              </a:rPr>
              <a:t>(</a:t>
            </a:r>
            <a:r>
              <a:rPr sz="1500">
                <a:solidFill>
                  <a:srgbClr val="202632"/>
                </a:solidFill>
                <a:latin typeface="Liberation Mono"/>
              </a:rPr>
              <a:t>steps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force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a:t>
            </a: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force_age</a:t>
            </a:r>
            <a:r>
              <a:rPr sz="1500">
                <a:solidFill>
                  <a:srgbClr val="202632"/>
                </a:solidFill>
                <a:latin typeface="Liberation Mono"/>
              </a:rPr>
              <a:t> </a:t>
            </a:r>
            <a:r>
              <a:rPr sz="1500">
                <a:solidFill>
                  <a:srgbClr val="666666"/>
                </a:solidFill>
                <a:latin typeface="Liberation Mono"/>
              </a:rPr>
              <a:t>&lt;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force_timeout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and</a:t>
            </a:r>
            <a:r>
              <a:rPr sz="1500">
                <a:solidFill>
                  <a:srgbClr val="202632"/>
                </a:solidFill>
                <a:latin typeface="Liberation Mono"/>
              </a:rPr>
              <a:t> </a:t>
            </a:r>
            <a:r>
              <a:rPr sz="1500">
                <a:solidFill>
                  <a:srgbClr val="202632"/>
                </a:solidFill>
                <a:latin typeface="Liberation Mono"/>
              </a:rPr>
              <a:t>time</a:t>
            </a:r>
            <a:r>
              <a:rPr sz="1500">
                <a:solidFill>
                  <a:srgbClr val="666666"/>
                </a:solidFill>
                <a:latin typeface="Liberation Mono"/>
              </a:rPr>
              <a:t>.</a:t>
            </a:r>
            <a:r>
              <a:rPr sz="1500">
                <a:solidFill>
                  <a:srgbClr val="202632"/>
                </a:solidFill>
                <a:latin typeface="Liberation Mono"/>
              </a:rPr>
              <a:t>monotonic</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force_stamp</a:t>
            </a:r>
            <a:r>
              <a:rPr sz="1500">
                <a:solidFill>
                  <a:srgbClr val="202632"/>
                </a:solidFill>
                <a:latin typeface="Liberation Mono"/>
              </a:rPr>
              <a:t> </a:t>
            </a:r>
            <a:r>
              <a:rPr sz="1500">
                <a:solidFill>
                  <a:srgbClr val="666666"/>
                </a:solidFill>
                <a:latin typeface="Liberation Mono"/>
              </a:rPr>
              <a:t>&lt;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force_timeout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else</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zeros</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acceleration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force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damping</a:t>
            </a:r>
            <a:r>
              <a:rPr sz="1500">
                <a:solidFill>
                  <a:srgbClr val="666666"/>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stiffness</a:t>
            </a:r>
            <a:r>
              <a:rPr sz="1500">
                <a:solidFill>
                  <a:srgbClr val="666666"/>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mass</a:t>
            </a:r>
          </a:p>
          <a:p>
            <a:pPr>
              <a:lnSpc>
                <a:spcPts val="1570"/>
              </a:lnSpc>
              <a:spcBef>
                <a:spcPts val="0"/>
              </a:spcBef>
              <a:spcAft>
                <a:spcPts val="0"/>
              </a:spcAft>
            </a:p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(5/6)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101–125</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h</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acceleration</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_bound</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max_cartesian_speed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h</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linalg</a:t>
            </a:r>
            <a:r>
              <a:rPr sz="1500">
                <a:solidFill>
                  <a:srgbClr val="666666"/>
                </a:solidFill>
                <a:latin typeface="Liberation Mono"/>
              </a:rPr>
              <a:t>.</a:t>
            </a:r>
            <a:r>
              <a:rPr sz="1500">
                <a:solidFill>
                  <a:srgbClr val="202632"/>
                </a:solidFill>
                <a:latin typeface="Liberation Mono"/>
              </a:rPr>
              <a:t>norm</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&gt;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max_displacement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_bound</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max_displacement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normal</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max_displacement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r>
              <a:rPr sz="1500">
                <a:solidFill>
                  <a:srgbClr val="40A070"/>
                </a:solidFill>
                <a:latin typeface="Liberation Mono"/>
              </a:rPr>
              <a:t>0.0</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normal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normal</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force_age</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h</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target</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reference</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started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time</a:t>
            </a:r>
            <a:r>
              <a:rPr sz="1500">
                <a:solidFill>
                  <a:srgbClr val="666666"/>
                </a:solidFill>
                <a:latin typeface="Liberation Mono"/>
              </a:rPr>
              <a:t>.</a:t>
            </a:r>
            <a:r>
              <a:rPr sz="1500">
                <a:solidFill>
                  <a:srgbClr val="202632"/>
                </a:solidFill>
                <a:latin typeface="Liberation Mono"/>
              </a:rPr>
              <a:t>perf_counter_ns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command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chain</a:t>
            </a:r>
            <a:r>
              <a:rPr sz="1500">
                <a:solidFill>
                  <a:srgbClr val="666666"/>
                </a:solidFill>
                <a:latin typeface="Liberation Mono"/>
              </a:rPr>
              <a:t>.</a:t>
            </a:r>
            <a:r>
              <a:rPr sz="1500">
                <a:solidFill>
                  <a:srgbClr val="202632"/>
                </a:solidFill>
                <a:latin typeface="Liberation Mono"/>
              </a:rPr>
              <a:t>step</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target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lower</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upper</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tracking_gain</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damping_lambda</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joint_speed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elapsed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time</a:t>
            </a:r>
            <a:r>
              <a:rPr sz="1500">
                <a:solidFill>
                  <a:srgbClr val="666666"/>
                </a:solidFill>
                <a:latin typeface="Liberation Mono"/>
              </a:rPr>
              <a:t>.</a:t>
            </a:r>
            <a:r>
              <a:rPr sz="1500">
                <a:solidFill>
                  <a:srgbClr val="202632"/>
                </a:solidFill>
                <a:latin typeface="Liberation Mono"/>
              </a:rPr>
              <a:t>perf_counter_ns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started</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native_elapsed_ns</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elapsed</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native_max_ns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native_max_ns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elapsed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last_measured</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q</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command</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Native IK returned a nonfinite command</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callback_count</a:t>
            </a:r>
            <a:r>
              <a:rPr sz="1500">
                <a:solidFill>
                  <a:srgbClr val="202632"/>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1</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peak_displacement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peak_displacement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linalg</a:t>
            </a:r>
            <a:r>
              <a:rPr sz="1500">
                <a:solidFill>
                  <a:srgbClr val="666666"/>
                </a:solidFill>
                <a:latin typeface="Liberation Mono"/>
              </a:rPr>
              <a:t>.</a:t>
            </a:r>
            <a:r>
              <a:rPr sz="1500">
                <a:solidFill>
                  <a:srgbClr val="202632"/>
                </a:solidFill>
                <a:latin typeface="Liberation Mono"/>
              </a:rPr>
              <a:t>norm</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offset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peak_command_step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peak_command_step</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max</a:t>
            </a:r>
            <a:r>
              <a:rPr sz="1500">
                <a:solidFill>
                  <a:srgbClr val="202632"/>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abs</a:t>
            </a:r>
            <a:r>
              <a:rPr sz="1500">
                <a:solidFill>
                  <a:srgbClr val="202632"/>
                </a:solidFill>
                <a:latin typeface="Liberation Mono"/>
              </a:rPr>
              <a:t>(</a:t>
            </a:r>
            <a:r>
              <a:rPr sz="1500">
                <a:solidFill>
                  <a:srgbClr val="202632"/>
                </a:solidFill>
                <a:latin typeface="Liberation Mono"/>
              </a:rPr>
              <a:t>command</a:t>
            </a:r>
            <a:r>
              <a:rPr sz="1500">
                <a:solidFill>
                  <a:srgbClr val="666666"/>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command</a:t>
            </a:r>
            <a:r>
              <a:rPr sz="1500">
                <a:solidFill>
                  <a:srgbClr val="666666"/>
                </a:solidFill>
                <a:latin typeface="Liberation Mono"/>
              </a:rPr>
              <a:t>.</a:t>
            </a:r>
            <a:r>
              <a:rPr sz="1500">
                <a:solidFill>
                  <a:srgbClr val="202632"/>
                </a:solidFill>
                <a:latin typeface="Liberation Mono"/>
              </a:rPr>
              <a:t>tolist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the complete Python controller (6/6)</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python_admittance_controller.py   |   lines 126–147</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deactivate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active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False</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force</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0.0</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evidence_path</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pose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chain</a:t>
            </a:r>
            <a:r>
              <a:rPr sz="1500">
                <a:solidFill>
                  <a:srgbClr val="666666"/>
                </a:solidFill>
                <a:latin typeface="Liberation Mono"/>
              </a:rPr>
              <a:t>.</a:t>
            </a:r>
            <a:r>
              <a:rPr sz="1500">
                <a:solidFill>
                  <a:srgbClr val="202632"/>
                </a:solidFill>
                <a:latin typeface="Liberation Mono"/>
              </a:rPr>
              <a:t>fk</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last_measured</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copy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rotation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reference</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angle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math</a:t>
            </a:r>
            <a:r>
              <a:rPr sz="1500">
                <a:solidFill>
                  <a:srgbClr val="666666"/>
                </a:solidFill>
                <a:latin typeface="Liberation Mono"/>
              </a:rPr>
              <a:t>.</a:t>
            </a:r>
            <a:r>
              <a:rPr sz="1500">
                <a:solidFill>
                  <a:srgbClr val="202632"/>
                </a:solidFill>
                <a:latin typeface="Liberation Mono"/>
              </a:rPr>
              <a:t>acos</a:t>
            </a:r>
            <a:r>
              <a:rPr sz="1500">
                <a:solidFill>
                  <a:srgbClr val="202632"/>
                </a:solidFill>
                <a:latin typeface="Liberation Mono"/>
              </a:rPr>
              <a:t>(</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clip</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trace</a:t>
            </a:r>
            <a:r>
              <a:rPr sz="1500">
                <a:solidFill>
                  <a:srgbClr val="202632"/>
                </a:solidFill>
                <a:latin typeface="Liberation Mono"/>
              </a:rPr>
              <a:t>(</a:t>
            </a:r>
            <a:r>
              <a:rPr sz="1500">
                <a:solidFill>
                  <a:srgbClr val="202632"/>
                </a:solidFill>
                <a:latin typeface="Liberation Mono"/>
              </a:rPr>
              <a:t>rotation</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2</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evidence_path</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write_text</a:t>
            </a:r>
            <a:r>
              <a:rPr sz="1500">
                <a:solidFill>
                  <a:srgbClr val="202632"/>
                </a:solidFill>
                <a:latin typeface="Liberation Mono"/>
              </a:rPr>
              <a:t>(</a:t>
            </a:r>
            <a:r>
              <a:rPr sz="1500">
                <a:solidFill>
                  <a:srgbClr val="202632"/>
                </a:solidFill>
                <a:latin typeface="Liberation Mono"/>
              </a:rPr>
              <a:t>json</a:t>
            </a:r>
            <a:r>
              <a:rPr sz="1500">
                <a:solidFill>
                  <a:srgbClr val="666666"/>
                </a:solidFill>
                <a:latin typeface="Liberation Mono"/>
              </a:rPr>
              <a:t>.</a:t>
            </a:r>
            <a:r>
              <a:rPr sz="1500">
                <a:solidFill>
                  <a:srgbClr val="202632"/>
                </a:solidFill>
                <a:latin typeface="Liberation Mono"/>
              </a:rPr>
              <a:t>dumps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pid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getpid</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module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BB60D5"/>
                </a:solidFill>
                <a:latin typeface="Liberation Mono"/>
              </a:rPr>
              <a:t>__name__</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class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type</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666666"/>
                </a:solidFill>
                <a:latin typeface="Liberation Mono"/>
              </a:rPr>
              <a:t>.</a:t>
            </a:r>
            <a:r>
              <a:rPr sz="1500">
                <a:solidFill>
                  <a:srgbClr val="BB60D5"/>
                </a:solidFill>
                <a:latin typeface="Liberation Mono"/>
              </a:rPr>
              <a:t>__name__</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callback_count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callback_count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base_link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base_link</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tip_link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tip_link</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peak_displacement_m</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peak_displacement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peak_command_step_rad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peak_command_step</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native_kernel</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cppyy_kit.cppdef_cached:demo_arm_kinematics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native_step_mean_us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native_elapsed_ns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max</a:t>
            </a:r>
            <a:r>
              <a:rPr sz="1500">
                <a:solidFill>
                  <a:srgbClr val="202632"/>
                </a:solidFill>
                <a:latin typeface="Liberation Mono"/>
              </a:rPr>
              <a:t>(</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callback_count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1000</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native_step_max_us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native_max_ns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1000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final_measured_displacement_m</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float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linalg</a:t>
            </a:r>
            <a:r>
              <a:rPr sz="1500">
                <a:solidFill>
                  <a:srgbClr val="666666"/>
                </a:solidFill>
                <a:latin typeface="Liberation Mono"/>
              </a:rPr>
              <a:t>.</a:t>
            </a:r>
            <a:r>
              <a:rPr sz="1500">
                <a:solidFill>
                  <a:srgbClr val="202632"/>
                </a:solidFill>
                <a:latin typeface="Liberation Mono"/>
              </a:rPr>
              <a:t>norm</a:t>
            </a:r>
            <a:r>
              <a:rPr sz="1500">
                <a:solidFill>
                  <a:srgbClr val="202632"/>
                </a:solidFill>
                <a:latin typeface="Liberation Mono"/>
              </a:rPr>
              <a:t>(</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reference</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final_measured_orientation_error_rad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angle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indent</a:t>
            </a:r>
            <a:r>
              <a:rPr sz="1500">
                <a:solidFill>
                  <a:srgbClr val="666666"/>
                </a:solidFill>
                <a:latin typeface="Liberation Mono"/>
              </a:rPr>
              <a:t>=</a:t>
            </a:r>
            <a:r>
              <a:rPr sz="1500">
                <a:solidFill>
                  <a:srgbClr val="40A070"/>
                </a:solidFill>
                <a:latin typeface="Liberation Mono"/>
              </a:rPr>
              <a:t>2</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example: C++ kinematics (1/3)</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arm_kinematics.hpp   |   lines 1–22</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007020"/>
                </a:solidFill>
                <a:latin typeface="Liberation Mono"/>
              </a:rPr>
              <a:t>#</a:t>
            </a:r>
            <a:r>
              <a:rPr sz="1500">
                <a:solidFill>
                  <a:srgbClr val="007020"/>
                </a:solidFill>
                <a:latin typeface="Liberation Mono"/>
              </a:rPr>
              <a:t>pragma once</a:t>
            </a:r>
          </a:p>
          <a:p>
            <a:pPr>
              <a:lnSpc>
                <a:spcPts val="1570"/>
              </a:lnSpc>
              <a:spcBef>
                <a:spcPts val="0"/>
              </a:spcBef>
              <a:spcAft>
                <a:spcPts val="0"/>
              </a:spcAft>
            </a:pPr>
            <a:r>
              <a:rPr sz="1500">
                <a:solidFill>
                  <a:srgbClr val="007020"/>
                </a:solidFill>
                <a:latin typeface="Liberation Mono"/>
              </a:rPr>
              <a:t>#</a:t>
            </a:r>
            <a:r>
              <a:rPr sz="1500">
                <a:solidFill>
                  <a:srgbClr val="007020"/>
                </a:solidFill>
                <a:latin typeface="Liberation Mono"/>
              </a:rPr>
              <a:t>include</a:t>
            </a:r>
            <a:r>
              <a:rPr sz="1500">
                <a:solidFill>
                  <a:srgbClr val="BBBBBB"/>
                </a:solidFill>
                <a:latin typeface="Liberation Mono"/>
              </a:rPr>
              <a:t> </a:t>
            </a:r>
            <a:r>
              <a:rPr sz="1500">
                <a:solidFill>
                  <a:srgbClr val="60A0B0"/>
                </a:solidFill>
                <a:latin typeface="Liberation Mono"/>
              </a:rPr>
              <a:t>&lt;Eigen/Geometry&gt;</a:t>
            </a:r>
          </a:p>
          <a:p>
            <a:pPr>
              <a:lnSpc>
                <a:spcPts val="1570"/>
              </a:lnSpc>
              <a:spcBef>
                <a:spcPts val="0"/>
              </a:spcBef>
              <a:spcAft>
                <a:spcPts val="0"/>
              </a:spcAft>
            </a:pPr>
            <a:r>
              <a:rPr sz="1500">
                <a:solidFill>
                  <a:srgbClr val="007020"/>
                </a:solidFill>
                <a:latin typeface="Liberation Mono"/>
              </a:rPr>
              <a:t>#</a:t>
            </a:r>
            <a:r>
              <a:rPr sz="1500">
                <a:solidFill>
                  <a:srgbClr val="007020"/>
                </a:solidFill>
                <a:latin typeface="Liberation Mono"/>
              </a:rPr>
              <a:t>include</a:t>
            </a:r>
            <a:r>
              <a:rPr sz="1500">
                <a:solidFill>
                  <a:srgbClr val="BBBBBB"/>
                </a:solidFill>
                <a:latin typeface="Liberation Mono"/>
              </a:rPr>
              <a:t> </a:t>
            </a:r>
            <a:r>
              <a:rPr sz="1500">
                <a:solidFill>
                  <a:srgbClr val="60A0B0"/>
                </a:solidFill>
                <a:latin typeface="Liberation Mono"/>
              </a:rPr>
              <a:t>&lt;Eigen/Cholesky&gt;</a:t>
            </a:r>
          </a:p>
          <a:p>
            <a:pPr>
              <a:lnSpc>
                <a:spcPts val="1570"/>
              </a:lnSpc>
              <a:spcBef>
                <a:spcPts val="0"/>
              </a:spcBef>
              <a:spcAft>
                <a:spcPts val="0"/>
              </a:spcAft>
            </a:pPr>
            <a:r>
              <a:rPr sz="1500">
                <a:solidFill>
                  <a:srgbClr val="007020"/>
                </a:solidFill>
                <a:latin typeface="Liberation Mono"/>
              </a:rPr>
              <a:t>#</a:t>
            </a:r>
            <a:r>
              <a:rPr sz="1500">
                <a:solidFill>
                  <a:srgbClr val="007020"/>
                </a:solidFill>
                <a:latin typeface="Liberation Mono"/>
              </a:rPr>
              <a:t>include</a:t>
            </a:r>
            <a:r>
              <a:rPr sz="1500">
                <a:solidFill>
                  <a:srgbClr val="BBBBBB"/>
                </a:solidFill>
                <a:latin typeface="Liberation Mono"/>
              </a:rPr>
              <a:t> </a:t>
            </a:r>
            <a:r>
              <a:rPr sz="1500">
                <a:solidFill>
                  <a:srgbClr val="60A0B0"/>
                </a:solidFill>
                <a:latin typeface="Liberation Mono"/>
              </a:rPr>
              <a:t>&lt;algorithm&gt;</a:t>
            </a:r>
          </a:p>
          <a:p>
            <a:pPr>
              <a:lnSpc>
                <a:spcPts val="1570"/>
              </a:lnSpc>
              <a:spcBef>
                <a:spcPts val="0"/>
              </a:spcBef>
              <a:spcAft>
                <a:spcPts val="0"/>
              </a:spcAft>
            </a:pPr>
            <a:r>
              <a:rPr sz="1500">
                <a:solidFill>
                  <a:srgbClr val="007020"/>
                </a:solidFill>
                <a:latin typeface="Liberation Mono"/>
              </a:rPr>
              <a:t>#</a:t>
            </a:r>
            <a:r>
              <a:rPr sz="1500">
                <a:solidFill>
                  <a:srgbClr val="007020"/>
                </a:solidFill>
                <a:latin typeface="Liberation Mono"/>
              </a:rPr>
              <a:t>include</a:t>
            </a:r>
            <a:r>
              <a:rPr sz="1500">
                <a:solidFill>
                  <a:srgbClr val="BBBBBB"/>
                </a:solidFill>
                <a:latin typeface="Liberation Mono"/>
              </a:rPr>
              <a:t> </a:t>
            </a:r>
            <a:r>
              <a:rPr sz="1500">
                <a:solidFill>
                  <a:srgbClr val="60A0B0"/>
                </a:solidFill>
                <a:latin typeface="Liberation Mono"/>
              </a:rPr>
              <a:t>&lt;vector&gt;</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namespace</a:t>
            </a:r>
            <a:r>
              <a:rPr sz="1500">
                <a:solidFill>
                  <a:srgbClr val="BBBBBB"/>
                </a:solidFill>
                <a:latin typeface="Liberation Mono"/>
              </a:rPr>
              <a:t> </a:t>
            </a:r>
            <a:r>
              <a:rPr sz="1500">
                <a:solidFill>
                  <a:srgbClr val="0E84B5"/>
                </a:solidFill>
                <a:latin typeface="Liberation Mono"/>
              </a:rPr>
              <a:t>demo_arm_kinematics</a:t>
            </a: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60A0B0"/>
                </a:solidFill>
                <a:latin typeface="Liberation Mono"/>
              </a:rPr>
              <a:t>// The chain is ordered from base to tip. Origins contain xyz and fixed-axis rpy.</a:t>
            </a:r>
          </a:p>
          <a:p>
            <a:pPr>
              <a:lnSpc>
                <a:spcPts val="1570"/>
              </a:lnSpc>
              <a:spcBef>
                <a:spcPts val="0"/>
              </a:spcBef>
              <a:spcAft>
                <a:spcPts val="0"/>
              </a:spcAft>
            </a:pPr>
            <a:r>
              <a:rPr sz="1500">
                <a:solidFill>
                  <a:srgbClr val="902000"/>
                </a:solidFill>
                <a:latin typeface="Liberation Mono"/>
              </a:rPr>
              <a:t>void</a:t>
            </a:r>
            <a:r>
              <a:rPr sz="1500">
                <a:solidFill>
                  <a:srgbClr val="BBBBBB"/>
                </a:solidFill>
                <a:latin typeface="Liberation Mono"/>
              </a:rPr>
              <a:t> </a:t>
            </a:r>
            <a:r>
              <a:rPr sz="1500">
                <a:solidFill>
                  <a:srgbClr val="06287E"/>
                </a:solidFill>
                <a:latin typeface="Liberation Mono"/>
              </a:rPr>
              <a:t>kinematics</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segments</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int</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types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int</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indices</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origins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axes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q</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pose</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jacobian</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using</a:t>
            </a:r>
            <a:r>
              <a:rPr sz="1500">
                <a:solidFill>
                  <a:srgbClr val="BBBBBB"/>
                </a:solidFill>
                <a:latin typeface="Liberation Mono"/>
              </a:rPr>
              <a:t> </a:t>
            </a:r>
            <a:r>
              <a:rPr sz="1500">
                <a:solidFill>
                  <a:srgbClr val="007020"/>
                </a:solidFill>
                <a:latin typeface="Liberation Mono"/>
              </a:rPr>
              <a:t>namespace</a:t>
            </a:r>
            <a:r>
              <a:rPr sz="1500">
                <a:solidFill>
                  <a:srgbClr val="BBBBBB"/>
                </a:solidFill>
                <a:latin typeface="Liberation Mono"/>
              </a:rPr>
              <a:t> </a:t>
            </a:r>
            <a:r>
              <a:rPr sz="1500">
                <a:solidFill>
                  <a:srgbClr val="0E84B5"/>
                </a:solidFill>
                <a:latin typeface="Liberation Mono"/>
              </a:rPr>
              <a:t>Eigen</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Isometry3d</a:t>
            </a:r>
            <a:r>
              <a:rPr sz="1500">
                <a:solidFill>
                  <a:srgbClr val="BBBBBB"/>
                </a:solidFill>
                <a:latin typeface="Liberation Mono"/>
              </a:rPr>
              <a:t> </a:t>
            </a:r>
            <a:r>
              <a:rPr sz="1500">
                <a:solidFill>
                  <a:srgbClr val="202632"/>
                </a:solidFill>
                <a:latin typeface="Liberation Mono"/>
              </a:rPr>
              <a:t>tip</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Isometry3d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Identity</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std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vector</a:t>
            </a:r>
            <a:r>
              <a:rPr sz="1500">
                <a:solidFill>
                  <a:srgbClr val="666666"/>
                </a:solidFill>
                <a:latin typeface="Liberation Mono"/>
              </a:rPr>
              <a:t>&lt;</a:t>
            </a:r>
            <a:r>
              <a:rPr sz="1500">
                <a:solidFill>
                  <a:srgbClr val="202632"/>
                </a:solidFill>
                <a:latin typeface="Liberation Mono"/>
              </a:rPr>
              <a:t>Vector3d</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points</a:t>
            </a:r>
            <a:r>
              <a:rPr sz="1500">
                <a:solidFill>
                  <a:srgbClr val="202632"/>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directions</a:t>
            </a:r>
            <a:r>
              <a:rPr sz="1500">
                <a:solidFill>
                  <a:srgbClr val="202632"/>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std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vector</a:t>
            </a:r>
            <a:r>
              <a:rPr sz="1500">
                <a:solidFill>
                  <a:srgbClr val="666666"/>
                </a:solidFill>
                <a:latin typeface="Liberation Mono"/>
              </a:rPr>
              <a:t>&lt;</a:t>
            </a:r>
            <a:r>
              <a:rPr sz="1500">
                <a:solidFill>
                  <a:srgbClr val="902000"/>
                </a:solidFill>
                <a:latin typeface="Liberation Mono"/>
              </a:rPr>
              <a:t>int</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kinds</a:t>
            </a:r>
            <a:r>
              <a:rPr sz="1500">
                <a:solidFill>
                  <a:srgbClr val="202632"/>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for</a:t>
            </a:r>
            <a:r>
              <a:rPr sz="1500">
                <a:solidFill>
                  <a:srgbClr val="BBBBBB"/>
                </a:solidFill>
                <a:latin typeface="Liberation Mono"/>
              </a:rPr>
              <a:t> </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s</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0</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s</a:t>
            </a:r>
            <a:r>
              <a:rPr sz="1500">
                <a:solidFill>
                  <a:srgbClr val="BBBBBB"/>
                </a:solidFill>
                <a:latin typeface="Liberation Mono"/>
              </a:rPr>
              <a:t> </a:t>
            </a:r>
            <a:r>
              <a:rPr sz="1500">
                <a:solidFill>
                  <a:srgbClr val="666666"/>
                </a:solidFill>
                <a:latin typeface="Liberation Mono"/>
              </a:rPr>
              <a:t>&lt;</a:t>
            </a:r>
            <a:r>
              <a:rPr sz="1500">
                <a:solidFill>
                  <a:srgbClr val="BBBBBB"/>
                </a:solidFill>
                <a:latin typeface="Liberation Mono"/>
              </a:rPr>
              <a:t> </a:t>
            </a:r>
            <a:r>
              <a:rPr sz="1500">
                <a:solidFill>
                  <a:srgbClr val="202632"/>
                </a:solidFill>
                <a:latin typeface="Liberation Mono"/>
              </a:rPr>
              <a:t>segments</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Isometry3d</a:t>
            </a:r>
            <a:r>
              <a:rPr sz="1500">
                <a:solidFill>
                  <a:srgbClr val="BBBBBB"/>
                </a:solidFill>
                <a:latin typeface="Liberation Mono"/>
              </a:rPr>
              <a:t> </a:t>
            </a:r>
            <a:r>
              <a:rPr sz="1500">
                <a:solidFill>
                  <a:srgbClr val="202632"/>
                </a:solidFill>
                <a:latin typeface="Liberation Mono"/>
              </a:rPr>
              <a:t>origin</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Isometry3d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Identity</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origin</a:t>
            </a:r>
            <a:r>
              <a:rPr sz="1500">
                <a:solidFill>
                  <a:srgbClr val="202632"/>
                </a:solidFill>
                <a:latin typeface="Liberation Mono"/>
              </a:rPr>
              <a:t>.</a:t>
            </a:r>
            <a:r>
              <a:rPr sz="1500">
                <a:solidFill>
                  <a:srgbClr val="202632"/>
                </a:solidFill>
                <a:latin typeface="Liberation Mono"/>
              </a:rPr>
              <a:t>translation</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Map</a:t>
            </a:r>
            <a:r>
              <a:rPr sz="1500">
                <a:solidFill>
                  <a:srgbClr val="666666"/>
                </a:solidFill>
                <a:latin typeface="Liberation Mono"/>
              </a:rPr>
              <a:t>&lt;</a:t>
            </a:r>
            <a:r>
              <a:rPr sz="1500">
                <a:solidFill>
                  <a:srgbClr val="007020"/>
                </a:solidFill>
                <a:latin typeface="Liberation Mono"/>
              </a:rPr>
              <a:t>const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&gt;</a:t>
            </a:r>
            <a:r>
              <a:rPr sz="1500">
                <a:solidFill>
                  <a:srgbClr val="202632"/>
                </a:solidFill>
                <a:latin typeface="Liberation Mono"/>
              </a:rPr>
              <a:t>(</a:t>
            </a:r>
            <a:r>
              <a:rPr sz="1500">
                <a:solidFill>
                  <a:srgbClr val="202632"/>
                </a:solidFill>
                <a:latin typeface="Liberation Mono"/>
              </a:rPr>
              <a:t>origins</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6</a:t>
            </a:r>
            <a:r>
              <a:rPr sz="1500">
                <a:solidFill>
                  <a:srgbClr val="666666"/>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origin</a:t>
            </a:r>
            <a:r>
              <a:rPr sz="1500">
                <a:solidFill>
                  <a:srgbClr val="202632"/>
                </a:solidFill>
                <a:latin typeface="Liberation Mono"/>
              </a:rPr>
              <a:t>.</a:t>
            </a:r>
            <a:r>
              <a:rPr sz="1500">
                <a:solidFill>
                  <a:srgbClr val="202632"/>
                </a:solidFill>
                <a:latin typeface="Liberation Mono"/>
              </a:rPr>
              <a:t>linear</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a:t>
            </a:r>
            <a:r>
              <a:rPr sz="1500">
                <a:solidFill>
                  <a:srgbClr val="202632"/>
                </a:solidFill>
                <a:latin typeface="Liberation Mono"/>
              </a:rPr>
              <a:t>AngleAxisd</a:t>
            </a:r>
            <a:r>
              <a:rPr sz="1500">
                <a:solidFill>
                  <a:srgbClr val="202632"/>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40A070"/>
                </a:solidFill>
                <a:latin typeface="Liberation Mono"/>
              </a:rPr>
              <a:t>6</a:t>
            </a:r>
            <a:r>
              <a:rPr sz="1500">
                <a:solidFill>
                  <a:srgbClr val="666666"/>
                </a:solidFill>
                <a:latin typeface="Liberation Mono"/>
              </a:rPr>
              <a:t>*</a:t>
            </a:r>
            <a:r>
              <a:rPr sz="1500">
                <a:solidFill>
                  <a:srgbClr val="202632"/>
                </a:solidFill>
                <a:latin typeface="Liberation Mono"/>
              </a:rPr>
              <a:t>s</a:t>
            </a:r>
            <a:r>
              <a:rPr sz="1500">
                <a:solidFill>
                  <a:srgbClr val="666666"/>
                </a:solidFill>
                <a:latin typeface="Liberation Mono"/>
              </a:rPr>
              <a:t>+</a:t>
            </a:r>
            <a:r>
              <a:rPr sz="1500">
                <a:solidFill>
                  <a:srgbClr val="40A070"/>
                </a:solidFill>
                <a:latin typeface="Liberation Mono"/>
              </a:rPr>
              <a:t>5</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UnitZ</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AngleAxisd</a:t>
            </a:r>
            <a:r>
              <a:rPr sz="1500">
                <a:solidFill>
                  <a:srgbClr val="202632"/>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40A070"/>
                </a:solidFill>
                <a:latin typeface="Liberation Mono"/>
              </a:rPr>
              <a:t>6</a:t>
            </a:r>
            <a:r>
              <a:rPr sz="1500">
                <a:solidFill>
                  <a:srgbClr val="666666"/>
                </a:solidFill>
                <a:latin typeface="Liberation Mono"/>
              </a:rPr>
              <a:t>*</a:t>
            </a:r>
            <a:r>
              <a:rPr sz="1500">
                <a:solidFill>
                  <a:srgbClr val="202632"/>
                </a:solidFill>
                <a:latin typeface="Liberation Mono"/>
              </a:rPr>
              <a:t>s</a:t>
            </a:r>
            <a:r>
              <a:rPr sz="1500">
                <a:solidFill>
                  <a:srgbClr val="666666"/>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UnitY</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AngleAxisd</a:t>
            </a:r>
            <a:r>
              <a:rPr sz="1500">
                <a:solidFill>
                  <a:srgbClr val="202632"/>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40A070"/>
                </a:solidFill>
                <a:latin typeface="Liberation Mono"/>
              </a:rPr>
              <a:t>6</a:t>
            </a:r>
            <a:r>
              <a:rPr sz="1500">
                <a:solidFill>
                  <a:srgbClr val="666666"/>
                </a:solidFill>
                <a:latin typeface="Liberation Mono"/>
              </a:rPr>
              <a:t>*</a:t>
            </a:r>
            <a:r>
              <a:rPr sz="1500">
                <a:solidFill>
                  <a:srgbClr val="202632"/>
                </a:solidFill>
                <a:latin typeface="Liberation Mono"/>
              </a:rPr>
              <a:t>s</a:t>
            </a:r>
            <a:r>
              <a:rPr sz="1500">
                <a:solidFill>
                  <a:srgbClr val="666666"/>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UnitX</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toRotationMatrix</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tip</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tip</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origin</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example: C++ kinematics (2/3)</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arm_kinematics.hpp   |   lines 23–44</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BBBBBB"/>
                </a:solidFill>
                <a:latin typeface="Liberation Mono"/>
              </a:rPr>
              <a:t>    </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j</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indices</a:t>
            </a:r>
            <a:r>
              <a:rPr sz="1500">
                <a:solidFill>
                  <a:srgbClr val="202632"/>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if</a:t>
            </a:r>
            <a:r>
              <a:rPr sz="1500">
                <a:solidFill>
                  <a:srgbClr val="BBBBBB"/>
                </a:solidFill>
                <a:latin typeface="Liberation Mono"/>
              </a:rPr>
              <a:t> </a:t>
            </a:r>
            <a:r>
              <a:rPr sz="1500">
                <a:solidFill>
                  <a:srgbClr val="202632"/>
                </a:solidFill>
                <a:latin typeface="Liberation Mono"/>
              </a:rPr>
              <a:t>(</a:t>
            </a:r>
            <a:r>
              <a:rPr sz="1500">
                <a:solidFill>
                  <a:srgbClr val="202632"/>
                </a:solidFill>
                <a:latin typeface="Liberation Mono"/>
              </a:rPr>
              <a:t>j</a:t>
            </a:r>
            <a:r>
              <a:rPr sz="1500">
                <a:solidFill>
                  <a:srgbClr val="BBBBBB"/>
                </a:solidFill>
                <a:latin typeface="Liberation Mono"/>
              </a:rPr>
              <a:t> </a:t>
            </a:r>
            <a:r>
              <a:rPr sz="1500">
                <a:solidFill>
                  <a:srgbClr val="666666"/>
                </a:solidFill>
                <a:latin typeface="Liberation Mono"/>
              </a:rPr>
              <a:t>&lt;</a:t>
            </a:r>
            <a:r>
              <a:rPr sz="1500">
                <a:solidFill>
                  <a:srgbClr val="BBBBBB"/>
                </a:solidFill>
                <a:latin typeface="Liberation Mono"/>
              </a:rPr>
              <a:t> </a:t>
            </a:r>
            <a:r>
              <a:rPr sz="1500">
                <a:solidFill>
                  <a:srgbClr val="40A070"/>
                </a:solidFill>
                <a:latin typeface="Liberation Mono"/>
              </a:rPr>
              <a:t>0</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continue</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Vector3d</a:t>
            </a:r>
            <a:r>
              <a:rPr sz="1500">
                <a:solidFill>
                  <a:srgbClr val="BBBBBB"/>
                </a:solidFill>
                <a:latin typeface="Liberation Mono"/>
              </a:rPr>
              <a:t> </a:t>
            </a:r>
            <a:r>
              <a:rPr sz="1500">
                <a:solidFill>
                  <a:srgbClr val="202632"/>
                </a:solidFill>
                <a:latin typeface="Liberation Mono"/>
              </a:rPr>
              <a:t>axis</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Map</a:t>
            </a:r>
            <a:r>
              <a:rPr sz="1500">
                <a:solidFill>
                  <a:srgbClr val="666666"/>
                </a:solidFill>
                <a:latin typeface="Liberation Mono"/>
              </a:rPr>
              <a:t>&lt;</a:t>
            </a:r>
            <a:r>
              <a:rPr sz="1500">
                <a:solidFill>
                  <a:srgbClr val="007020"/>
                </a:solidFill>
                <a:latin typeface="Liberation Mono"/>
              </a:rPr>
              <a:t>const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&gt;</a:t>
            </a:r>
            <a:r>
              <a:rPr sz="1500">
                <a:solidFill>
                  <a:srgbClr val="202632"/>
                </a:solidFill>
                <a:latin typeface="Liberation Mono"/>
              </a:rPr>
              <a:t>(</a:t>
            </a:r>
            <a:r>
              <a:rPr sz="1500">
                <a:solidFill>
                  <a:srgbClr val="202632"/>
                </a:solidFill>
                <a:latin typeface="Liberation Mono"/>
              </a:rPr>
              <a:t>axes</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3</a:t>
            </a:r>
            <a:r>
              <a:rPr sz="1500">
                <a:solidFill>
                  <a:srgbClr val="666666"/>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points</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translation</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directions</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linear</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axis</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kinds</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if</a:t>
            </a:r>
            <a:r>
              <a:rPr sz="1500">
                <a:solidFill>
                  <a:srgbClr val="BBBBBB"/>
                </a:solidFill>
                <a:latin typeface="Liberation Mono"/>
              </a:rPr>
              <a:t> </a:t>
            </a:r>
            <a:r>
              <a:rPr sz="1500">
                <a:solidFill>
                  <a:srgbClr val="202632"/>
                </a:solidFill>
                <a:latin typeface="Liberation Mono"/>
              </a:rPr>
              <a:t>(</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s</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1</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rotate</a:t>
            </a:r>
            <a:r>
              <a:rPr sz="1500">
                <a:solidFill>
                  <a:srgbClr val="202632"/>
                </a:solidFill>
                <a:latin typeface="Liberation Mono"/>
              </a:rPr>
              <a:t>(</a:t>
            </a:r>
            <a:r>
              <a:rPr sz="1500">
                <a:solidFill>
                  <a:srgbClr val="202632"/>
                </a:solidFill>
                <a:latin typeface="Liberation Mono"/>
              </a:rPr>
              <a:t>AngleAxisd</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axis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else</a:t>
            </a:r>
            <a:r>
              <a:rPr sz="1500">
                <a:solidFill>
                  <a:srgbClr val="BBBBBB"/>
                </a:solidFill>
                <a:latin typeface="Liberation Mono"/>
              </a:rPr>
              <a:t> </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translate</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axis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Map</a:t>
            </a:r>
            <a:r>
              <a:rPr sz="1500">
                <a:solidFill>
                  <a:srgbClr val="666666"/>
                </a:solidFill>
                <a:latin typeface="Liberation Mono"/>
              </a:rPr>
              <a:t>&lt;</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RowMajor</a:t>
            </a:r>
            <a:r>
              <a:rPr sz="1500">
                <a:solidFill>
                  <a:srgbClr val="666666"/>
                </a:solidFill>
                <a:latin typeface="Liberation Mono"/>
              </a:rPr>
              <a:t>&gt;</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output_pose</a:t>
            </a:r>
            <a:r>
              <a:rPr sz="1500">
                <a:solidFill>
                  <a:srgbClr val="202632"/>
                </a:solidFill>
                <a:latin typeface="Liberation Mono"/>
              </a:rPr>
              <a:t>(</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output_pose</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matrix</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Map</a:t>
            </a:r>
            <a:r>
              <a:rPr sz="1500">
                <a:solidFill>
                  <a:srgbClr val="666666"/>
                </a:solidFill>
                <a:latin typeface="Liberation Mono"/>
              </a:rPr>
              <a:t>&lt;</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202632"/>
                </a:solidFill>
                <a:latin typeface="Liberation Mono"/>
              </a:rPr>
              <a:t>Dynamic</a:t>
            </a:r>
            <a:r>
              <a:rPr sz="1500">
                <a:solidFill>
                  <a:srgbClr val="202632"/>
                </a:solidFill>
                <a:latin typeface="Liberation Mono"/>
              </a:rPr>
              <a:t>,</a:t>
            </a:r>
            <a:r>
              <a:rPr sz="1500">
                <a:solidFill>
                  <a:srgbClr val="202632"/>
                </a:solidFill>
                <a:latin typeface="Liberation Mono"/>
              </a:rPr>
              <a:t>RowMajor</a:t>
            </a:r>
            <a:r>
              <a:rPr sz="1500">
                <a:solidFill>
                  <a:srgbClr val="666666"/>
                </a:solidFill>
                <a:latin typeface="Liberation Mono"/>
              </a:rPr>
              <a:t>&gt;</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jacobian</a:t>
            </a:r>
            <a:r>
              <a:rPr sz="1500">
                <a:solidFill>
                  <a:srgbClr val="202632"/>
                </a:solidFill>
                <a:latin typeface="Liberation Mono"/>
              </a:rPr>
              <a:t>,</a:t>
            </a:r>
            <a:r>
              <a:rPr sz="1500">
                <a:solidFill>
                  <a:srgbClr val="BBBBBB"/>
                </a:solidFill>
                <a:latin typeface="Liberation Mono"/>
              </a:rPr>
              <a:t> </a:t>
            </a:r>
            <a:r>
              <a:rPr sz="1500">
                <a:solidFill>
                  <a:srgbClr val="40A070"/>
                </a:solidFill>
                <a:latin typeface="Liberation Mono"/>
              </a:rPr>
              <a:t>6</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for</a:t>
            </a:r>
            <a:r>
              <a:rPr sz="1500">
                <a:solidFill>
                  <a:srgbClr val="BBBBBB"/>
                </a:solidFill>
                <a:latin typeface="Liberation Mono"/>
              </a:rPr>
              <a:t> </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k</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0</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k</a:t>
            </a:r>
            <a:r>
              <a:rPr sz="1500">
                <a:solidFill>
                  <a:srgbClr val="BBBBBB"/>
                </a:solidFill>
                <a:latin typeface="Liberation Mono"/>
              </a:rPr>
              <a:t> </a:t>
            </a:r>
            <a:r>
              <a:rPr sz="1500">
                <a:solidFill>
                  <a:srgbClr val="666666"/>
                </a:solidFill>
                <a:latin typeface="Liberation Mono"/>
              </a:rPr>
              <a:t>&lt;</a:t>
            </a:r>
            <a:r>
              <a:rPr sz="1500">
                <a:solidFill>
                  <a:srgbClr val="BBBBBB"/>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kinds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1</a:t>
            </a:r>
          </a:p>
          <a:p>
            <a:pPr>
              <a:lnSpc>
                <a:spcPts val="1570"/>
              </a:lnSpc>
              <a:spcBef>
                <a:spcPts val="0"/>
              </a:spcBef>
              <a:spcAft>
                <a:spcPts val="0"/>
              </a:spcAft>
            </a:pP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Vector3d</a:t>
            </a:r>
            <a:r>
              <a:rPr sz="1500">
                <a:solidFill>
                  <a:srgbClr val="202632"/>
                </a:solidFill>
                <a:latin typeface="Liberation Mono"/>
              </a:rPr>
              <a:t>(</a:t>
            </a:r>
            <a:r>
              <a:rPr sz="1500">
                <a:solidFill>
                  <a:srgbClr val="202632"/>
                </a:solidFill>
                <a:latin typeface="Liberation Mono"/>
              </a:rPr>
              <a:t>directions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cross</a:t>
            </a:r>
            <a:r>
              <a:rPr sz="1500">
                <a:solidFill>
                  <a:srgbClr val="202632"/>
                </a:solidFill>
                <a:latin typeface="Liberation Mono"/>
              </a:rPr>
              <a:t>(</a:t>
            </a:r>
            <a:r>
              <a:rPr sz="1500">
                <a:solidFill>
                  <a:srgbClr val="202632"/>
                </a:solidFill>
                <a:latin typeface="Liberation Mono"/>
              </a:rPr>
              <a:t>tip</a:t>
            </a:r>
            <a:r>
              <a:rPr sz="1500">
                <a:solidFill>
                  <a:srgbClr val="202632"/>
                </a:solidFill>
                <a:latin typeface="Liberation Mono"/>
              </a:rPr>
              <a:t>.</a:t>
            </a:r>
            <a:r>
              <a:rPr sz="1500">
                <a:solidFill>
                  <a:srgbClr val="202632"/>
                </a:solidFill>
                <a:latin typeface="Liberation Mono"/>
              </a:rPr>
              <a:t>translation</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points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directions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kinds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1</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directions</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Vector3d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Zero</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a:t>
            </a:r>
          </a:p>
          <a:p>
            <a:pPr>
              <a:lnSpc>
                <a:spcPts val="1570"/>
              </a:lnSpc>
              <a:spcBef>
                <a:spcPts val="0"/>
              </a:spcBef>
              <a:spcAft>
                <a:spcPts val="0"/>
              </a:spcAft>
            </a:pPr>
          </a:p>
          <a:p>
            <a:pPr>
              <a:lnSpc>
                <a:spcPts val="1570"/>
              </a:lnSpc>
              <a:spcBef>
                <a:spcPts val="0"/>
              </a:spcBef>
              <a:spcAft>
                <a:spcPts val="0"/>
              </a:spcAft>
            </a:pPr>
            <a:r>
              <a:rPr sz="1500">
                <a:solidFill>
                  <a:srgbClr val="60A0B0"/>
                </a:solidFill>
                <a:latin typeface="Liberation Mono"/>
              </a:rPr>
              <a:t>// One native call evaluates FK, the analytic geometric Jacobian and damped IK.</a:t>
            </a:r>
          </a:p>
          <a:p>
            <a:pPr>
              <a:lnSpc>
                <a:spcPts val="1570"/>
              </a:lnSpc>
              <a:spcBef>
                <a:spcPts val="0"/>
              </a:spcBef>
              <a:spcAft>
                <a:spcPts val="0"/>
              </a:spcAft>
            </a:pPr>
            <a:r>
              <a:rPr sz="1500">
                <a:solidFill>
                  <a:srgbClr val="902000"/>
                </a:solidFill>
                <a:latin typeface="Liberation Mono"/>
              </a:rPr>
              <a:t>void</a:t>
            </a:r>
            <a:r>
              <a:rPr sz="1500">
                <a:solidFill>
                  <a:srgbClr val="BBBBBB"/>
                </a:solidFill>
                <a:latin typeface="Liberation Mono"/>
              </a:rPr>
              <a:t> </a:t>
            </a:r>
            <a:r>
              <a:rPr sz="1500">
                <a:solidFill>
                  <a:srgbClr val="202632"/>
                </a:solidFill>
                <a:latin typeface="Liberation Mono"/>
              </a:rPr>
              <a:t>step</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segments</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joints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int</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types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int</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indices</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origins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axes</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q</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Admittance example: C++ kinematics (3/3)</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arm_kinematics.hpp   |   lines 45–65</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target</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lower</a:t>
            </a:r>
            <a:r>
              <a:rPr sz="1500">
                <a:solidFill>
                  <a:srgbClr val="202632"/>
                </a:solidFill>
                <a:latin typeface="Liberation Mono"/>
              </a:rPr>
              <a:t>,</a:t>
            </a:r>
            <a:r>
              <a:rPr sz="1500">
                <a:solidFill>
                  <a:srgbClr val="BBBBBB"/>
                </a:solidFill>
                <a:latin typeface="Liberation Mono"/>
              </a:rPr>
              <a:t> </a:t>
            </a:r>
            <a:r>
              <a:rPr sz="1500">
                <a:solidFill>
                  <a:srgbClr val="007020"/>
                </a:solidFill>
                <a:latin typeface="Liberation Mono"/>
              </a:rPr>
              <a:t>const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upper</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902000"/>
                </a:solidFill>
                <a:latin typeface="Liberation Mono"/>
              </a:rPr>
              <a:t>double</a:t>
            </a:r>
            <a:r>
              <a:rPr sz="1500">
                <a:solidFill>
                  <a:srgbClr val="BBBBBB"/>
                </a:solidFill>
                <a:latin typeface="Liberation Mono"/>
              </a:rPr>
              <a:t> </a:t>
            </a:r>
            <a:r>
              <a:rPr sz="1500">
                <a:solidFill>
                  <a:srgbClr val="202632"/>
                </a:solidFill>
                <a:latin typeface="Liberation Mono"/>
              </a:rPr>
              <a:t>dt</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double</a:t>
            </a:r>
            <a:r>
              <a:rPr sz="1500">
                <a:solidFill>
                  <a:srgbClr val="BBBBBB"/>
                </a:solidFill>
                <a:latin typeface="Liberation Mono"/>
              </a:rPr>
              <a:t> </a:t>
            </a:r>
            <a:r>
              <a:rPr sz="1500">
                <a:solidFill>
                  <a:srgbClr val="202632"/>
                </a:solidFill>
                <a:latin typeface="Liberation Mono"/>
              </a:rPr>
              <a:t>gain</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double</a:t>
            </a:r>
            <a:r>
              <a:rPr sz="1500">
                <a:solidFill>
                  <a:srgbClr val="BBBBBB"/>
                </a:solidFill>
                <a:latin typeface="Liberation Mono"/>
              </a:rPr>
              <a:t> </a:t>
            </a:r>
            <a:r>
              <a:rPr sz="1500">
                <a:solidFill>
                  <a:srgbClr val="202632"/>
                </a:solidFill>
                <a:latin typeface="Liberation Mono"/>
              </a:rPr>
              <a:t>damping</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double</a:t>
            </a:r>
            <a:r>
              <a:rPr sz="1500">
                <a:solidFill>
                  <a:srgbClr val="BBBBBB"/>
                </a:solidFill>
                <a:latin typeface="Liberation Mono"/>
              </a:rPr>
              <a:t> </a:t>
            </a:r>
            <a:r>
              <a:rPr sz="1500">
                <a:solidFill>
                  <a:srgbClr val="202632"/>
                </a:solidFill>
                <a:latin typeface="Liberation Mono"/>
              </a:rPr>
              <a:t>speed</a:t>
            </a:r>
            <a:r>
              <a:rPr sz="1500">
                <a:solidFill>
                  <a:srgbClr val="202632"/>
                </a:solidFill>
                <a:latin typeface="Liberation Mono"/>
              </a:rPr>
              <a:t>,</a:t>
            </a:r>
            <a:r>
              <a:rPr sz="1500">
                <a:solidFill>
                  <a:srgbClr val="BBBBBB"/>
                </a:solidFill>
                <a:latin typeface="Liberation Mono"/>
              </a:rPr>
              <a:t> </a:t>
            </a:r>
            <a:r>
              <a:rPr sz="1500">
                <a:solidFill>
                  <a:srgbClr val="902000"/>
                </a:solidFill>
                <a:latin typeface="Liberation Mono"/>
              </a:rPr>
              <a:t>double</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command</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using</a:t>
            </a:r>
            <a:r>
              <a:rPr sz="1500">
                <a:solidFill>
                  <a:srgbClr val="BBBBBB"/>
                </a:solidFill>
                <a:latin typeface="Liberation Mono"/>
              </a:rPr>
              <a:t> </a:t>
            </a:r>
            <a:r>
              <a:rPr sz="1500">
                <a:solidFill>
                  <a:srgbClr val="007020"/>
                </a:solidFill>
                <a:latin typeface="Liberation Mono"/>
              </a:rPr>
              <a:t>namespace</a:t>
            </a:r>
            <a:r>
              <a:rPr sz="1500">
                <a:solidFill>
                  <a:srgbClr val="BBBBBB"/>
                </a:solidFill>
                <a:latin typeface="Liberation Mono"/>
              </a:rPr>
              <a:t> </a:t>
            </a:r>
            <a:r>
              <a:rPr sz="1500">
                <a:solidFill>
                  <a:srgbClr val="0E84B5"/>
                </a:solidFill>
                <a:latin typeface="Liberation Mono"/>
              </a:rPr>
              <a:t>Eigen</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RowMajor</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pose</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202632"/>
                </a:solidFill>
                <a:latin typeface="Liberation Mono"/>
              </a:rPr>
              <a:t>Dynamic</a:t>
            </a:r>
            <a:r>
              <a:rPr sz="1500">
                <a:solidFill>
                  <a:srgbClr val="202632"/>
                </a:solidFill>
                <a:latin typeface="Liberation Mono"/>
              </a:rPr>
              <a:t>,</a:t>
            </a:r>
            <a:r>
              <a:rPr sz="1500">
                <a:solidFill>
                  <a:srgbClr val="202632"/>
                </a:solidFill>
                <a:latin typeface="Liberation Mono"/>
              </a:rPr>
              <a:t>RowMajor</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j</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kinematics</a:t>
            </a:r>
            <a:r>
              <a:rPr sz="1500">
                <a:solidFill>
                  <a:srgbClr val="202632"/>
                </a:solidFill>
                <a:latin typeface="Liberation Mono"/>
              </a:rPr>
              <a:t>(</a:t>
            </a:r>
            <a:r>
              <a:rPr sz="1500">
                <a:solidFill>
                  <a:srgbClr val="202632"/>
                </a:solidFill>
                <a:latin typeface="Liberation Mono"/>
              </a:rPr>
              <a:t>segments</a:t>
            </a:r>
            <a:r>
              <a:rPr sz="1500">
                <a:solidFill>
                  <a:srgbClr val="202632"/>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indices</a:t>
            </a:r>
            <a:r>
              <a:rPr sz="1500">
                <a:solidFill>
                  <a:srgbClr val="202632"/>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202632"/>
                </a:solidFill>
                <a:latin typeface="Liberation Mono"/>
              </a:rPr>
              <a:t>axes</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data</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data</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Map</a:t>
            </a:r>
            <a:r>
              <a:rPr sz="1500">
                <a:solidFill>
                  <a:srgbClr val="666666"/>
                </a:solidFill>
                <a:latin typeface="Liberation Mono"/>
              </a:rPr>
              <a:t>&lt;</a:t>
            </a:r>
            <a:r>
              <a:rPr sz="1500">
                <a:solidFill>
                  <a:srgbClr val="007020"/>
                </a:solidFill>
                <a:latin typeface="Liberation Mono"/>
              </a:rPr>
              <a:t>const</a:t>
            </a:r>
            <a:r>
              <a:rPr sz="1500">
                <a:solidFill>
                  <a:srgbClr val="BBBBBB"/>
                </a:solidFill>
                <a:latin typeface="Liberation Mono"/>
              </a:rPr>
              <a:t> </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RowMajor</a:t>
            </a:r>
            <a:r>
              <a:rPr sz="1500">
                <a:solidFill>
                  <a:srgbClr val="666666"/>
                </a:solidFill>
                <a:latin typeface="Liberation Mono"/>
              </a:rPr>
              <a:t>&gt;</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goal</a:t>
            </a:r>
            <a:r>
              <a:rPr sz="1500">
                <a:solidFill>
                  <a:srgbClr val="202632"/>
                </a:solidFill>
                <a:latin typeface="Liberation Mono"/>
              </a:rPr>
              <a:t>(</a:t>
            </a:r>
            <a:r>
              <a:rPr sz="1500">
                <a:solidFill>
                  <a:srgbClr val="202632"/>
                </a:solidFill>
                <a:latin typeface="Liberation Mono"/>
              </a:rPr>
              <a:t>target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error</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error</a:t>
            </a:r>
            <a:r>
              <a:rPr sz="1500">
                <a:solidFill>
                  <a:srgbClr val="202632"/>
                </a:solidFill>
                <a:latin typeface="Liberation Mono"/>
              </a:rPr>
              <a:t>.</a:t>
            </a:r>
            <a:r>
              <a:rPr sz="1500">
                <a:solidFill>
                  <a:srgbClr val="202632"/>
                </a:solidFill>
                <a:latin typeface="Liberation Mono"/>
              </a:rPr>
              <a:t>head</a:t>
            </a:r>
            <a:r>
              <a:rPr sz="1500">
                <a:solidFill>
                  <a:srgbClr val="666666"/>
                </a:solidFill>
                <a:latin typeface="Liberation Mono"/>
              </a:rPr>
              <a:t>&lt;</a:t>
            </a:r>
            <a:r>
              <a:rPr sz="1500">
                <a:solidFill>
                  <a:srgbClr val="40A070"/>
                </a:solidFill>
                <a:latin typeface="Liberation Mono"/>
              </a:rPr>
              <a:t>3</a:t>
            </a:r>
            <a:r>
              <a:rPr sz="1500">
                <a:solidFill>
                  <a:srgbClr val="666666"/>
                </a:solidFill>
                <a:latin typeface="Liberation Mono"/>
              </a:rPr>
              <a:t>&gt;</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goal</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40A070"/>
                </a:solidFill>
                <a:latin typeface="Liberation Mono"/>
              </a:rPr>
              <a:t>3</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error</a:t>
            </a:r>
            <a:r>
              <a:rPr sz="1500">
                <a:solidFill>
                  <a:srgbClr val="202632"/>
                </a:solidFill>
                <a:latin typeface="Liberation Mono"/>
              </a:rPr>
              <a:t>.</a:t>
            </a:r>
            <a:r>
              <a:rPr sz="1500">
                <a:solidFill>
                  <a:srgbClr val="202632"/>
                </a:solidFill>
                <a:latin typeface="Liberation Mono"/>
              </a:rPr>
              <a:t>tail</a:t>
            </a:r>
            <a:r>
              <a:rPr sz="1500">
                <a:solidFill>
                  <a:srgbClr val="666666"/>
                </a:solidFill>
                <a:latin typeface="Liberation Mono"/>
              </a:rPr>
              <a:t>&lt;</a:t>
            </a:r>
            <a:r>
              <a:rPr sz="1500">
                <a:solidFill>
                  <a:srgbClr val="40A070"/>
                </a:solidFill>
                <a:latin typeface="Liberation Mono"/>
              </a:rPr>
              <a:t>3</a:t>
            </a:r>
            <a:r>
              <a:rPr sz="1500">
                <a:solidFill>
                  <a:srgbClr val="666666"/>
                </a:solidFill>
                <a:latin typeface="Liberation Mono"/>
              </a:rPr>
              <a:t>&gt;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setZero</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for</a:t>
            </a:r>
            <a:r>
              <a:rPr sz="1500">
                <a:solidFill>
                  <a:srgbClr val="BBBBBB"/>
                </a:solidFill>
                <a:latin typeface="Liberation Mono"/>
              </a:rPr>
              <a:t> </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k</a:t>
            </a:r>
            <a:r>
              <a:rPr sz="1500">
                <a:solidFill>
                  <a:srgbClr val="666666"/>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k</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error</a:t>
            </a:r>
            <a:r>
              <a:rPr sz="1500">
                <a:solidFill>
                  <a:srgbClr val="202632"/>
                </a:solidFill>
                <a:latin typeface="Liberation Mono"/>
              </a:rPr>
              <a:t>.</a:t>
            </a:r>
            <a:r>
              <a:rPr sz="1500">
                <a:solidFill>
                  <a:srgbClr val="202632"/>
                </a:solidFill>
                <a:latin typeface="Liberation Mono"/>
              </a:rPr>
              <a:t>tail</a:t>
            </a:r>
            <a:r>
              <a:rPr sz="1500">
                <a:solidFill>
                  <a:srgbClr val="666666"/>
                </a:solidFill>
                <a:latin typeface="Liberation Mono"/>
              </a:rPr>
              <a:t>&lt;</a:t>
            </a:r>
            <a:r>
              <a:rPr sz="1500">
                <a:solidFill>
                  <a:srgbClr val="40A070"/>
                </a:solidFill>
                <a:latin typeface="Liberation Mono"/>
              </a:rPr>
              <a:t>3</a:t>
            </a:r>
            <a:r>
              <a:rPr sz="1500">
                <a:solidFill>
                  <a:srgbClr val="666666"/>
                </a:solidFill>
                <a:latin typeface="Liberation Mono"/>
              </a:rPr>
              <a:t>&gt;</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BBBBBB"/>
                </a:solidFill>
                <a:latin typeface="Liberation Mono"/>
              </a:rPr>
              <a:t> </a:t>
            </a:r>
            <a:r>
              <a:rPr sz="1500">
                <a:solidFill>
                  <a:srgbClr val="40A070"/>
                </a:solidFill>
                <a:latin typeface="Liberation Mono"/>
              </a:rPr>
              <a:t>0.5</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cross</a:t>
            </a:r>
            <a:r>
              <a:rPr sz="1500">
                <a:solidFill>
                  <a:srgbClr val="202632"/>
                </a:solidFill>
                <a:latin typeface="Liberation Mono"/>
              </a:rPr>
              <a:t>(</a:t>
            </a:r>
            <a:r>
              <a:rPr sz="1500">
                <a:solidFill>
                  <a:srgbClr val="202632"/>
                </a:solidFill>
                <a:latin typeface="Liberation Mono"/>
              </a:rPr>
              <a:t>goal</a:t>
            </a:r>
            <a:r>
              <a:rPr sz="1500">
                <a:solidFill>
                  <a:srgbClr val="202632"/>
                </a:solidFill>
                <a:latin typeface="Liberation Mono"/>
              </a:rPr>
              <a:t>.</a:t>
            </a:r>
            <a:r>
              <a:rPr sz="1500">
                <a:solidFill>
                  <a:srgbClr val="202632"/>
                </a:solidFill>
                <a:latin typeface="Liberation Mono"/>
              </a:rPr>
              <a:t>block</a:t>
            </a:r>
            <a:r>
              <a:rPr sz="1500">
                <a:solidFill>
                  <a:srgbClr val="666666"/>
                </a:solidFill>
                <a:latin typeface="Liberation Mono"/>
              </a:rPr>
              <a:t>&lt;</a:t>
            </a:r>
            <a:r>
              <a:rPr sz="1500">
                <a:solidFill>
                  <a:srgbClr val="40A070"/>
                </a:solidFill>
                <a:latin typeface="Liberation Mono"/>
              </a:rPr>
              <a:t>3</a:t>
            </a:r>
            <a:r>
              <a:rPr sz="1500">
                <a:solidFill>
                  <a:srgbClr val="202632"/>
                </a:solidFill>
                <a:latin typeface="Liberation Mono"/>
              </a:rPr>
              <a:t>,</a:t>
            </a:r>
            <a:r>
              <a:rPr sz="1500">
                <a:solidFill>
                  <a:srgbClr val="40A070"/>
                </a:solidFill>
                <a:latin typeface="Liberation Mono"/>
              </a:rPr>
              <a:t>1</a:t>
            </a:r>
            <a:r>
              <a:rPr sz="1500">
                <a:solidFill>
                  <a:srgbClr val="666666"/>
                </a:solidFill>
                <a:latin typeface="Liberation Mono"/>
              </a:rPr>
              <a:t>&gt;</a:t>
            </a:r>
            <a:r>
              <a:rPr sz="1500">
                <a:solidFill>
                  <a:srgbClr val="202632"/>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Matrix</a:t>
            </a:r>
            <a:r>
              <a:rPr sz="1500">
                <a:solidFill>
                  <a:srgbClr val="666666"/>
                </a:solidFill>
                <a:latin typeface="Liberation Mono"/>
              </a:rPr>
              <a:t>&lt;</a:t>
            </a:r>
            <a:r>
              <a:rPr sz="1500">
                <a:solidFill>
                  <a:srgbClr val="902000"/>
                </a:solidFill>
                <a:latin typeface="Liberation Mono"/>
              </a:rPr>
              <a:t>double</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40A070"/>
                </a:solidFill>
                <a:latin typeface="Liberation Mono"/>
              </a:rPr>
              <a:t>6</a:t>
            </a:r>
            <a:r>
              <a:rPr sz="1500">
                <a:solidFill>
                  <a:srgbClr val="666666"/>
                </a:solidFill>
                <a:latin typeface="Liberation Mono"/>
              </a:rPr>
              <a:t>&gt;</a:t>
            </a:r>
            <a:r>
              <a:rPr sz="1500">
                <a:solidFill>
                  <a:srgbClr val="BBBBBB"/>
                </a:solidFill>
                <a:latin typeface="Liberation Mono"/>
              </a:rPr>
              <a:t> </a:t>
            </a:r>
            <a:r>
              <a:rPr sz="1500">
                <a:solidFill>
                  <a:srgbClr val="202632"/>
                </a:solidFill>
                <a:latin typeface="Liberation Mono"/>
              </a:rPr>
              <a:t>h</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j</a:t>
            </a:r>
            <a:r>
              <a:rPr sz="1500">
                <a:solidFill>
                  <a:srgbClr val="666666"/>
                </a:solidFill>
                <a:latin typeface="Liberation Mono"/>
              </a:rPr>
              <a:t>*</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transpose</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h</a:t>
            </a:r>
            <a:r>
              <a:rPr sz="1500">
                <a:solidFill>
                  <a:srgbClr val="202632"/>
                </a:solidFill>
                <a:latin typeface="Liberation Mono"/>
              </a:rPr>
              <a:t>.</a:t>
            </a:r>
            <a:r>
              <a:rPr sz="1500">
                <a:solidFill>
                  <a:srgbClr val="202632"/>
                </a:solidFill>
                <a:latin typeface="Liberation Mono"/>
              </a:rPr>
              <a:t>diagonal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damping</a:t>
            </a:r>
            <a:r>
              <a:rPr sz="1500">
                <a:solidFill>
                  <a:srgbClr val="666666"/>
                </a:solidFill>
                <a:latin typeface="Liberation Mono"/>
              </a:rPr>
              <a:t>*</a:t>
            </a:r>
            <a:r>
              <a:rPr sz="1500">
                <a:solidFill>
                  <a:srgbClr val="202632"/>
                </a:solidFill>
                <a:latin typeface="Liberation Mono"/>
              </a:rPr>
              <a:t>damping</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VectorXd</a:t>
            </a:r>
            <a:r>
              <a:rPr sz="1500">
                <a:solidFill>
                  <a:srgbClr val="BBBBBB"/>
                </a:solidFill>
                <a:latin typeface="Liberation Mono"/>
              </a:rPr>
              <a:t> </a:t>
            </a:r>
            <a:r>
              <a:rPr sz="1500">
                <a:solidFill>
                  <a:srgbClr val="202632"/>
                </a:solidFill>
                <a:latin typeface="Liberation Mono"/>
              </a:rPr>
              <a:t>velocity</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j</a:t>
            </a:r>
            <a:r>
              <a:rPr sz="1500">
                <a:solidFill>
                  <a:srgbClr val="202632"/>
                </a:solidFill>
                <a:latin typeface="Liberation Mono"/>
              </a:rPr>
              <a:t>.</a:t>
            </a:r>
            <a:r>
              <a:rPr sz="1500">
                <a:solidFill>
                  <a:srgbClr val="202632"/>
                </a:solidFill>
                <a:latin typeface="Liberation Mono"/>
              </a:rPr>
              <a:t>transpose</a:t>
            </a:r>
            <a:r>
              <a:rPr sz="1500">
                <a:solidFill>
                  <a:srgbClr val="202632"/>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h</a:t>
            </a:r>
            <a:r>
              <a:rPr sz="1500">
                <a:solidFill>
                  <a:srgbClr val="202632"/>
                </a:solidFill>
                <a:latin typeface="Liberation Mono"/>
              </a:rPr>
              <a:t>.</a:t>
            </a:r>
            <a:r>
              <a:rPr sz="1500">
                <a:solidFill>
                  <a:srgbClr val="202632"/>
                </a:solidFill>
                <a:latin typeface="Liberation Mono"/>
              </a:rPr>
              <a:t>ldlt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solve</a:t>
            </a:r>
            <a:r>
              <a:rPr sz="1500">
                <a:solidFill>
                  <a:srgbClr val="202632"/>
                </a:solidFill>
                <a:latin typeface="Liberation Mono"/>
              </a:rPr>
              <a:t>(</a:t>
            </a:r>
            <a:r>
              <a:rPr sz="1500">
                <a:solidFill>
                  <a:srgbClr val="202632"/>
                </a:solidFill>
                <a:latin typeface="Liberation Mono"/>
              </a:rPr>
              <a:t>gain</a:t>
            </a:r>
            <a:r>
              <a:rPr sz="1500">
                <a:solidFill>
                  <a:srgbClr val="666666"/>
                </a:solidFill>
                <a:latin typeface="Liberation Mono"/>
              </a:rPr>
              <a:t>*</a:t>
            </a:r>
            <a:r>
              <a:rPr sz="1500">
                <a:solidFill>
                  <a:srgbClr val="202632"/>
                </a:solidFill>
                <a:latin typeface="Liberation Mono"/>
              </a:rPr>
              <a:t>error</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60A0B0"/>
                </a:solidFill>
                <a:latin typeface="Liberation Mono"/>
              </a:rPr>
              <a:t>// Scale the whole velocity vector to preserve its direction at the speed bound.</a:t>
            </a:r>
          </a:p>
          <a:p>
            <a:pPr>
              <a:lnSpc>
                <a:spcPts val="1570"/>
              </a:lnSpc>
              <a:spcBef>
                <a:spcPts val="0"/>
              </a:spcBef>
              <a:spcAft>
                <a:spcPts val="0"/>
              </a:spcAft>
            </a:pPr>
            <a:r>
              <a:rPr sz="1500">
                <a:solidFill>
                  <a:srgbClr val="BBBBBB"/>
                </a:solidFill>
                <a:latin typeface="Liberation Mono"/>
              </a:rPr>
              <a:t>  </a:t>
            </a:r>
            <a:r>
              <a:rPr sz="1500">
                <a:solidFill>
                  <a:srgbClr val="902000"/>
                </a:solidFill>
                <a:latin typeface="Liberation Mono"/>
              </a:rPr>
              <a:t>double</a:t>
            </a:r>
            <a:r>
              <a:rPr sz="1500">
                <a:solidFill>
                  <a:srgbClr val="BBBBBB"/>
                </a:solidFill>
                <a:latin typeface="Liberation Mono"/>
              </a:rPr>
              <a:t> </a:t>
            </a:r>
            <a:r>
              <a:rPr sz="1500">
                <a:solidFill>
                  <a:srgbClr val="202632"/>
                </a:solidFill>
                <a:latin typeface="Liberation Mono"/>
              </a:rPr>
              <a:t>scale</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std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max</a:t>
            </a:r>
            <a:r>
              <a:rPr sz="1500">
                <a:solidFill>
                  <a:srgbClr val="202632"/>
                </a:solidFill>
                <a:latin typeface="Liberation Mono"/>
              </a:rPr>
              <a:t>(</a:t>
            </a:r>
            <a:r>
              <a:rPr sz="1500">
                <a:solidFill>
                  <a:srgbClr val="40A070"/>
                </a:solidFill>
                <a:latin typeface="Liberation Mono"/>
              </a:rPr>
              <a:t>1.0</a:t>
            </a:r>
            <a:r>
              <a:rPr sz="1500">
                <a:solidFill>
                  <a:srgbClr val="202632"/>
                </a:solidFill>
                <a:latin typeface="Liberation Mono"/>
              </a:rPr>
              <a:t>,</a:t>
            </a:r>
            <a:r>
              <a:rPr sz="1500">
                <a:solidFill>
                  <a:srgbClr val="BBBBBB"/>
                </a:solidFill>
                <a:latin typeface="Liberation Mono"/>
              </a:rPr>
              <a:t> </a:t>
            </a:r>
            <a:r>
              <a:rPr sz="1500">
                <a:solidFill>
                  <a:srgbClr val="202632"/>
                </a:solidFill>
                <a:latin typeface="Liberation Mono"/>
              </a:rPr>
              <a:t>velocity</a:t>
            </a:r>
            <a:r>
              <a:rPr sz="1500">
                <a:solidFill>
                  <a:srgbClr val="202632"/>
                </a:solidFill>
                <a:latin typeface="Liberation Mono"/>
              </a:rPr>
              <a:t>.</a:t>
            </a:r>
            <a:r>
              <a:rPr sz="1500">
                <a:solidFill>
                  <a:srgbClr val="202632"/>
                </a:solidFill>
                <a:latin typeface="Liberation Mono"/>
              </a:rPr>
              <a:t>cwiseAbs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maxCoeff</a:t>
            </a:r>
            <a:r>
              <a:rPr sz="1500">
                <a:solidFill>
                  <a:srgbClr val="202632"/>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speed</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007020"/>
                </a:solidFill>
                <a:latin typeface="Liberation Mono"/>
              </a:rPr>
              <a:t>for</a:t>
            </a:r>
            <a:r>
              <a:rPr sz="1500">
                <a:solidFill>
                  <a:srgbClr val="BBBBBB"/>
                </a:solidFill>
                <a:latin typeface="Liberation Mono"/>
              </a:rPr>
              <a:t> </a:t>
            </a:r>
            <a:r>
              <a:rPr sz="1500">
                <a:solidFill>
                  <a:srgbClr val="202632"/>
                </a:solidFill>
                <a:latin typeface="Liberation Mono"/>
              </a:rPr>
              <a:t>(</a:t>
            </a:r>
            <a:r>
              <a:rPr sz="1500">
                <a:solidFill>
                  <a:srgbClr val="902000"/>
                </a:solidFill>
                <a:latin typeface="Liberation Mono"/>
              </a:rPr>
              <a:t>int</a:t>
            </a:r>
            <a:r>
              <a:rPr sz="1500">
                <a:solidFill>
                  <a:srgbClr val="BBBBBB"/>
                </a:solidFill>
                <a:latin typeface="Liberation Mono"/>
              </a:rPr>
              <a:t> </a:t>
            </a:r>
            <a:r>
              <a:rPr sz="1500">
                <a:solidFill>
                  <a:srgbClr val="202632"/>
                </a:solidFill>
                <a:latin typeface="Liberation Mono"/>
              </a:rPr>
              <a:t>k</a:t>
            </a:r>
            <a:r>
              <a:rPr sz="1500">
                <a:solidFill>
                  <a:srgbClr val="666666"/>
                </a:solidFill>
                <a:latin typeface="Liberation Mono"/>
              </a:rPr>
              <a:t>=</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k</a:t>
            </a:r>
            <a:r>
              <a:rPr sz="1500">
                <a:solidFill>
                  <a:srgbClr val="666666"/>
                </a:solidFill>
                <a:latin typeface="Liberation Mono"/>
              </a:rPr>
              <a:t>&lt;</a:t>
            </a:r>
            <a:r>
              <a:rPr sz="1500">
                <a:solidFill>
                  <a:srgbClr val="202632"/>
                </a:solidFill>
                <a:latin typeface="Liberation Mono"/>
              </a:rPr>
              <a:t>joints</a:t>
            </a:r>
            <a:r>
              <a:rPr sz="1500">
                <a:solidFill>
                  <a:srgbClr val="202632"/>
                </a:solidFill>
                <a:latin typeface="Liberation Mono"/>
              </a:rPr>
              <a:t>;</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k</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202632"/>
                </a:solidFill>
                <a:latin typeface="Liberation Mono"/>
              </a:rPr>
              <a:t>command</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BBBBBB"/>
                </a:solidFill>
                <a:latin typeface="Liberation Mono"/>
              </a:rPr>
              <a:t> </a:t>
            </a:r>
            <a:r>
              <a:rPr sz="1500">
                <a:solidFill>
                  <a:srgbClr val="666666"/>
                </a:solidFill>
                <a:latin typeface="Liberation Mono"/>
              </a:rPr>
              <a:t>=</a:t>
            </a:r>
            <a:r>
              <a:rPr sz="1500">
                <a:solidFill>
                  <a:srgbClr val="BBBBBB"/>
                </a:solidFill>
                <a:latin typeface="Liberation Mono"/>
              </a:rPr>
              <a:t> </a:t>
            </a:r>
            <a:r>
              <a:rPr sz="1500">
                <a:solidFill>
                  <a:srgbClr val="202632"/>
                </a:solidFill>
                <a:latin typeface="Liberation Mono"/>
              </a:rPr>
              <a:t>std</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clamp</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dt</a:t>
            </a:r>
            <a:r>
              <a:rPr sz="1500">
                <a:solidFill>
                  <a:srgbClr val="666666"/>
                </a:solidFill>
                <a:latin typeface="Liberation Mono"/>
              </a:rPr>
              <a:t>*</a:t>
            </a:r>
            <a:r>
              <a:rPr sz="1500">
                <a:solidFill>
                  <a:srgbClr val="202632"/>
                </a:solidFill>
                <a:latin typeface="Liberation Mono"/>
              </a:rPr>
              <a:t>velocity</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scale</a:t>
            </a:r>
            <a:r>
              <a:rPr sz="1500">
                <a:solidFill>
                  <a:srgbClr val="202632"/>
                </a:solidFill>
                <a:latin typeface="Liberation Mono"/>
              </a:rPr>
              <a:t>,</a:t>
            </a:r>
            <a:r>
              <a:rPr sz="1500">
                <a:solidFill>
                  <a:srgbClr val="202632"/>
                </a:solidFill>
                <a:latin typeface="Liberation Mono"/>
              </a:rPr>
              <a:t>lower</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upper</a:t>
            </a:r>
            <a:r>
              <a:rPr sz="1500">
                <a:solidFill>
                  <a:srgbClr val="202632"/>
                </a:solidFill>
                <a:latin typeface="Liberation Mono"/>
              </a:rPr>
              <a:t>[</a:t>
            </a:r>
            <a:r>
              <a:rPr sz="1500">
                <a:solidFill>
                  <a:srgbClr val="202632"/>
                </a:solidFill>
                <a:latin typeface="Liberation Mono"/>
              </a:rPr>
              <a:t>k</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Code reference: Python calls the C++ kernel (1/5)</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arm_kinematics.py   |   lines 1–24</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4070A0"/>
                </a:solidFill>
                <a:latin typeface="Liberation Mono"/>
              </a:rPr>
              <a:t>"""Serial-chain kinematics compiled once through cppyy_kit.</a:t>
            </a:r>
          </a:p>
          <a:p>
            <a:pPr>
              <a:lnSpc>
                <a:spcPts val="1570"/>
              </a:lnSpc>
              <a:spcBef>
                <a:spcPts val="0"/>
              </a:spcBef>
              <a:spcAft>
                <a:spcPts val="0"/>
              </a:spcAft>
            </a:pPr>
          </a:p>
          <a:p>
            <a:pPr>
              <a:lnSpc>
                <a:spcPts val="1570"/>
              </a:lnSpc>
              <a:spcBef>
                <a:spcPts val="0"/>
              </a:spcBef>
              <a:spcAft>
                <a:spcPts val="0"/>
              </a:spcAft>
            </a:pPr>
            <a:r>
              <a:rPr sz="1500">
                <a:solidFill>
                  <a:srgbClr val="4070A0"/>
                </a:solidFill>
                <a:latin typeface="Liberation Mono"/>
              </a:rPr>
              <a:t>Positions use metres. Rotations and revolute joint coordinates use radians.</a:t>
            </a:r>
          </a:p>
          <a:p>
            <a:pPr>
              <a:lnSpc>
                <a:spcPts val="1570"/>
              </a:lnSpc>
              <a:spcBef>
                <a:spcPts val="0"/>
              </a:spcBef>
              <a:spcAft>
                <a:spcPts val="0"/>
              </a:spcAft>
            </a:pPr>
            <a:r>
              <a:rPr sz="1500">
                <a:solidFill>
                  <a:srgbClr val="4070A0"/>
                </a:solidFill>
                <a:latin typeface="Liberation Mono"/>
              </a:rPr>
              <a:t>The Jacobian and poses are expressed in the selected URDF base link frame.</a:t>
            </a:r>
          </a:p>
          <a:p>
            <a:pPr>
              <a:lnSpc>
                <a:spcPts val="1570"/>
              </a:lnSpc>
              <a:spcBef>
                <a:spcPts val="0"/>
              </a:spcBef>
              <a:spcAft>
                <a:spcPts val="0"/>
              </a:spcAft>
            </a:pPr>
            <a:r>
              <a:rPr sz="1500">
                <a:solidFill>
                  <a:srgbClr val="4070A0"/>
                </a:solidFill>
                <a:latin typeface="Liberation Mono"/>
              </a:rPr>
              <a:t>"""</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hashlib</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pathlib</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Path</a:t>
            </a: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xml</a:t>
            </a:r>
            <a:r>
              <a:rPr sz="1500">
                <a:solidFill>
                  <a:srgbClr val="0E84B5"/>
                </a:solidFill>
                <a:latin typeface="Liberation Mono"/>
              </a:rPr>
              <a:t>.</a:t>
            </a:r>
            <a:r>
              <a:rPr sz="1500">
                <a:solidFill>
                  <a:srgbClr val="0E84B5"/>
                </a:solidFill>
                <a:latin typeface="Liberation Mono"/>
              </a:rPr>
              <a:t>etree</a:t>
            </a:r>
            <a:r>
              <a:rPr sz="1500">
                <a:solidFill>
                  <a:srgbClr val="0E84B5"/>
                </a:solidFill>
                <a:latin typeface="Liberation Mono"/>
              </a:rPr>
              <a:t>.</a:t>
            </a:r>
            <a:r>
              <a:rPr sz="1500">
                <a:solidFill>
                  <a:srgbClr val="0E84B5"/>
                </a:solidFill>
                <a:latin typeface="Liberation Mono"/>
              </a:rPr>
              <a:t>ElementTree</a:t>
            </a:r>
            <a:r>
              <a:rPr sz="1500">
                <a:solidFill>
                  <a:srgbClr val="BBBBBB"/>
                </a:solidFill>
                <a:latin typeface="Liberation Mono"/>
              </a:rPr>
              <a:t> </a:t>
            </a:r>
            <a:r>
              <a:rPr sz="1500">
                <a:solidFill>
                  <a:srgbClr val="007020"/>
                </a:solidFill>
                <a:latin typeface="Liberation Mono"/>
              </a:rPr>
              <a:t>as</a:t>
            </a:r>
            <a:r>
              <a:rPr sz="1500">
                <a:solidFill>
                  <a:srgbClr val="BBBBBB"/>
                </a:solidFill>
                <a:latin typeface="Liberation Mono"/>
              </a:rPr>
              <a:t> </a:t>
            </a:r>
            <a:r>
              <a:rPr sz="1500">
                <a:solidFill>
                  <a:srgbClr val="0E84B5"/>
                </a:solidFill>
                <a:latin typeface="Liberation Mono"/>
              </a:rPr>
              <a:t>ET</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numpy</a:t>
            </a:r>
            <a:r>
              <a:rPr sz="1500">
                <a:solidFill>
                  <a:srgbClr val="BBBBBB"/>
                </a:solidFill>
                <a:latin typeface="Liberation Mono"/>
              </a:rPr>
              <a:t> </a:t>
            </a:r>
            <a:r>
              <a:rPr sz="1500">
                <a:solidFill>
                  <a:srgbClr val="007020"/>
                </a:solidFill>
                <a:latin typeface="Liberation Mono"/>
              </a:rPr>
              <a:t>as</a:t>
            </a:r>
            <a:r>
              <a:rPr sz="1500">
                <a:solidFill>
                  <a:srgbClr val="BBBBBB"/>
                </a:solidFill>
                <a:latin typeface="Liberation Mono"/>
              </a:rPr>
              <a:t> </a:t>
            </a:r>
            <a:r>
              <a:rPr sz="1500">
                <a:solidFill>
                  <a:srgbClr val="0E84B5"/>
                </a:solidFill>
                <a:latin typeface="Liberation Mono"/>
              </a:rPr>
              <a:t>np</a:t>
            </a: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cppyy_kit</a:t>
            </a:r>
          </a:p>
          <a:p>
            <a:pPr>
              <a:lnSpc>
                <a:spcPts val="157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cppyy_kit</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cppyy</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_NATIVE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None</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_native</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global</a:t>
            </a:r>
            <a:r>
              <a:rPr sz="1500">
                <a:solidFill>
                  <a:srgbClr val="202632"/>
                </a:solidFill>
                <a:latin typeface="Liberation Mono"/>
              </a:rPr>
              <a:t> </a:t>
            </a:r>
            <a:r>
              <a:rPr sz="1500">
                <a:solidFill>
                  <a:srgbClr val="202632"/>
                </a:solidFill>
                <a:latin typeface="Liberation Mono"/>
              </a:rPr>
              <a:t>_NATIVE</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_NATIVE</a:t>
            </a:r>
            <a:r>
              <a:rPr sz="1500">
                <a:solidFill>
                  <a:srgbClr val="202632"/>
                </a:solidFill>
                <a:latin typeface="Liberation Mono"/>
              </a:rPr>
              <a:t> </a:t>
            </a:r>
            <a:r>
              <a:rPr sz="1500">
                <a:solidFill>
                  <a:srgbClr val="007020"/>
                </a:solidFill>
                <a:latin typeface="Liberation Mono"/>
              </a:rPr>
              <a:t>is</a:t>
            </a:r>
            <a:r>
              <a:rPr sz="1500">
                <a:solidFill>
                  <a:srgbClr val="202632"/>
                </a:solidFill>
                <a:latin typeface="Liberation Mono"/>
              </a:rPr>
              <a:t> </a:t>
            </a:r>
            <a:r>
              <a:rPr sz="1500">
                <a:solidFill>
                  <a:srgbClr val="007020"/>
                </a:solidFill>
                <a:latin typeface="Liberation Mono"/>
              </a:rPr>
              <a:t>None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header</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BB60D5"/>
                </a:solidFill>
                <a:latin typeface="Liberation Mono"/>
              </a:rPr>
              <a:t>__file__</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with_name</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arm_kinematics.hpp</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prefixes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Code reference: Python calls the C++ kernel (2/5)</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arm_kinematics.py   |   lines 25–48</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CONDA_PREFIX</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sys</a:t>
            </a:r>
            <a:r>
              <a:rPr sz="1500">
                <a:solidFill>
                  <a:srgbClr val="666666"/>
                </a:solidFill>
                <a:latin typeface="Liberation Mono"/>
              </a:rPr>
              <a:t>.</a:t>
            </a:r>
            <a:r>
              <a:rPr sz="1500">
                <a:solidFill>
                  <a:srgbClr val="202632"/>
                </a:solidFill>
                <a:latin typeface="Liberation Mono"/>
              </a:rPr>
              <a:t>executable</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parent</a:t>
            </a:r>
            <a:r>
              <a:rPr sz="1500">
                <a:solidFill>
                  <a:srgbClr val="666666"/>
                </a:solidFill>
                <a:latin typeface="Liberation Mono"/>
              </a:rPr>
              <a:t>.</a:t>
            </a:r>
            <a:r>
              <a:rPr sz="1500">
                <a:solidFill>
                  <a:srgbClr val="202632"/>
                </a:solidFill>
                <a:latin typeface="Liberation Mono"/>
              </a:rPr>
              <a:t>parent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Path</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/usr</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includes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str</a:t>
            </a:r>
            <a:r>
              <a:rPr sz="1500">
                <a:solidFill>
                  <a:srgbClr val="202632"/>
                </a:solidFill>
                <a:latin typeface="Liberation Mono"/>
              </a:rPr>
              <a:t>(</a:t>
            </a:r>
            <a:r>
              <a:rPr sz="1500">
                <a:solidFill>
                  <a:srgbClr val="202632"/>
                </a:solidFill>
                <a:latin typeface="Liberation Mono"/>
              </a:rPr>
              <a:t>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include/eigen3</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p</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prefixes</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p</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include/eigen3/Eigen/Core</a:t>
            </a:r>
            <a:r>
              <a:rPr sz="1500">
                <a:solidFill>
                  <a:srgbClr val="4070A0"/>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exists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includes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RuntimeError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Eigen headers are required to compile the admittance kernel</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build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code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 </a:t>
            </a:r>
            <a:r>
              <a:rPr sz="1500">
                <a:solidFill>
                  <a:srgbClr val="70A0D0"/>
                </a:solidFill>
                <a:latin typeface="Liberation Mono"/>
              </a:rPr>
              <a:t>{</a:t>
            </a:r>
            <a:r>
              <a:rPr sz="1500">
                <a:solidFill>
                  <a:srgbClr val="202632"/>
                </a:solidFill>
                <a:latin typeface="Liberation Mono"/>
              </a:rPr>
              <a:t>hashlib</a:t>
            </a:r>
            <a:r>
              <a:rPr sz="1500">
                <a:solidFill>
                  <a:srgbClr val="666666"/>
                </a:solidFill>
                <a:latin typeface="Liberation Mono"/>
              </a:rPr>
              <a:t>.</a:t>
            </a:r>
            <a:r>
              <a:rPr sz="1500">
                <a:solidFill>
                  <a:srgbClr val="202632"/>
                </a:solidFill>
                <a:latin typeface="Liberation Mono"/>
              </a:rPr>
              <a:t>sha256</a:t>
            </a:r>
            <a:r>
              <a:rPr sz="1500">
                <a:solidFill>
                  <a:srgbClr val="202632"/>
                </a:solidFill>
                <a:latin typeface="Liberation Mono"/>
              </a:rPr>
              <a:t>(</a:t>
            </a:r>
            <a:r>
              <a:rPr sz="1500">
                <a:solidFill>
                  <a:srgbClr val="202632"/>
                </a:solidFill>
                <a:latin typeface="Liberation Mono"/>
              </a:rPr>
              <a:t>header</a:t>
            </a:r>
            <a:r>
              <a:rPr sz="1500">
                <a:solidFill>
                  <a:srgbClr val="666666"/>
                </a:solidFill>
                <a:latin typeface="Liberation Mono"/>
              </a:rPr>
              <a:t>.</a:t>
            </a:r>
            <a:r>
              <a:rPr sz="1500">
                <a:solidFill>
                  <a:srgbClr val="202632"/>
                </a:solidFill>
                <a:latin typeface="Liberation Mono"/>
              </a:rPr>
              <a:t>read_bytes</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hexdigest</a:t>
            </a:r>
            <a:r>
              <a:rPr sz="1500">
                <a:solidFill>
                  <a:srgbClr val="202632"/>
                </a:solidFill>
                <a:latin typeface="Liberation Mono"/>
              </a:rPr>
              <a:t>(</a:t>
            </a:r>
            <a:r>
              <a:rPr sz="1500">
                <a:solidFill>
                  <a:srgbClr val="202632"/>
                </a:solidFill>
                <a:latin typeface="Liberation Mono"/>
              </a:rPr>
              <a:t>)</a:t>
            </a:r>
            <a:r>
              <a:rPr sz="1500">
                <a:solidFill>
                  <a:srgbClr val="70A0D0"/>
                </a:solidFill>
                <a:latin typeface="Liberation Mono"/>
              </a:rPr>
              <a:t>}</a:t>
            </a:r>
            <a:r>
              <a:rPr sz="1500">
                <a:solidFill>
                  <a:srgbClr val="4070A0"/>
                </a:solidFill>
                <a:latin typeface="Liberation Mono"/>
              </a:rPr>
              <a:t>\n</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#include </a:t>
            </a:r>
            <a:r>
              <a:rPr sz="1500">
                <a:solidFill>
                  <a:srgbClr val="4070A0"/>
                </a:solidFill>
                <a:latin typeface="Liberation Mono"/>
              </a:rPr>
              <a:t>"</a:t>
            </a:r>
            <a:r>
              <a:rPr sz="1500">
                <a:solidFill>
                  <a:srgbClr val="70A0D0"/>
                </a:solidFill>
                <a:latin typeface="Liberation Mono"/>
              </a:rPr>
              <a:t>{</a:t>
            </a:r>
            <a:r>
              <a:rPr sz="1500">
                <a:solidFill>
                  <a:srgbClr val="202632"/>
                </a:solidFill>
                <a:latin typeface="Liberation Mono"/>
              </a:rPr>
              <a:t>header</a:t>
            </a:r>
            <a:r>
              <a:rPr sz="1500">
                <a:solidFill>
                  <a:srgbClr val="70A0D0"/>
                </a:solidFill>
                <a:latin typeface="Liberation Mono"/>
              </a:rPr>
              <a:t>}</a:t>
            </a:r>
            <a:r>
              <a:rPr sz="1500">
                <a:solidFill>
                  <a:srgbClr val="4070A0"/>
                </a:solidFill>
                <a:latin typeface="Liberation Mono"/>
              </a:rPr>
              <a:t>"</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decls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namespace demo_arm_kinematics </a:t>
            </a:r>
            <a:r>
              <a:rPr sz="1500">
                <a:solidFill>
                  <a:srgbClr val="4070A0"/>
                </a:solidFill>
                <a:latin typeface="Liberation Mono"/>
              </a:rPr>
              <a:t>{</a:t>
            </a:r>
            <a:r>
              <a:rPr sz="1500">
                <a:solidFill>
                  <a:srgbClr val="4070A0"/>
                </a:solidFill>
                <a:latin typeface="Liberation Mono"/>
              </a:rPr>
              <a:t> </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void kinematics(int,int,const int*,const int*,const double*,</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const double*,const double*,double*,double*); </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void step(int,int,const int*,const int*,const double*,</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const double*,const double*,const double*,const double*,</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const double*,double,double,double,double,double*); }</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include_paths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includes</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name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demo_arm_kinematics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cppyy_kit</a:t>
            </a:r>
            <a:r>
              <a:rPr sz="1500">
                <a:solidFill>
                  <a:srgbClr val="666666"/>
                </a:solidFill>
                <a:latin typeface="Liberation Mono"/>
              </a:rPr>
              <a:t>.</a:t>
            </a:r>
            <a:r>
              <a:rPr sz="1500">
                <a:solidFill>
                  <a:srgbClr val="202632"/>
                </a:solidFill>
                <a:latin typeface="Liberation Mono"/>
              </a:rPr>
              <a:t>prebuild</a:t>
            </a:r>
            <a:r>
              <a:rPr sz="1500">
                <a:solidFill>
                  <a:srgbClr val="202632"/>
                </a:solidFill>
                <a:latin typeface="Liberation Mono"/>
              </a:rPr>
              <a:t>(</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build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cppyy_kit</a:t>
            </a:r>
            <a:r>
              <a:rPr sz="1500">
                <a:solidFill>
                  <a:srgbClr val="666666"/>
                </a:solidFill>
                <a:latin typeface="Liberation Mono"/>
              </a:rPr>
              <a:t>.</a:t>
            </a:r>
            <a:r>
              <a:rPr sz="1500">
                <a:solidFill>
                  <a:srgbClr val="202632"/>
                </a:solidFill>
                <a:latin typeface="Liberation Mono"/>
              </a:rPr>
              <a:t>cppdef_cached</a:t>
            </a:r>
            <a:r>
              <a:rPr sz="1500">
                <a:solidFill>
                  <a:srgbClr val="202632"/>
                </a:solidFill>
                <a:latin typeface="Liberation Mono"/>
              </a:rPr>
              <a:t>(</a:t>
            </a:r>
            <a:r>
              <a:rPr sz="1500">
                <a:solidFill>
                  <a:srgbClr val="666666"/>
                </a:solidFill>
                <a:latin typeface="Liberation Mono"/>
              </a:rPr>
              <a:t>*</a:t>
            </a:r>
            <a:r>
              <a:rPr sz="1500">
                <a:solidFill>
                  <a:srgbClr val="666666"/>
                </a:solidFill>
                <a:latin typeface="Liberation Mono"/>
              </a:rPr>
              <a:t>*</a:t>
            </a:r>
            <a:r>
              <a:rPr sz="1500">
                <a:solidFill>
                  <a:srgbClr val="202632"/>
                </a:solidFill>
                <a:latin typeface="Liberation Mono"/>
              </a:rPr>
              <a:t>build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_NATIVE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cppyy</a:t>
            </a:r>
            <a:r>
              <a:rPr sz="1500">
                <a:solidFill>
                  <a:srgbClr val="666666"/>
                </a:solidFill>
                <a:latin typeface="Liberation Mono"/>
              </a:rPr>
              <a:t>.</a:t>
            </a:r>
            <a:r>
              <a:rPr sz="1500">
                <a:solidFill>
                  <a:srgbClr val="202632"/>
                </a:solidFill>
                <a:latin typeface="Liberation Mono"/>
              </a:rPr>
              <a:t>gbl</a:t>
            </a:r>
            <a:r>
              <a:rPr sz="1500">
                <a:solidFill>
                  <a:srgbClr val="666666"/>
                </a:solidFill>
                <a:latin typeface="Liberation Mono"/>
              </a:rPr>
              <a:t>.</a:t>
            </a:r>
            <a:r>
              <a:rPr sz="1500">
                <a:solidFill>
                  <a:srgbClr val="202632"/>
                </a:solidFill>
                <a:latin typeface="Liberation Mono"/>
              </a:rPr>
              <a:t>demo_arm_kinematics</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_NATIVE</a:t>
            </a:r>
          </a:p>
          <a:p>
            <a:pPr>
              <a:lnSpc>
                <a:spcPts val="1570"/>
              </a:lnSpc>
              <a:spcBef>
                <a:spcPts val="0"/>
              </a:spcBef>
              <a:spcAft>
                <a:spcPts val="0"/>
              </a:spcAft>
            </a:p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Code reference: Python calls the C++ kernel (3/5)</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arm_kinematics.py   |   lines 49–72</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_vector</a:t>
            </a:r>
            <a:r>
              <a:rPr sz="1500">
                <a:solidFill>
                  <a:srgbClr val="202632"/>
                </a:solidFill>
                <a:latin typeface="Liberation Mono"/>
              </a:rPr>
              <a:t>(</a:t>
            </a:r>
            <a:r>
              <a:rPr sz="1500">
                <a:solidFill>
                  <a:srgbClr val="202632"/>
                </a:solidFill>
                <a:latin typeface="Liberation Mono"/>
              </a:rPr>
              <a:t>element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attribute</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default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values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007020"/>
                </a:solidFill>
                <a:latin typeface="Liberation Mono"/>
              </a:rPr>
              <a:t>float</a:t>
            </a:r>
            <a:r>
              <a:rPr sz="1500">
                <a:solidFill>
                  <a:srgbClr val="202632"/>
                </a:solidFill>
                <a:latin typeface="Liberation Mono"/>
              </a:rPr>
              <a:t>(</a:t>
            </a:r>
            <a:r>
              <a:rPr sz="1500">
                <a:solidFill>
                  <a:srgbClr val="202632"/>
                </a:solidFill>
                <a:latin typeface="Liberation Mono"/>
              </a:rPr>
              <a:t>x</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x</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element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202632"/>
                </a:solidFill>
                <a:latin typeface="Liberation Mono"/>
              </a:rPr>
              <a:t>attribute</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default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element</a:t>
            </a:r>
            <a:r>
              <a:rPr sz="1500">
                <a:solidFill>
                  <a:srgbClr val="202632"/>
                </a:solidFill>
                <a:latin typeface="Liberation Mono"/>
              </a:rPr>
              <a:t> </a:t>
            </a:r>
            <a:r>
              <a:rPr sz="1500">
                <a:solidFill>
                  <a:srgbClr val="007020"/>
                </a:solidFill>
                <a:latin typeface="Liberation Mono"/>
              </a:rPr>
              <a:t>is</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None</a:t>
            </a:r>
            <a:r>
              <a:rPr sz="1500">
                <a:solidFill>
                  <a:srgbClr val="202632"/>
                </a:solidFill>
                <a:latin typeface="Liberation Mono"/>
              </a:rPr>
              <a:t> </a:t>
            </a:r>
            <a:r>
              <a:rPr sz="1500">
                <a:solidFill>
                  <a:srgbClr val="007020"/>
                </a:solidFill>
                <a:latin typeface="Liberation Mono"/>
              </a:rPr>
              <a:t>else</a:t>
            </a:r>
            <a:r>
              <a:rPr sz="1500">
                <a:solidFill>
                  <a:srgbClr val="202632"/>
                </a:solidFill>
                <a:latin typeface="Liberation Mono"/>
              </a:rPr>
              <a:t> </a:t>
            </a:r>
            <a:r>
              <a:rPr sz="1500">
                <a:solidFill>
                  <a:srgbClr val="202632"/>
                </a:solidFill>
                <a:latin typeface="Liberation Mono"/>
              </a:rPr>
              <a:t>default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split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len</a:t>
            </a:r>
            <a:r>
              <a:rPr sz="1500">
                <a:solidFill>
                  <a:srgbClr val="202632"/>
                </a:solidFill>
                <a:latin typeface="Liberation Mono"/>
              </a:rPr>
              <a:t>(</a:t>
            </a:r>
            <a:r>
              <a:rPr sz="1500">
                <a:solidFill>
                  <a:srgbClr val="202632"/>
                </a:solidFill>
                <a:latin typeface="Liberation Mono"/>
              </a:rPr>
              <a:t>values</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3</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isfinite</a:t>
            </a:r>
            <a:r>
              <a:rPr sz="1500">
                <a:solidFill>
                  <a:srgbClr val="202632"/>
                </a:solidFill>
                <a:latin typeface="Liberation Mono"/>
              </a:rPr>
              <a:t>(</a:t>
            </a:r>
            <a:r>
              <a:rPr sz="1500">
                <a:solidFill>
                  <a:srgbClr val="202632"/>
                </a:solidFill>
                <a:latin typeface="Liberation Mono"/>
              </a:rPr>
              <a:t>values</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all</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URDF vectors require three finite values</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202632"/>
                </a:solidFill>
                <a:latin typeface="Liberation Mono"/>
              </a:rPr>
              <a:t>values</a:t>
            </a:r>
          </a:p>
          <a:p>
            <a:pPr>
              <a:lnSpc>
                <a:spcPts val="1570"/>
              </a:lnSpc>
              <a:spcBef>
                <a:spcPts val="0"/>
              </a:spcBef>
              <a:spcAft>
                <a:spcPts val="0"/>
              </a:spcAft>
            </a:pPr>
          </a:p>
          <a:p>
            <a:pPr>
              <a:lnSpc>
                <a:spcPts val="1570"/>
              </a:lnSpc>
              <a:spcBef>
                <a:spcPts val="0"/>
              </a:spcBef>
              <a:spcAft>
                <a:spcPts val="0"/>
              </a:spcAft>
            </a:pPr>
          </a:p>
          <a:p>
            <a:pPr>
              <a:lnSpc>
                <a:spcPts val="1570"/>
              </a:lnSpc>
              <a:spcBef>
                <a:spcPts val="0"/>
              </a:spcBef>
              <a:spcAft>
                <a:spcPts val="0"/>
              </a:spcAft>
            </a:pPr>
            <a:r>
              <a:rPr sz="1500">
                <a:solidFill>
                  <a:srgbClr val="007020"/>
                </a:solidFill>
                <a:latin typeface="Liberation Mono"/>
              </a:rPr>
              <a:t>class</a:t>
            </a:r>
            <a:r>
              <a:rPr sz="1500">
                <a:solidFill>
                  <a:srgbClr val="BBBBBB"/>
                </a:solidFill>
                <a:latin typeface="Liberation Mono"/>
              </a:rPr>
              <a:t> </a:t>
            </a:r>
            <a:r>
              <a:rPr sz="1500">
                <a:solidFill>
                  <a:srgbClr val="0E84B5"/>
                </a:solidFill>
                <a:latin typeface="Liberation Mono"/>
              </a:rPr>
              <a:t>Chain</a:t>
            </a:r>
            <a:r>
              <a:rPr sz="1500">
                <a:solidFill>
                  <a:srgbClr val="202632"/>
                </a:solidFill>
                <a:latin typeface="Liberation Mono"/>
              </a:rPr>
              <a:t>:</a:t>
            </a:r>
          </a:p>
          <a:p>
            <a:pPr>
              <a:lnSpc>
                <a:spcPts val="1570"/>
              </a:lnSpc>
              <a:spcBef>
                <a:spcPts val="0"/>
              </a:spcBef>
              <a:spcAft>
                <a:spcPts val="0"/>
              </a:spcAft>
            </a:pPr>
            <a:r>
              <a:rPr sz="1500">
                <a:solidFill>
                  <a:srgbClr val="BBBBBB"/>
                </a:solidFill>
                <a:latin typeface="Liberation Mono"/>
              </a:rPr>
              <a:t>    </a:t>
            </a:r>
            <a:r>
              <a:rPr sz="1500">
                <a:solidFill>
                  <a:srgbClr val="4070A0"/>
                </a:solidFill>
                <a:latin typeface="Liberation Mono"/>
              </a:rPr>
              <a:t>"""Parse one URDF chain and warm its cached native FK and IK entry points."""</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__init__</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urdf_path</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joint_names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base_link</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tip_link</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robot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ET</a:t>
            </a:r>
            <a:r>
              <a:rPr sz="1500">
                <a:solidFill>
                  <a:srgbClr val="666666"/>
                </a:solidFill>
                <a:latin typeface="Liberation Mono"/>
              </a:rPr>
              <a:t>.</a:t>
            </a:r>
            <a:r>
              <a:rPr sz="1500">
                <a:solidFill>
                  <a:srgbClr val="202632"/>
                </a:solidFill>
                <a:latin typeface="Liberation Mono"/>
              </a:rPr>
              <a:t>parse</a:t>
            </a:r>
            <a:r>
              <a:rPr sz="1500">
                <a:solidFill>
                  <a:srgbClr val="202632"/>
                </a:solidFill>
                <a:latin typeface="Liberation Mono"/>
              </a:rPr>
              <a:t>(</a:t>
            </a:r>
            <a:r>
              <a:rPr sz="1500">
                <a:solidFill>
                  <a:srgbClr val="202632"/>
                </a:solidFill>
                <a:latin typeface="Liberation Mono"/>
              </a:rPr>
              <a:t>urdf_path</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getroot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parents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j</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child</a:t>
            </a:r>
            <a:r>
              <a:rPr sz="1500">
                <a:solidFill>
                  <a:srgbClr val="4070A0"/>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link</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j</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robot</a:t>
            </a:r>
            <a:r>
              <a:rPr sz="1500">
                <a:solidFill>
                  <a:srgbClr val="666666"/>
                </a:solidFill>
                <a:latin typeface="Liberation Mono"/>
              </a:rPr>
              <a:t>.</a:t>
            </a:r>
            <a:r>
              <a:rPr sz="1500">
                <a:solidFill>
                  <a:srgbClr val="202632"/>
                </a:solidFill>
                <a:latin typeface="Liberation Mono"/>
              </a:rPr>
              <a:t>findall</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joint</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chain</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link</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visited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tip_link</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while</a:t>
            </a:r>
            <a:r>
              <a:rPr sz="1500">
                <a:solidFill>
                  <a:srgbClr val="202632"/>
                </a:solidFill>
                <a:latin typeface="Liberation Mono"/>
              </a:rPr>
              <a:t> </a:t>
            </a:r>
            <a:r>
              <a:rPr sz="1500">
                <a:solidFill>
                  <a:srgbClr val="202632"/>
                </a:solidFill>
                <a:latin typeface="Liberation Mono"/>
              </a:rPr>
              <a:t>link</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base_link</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link</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visited</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link</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parents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No URDF chain from </a:t>
            </a:r>
            <a:r>
              <a:rPr sz="1500">
                <a:solidFill>
                  <a:srgbClr val="70A0D0"/>
                </a:solidFill>
                <a:latin typeface="Liberation Mono"/>
              </a:rPr>
              <a:t>{</a:t>
            </a:r>
            <a:r>
              <a:rPr sz="1500">
                <a:solidFill>
                  <a:srgbClr val="202632"/>
                </a:solidFill>
                <a:latin typeface="Liberation Mono"/>
              </a:rPr>
              <a:t>base_link</a:t>
            </a:r>
            <a:r>
              <a:rPr sz="1500">
                <a:solidFill>
                  <a:srgbClr val="70A0D0"/>
                </a:solidFill>
                <a:latin typeface="Liberation Mono"/>
              </a:rPr>
              <a:t>}</a:t>
            </a:r>
            <a:r>
              <a:rPr sz="1500">
                <a:solidFill>
                  <a:srgbClr val="4070A0"/>
                </a:solidFill>
                <a:latin typeface="Liberation Mono"/>
              </a:rPr>
              <a:t> to </a:t>
            </a:r>
            <a:r>
              <a:rPr sz="1500">
                <a:solidFill>
                  <a:srgbClr val="70A0D0"/>
                </a:solidFill>
                <a:latin typeface="Liberation Mono"/>
              </a:rPr>
              <a:t>{</a:t>
            </a:r>
            <a:r>
              <a:rPr sz="1500">
                <a:solidFill>
                  <a:srgbClr val="202632"/>
                </a:solidFill>
                <a:latin typeface="Liberation Mono"/>
              </a:rPr>
              <a:t>tip_link</a:t>
            </a:r>
            <a:r>
              <a:rPr sz="1500">
                <a:solidFill>
                  <a:srgbClr val="70A0D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visited</a:t>
            </a:r>
            <a:r>
              <a:rPr sz="1500">
                <a:solidFill>
                  <a:srgbClr val="666666"/>
                </a:solidFill>
                <a:latin typeface="Liberation Mono"/>
              </a:rPr>
              <a:t>.</a:t>
            </a:r>
            <a:r>
              <a:rPr sz="1500">
                <a:solidFill>
                  <a:srgbClr val="202632"/>
                </a:solidFill>
                <a:latin typeface="Liberation Mono"/>
              </a:rPr>
              <a:t>add</a:t>
            </a:r>
            <a:r>
              <a:rPr sz="1500">
                <a:solidFill>
                  <a:srgbClr val="202632"/>
                </a:solidFill>
                <a:latin typeface="Liberation Mono"/>
              </a:rPr>
              <a:t>(</a:t>
            </a:r>
            <a:r>
              <a:rPr sz="1500">
                <a:solidFill>
                  <a:srgbClr val="202632"/>
                </a:solidFill>
                <a:latin typeface="Liberation Mono"/>
              </a:rPr>
              <a:t>link</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joint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parents</a:t>
            </a:r>
            <a:r>
              <a:rPr sz="1500">
                <a:solidFill>
                  <a:srgbClr val="202632"/>
                </a:solidFill>
                <a:latin typeface="Liberation Mono"/>
              </a:rPr>
              <a:t>[</a:t>
            </a:r>
            <a:r>
              <a:rPr sz="1500">
                <a:solidFill>
                  <a:srgbClr val="202632"/>
                </a:solidFill>
                <a:latin typeface="Liberation Mono"/>
              </a:rPr>
              <a:t>link</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chain</a:t>
            </a:r>
            <a:r>
              <a:rPr sz="1500">
                <a:solidFill>
                  <a:srgbClr val="666666"/>
                </a:solidFill>
                <a:latin typeface="Liberation Mono"/>
              </a:rPr>
              <a:t>.</a:t>
            </a:r>
            <a:r>
              <a:rPr sz="1500">
                <a:solidFill>
                  <a:srgbClr val="202632"/>
                </a:solidFill>
                <a:latin typeface="Liberation Mono"/>
              </a:rPr>
              <a:t>append</a:t>
            </a:r>
            <a:r>
              <a:rPr sz="1500">
                <a:solidFill>
                  <a:srgbClr val="202632"/>
                </a:solidFill>
                <a:latin typeface="Liberation Mono"/>
              </a:rPr>
              <a:t>(</a:t>
            </a:r>
            <a:r>
              <a:rPr sz="1500">
                <a:solidFill>
                  <a:srgbClr val="202632"/>
                </a:solidFill>
                <a:latin typeface="Liberation Mono"/>
              </a:rPr>
              <a:t>joint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link</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parent</a:t>
            </a:r>
            <a:r>
              <a:rPr sz="1500">
                <a:solidFill>
                  <a:srgbClr val="4070A0"/>
                </a:solidFill>
                <a:latin typeface="Liberation Mono"/>
              </a:rPr>
              <a:t>"</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link</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chain</a:t>
            </a:r>
            <a:r>
              <a:rPr sz="1500">
                <a:solidFill>
                  <a:srgbClr val="666666"/>
                </a:solidFill>
                <a:latin typeface="Liberation Mono"/>
              </a:rPr>
              <a:t>.</a:t>
            </a:r>
            <a:r>
              <a:rPr sz="1500">
                <a:solidFill>
                  <a:srgbClr val="202632"/>
                </a:solidFill>
                <a:latin typeface="Liberation Mono"/>
              </a:rPr>
              <a:t>reverse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Code reference: Python calls the C++ kernel (4/5)</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arm_kinematics.py   |   lines 73–96</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active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name</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i</a:t>
            </a: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i</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name</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007020"/>
                </a:solidFill>
                <a:latin typeface="Liberation Mono"/>
              </a:rPr>
              <a:t>enumerate</a:t>
            </a:r>
            <a:r>
              <a:rPr sz="1500">
                <a:solidFill>
                  <a:srgbClr val="202632"/>
                </a:solidFill>
                <a:latin typeface="Liberation Mono"/>
              </a:rPr>
              <a:t>(</a:t>
            </a:r>
            <a:r>
              <a:rPr sz="1500">
                <a:solidFill>
                  <a:srgbClr val="202632"/>
                </a:solidFill>
                <a:latin typeface="Liberation Mono"/>
              </a:rPr>
              <a:t>joint_names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202632"/>
                </a:solidFill>
                <a:latin typeface="Liberation Mono"/>
              </a:rPr>
              <a:t>active</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007020"/>
                </a:solidFill>
                <a:latin typeface="Liberation Mono"/>
              </a:rPr>
              <a:t>len</a:t>
            </a:r>
            <a:r>
              <a:rPr sz="1500">
                <a:solidFill>
                  <a:srgbClr val="202632"/>
                </a:solidFill>
                <a:latin typeface="Liberation Mono"/>
              </a:rPr>
              <a:t>(</a:t>
            </a:r>
            <a:r>
              <a:rPr sz="1500">
                <a:solidFill>
                  <a:srgbClr val="202632"/>
                </a:solidFill>
                <a:latin typeface="Liberation Mono"/>
              </a:rPr>
              <a:t>active</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len</a:t>
            </a:r>
            <a:r>
              <a:rPr sz="1500">
                <a:solidFill>
                  <a:srgbClr val="202632"/>
                </a:solidFill>
                <a:latin typeface="Liberation Mono"/>
              </a:rPr>
              <a:t>(</a:t>
            </a:r>
            <a:r>
              <a:rPr sz="1500">
                <a:solidFill>
                  <a:srgbClr val="202632"/>
                </a:solidFill>
                <a:latin typeface="Liberation Mono"/>
              </a:rPr>
              <a:t>joint_names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Joint names must be nonempty and unique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indices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origins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axes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found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for</a:t>
            </a:r>
            <a:r>
              <a:rPr sz="1500">
                <a:solidFill>
                  <a:srgbClr val="202632"/>
                </a:solidFill>
                <a:latin typeface="Liberation Mono"/>
              </a:rPr>
              <a:t> </a:t>
            </a:r>
            <a:r>
              <a:rPr sz="1500">
                <a:solidFill>
                  <a:srgbClr val="202632"/>
                </a:solidFill>
                <a:latin typeface="Liberation Mono"/>
              </a:rPr>
              <a:t>joint</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chain</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name</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kind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name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get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type</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kind</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fixed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revolute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continuous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prismatic</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Unsupported chain joint type: </a:t>
            </a:r>
            <a:r>
              <a:rPr sz="1500">
                <a:solidFill>
                  <a:srgbClr val="70A0D0"/>
                </a:solidFill>
                <a:latin typeface="Liberation Mono"/>
              </a:rPr>
              <a:t>{</a:t>
            </a:r>
            <a:r>
              <a:rPr sz="1500">
                <a:solidFill>
                  <a:srgbClr val="202632"/>
                </a:solidFill>
                <a:latin typeface="Liberation Mono"/>
              </a:rPr>
              <a:t>kind</a:t>
            </a:r>
            <a:r>
              <a:rPr sz="1500">
                <a:solidFill>
                  <a:srgbClr val="70A0D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moving</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kind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fixed</a:t>
            </a:r>
            <a:r>
              <a:rPr sz="1500">
                <a:solidFill>
                  <a:srgbClr val="4070A0"/>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moving</a:t>
            </a:r>
            <a:r>
              <a:rPr sz="1500">
                <a:solidFill>
                  <a:srgbClr val="202632"/>
                </a:solidFill>
                <a:latin typeface="Liberation Mono"/>
              </a:rPr>
              <a:t> </a:t>
            </a:r>
            <a:r>
              <a:rPr sz="1500">
                <a:solidFill>
                  <a:srgbClr val="007020"/>
                </a:solidFill>
                <a:latin typeface="Liberation Mono"/>
              </a:rPr>
              <a:t>and</a:t>
            </a:r>
            <a:r>
              <a:rPr sz="1500">
                <a:solidFill>
                  <a:srgbClr val="202632"/>
                </a:solidFill>
                <a:latin typeface="Liberation Mono"/>
              </a:rPr>
              <a:t> </a:t>
            </a:r>
            <a:r>
              <a:rPr sz="1500">
                <a:solidFill>
                  <a:srgbClr val="202632"/>
                </a:solidFill>
                <a:latin typeface="Liberation Mono"/>
              </a:rPr>
              <a:t>(</a:t>
            </a:r>
            <a:r>
              <a:rPr sz="1500">
                <a:solidFill>
                  <a:srgbClr val="202632"/>
                </a:solidFill>
                <a:latin typeface="Liberation Mono"/>
              </a:rPr>
              <a:t>name</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in</a:t>
            </a:r>
            <a:r>
              <a:rPr sz="1500">
                <a:solidFill>
                  <a:srgbClr val="202632"/>
                </a:solidFill>
                <a:latin typeface="Liberation Mono"/>
              </a:rPr>
              <a:t> </a:t>
            </a:r>
            <a:r>
              <a:rPr sz="1500">
                <a:solidFill>
                  <a:srgbClr val="202632"/>
                </a:solidFill>
                <a:latin typeface="Liberation Mono"/>
              </a:rPr>
              <a:t>active</a:t>
            </a:r>
            <a:r>
              <a:rPr sz="1500">
                <a:solidFill>
                  <a:srgbClr val="202632"/>
                </a:solidFill>
                <a:latin typeface="Liberation Mono"/>
              </a:rPr>
              <a:t> </a:t>
            </a:r>
            <a:r>
              <a:rPr sz="1500">
                <a:solidFill>
                  <a:srgbClr val="007020"/>
                </a:solidFill>
                <a:latin typeface="Liberation Mono"/>
              </a:rPr>
              <a:t>or</a:t>
            </a:r>
            <a:r>
              <a:rPr sz="1500">
                <a:solidFill>
                  <a:srgbClr val="202632"/>
                </a:solidFill>
                <a:latin typeface="Liberation Mono"/>
              </a:rPr>
              <a:t> </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mimic</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is</a:t>
            </a:r>
            <a:r>
              <a:rPr sz="1500">
                <a:solidFill>
                  <a:srgbClr val="202632"/>
                </a:solidFill>
                <a:latin typeface="Liberation Mono"/>
              </a:rPr>
              <a:t> </a:t>
            </a:r>
            <a:r>
              <a:rPr sz="1500">
                <a:solidFill>
                  <a:srgbClr val="007020"/>
                </a:solidFill>
                <a:latin typeface="Liberation Mono"/>
              </a:rPr>
              <a:t>not</a:t>
            </a:r>
            <a:r>
              <a:rPr sz="1500">
                <a:solidFill>
                  <a:srgbClr val="202632"/>
                </a:solidFill>
                <a:latin typeface="Liberation Mono"/>
              </a:rPr>
              <a:t> </a:t>
            </a:r>
            <a:r>
              <a:rPr sz="1500">
                <a:solidFill>
                  <a:srgbClr val="007020"/>
                </a:solidFill>
                <a:latin typeface="Liberation Mono"/>
              </a:rPr>
              <a:t>None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Chain joint must be independently controlled: </a:t>
            </a:r>
            <a:r>
              <a:rPr sz="1500">
                <a:solidFill>
                  <a:srgbClr val="70A0D0"/>
                </a:solidFill>
                <a:latin typeface="Liberation Mono"/>
              </a:rPr>
              <a:t>{</a:t>
            </a:r>
            <a:r>
              <a:rPr sz="1500">
                <a:solidFill>
                  <a:srgbClr val="202632"/>
                </a:solidFill>
                <a:latin typeface="Liberation Mono"/>
              </a:rPr>
              <a:t>name</a:t>
            </a:r>
            <a:r>
              <a:rPr sz="1500">
                <a:solidFill>
                  <a:srgbClr val="70A0D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moving</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found</a:t>
            </a:r>
            <a:r>
              <a:rPr sz="1500">
                <a:solidFill>
                  <a:srgbClr val="666666"/>
                </a:solidFill>
                <a:latin typeface="Liberation Mono"/>
              </a:rPr>
              <a:t>.</a:t>
            </a:r>
            <a:r>
              <a:rPr sz="1500">
                <a:solidFill>
                  <a:srgbClr val="202632"/>
                </a:solidFill>
                <a:latin typeface="Liberation Mono"/>
              </a:rPr>
              <a:t>add</a:t>
            </a:r>
            <a:r>
              <a:rPr sz="1500">
                <a:solidFill>
                  <a:srgbClr val="202632"/>
                </a:solidFill>
                <a:latin typeface="Liberation Mono"/>
              </a:rPr>
              <a:t>(</a:t>
            </a:r>
            <a:r>
              <a:rPr sz="1500">
                <a:solidFill>
                  <a:srgbClr val="202632"/>
                </a:solidFill>
                <a:latin typeface="Liberation Mono"/>
              </a:rPr>
              <a:t>name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types</a:t>
            </a:r>
            <a:r>
              <a:rPr sz="1500">
                <a:solidFill>
                  <a:srgbClr val="666666"/>
                </a:solidFill>
                <a:latin typeface="Liberation Mono"/>
              </a:rPr>
              <a:t>.</a:t>
            </a:r>
            <a:r>
              <a:rPr sz="1500">
                <a:solidFill>
                  <a:srgbClr val="202632"/>
                </a:solidFill>
                <a:latin typeface="Liberation Mono"/>
              </a:rPr>
              <a:t>append</a:t>
            </a:r>
            <a:r>
              <a:rPr sz="1500">
                <a:solidFill>
                  <a:srgbClr val="202632"/>
                </a:solidFill>
                <a:latin typeface="Liberation Mono"/>
              </a:rPr>
              <a:t>(</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fixed</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revolute</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continuous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1</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prismatic</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2</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kind</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indices</a:t>
            </a:r>
            <a:r>
              <a:rPr sz="1500">
                <a:solidFill>
                  <a:srgbClr val="666666"/>
                </a:solidFill>
                <a:latin typeface="Liberation Mono"/>
              </a:rPr>
              <a:t>.</a:t>
            </a:r>
            <a:r>
              <a:rPr sz="1500">
                <a:solidFill>
                  <a:srgbClr val="202632"/>
                </a:solidFill>
                <a:latin typeface="Liberation Mono"/>
              </a:rPr>
              <a:t>append</a:t>
            </a:r>
            <a:r>
              <a:rPr sz="1500">
                <a:solidFill>
                  <a:srgbClr val="202632"/>
                </a:solidFill>
                <a:latin typeface="Liberation Mono"/>
              </a:rPr>
              <a:t>(</a:t>
            </a:r>
            <a:r>
              <a:rPr sz="1500">
                <a:solidFill>
                  <a:srgbClr val="202632"/>
                </a:solidFill>
                <a:latin typeface="Liberation Mono"/>
              </a:rPr>
              <a:t>active</a:t>
            </a:r>
            <a:r>
              <a:rPr sz="1500">
                <a:solidFill>
                  <a:srgbClr val="202632"/>
                </a:solidFill>
                <a:latin typeface="Liberation Mono"/>
              </a:rPr>
              <a:t>[</a:t>
            </a:r>
            <a:r>
              <a:rPr sz="1500">
                <a:solidFill>
                  <a:srgbClr val="202632"/>
                </a:solidFill>
                <a:latin typeface="Liberation Mono"/>
              </a:rPr>
              <a:t>name</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moving</a:t>
            </a:r>
            <a:r>
              <a:rPr sz="1500">
                <a:solidFill>
                  <a:srgbClr val="202632"/>
                </a:solidFill>
                <a:latin typeface="Liberation Mono"/>
              </a:rPr>
              <a:t> </a:t>
            </a:r>
            <a:r>
              <a:rPr sz="1500">
                <a:solidFill>
                  <a:srgbClr val="007020"/>
                </a:solidFill>
                <a:latin typeface="Liberation Mono"/>
              </a:rPr>
              <a:t>else</a:t>
            </a:r>
            <a:r>
              <a:rPr sz="1500">
                <a:solidFill>
                  <a:srgbClr val="202632"/>
                </a:solidFill>
                <a:latin typeface="Liberation Mono"/>
              </a:rPr>
              <a:t> </a:t>
            </a:r>
            <a:r>
              <a:rPr sz="1500">
                <a:solidFill>
                  <a:srgbClr val="666666"/>
                </a:solidFill>
                <a:latin typeface="Liberation Mono"/>
              </a:rPr>
              <a:t>-</a:t>
            </a:r>
            <a:r>
              <a:rPr sz="1500">
                <a:solidFill>
                  <a:srgbClr val="40A070"/>
                </a:solidFill>
                <a:latin typeface="Liberation Mono"/>
              </a:rPr>
              <a:t>1</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origin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origin</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origins</a:t>
            </a:r>
            <a:r>
              <a:rPr sz="1500">
                <a:solidFill>
                  <a:srgbClr val="666666"/>
                </a:solidFill>
                <a:latin typeface="Liberation Mono"/>
              </a:rPr>
              <a:t>.</a:t>
            </a:r>
            <a:r>
              <a:rPr sz="1500">
                <a:solidFill>
                  <a:srgbClr val="202632"/>
                </a:solidFill>
                <a:latin typeface="Liberation Mono"/>
              </a:rPr>
              <a:t>append</a:t>
            </a:r>
            <a:r>
              <a:rPr sz="1500">
                <a:solidFill>
                  <a:srgbClr val="202632"/>
                </a:solidFill>
                <a:latin typeface="Liberation Mono"/>
              </a:rPr>
              <a:t>(</a:t>
            </a:r>
            <a:r>
              <a:rPr sz="1500">
                <a:solidFill>
                  <a:srgbClr val="202632"/>
                </a:solidFill>
                <a:latin typeface="Liberation Mono"/>
              </a:rPr>
              <a:t>_vector</a:t>
            </a:r>
            <a:r>
              <a:rPr sz="1500">
                <a:solidFill>
                  <a:srgbClr val="202632"/>
                </a:solidFill>
                <a:latin typeface="Liberation Mono"/>
              </a:rPr>
              <a:t>(</a:t>
            </a:r>
            <a:r>
              <a:rPr sz="1500">
                <a:solidFill>
                  <a:srgbClr val="202632"/>
                </a:solidFill>
                <a:latin typeface="Liberation Mono"/>
              </a:rPr>
              <a:t>origin</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xyz</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0 0 0</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_vector</a:t>
            </a:r>
            <a:r>
              <a:rPr sz="1500">
                <a:solidFill>
                  <a:srgbClr val="202632"/>
                </a:solidFill>
                <a:latin typeface="Liberation Mono"/>
              </a:rPr>
              <a:t>(</a:t>
            </a:r>
            <a:r>
              <a:rPr sz="1500">
                <a:solidFill>
                  <a:srgbClr val="202632"/>
                </a:solidFill>
                <a:latin typeface="Liberation Mono"/>
              </a:rPr>
              <a:t>origin</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rpy</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0 0 0</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axis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_vector</a:t>
            </a:r>
            <a:r>
              <a:rPr sz="1500">
                <a:solidFill>
                  <a:srgbClr val="202632"/>
                </a:solidFill>
                <a:latin typeface="Liberation Mono"/>
              </a:rPr>
              <a:t>(</a:t>
            </a:r>
            <a:r>
              <a:rPr sz="1500">
                <a:solidFill>
                  <a:srgbClr val="202632"/>
                </a:solidFill>
                <a:latin typeface="Liberation Mono"/>
              </a:rPr>
              <a:t>joint</a:t>
            </a:r>
            <a:r>
              <a:rPr sz="1500">
                <a:solidFill>
                  <a:srgbClr val="666666"/>
                </a:solidFill>
                <a:latin typeface="Liberation Mono"/>
              </a:rPr>
              <a:t>.</a:t>
            </a:r>
            <a:r>
              <a:rPr sz="1500">
                <a:solidFill>
                  <a:srgbClr val="202632"/>
                </a:solidFill>
                <a:latin typeface="Liberation Mono"/>
              </a:rPr>
              <a:t>find</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axis</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xyz</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1 0 0</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linalg</a:t>
            </a:r>
            <a:r>
              <a:rPr sz="1500">
                <a:solidFill>
                  <a:srgbClr val="666666"/>
                </a:solidFill>
                <a:latin typeface="Liberation Mono"/>
              </a:rPr>
              <a:t>.</a:t>
            </a:r>
            <a:r>
              <a:rPr sz="1500">
                <a:solidFill>
                  <a:srgbClr val="202632"/>
                </a:solidFill>
                <a:latin typeface="Liberation Mono"/>
              </a:rPr>
              <a:t>norm</a:t>
            </a:r>
            <a:r>
              <a:rPr sz="1500">
                <a:solidFill>
                  <a:srgbClr val="202632"/>
                </a:solidFill>
                <a:latin typeface="Liberation Mono"/>
              </a:rPr>
              <a:t>(</a:t>
            </a:r>
            <a:r>
              <a:rPr sz="1500">
                <a:solidFill>
                  <a:srgbClr val="202632"/>
                </a:solidFill>
                <a:latin typeface="Liberation Mono"/>
              </a:rPr>
              <a:t>axis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moving</a:t>
            </a:r>
            <a:r>
              <a:rPr sz="1500">
                <a:solidFill>
                  <a:srgbClr val="202632"/>
                </a:solidFill>
                <a:latin typeface="Liberation Mono"/>
              </a:rPr>
              <a:t> </a:t>
            </a:r>
            <a:r>
              <a:rPr sz="1500">
                <a:solidFill>
                  <a:srgbClr val="007020"/>
                </a:solidFill>
                <a:latin typeface="Liberation Mono"/>
              </a:rPr>
              <a:t>and</a:t>
            </a: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A070"/>
                </a:solidFill>
                <a:latin typeface="Liberation Mono"/>
              </a:rPr>
              <a:t>0</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f</a:t>
            </a:r>
            <a:r>
              <a:rPr sz="1500">
                <a:solidFill>
                  <a:srgbClr val="4070A0"/>
                </a:solidFill>
                <a:latin typeface="Liberation Mono"/>
              </a:rPr>
              <a:t>"</a:t>
            </a:r>
            <a:r>
              <a:rPr sz="1500">
                <a:solidFill>
                  <a:srgbClr val="4070A0"/>
                </a:solidFill>
                <a:latin typeface="Liberation Mono"/>
              </a:rPr>
              <a:t>Zero joint axis: </a:t>
            </a:r>
            <a:r>
              <a:rPr sz="1500">
                <a:solidFill>
                  <a:srgbClr val="70A0D0"/>
                </a:solidFill>
                <a:latin typeface="Liberation Mono"/>
              </a:rPr>
              <a:t>{</a:t>
            </a:r>
            <a:r>
              <a:rPr sz="1500">
                <a:solidFill>
                  <a:srgbClr val="202632"/>
                </a:solidFill>
                <a:latin typeface="Liberation Mono"/>
              </a:rPr>
              <a:t>name</a:t>
            </a:r>
            <a:r>
              <a:rPr sz="1500">
                <a:solidFill>
                  <a:srgbClr val="70A0D0"/>
                </a:solidFill>
                <a:latin typeface="Liberation Mono"/>
              </a:rPr>
              <a:t>}</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axes</a:t>
            </a:r>
            <a:r>
              <a:rPr sz="1500">
                <a:solidFill>
                  <a:srgbClr val="666666"/>
                </a:solidFill>
                <a:latin typeface="Liberation Mono"/>
              </a:rPr>
              <a:t>.</a:t>
            </a:r>
            <a:r>
              <a:rPr sz="1500">
                <a:solidFill>
                  <a:srgbClr val="202632"/>
                </a:solidFill>
                <a:latin typeface="Liberation Mono"/>
              </a:rPr>
              <a:t>append</a:t>
            </a:r>
            <a:r>
              <a:rPr sz="1500">
                <a:solidFill>
                  <a:srgbClr val="202632"/>
                </a:solidFill>
                <a:latin typeface="Liberation Mono"/>
              </a:rPr>
              <a:t>(</a:t>
            </a:r>
            <a:r>
              <a:rPr sz="1500">
                <a:solidFill>
                  <a:srgbClr val="202632"/>
                </a:solidFill>
                <a:latin typeface="Liberation Mono"/>
              </a:rPr>
              <a:t>axis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norm</a:t>
            </a:r>
            <a:r>
              <a:rPr sz="1500">
                <a:solidFill>
                  <a:srgbClr val="202632"/>
                </a:solidFill>
                <a:latin typeface="Liberation Mono"/>
              </a:rPr>
              <a:t> </a:t>
            </a:r>
            <a:r>
              <a:rPr sz="1500">
                <a:solidFill>
                  <a:srgbClr val="007020"/>
                </a:solidFill>
                <a:latin typeface="Liberation Mono"/>
              </a:rPr>
              <a:t>else</a:t>
            </a:r>
            <a:r>
              <a:rPr sz="1500">
                <a:solidFill>
                  <a:srgbClr val="202632"/>
                </a:solidFill>
                <a:latin typeface="Liberation Mono"/>
              </a:rPr>
              <a:t> </a:t>
            </a:r>
            <a:r>
              <a:rPr sz="1500">
                <a:solidFill>
                  <a:srgbClr val="202632"/>
                </a:solidFill>
                <a:latin typeface="Liberation Mono"/>
              </a:rPr>
              <a:t>axis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if</a:t>
            </a:r>
            <a:r>
              <a:rPr sz="1500">
                <a:solidFill>
                  <a:srgbClr val="202632"/>
                </a:solidFill>
                <a:latin typeface="Liberation Mono"/>
              </a:rPr>
              <a:t> </a:t>
            </a:r>
            <a:r>
              <a:rPr sz="1500">
                <a:solidFill>
                  <a:srgbClr val="202632"/>
                </a:solidFill>
                <a:latin typeface="Liberation Mono"/>
              </a:rPr>
              <a:t>found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set</a:t>
            </a:r>
            <a:r>
              <a:rPr sz="1500">
                <a:solidFill>
                  <a:srgbClr val="202632"/>
                </a:solidFill>
                <a:latin typeface="Liberation Mono"/>
              </a:rPr>
              <a:t>(</a:t>
            </a:r>
            <a:r>
              <a:rPr sz="1500">
                <a:solidFill>
                  <a:srgbClr val="202632"/>
                </a:solidFill>
                <a:latin typeface="Liberation Mono"/>
              </a:rPr>
              <a:t>active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raise</a:t>
            </a:r>
            <a:r>
              <a:rPr sz="1500">
                <a:solidFill>
                  <a:srgbClr val="202632"/>
                </a:solidFill>
                <a:latin typeface="Liberation Mono"/>
              </a:rPr>
              <a:t> </a:t>
            </a:r>
            <a:r>
              <a:rPr sz="1500">
                <a:solidFill>
                  <a:srgbClr val="007020"/>
                </a:solidFill>
                <a:latin typeface="Liberation Mono"/>
              </a:rPr>
              <a:t>ValueError</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Every controlled joint must belong to the selected chain</a:t>
            </a:r>
            <a:r>
              <a:rPr sz="1500">
                <a:solidFill>
                  <a:srgbClr val="4070A0"/>
                </a:solidFill>
                <a:latin typeface="Liberation Mono"/>
              </a:rPr>
              <a:t>"</a:t>
            </a:r>
            <a:r>
              <a:rPr sz="1500">
                <a:solidFill>
                  <a:srgbClr val="202632"/>
                </a:solidFill>
                <a:latin typeface="Liberation Mono"/>
              </a:rPr>
              <a:t>)</a:t>
            </a:r>
          </a:p>
          <a:p>
            <a:pPr>
              <a:lnSpc>
                <a:spcPts val="1570"/>
              </a:lnSpc>
              <a:spcBef>
                <a:spcPts val="0"/>
              </a:spcBef>
              <a:spcAft>
                <a:spcPts val="0"/>
              </a:spcAft>
            </a:p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Code reference: Python calls the C++ kernel (5/5)</a:t>
            </a:r>
          </a:p>
        </p:txBody>
      </p:sp>
      <p:sp>
        <p:nvSpPr>
          <p:cNvPr id="208" name="TextBox 207"/>
          <p:cNvSpPr txBox="1"/>
          <p:nvPr/>
        </p:nvSpPr>
        <p:spPr>
          <a:xfrm>
            <a:off x="594360" y="1197864"/>
            <a:ext cx="10972800" cy="228600"/>
          </a:xfrm>
          <a:prstGeom prst="rect">
            <a:avLst/>
          </a:prstGeom>
          <a:noFill/>
        </p:spPr>
        <p:txBody>
          <a:bodyPr wrap="square" lIns="36576" rIns="36576" tIns="0" bIns="0">
            <a:spAutoFit/>
          </a:bodyPr>
          <a:lstStyle/>
          <a:p>
            <a:pPr>
              <a:spcAft>
                <a:spcPts val="300"/>
              </a:spcAft>
            </a:pPr>
            <a:r>
              <a:rPr sz="1300" b="0">
                <a:solidFill>
                  <a:srgbClr val="596675"/>
                </a:solidFill>
                <a:latin typeface="Liberation Mono"/>
              </a:rPr>
              <a:t>arm_kinematics.py   |   lines 97–120</a:t>
            </a:r>
          </a:p>
        </p:txBody>
      </p:sp>
      <p:sp>
        <p:nvSpPr>
          <p:cNvPr id="209" name="Rectangle 208"/>
          <p:cNvSpPr/>
          <p:nvPr/>
        </p:nvSpPr>
        <p:spPr>
          <a:xfrm>
            <a:off x="566928" y="1545336"/>
            <a:ext cx="11064240" cy="5010912"/>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694944" y="1600200"/>
            <a:ext cx="10881360" cy="4892040"/>
          </a:xfrm>
          <a:prstGeom prst="rect">
            <a:avLst/>
          </a:prstGeom>
          <a:noFill/>
        </p:spPr>
        <p:txBody>
          <a:bodyPr wrap="square" lIns="0" rIns="0" tIns="0" bIns="0">
            <a:spAutoFit/>
          </a:bodyPr>
          <a:lstStyle/>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count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len</a:t>
            </a:r>
            <a:r>
              <a:rPr sz="1500">
                <a:solidFill>
                  <a:srgbClr val="202632"/>
                </a:solidFill>
                <a:latin typeface="Liberation Mono"/>
              </a:rPr>
              <a:t>(</a:t>
            </a:r>
            <a:r>
              <a:rPr sz="1500">
                <a:solidFill>
                  <a:srgbClr val="202632"/>
                </a:solidFill>
                <a:latin typeface="Liberation Mono"/>
              </a:rPr>
              <a:t>chain</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len</a:t>
            </a:r>
            <a:r>
              <a:rPr sz="1500">
                <a:solidFill>
                  <a:srgbClr val="202632"/>
                </a:solidFill>
                <a:latin typeface="Liberation Mono"/>
              </a:rPr>
              <a:t>(</a:t>
            </a:r>
            <a:r>
              <a:rPr sz="1500">
                <a:solidFill>
                  <a:srgbClr val="202632"/>
                </a:solidFill>
                <a:latin typeface="Liberation Mono"/>
              </a:rPr>
              <a:t>active</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types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int32</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indices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indices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int32</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origins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axes</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array</a:t>
            </a:r>
            <a:r>
              <a:rPr sz="1500">
                <a:solidFill>
                  <a:srgbClr val="202632"/>
                </a:solidFill>
                <a:latin typeface="Liberation Mono"/>
              </a:rPr>
              <a:t>(</a:t>
            </a:r>
            <a:r>
              <a:rPr sz="1500">
                <a:solidFill>
                  <a:srgbClr val="202632"/>
                </a:solidFill>
                <a:latin typeface="Liberation Mono"/>
              </a:rPr>
              <a:t>axes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dtype</a:t>
            </a:r>
            <a:r>
              <a:rPr sz="1500">
                <a:solidFill>
                  <a:srgbClr val="666666"/>
                </a:solidFill>
                <a:latin typeface="Liberation Mono"/>
              </a:rPr>
              <a:t>=</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float64</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_native</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pose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empty</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4</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jacobian</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empty</a:t>
            </a:r>
            <a:r>
              <a:rPr sz="1500">
                <a:solidFill>
                  <a:srgbClr val="202632"/>
                </a:solidFill>
                <a:latin typeface="Liberation Mono"/>
              </a:rPr>
              <a:t>(</a:t>
            </a:r>
            <a:r>
              <a:rPr sz="1500">
                <a:solidFill>
                  <a:srgbClr val="202632"/>
                </a:solidFill>
                <a:latin typeface="Liberation Mono"/>
              </a:rPr>
              <a:t>(</a:t>
            </a:r>
            <a:r>
              <a:rPr sz="1500">
                <a:solidFill>
                  <a:srgbClr val="40A070"/>
                </a:solidFill>
                <a:latin typeface="Liberation Mono"/>
              </a:rPr>
              <a:t>6</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command</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empty</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zeros</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pose</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fk</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666666"/>
                </a:solidFill>
                <a:latin typeface="Liberation Mono"/>
              </a:rPr>
              <a:t>.</a:t>
            </a:r>
            <a:r>
              <a:rPr sz="1500">
                <a:solidFill>
                  <a:srgbClr val="202632"/>
                </a:solidFill>
                <a:latin typeface="Liberation Mono"/>
              </a:rPr>
              <a:t>copy</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step</a:t>
            </a:r>
            <a:r>
              <a:rPr sz="1500">
                <a:solidFill>
                  <a:srgbClr val="202632"/>
                </a:solidFill>
                <a:latin typeface="Liberation Mono"/>
              </a:rPr>
              <a:t>(</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full</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40A070"/>
                </a:solidFill>
                <a:latin typeface="Liberation Mono"/>
              </a:rPr>
              <a:t>1e6</a:t>
            </a:r>
            <a:r>
              <a:rPr sz="1500">
                <a:solidFill>
                  <a:srgbClr val="202632"/>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np</a:t>
            </a:r>
            <a:r>
              <a:rPr sz="1500">
                <a:solidFill>
                  <a:srgbClr val="666666"/>
                </a:solidFill>
                <a:latin typeface="Liberation Mono"/>
              </a:rPr>
              <a:t>.</a:t>
            </a:r>
            <a:r>
              <a:rPr sz="1500">
                <a:solidFill>
                  <a:srgbClr val="202632"/>
                </a:solidFill>
                <a:latin typeface="Liberation Mono"/>
              </a:rPr>
              <a:t>full</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1e6</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40A070"/>
                </a:solidFill>
                <a:latin typeface="Liberation Mono"/>
              </a:rPr>
              <a:t>0.001</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4.0</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0.04</a:t>
            </a:r>
            <a:r>
              <a:rPr sz="1500">
                <a:solidFill>
                  <a:srgbClr val="202632"/>
                </a:solidFill>
                <a:latin typeface="Liberation Mono"/>
              </a:rPr>
              <a:t>,</a:t>
            </a:r>
            <a:r>
              <a:rPr sz="1500">
                <a:solidFill>
                  <a:srgbClr val="202632"/>
                </a:solidFill>
                <a:latin typeface="Liberation Mono"/>
              </a:rPr>
              <a:t> </a:t>
            </a:r>
            <a:r>
              <a:rPr sz="1500">
                <a:solidFill>
                  <a:srgbClr val="40A070"/>
                </a:solidFill>
                <a:latin typeface="Liberation Mono"/>
              </a:rPr>
              <a:t>0.25</a:t>
            </a:r>
            <a:r>
              <a:rPr sz="1500">
                <a:solidFill>
                  <a:srgbClr val="202632"/>
                </a:solidFill>
                <a:latin typeface="Liberation Mono"/>
              </a:rPr>
              <a:t>)</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fk</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a:t>
            </a:r>
            <a:r>
              <a:rPr sz="1500">
                <a:solidFill>
                  <a:srgbClr val="666666"/>
                </a:solidFill>
                <a:latin typeface="Liberation Mono"/>
              </a:rPr>
              <a:t>.</a:t>
            </a:r>
            <a:r>
              <a:rPr sz="1500">
                <a:solidFill>
                  <a:srgbClr val="202632"/>
                </a:solidFill>
                <a:latin typeface="Liberation Mono"/>
              </a:rPr>
              <a:t>kinematics</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count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indices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axes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pose</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jacobian</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pose</a:t>
            </a:r>
          </a:p>
          <a:p>
            <a:pPr>
              <a:lnSpc>
                <a:spcPts val="1570"/>
              </a:lnSpc>
              <a:spcBef>
                <a:spcPts val="0"/>
              </a:spcBef>
              <a:spcAft>
                <a:spcPts val="0"/>
              </a:spcAft>
            </a:pP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def</a:t>
            </a:r>
            <a:r>
              <a:rPr sz="1500">
                <a:solidFill>
                  <a:srgbClr val="BBBBBB"/>
                </a:solidFill>
                <a:latin typeface="Liberation Mono"/>
              </a:rPr>
              <a:t> </a:t>
            </a:r>
            <a:r>
              <a:rPr sz="1500">
                <a:solidFill>
                  <a:srgbClr val="06287E"/>
                </a:solidFill>
                <a:latin typeface="Liberation Mono"/>
              </a:rPr>
              <a:t>step</a:t>
            </a:r>
            <a:r>
              <a:rPr sz="1500">
                <a:solidFill>
                  <a:srgbClr val="202632"/>
                </a:solidFill>
                <a:latin typeface="Liberation Mono"/>
              </a:rPr>
              <a:t>(</a:t>
            </a:r>
            <a:r>
              <a:rPr sz="1500">
                <a:solidFill>
                  <a:srgbClr val="007020"/>
                </a:solidFill>
                <a:latin typeface="Liberation Mono"/>
              </a:rPr>
              <a:t>self</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target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lower</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upper</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gain</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damping</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speed</a:t>
            </a:r>
            <a:r>
              <a:rPr sz="1500">
                <a:solidFill>
                  <a:srgbClr val="202632"/>
                </a:solidFill>
                <a:latin typeface="Liberation Mono"/>
              </a:rPr>
              <a:t>)</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native</a:t>
            </a:r>
            <a:r>
              <a:rPr sz="1500">
                <a:solidFill>
                  <a:srgbClr val="666666"/>
                </a:solidFill>
                <a:latin typeface="Liberation Mono"/>
              </a:rPr>
              <a:t>.</a:t>
            </a:r>
            <a:r>
              <a:rPr sz="1500">
                <a:solidFill>
                  <a:srgbClr val="202632"/>
                </a:solidFill>
                <a:latin typeface="Liberation Mono"/>
              </a:rPr>
              <a:t>step</a:t>
            </a:r>
            <a:r>
              <a:rPr sz="1500">
                <a:solidFill>
                  <a:srgbClr val="202632"/>
                </a:solidFill>
                <a:latin typeface="Liberation Mono"/>
              </a:rPr>
              <a:t>(</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count</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joints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types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indices</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origins</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axes</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q</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target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lower</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upper</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202632"/>
                </a:solidFill>
                <a:latin typeface="Liberation Mono"/>
              </a:rPr>
              <a:t>dt</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gain</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damping</a:t>
            </a:r>
            <a:r>
              <a:rPr sz="1500">
                <a:solidFill>
                  <a:srgbClr val="202632"/>
                </a:solidFill>
                <a:latin typeface="Liberation Mono"/>
              </a:rPr>
              <a:t>,</a:t>
            </a:r>
            <a:r>
              <a:rPr sz="1500">
                <a:solidFill>
                  <a:srgbClr val="202632"/>
                </a:solidFill>
                <a:latin typeface="Liberation Mono"/>
              </a:rPr>
              <a:t> </a:t>
            </a:r>
            <a:r>
              <a:rPr sz="1500">
                <a:solidFill>
                  <a:srgbClr val="202632"/>
                </a:solidFill>
                <a:latin typeface="Liberation Mono"/>
              </a:rPr>
              <a:t>speed</a:t>
            </a:r>
            <a:r>
              <a:rPr sz="1500">
                <a:solidFill>
                  <a:srgbClr val="202632"/>
                </a:solidFill>
                <a:latin typeface="Liberation Mono"/>
              </a:rPr>
              <a:t>,</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command</a:t>
            </a:r>
            <a:r>
              <a:rPr sz="1500">
                <a:solidFill>
                  <a:srgbClr val="202632"/>
                </a:solidFill>
                <a:latin typeface="Liberation Mono"/>
              </a:rPr>
              <a:t>)</a:t>
            </a:r>
          </a:p>
          <a:p>
            <a:pPr>
              <a:lnSpc>
                <a:spcPts val="1570"/>
              </a:lnSpc>
              <a:spcBef>
                <a:spcPts val="0"/>
              </a:spcBef>
              <a:spcAft>
                <a:spcPts val="0"/>
              </a:spcAft>
            </a:pPr>
            <a:r>
              <a:rPr sz="1500">
                <a:solidFill>
                  <a:srgbClr val="202632"/>
                </a:solidFill>
                <a:latin typeface="Liberation Mono"/>
              </a:rPr>
              <a:t>        </a:t>
            </a:r>
            <a:r>
              <a:rPr sz="1500">
                <a:solidFill>
                  <a:srgbClr val="007020"/>
                </a:solidFill>
                <a:latin typeface="Liberation Mono"/>
              </a:rPr>
              <a:t>return</a:t>
            </a:r>
            <a:r>
              <a:rPr sz="1500">
                <a:solidFill>
                  <a:srgbClr val="202632"/>
                </a:solidFill>
                <a:latin typeface="Liberation Mono"/>
              </a:rPr>
              <a:t> </a:t>
            </a:r>
            <a:r>
              <a:rPr sz="1500">
                <a:solidFill>
                  <a:srgbClr val="007020"/>
                </a:solidFill>
                <a:latin typeface="Liberation Mono"/>
              </a:rPr>
              <a:t>self</a:t>
            </a:r>
            <a:r>
              <a:rPr sz="1500">
                <a:solidFill>
                  <a:srgbClr val="666666"/>
                </a:solidFill>
                <a:latin typeface="Liberation Mono"/>
              </a:rPr>
              <a:t>.</a:t>
            </a:r>
            <a:r>
              <a:rPr sz="1500">
                <a:solidFill>
                  <a:srgbClr val="202632"/>
                </a:solidFill>
                <a:latin typeface="Liberation Mono"/>
              </a:rPr>
              <a:t>command</a:t>
            </a:r>
          </a:p>
          <a:p>
            <a:pPr>
              <a:lnSpc>
                <a:spcPts val="1570"/>
              </a:lnSpc>
              <a:spcBef>
                <a:spcPts val="0"/>
              </a:spcBef>
              <a:spcAft>
                <a:spcPts val="0"/>
              </a:spcAft>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example: what we write</a:t>
            </a:r>
          </a:p>
        </p:txBody>
      </p:sp>
      <p:sp>
        <p:nvSpPr>
          <p:cNvPr id="208" name="TextBox 207"/>
          <p:cNvSpPr txBox="1"/>
          <p:nvPr/>
        </p:nvSpPr>
        <p:spPr>
          <a:xfrm>
            <a:off x="640080" y="1508760"/>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navigation/nav.launch.py</a:t>
            </a:r>
          </a:p>
        </p:txBody>
      </p:sp>
      <p:sp>
        <p:nvSpPr>
          <p:cNvPr id="209" name="TextBox 208"/>
          <p:cNvSpPr txBox="1"/>
          <p:nvPr/>
        </p:nvSpPr>
        <p:spPr>
          <a:xfrm>
            <a:off x="640080" y="196596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Add the kit export call and policy parameters to the existing launch file.</a:t>
            </a:r>
          </a:p>
        </p:txBody>
      </p:sp>
      <p:sp>
        <p:nvSpPr>
          <p:cNvPr id="210" name="TextBox 209"/>
          <p:cNvSpPr txBox="1"/>
          <p:nvPr/>
        </p:nvSpPr>
        <p:spPr>
          <a:xfrm>
            <a:off x="640080" y="2743200"/>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forward_camera_policy.py</a:t>
            </a:r>
          </a:p>
        </p:txBody>
      </p:sp>
      <p:sp>
        <p:nvSpPr>
          <p:cNvPr id="211" name="TextBox 210"/>
          <p:cNvSpPr txBox="1"/>
          <p:nvPr/>
        </p:nvSpPr>
        <p:spPr>
          <a:xfrm>
            <a:off x="640080" y="320040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Write a Python class with configure(), prepare() and score().</a:t>
            </a:r>
          </a:p>
        </p:txBody>
      </p:sp>
      <p:sp>
        <p:nvSpPr>
          <p:cNvPr id="212" name="TextBox 211"/>
          <p:cNvSpPr txBox="1"/>
          <p:nvPr/>
        </p:nvSpPr>
        <p:spPr>
          <a:xfrm>
            <a:off x="640080" y="3977639"/>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nav2_kit</a:t>
            </a:r>
          </a:p>
        </p:txBody>
      </p:sp>
      <p:sp>
        <p:nvSpPr>
          <p:cNvPr id="213" name="TextBox 212"/>
          <p:cNvSpPr txBox="1"/>
          <p:nvPr/>
        </p:nvSpPr>
        <p:spPr>
          <a:xfrm>
            <a:off x="640080" y="443484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Supplies the C++ DWB adapter, build/cache and pluginlib registration.</a:t>
            </a:r>
          </a:p>
        </p:txBody>
      </p:sp>
      <p:sp>
        <p:nvSpPr>
          <p:cNvPr id="214" name="Rounded Rectangle 213"/>
          <p:cNvSpPr/>
          <p:nvPr/>
        </p:nvSpPr>
        <p:spPr>
          <a:xfrm>
            <a:off x="640080" y="5577840"/>
            <a:ext cx="10881360" cy="777240"/>
          </a:xfrm>
          <a:prstGeom prst="roundRect">
            <a:avLst/>
          </a:prstGeom>
          <a:solidFill>
            <a:srgbClr val="FFF0B7"/>
          </a:solidFill>
          <a:ln>
            <a:solidFill>
              <a:srgbClr val="C29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722375" y="5650992"/>
            <a:ext cx="10716768" cy="667512"/>
          </a:xfrm>
          <a:prstGeom prst="rect">
            <a:avLst/>
          </a:prstGeom>
          <a:noFill/>
        </p:spPr>
        <p:txBody>
          <a:bodyPr wrap="square" lIns="36576" rIns="36576" tIns="0" bIns="0">
            <a:spAutoFit/>
          </a:bodyPr>
          <a:lstStyle/>
          <a:p>
            <a:pPr>
              <a:spcAft>
                <a:spcPts val="300"/>
              </a:spcAft>
            </a:pPr>
            <a:r>
              <a:rPr sz="1900" b="0">
                <a:solidFill>
                  <a:srgbClr val="252B35"/>
                </a:solidFill>
                <a:latin typeface="Roboto"/>
              </a:rPr>
              <a:t>Launch configures Nav2 → DWB calls the Python policy inside controller_server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Python controller: what we write</a:t>
            </a:r>
          </a:p>
        </p:txBody>
      </p:sp>
      <p:sp>
        <p:nvSpPr>
          <p:cNvPr id="208" name="TextBox 207"/>
          <p:cNvSpPr txBox="1"/>
          <p:nvPr/>
        </p:nvSpPr>
        <p:spPr>
          <a:xfrm>
            <a:off x="640080" y="1508760"/>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Existing launcher + controller parameters</a:t>
            </a:r>
          </a:p>
        </p:txBody>
      </p:sp>
      <p:sp>
        <p:nvSpPr>
          <p:cNvPr id="209" name="TextBox 208"/>
          <p:cNvSpPr txBox="1"/>
          <p:nvPr/>
        </p:nvSpPr>
        <p:spPr>
          <a:xfrm>
            <a:off x="640080" y="196596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Export the kit adapter; select the Python module, class and joints.</a:t>
            </a:r>
          </a:p>
        </p:txBody>
      </p:sp>
      <p:sp>
        <p:nvSpPr>
          <p:cNvPr id="210" name="TextBox 209"/>
          <p:cNvSpPr txBox="1"/>
          <p:nvPr/>
        </p:nvSpPr>
        <p:spPr>
          <a:xfrm>
            <a:off x="640080" y="2743200"/>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hold_position.py</a:t>
            </a:r>
          </a:p>
        </p:txBody>
      </p:sp>
      <p:sp>
        <p:nvSpPr>
          <p:cNvPr id="211" name="TextBox 210"/>
          <p:cNvSpPr txBox="1"/>
          <p:nvPr/>
        </p:nvSpPr>
        <p:spPr>
          <a:xfrm>
            <a:off x="640080" y="320040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A complete small controller: capture joint positions and keep commanding them.</a:t>
            </a:r>
          </a:p>
        </p:txBody>
      </p:sp>
      <p:sp>
        <p:nvSpPr>
          <p:cNvPr id="212" name="TextBox 211"/>
          <p:cNvSpPr txBox="1"/>
          <p:nvPr/>
        </p:nvSpPr>
        <p:spPr>
          <a:xfrm>
            <a:off x="640080" y="3977639"/>
            <a:ext cx="10789920" cy="411480"/>
          </a:xfrm>
          <a:prstGeom prst="rect">
            <a:avLst/>
          </a:prstGeom>
          <a:noFill/>
        </p:spPr>
        <p:txBody>
          <a:bodyPr wrap="square" lIns="36576" rIns="36576" tIns="0" bIns="0">
            <a:spAutoFit/>
          </a:bodyPr>
          <a:lstStyle/>
          <a:p>
            <a:pPr>
              <a:spcAft>
                <a:spcPts val="300"/>
              </a:spcAft>
            </a:pPr>
            <a:r>
              <a:rPr sz="2000" b="0">
                <a:solidFill>
                  <a:srgbClr val="185B91"/>
                </a:solidFill>
                <a:latin typeface="Liberation Mono"/>
              </a:rPr>
              <a:t>control_kit</a:t>
            </a:r>
          </a:p>
        </p:txBody>
      </p:sp>
      <p:sp>
        <p:nvSpPr>
          <p:cNvPr id="213" name="TextBox 212"/>
          <p:cNvSpPr txBox="1"/>
          <p:nvPr/>
        </p:nvSpPr>
        <p:spPr>
          <a:xfrm>
            <a:off x="640080" y="4434840"/>
            <a:ext cx="10789920" cy="594360"/>
          </a:xfrm>
          <a:prstGeom prst="rect">
            <a:avLst/>
          </a:prstGeom>
          <a:noFill/>
        </p:spPr>
        <p:txBody>
          <a:bodyPr wrap="square" lIns="36576" rIns="36576" tIns="0" bIns="0">
            <a:spAutoFit/>
          </a:bodyPr>
          <a:lstStyle/>
          <a:p>
            <a:pPr>
              <a:spcAft>
                <a:spcPts val="300"/>
              </a:spcAft>
            </a:pPr>
            <a:r>
              <a:rPr sz="2000" b="0">
                <a:solidFill>
                  <a:srgbClr val="252B35"/>
                </a:solidFill>
                <a:latin typeface="Roboto"/>
              </a:rPr>
              <a:t>Supplies ControllerInterface, plugin export, lifecycle and joint-interface access.</a:t>
            </a:r>
          </a:p>
        </p:txBody>
      </p:sp>
      <p:sp>
        <p:nvSpPr>
          <p:cNvPr id="214" name="Rounded Rectangle 213"/>
          <p:cNvSpPr/>
          <p:nvPr/>
        </p:nvSpPr>
        <p:spPr>
          <a:xfrm>
            <a:off x="640080" y="5577840"/>
            <a:ext cx="10881360" cy="777240"/>
          </a:xfrm>
          <a:prstGeom prst="roundRect">
            <a:avLst/>
          </a:prstGeom>
          <a:solidFill>
            <a:srgbClr val="FFF0B7"/>
          </a:solidFill>
          <a:ln>
            <a:solidFill>
              <a:srgbClr val="C29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722375" y="5650992"/>
            <a:ext cx="10716768" cy="667512"/>
          </a:xfrm>
          <a:prstGeom prst="rect">
            <a:avLst/>
          </a:prstGeom>
          <a:noFill/>
        </p:spPr>
        <p:txBody>
          <a:bodyPr wrap="square" lIns="36576" rIns="36576" tIns="0" bIns="0">
            <a:spAutoFit/>
          </a:bodyPr>
          <a:lstStyle/>
          <a:p>
            <a:pPr>
              <a:spcAft>
                <a:spcPts val="300"/>
              </a:spcAft>
            </a:pPr>
            <a:r>
              <a:rPr sz="1900" b="0">
                <a:solidFill>
                  <a:srgbClr val="252B35"/>
                </a:solidFill>
                <a:latin typeface="Roboto"/>
              </a:rPr>
              <a:t>Manager loads the adapter → the adapter calls our Python class in the same process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register the adapter and select our policy</a:t>
            </a:r>
          </a:p>
        </p:txBody>
      </p:sp>
      <p:sp>
        <p:nvSpPr>
          <p:cNvPr id="208" name="TextBox 207"/>
          <p:cNvSpPr txBox="1"/>
          <p:nvPr/>
        </p:nvSpPr>
        <p:spPr>
          <a:xfrm>
            <a:off x="640080" y="1234440"/>
            <a:ext cx="10972800" cy="320040"/>
          </a:xfrm>
          <a:prstGeom prst="rect">
            <a:avLst/>
          </a:prstGeom>
          <a:noFill/>
        </p:spPr>
        <p:txBody>
          <a:bodyPr wrap="square" lIns="36576" rIns="36576" tIns="0" bIns="0">
            <a:spAutoFit/>
          </a:bodyPr>
          <a:lstStyle/>
          <a:p>
            <a:pPr>
              <a:spcAft>
                <a:spcPts val="300"/>
              </a:spcAft>
            </a:pPr>
            <a:r>
              <a:rPr sz="1800" b="0">
                <a:solidFill>
                  <a:srgbClr val="252B35"/>
                </a:solidFill>
                <a:latin typeface="Roboto"/>
              </a:rPr>
              <a:t>In the existing ROS launch file, before starting Nav2:</a:t>
            </a:r>
          </a:p>
        </p:txBody>
      </p:sp>
      <p:sp>
        <p:nvSpPr>
          <p:cNvPr id="209" name="Rectangle 208"/>
          <p:cNvSpPr/>
          <p:nvPr/>
        </p:nvSpPr>
        <p:spPr>
          <a:xfrm>
            <a:off x="640080" y="1737360"/>
            <a:ext cx="10881360" cy="155448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749808" y="1828800"/>
            <a:ext cx="10661904" cy="1417320"/>
          </a:xfrm>
          <a:prstGeom prst="rect">
            <a:avLst/>
          </a:prstGeom>
          <a:noFill/>
        </p:spPr>
        <p:txBody>
          <a:bodyPr wrap="square" lIns="0" rIns="0" tIns="0" bIns="0">
            <a:spAutoFit/>
          </a:bodyPr>
          <a:lstStyle/>
          <a:p>
            <a:pPr>
              <a:lnSpc>
                <a:spcPts val="165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65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nav2_kit</a:t>
            </a:r>
            <a:r>
              <a:rPr sz="1500">
                <a:solidFill>
                  <a:srgbClr val="0E84B5"/>
                </a:solidFill>
                <a:latin typeface="Liberation Mono"/>
              </a:rPr>
              <a:t>.</a:t>
            </a:r>
            <a:r>
              <a:rPr sz="1500">
                <a:solidFill>
                  <a:srgbClr val="0E84B5"/>
                </a:solidFill>
                <a:latin typeface="Liberation Mono"/>
              </a:rPr>
              <a:t>python_critic</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install_python_critic_plugin</a:t>
            </a:r>
          </a:p>
          <a:p>
            <a:pPr>
              <a:lnSpc>
                <a:spcPts val="1650"/>
              </a:lnSpc>
              <a:spcBef>
                <a:spcPts val="0"/>
              </a:spcBef>
              <a:spcAft>
                <a:spcPts val="0"/>
              </a:spcAft>
            </a:pPr>
          </a:p>
          <a:p>
            <a:pPr>
              <a:lnSpc>
                <a:spcPts val="1650"/>
              </a:lnSpc>
              <a:spcBef>
                <a:spcPts val="0"/>
              </a:spcBef>
              <a:spcAft>
                <a:spcPts val="0"/>
              </a:spcAft>
            </a:pP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install_python_critic_plugin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./plugin_overlay</a:t>
            </a:r>
            <a:r>
              <a:rPr sz="1500">
                <a:solidFill>
                  <a:srgbClr val="4070A0"/>
                </a:solidFill>
                <a:latin typeface="Liberation Mono"/>
              </a:rPr>
              <a:t>"</a:t>
            </a:r>
            <a:r>
              <a:rPr sz="1500">
                <a:solidFill>
                  <a:srgbClr val="202632"/>
                </a:solidFill>
                <a:latin typeface="Liberation Mono"/>
              </a:rPr>
              <a:t>)</a:t>
            </a:r>
          </a:p>
          <a:p>
            <a:pPr>
              <a:lnSpc>
                <a:spcPts val="1650"/>
              </a:lnSpc>
              <a:spcBef>
                <a:spcPts val="0"/>
              </a:spcBef>
              <a:spcAft>
                <a:spcPts val="0"/>
              </a:spcAft>
            </a:pP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p>
          <a:p>
            <a:pPr>
              <a:lnSpc>
                <a:spcPts val="1650"/>
              </a:lnSpc>
              <a:spcBef>
                <a:spcPts val="0"/>
              </a:spcBef>
              <a:spcAft>
                <a:spcPts val="0"/>
              </a:spcAft>
            </a:pPr>
          </a:p>
        </p:txBody>
      </p:sp>
      <p:sp>
        <p:nvSpPr>
          <p:cNvPr id="211" name="TextBox 210"/>
          <p:cNvSpPr txBox="1"/>
          <p:nvPr/>
        </p:nvSpPr>
        <p:spPr>
          <a:xfrm>
            <a:off x="640080" y="3474720"/>
            <a:ext cx="10972800" cy="320040"/>
          </a:xfrm>
          <a:prstGeom prst="rect">
            <a:avLst/>
          </a:prstGeom>
          <a:noFill/>
        </p:spPr>
        <p:txBody>
          <a:bodyPr wrap="square" lIns="36576" rIns="36576" tIns="0" bIns="0">
            <a:spAutoFit/>
          </a:bodyPr>
          <a:lstStyle/>
          <a:p>
            <a:pPr>
              <a:spcAft>
                <a:spcPts val="300"/>
              </a:spcAft>
            </a:pPr>
            <a:r>
              <a:rPr sz="1800" b="0">
                <a:solidFill>
                  <a:srgbClr val="252B35"/>
                </a:solidFill>
                <a:latin typeface="Roboto"/>
              </a:rPr>
              <a:t>Add to controller_server → ros__parameters → FollowPath:</a:t>
            </a:r>
          </a:p>
        </p:txBody>
      </p:sp>
      <p:sp>
        <p:nvSpPr>
          <p:cNvPr id="212" name="Rectangle 211"/>
          <p:cNvSpPr/>
          <p:nvPr/>
        </p:nvSpPr>
        <p:spPr>
          <a:xfrm>
            <a:off x="640080" y="3931920"/>
            <a:ext cx="10881360" cy="233172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749808" y="4023359"/>
            <a:ext cx="10661904" cy="2194560"/>
          </a:xfrm>
          <a:prstGeom prst="rect">
            <a:avLst/>
          </a:prstGeom>
          <a:noFill/>
        </p:spPr>
        <p:txBody>
          <a:bodyPr wrap="square" lIns="0" rIns="0" tIns="0" bIns="0">
            <a:spAutoFit/>
          </a:bodyPr>
          <a:lstStyle/>
          <a:p>
            <a:pPr>
              <a:lnSpc>
                <a:spcPts val="1750"/>
              </a:lnSpc>
              <a:spcBef>
                <a:spcPts val="0"/>
              </a:spcBef>
              <a:spcAft>
                <a:spcPts val="0"/>
              </a:spcAft>
            </a:pPr>
            <a:r>
              <a:rPr sz="1600">
                <a:solidFill>
                  <a:srgbClr val="60A0B0"/>
                </a:solidFill>
                <a:latin typeface="Liberation Mono"/>
              </a:rPr>
              <a:t># Append ForwardCamera to the existing critics list.</a:t>
            </a:r>
          </a:p>
          <a:p>
            <a:pPr>
              <a:lnSpc>
                <a:spcPts val="1750"/>
              </a:lnSpc>
              <a:spcBef>
                <a:spcPts val="0"/>
              </a:spcBef>
              <a:spcAft>
                <a:spcPts val="0"/>
              </a:spcAft>
            </a:pPr>
            <a:r>
              <a:rPr sz="1600">
                <a:solidFill>
                  <a:srgbClr val="062873"/>
                </a:solidFill>
                <a:latin typeface="Liberation Mono"/>
              </a:rPr>
              <a:t>ForwardCamera.class</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nav2_kit_python::PythonCritic</a:t>
            </a:r>
          </a:p>
          <a:p>
            <a:pPr>
              <a:lnSpc>
                <a:spcPts val="1750"/>
              </a:lnSpc>
              <a:spcBef>
                <a:spcPts val="0"/>
              </a:spcBef>
              <a:spcAft>
                <a:spcPts val="0"/>
              </a:spcAft>
            </a:pPr>
            <a:r>
              <a:rPr sz="1600">
                <a:solidFill>
                  <a:srgbClr val="062873"/>
                </a:solidFill>
                <a:latin typeface="Liberation Mono"/>
              </a:rPr>
              <a:t>ForwardCamera.scale</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1.0</a:t>
            </a:r>
          </a:p>
          <a:p>
            <a:pPr>
              <a:lnSpc>
                <a:spcPts val="1750"/>
              </a:lnSpc>
              <a:spcBef>
                <a:spcPts val="0"/>
              </a:spcBef>
              <a:spcAft>
                <a:spcPts val="0"/>
              </a:spcAft>
            </a:pPr>
            <a:r>
              <a:rPr sz="1600">
                <a:solidFill>
                  <a:srgbClr val="062873"/>
                </a:solidFill>
                <a:latin typeface="Liberation Mono"/>
              </a:rPr>
              <a:t>ForwardCamera.python_module</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forward_camera_policy</a:t>
            </a:r>
          </a:p>
          <a:p>
            <a:pPr>
              <a:lnSpc>
                <a:spcPts val="1750"/>
              </a:lnSpc>
              <a:spcBef>
                <a:spcPts val="0"/>
              </a:spcBef>
              <a:spcAft>
                <a:spcPts val="0"/>
              </a:spcAft>
            </a:pPr>
            <a:r>
              <a:rPr sz="1600">
                <a:solidFill>
                  <a:srgbClr val="062873"/>
                </a:solidFill>
                <a:latin typeface="Liberation Mono"/>
              </a:rPr>
              <a:t>ForwardCamera.python_class</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ForwardCameraPolicy</a:t>
            </a:r>
          </a:p>
          <a:p>
            <a:pPr>
              <a:lnSpc>
                <a:spcPts val="1750"/>
              </a:lnSpc>
              <a:spcBef>
                <a:spcPts val="0"/>
              </a:spcBef>
              <a:spcAft>
                <a:spcPts val="0"/>
              </a:spcAft>
            </a:pPr>
            <a:r>
              <a:rPr sz="1600">
                <a:solidFill>
                  <a:srgbClr val="062873"/>
                </a:solidFill>
                <a:latin typeface="Liberation Mono"/>
              </a:rPr>
              <a:t>ForwardCamera.python_path</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/absolute/path/to/your/policy</a:t>
            </a:r>
          </a:p>
          <a:p>
            <a:pPr>
              <a:lnSpc>
                <a:spcPts val="1750"/>
              </a:lnSpc>
              <a:spcBef>
                <a:spcPts val="0"/>
              </a:spcBef>
              <a:spcAft>
                <a:spcPts val="0"/>
              </a:spcAft>
            </a:pPr>
            <a:r>
              <a:rPr sz="1600">
                <a:solidFill>
                  <a:srgbClr val="062873"/>
                </a:solidFill>
                <a:latin typeface="Liberation Mono"/>
              </a:rPr>
              <a:t>min_vel_x</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0.0</a:t>
            </a:r>
            <a:r>
              <a:rPr sz="1600">
                <a:solidFill>
                  <a:srgbClr val="BBBBBB"/>
                </a:solidFill>
                <a:latin typeface="Liberation Mono"/>
              </a:rPr>
              <a:t>  </a:t>
            </a:r>
            <a:r>
              <a:rPr sz="1600">
                <a:solidFill>
                  <a:srgbClr val="60A0B0"/>
                </a:solidFill>
                <a:latin typeface="Liberation Mono"/>
              </a:rPr>
              <a:t># Include turn-in-place candidates.</a:t>
            </a:r>
          </a:p>
          <a:p>
            <a:pPr>
              <a:lnSpc>
                <a:spcPts val="1750"/>
              </a:lnSpc>
              <a:spcBef>
                <a:spcPts val="0"/>
              </a:spcBef>
              <a:spcAft>
                <a:spcPts val="0"/>
              </a:spcAft>
            </a:p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Nav2: write the Python policy</a:t>
            </a:r>
          </a:p>
        </p:txBody>
      </p:sp>
      <p:sp>
        <p:nvSpPr>
          <p:cNvPr id="208" name="Rectangle 207"/>
          <p:cNvSpPr/>
          <p:nvPr/>
        </p:nvSpPr>
        <p:spPr>
          <a:xfrm>
            <a:off x="640080" y="1371600"/>
            <a:ext cx="10881360" cy="534924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49808" y="1463040"/>
            <a:ext cx="10661904" cy="5212079"/>
          </a:xfrm>
          <a:prstGeom prst="rect">
            <a:avLst/>
          </a:prstGeom>
          <a:noFill/>
        </p:spPr>
        <p:txBody>
          <a:bodyPr wrap="square" lIns="0" rIns="0" tIns="0" bIns="0">
            <a:spAutoFit/>
          </a:bodyPr>
          <a:lstStyle/>
          <a:p>
            <a:pPr>
              <a:lnSpc>
                <a:spcPts val="1750"/>
              </a:lnSpc>
              <a:spcBef>
                <a:spcPts val="0"/>
              </a:spcBef>
              <a:spcAft>
                <a:spcPts val="0"/>
              </a:spcAft>
            </a:pPr>
            <a:r>
              <a:rPr sz="1600">
                <a:solidFill>
                  <a:srgbClr val="007020"/>
                </a:solidFill>
                <a:latin typeface="Liberation Mono"/>
              </a:rPr>
              <a:t>import</a:t>
            </a:r>
            <a:r>
              <a:rPr sz="1600">
                <a:solidFill>
                  <a:srgbClr val="BBBBBB"/>
                </a:solidFill>
                <a:latin typeface="Liberation Mono"/>
              </a:rPr>
              <a:t> </a:t>
            </a:r>
            <a:r>
              <a:rPr sz="1600">
                <a:solidFill>
                  <a:srgbClr val="0E84B5"/>
                </a:solidFill>
                <a:latin typeface="Liberation Mono"/>
              </a:rPr>
              <a:t>math</a:t>
            </a:r>
          </a:p>
          <a:p>
            <a:pPr>
              <a:lnSpc>
                <a:spcPts val="1750"/>
              </a:lnSpc>
              <a:spcBef>
                <a:spcPts val="0"/>
              </a:spcBef>
              <a:spcAft>
                <a:spcPts val="0"/>
              </a:spcAft>
            </a:pPr>
          </a:p>
          <a:p>
            <a:pPr>
              <a:lnSpc>
                <a:spcPts val="1750"/>
              </a:lnSpc>
              <a:spcBef>
                <a:spcPts val="0"/>
              </a:spcBef>
              <a:spcAft>
                <a:spcPts val="0"/>
              </a:spcAft>
            </a:pPr>
            <a:r>
              <a:rPr sz="1600">
                <a:solidFill>
                  <a:srgbClr val="007020"/>
                </a:solidFill>
                <a:latin typeface="Liberation Mono"/>
              </a:rPr>
              <a:t>def</a:t>
            </a:r>
            <a:r>
              <a:rPr sz="1600">
                <a:solidFill>
                  <a:srgbClr val="BBBBBB"/>
                </a:solidFill>
                <a:latin typeface="Liberation Mono"/>
              </a:rPr>
              <a:t> </a:t>
            </a:r>
            <a:r>
              <a:rPr sz="1600">
                <a:solidFill>
                  <a:srgbClr val="06287E"/>
                </a:solidFill>
                <a:latin typeface="Liberation Mono"/>
              </a:rPr>
              <a:t>angle</a:t>
            </a:r>
            <a:r>
              <a:rPr sz="1600">
                <a:solidFill>
                  <a:srgbClr val="202632"/>
                </a:solidFill>
                <a:latin typeface="Liberation Mono"/>
              </a:rPr>
              <a:t>(</a:t>
            </a:r>
            <a:r>
              <a:rPr sz="1600">
                <a:solidFill>
                  <a:srgbClr val="202632"/>
                </a:solidFill>
                <a:latin typeface="Liberation Mono"/>
              </a:rPr>
              <a:t>x</a:t>
            </a:r>
            <a:r>
              <a:rPr sz="1600">
                <a:solidFill>
                  <a:srgbClr val="202632"/>
                </a:solidFill>
                <a:latin typeface="Liberation Mono"/>
              </a:rPr>
              <a:t>)</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return</a:t>
            </a:r>
            <a:r>
              <a:rPr sz="1600">
                <a:solidFill>
                  <a:srgbClr val="202632"/>
                </a:solidFill>
                <a:latin typeface="Liberation Mono"/>
              </a:rPr>
              <a:t> </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atan2</a:t>
            </a:r>
            <a:r>
              <a:rPr sz="1600">
                <a:solidFill>
                  <a:srgbClr val="202632"/>
                </a:solidFill>
                <a:latin typeface="Liberation Mono"/>
              </a:rPr>
              <a:t>(</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sin</a:t>
            </a:r>
            <a:r>
              <a:rPr sz="1600">
                <a:solidFill>
                  <a:srgbClr val="202632"/>
                </a:solidFill>
                <a:latin typeface="Liberation Mono"/>
              </a:rPr>
              <a:t>(</a:t>
            </a:r>
            <a:r>
              <a:rPr sz="1600">
                <a:solidFill>
                  <a:srgbClr val="202632"/>
                </a:solidFill>
                <a:latin typeface="Liberation Mono"/>
              </a:rPr>
              <a:t>x</a:t>
            </a:r>
            <a:r>
              <a:rPr sz="1600">
                <a:solidFill>
                  <a:srgbClr val="202632"/>
                </a:solidFill>
                <a:latin typeface="Liberation Mono"/>
              </a:rPr>
              <a:t>)</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cos</a:t>
            </a:r>
            <a:r>
              <a:rPr sz="1600">
                <a:solidFill>
                  <a:srgbClr val="202632"/>
                </a:solidFill>
                <a:latin typeface="Liberation Mono"/>
              </a:rPr>
              <a:t>(</a:t>
            </a:r>
            <a:r>
              <a:rPr sz="1600">
                <a:solidFill>
                  <a:srgbClr val="202632"/>
                </a:solidFill>
                <a:latin typeface="Liberation Mono"/>
              </a:rPr>
              <a:t>x</a:t>
            </a:r>
            <a:r>
              <a:rPr sz="1600">
                <a:solidFill>
                  <a:srgbClr val="202632"/>
                </a:solidFill>
                <a:latin typeface="Liberation Mono"/>
              </a:rPr>
              <a:t>)</a:t>
            </a:r>
            <a:r>
              <a:rPr sz="1600">
                <a:solidFill>
                  <a:srgbClr val="202632"/>
                </a:solidFill>
                <a:latin typeface="Liberation Mono"/>
              </a:rPr>
              <a:t>)</a:t>
            </a:r>
          </a:p>
          <a:p>
            <a:pPr>
              <a:lnSpc>
                <a:spcPts val="1750"/>
              </a:lnSpc>
              <a:spcBef>
                <a:spcPts val="0"/>
              </a:spcBef>
              <a:spcAft>
                <a:spcPts val="0"/>
              </a:spcAft>
            </a:pPr>
          </a:p>
          <a:p>
            <a:pPr>
              <a:lnSpc>
                <a:spcPts val="1750"/>
              </a:lnSpc>
              <a:spcBef>
                <a:spcPts val="0"/>
              </a:spcBef>
              <a:spcAft>
                <a:spcPts val="0"/>
              </a:spcAft>
            </a:pPr>
            <a:r>
              <a:rPr sz="1600">
                <a:solidFill>
                  <a:srgbClr val="007020"/>
                </a:solidFill>
                <a:latin typeface="Liberation Mono"/>
              </a:rPr>
              <a:t>class</a:t>
            </a:r>
            <a:r>
              <a:rPr sz="1600">
                <a:solidFill>
                  <a:srgbClr val="BBBBBB"/>
                </a:solidFill>
                <a:latin typeface="Liberation Mono"/>
              </a:rPr>
              <a:t> </a:t>
            </a:r>
            <a:r>
              <a:rPr sz="1600">
                <a:solidFill>
                  <a:srgbClr val="0E84B5"/>
                </a:solidFill>
                <a:latin typeface="Liberation Mono"/>
              </a:rPr>
              <a:t>ForwardCameraPolicy</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def</a:t>
            </a:r>
            <a:r>
              <a:rPr sz="1600">
                <a:solidFill>
                  <a:srgbClr val="BBBBBB"/>
                </a:solidFill>
                <a:latin typeface="Liberation Mono"/>
              </a:rPr>
              <a:t> </a:t>
            </a:r>
            <a:r>
              <a:rPr sz="1600">
                <a:solidFill>
                  <a:srgbClr val="06287E"/>
                </a:solidFill>
                <a:latin typeface="Liberation Mono"/>
              </a:rPr>
              <a:t>configure</a:t>
            </a:r>
            <a:r>
              <a:rPr sz="1600">
                <a:solidFill>
                  <a:srgbClr val="202632"/>
                </a:solidFill>
                <a:latin typeface="Liberation Mono"/>
              </a:rPr>
              <a:t>(</a:t>
            </a:r>
            <a:r>
              <a:rPr sz="1600">
                <a:solidFill>
                  <a:srgbClr val="007020"/>
                </a:solidFill>
                <a:latin typeface="Liberation Mono"/>
              </a:rPr>
              <a:t>self</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options</a:t>
            </a:r>
            <a:r>
              <a:rPr sz="1600">
                <a:solidFill>
                  <a:srgbClr val="202632"/>
                </a:solidFill>
                <a:latin typeface="Liberation Mono"/>
              </a:rPr>
              <a:t>)</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cone</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pi</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40A070"/>
                </a:solidFill>
                <a:latin typeface="Liberation Mono"/>
              </a:rPr>
              <a:t>6</a:t>
            </a:r>
            <a:r>
              <a:rPr sz="1600">
                <a:solidFill>
                  <a:srgbClr val="202632"/>
                </a:solidFill>
                <a:latin typeface="Liberation Mono"/>
              </a:rPr>
              <a:t>  </a:t>
            </a:r>
            <a:r>
              <a:rPr sz="1600">
                <a:solidFill>
                  <a:srgbClr val="60A0B0"/>
                </a:solidFill>
                <a:latin typeface="Liberation Mono"/>
              </a:rPr>
              <a:t># 30 degrees</a:t>
            </a:r>
          </a:p>
          <a:p>
            <a:pPr>
              <a:lnSpc>
                <a:spcPts val="1750"/>
              </a:lnSpc>
              <a:spcBef>
                <a:spcPts val="0"/>
              </a:spcBef>
              <a:spcAft>
                <a:spcPts val="0"/>
              </a:spcAft>
            </a:pP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def</a:t>
            </a:r>
            <a:r>
              <a:rPr sz="1600">
                <a:solidFill>
                  <a:srgbClr val="BBBBBB"/>
                </a:solidFill>
                <a:latin typeface="Liberation Mono"/>
              </a:rPr>
              <a:t> </a:t>
            </a:r>
            <a:r>
              <a:rPr sz="1600">
                <a:solidFill>
                  <a:srgbClr val="06287E"/>
                </a:solidFill>
                <a:latin typeface="Liberation Mono"/>
              </a:rPr>
              <a:t>prepare</a:t>
            </a:r>
            <a:r>
              <a:rPr sz="1600">
                <a:solidFill>
                  <a:srgbClr val="202632"/>
                </a:solidFill>
                <a:latin typeface="Liberation Mono"/>
              </a:rPr>
              <a:t>(</a:t>
            </a:r>
            <a:r>
              <a:rPr sz="1600">
                <a:solidFill>
                  <a:srgbClr val="007020"/>
                </a:solidFill>
                <a:latin typeface="Liberation Mono"/>
              </a:rPr>
              <a:t>self</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yaw</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path_heading</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goal_distance</a:t>
            </a:r>
            <a:r>
              <a:rPr sz="1600">
                <a:solidFill>
                  <a:srgbClr val="202632"/>
                </a:solidFill>
                <a:latin typeface="Liberation Mono"/>
              </a:rPr>
              <a:t>)</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yaw</a:t>
            </a:r>
            <a:r>
              <a:rPr sz="1600">
                <a:solidFill>
                  <a:srgbClr val="202632"/>
                </a:solidFill>
                <a:latin typeface="Liberation Mono"/>
              </a:rPr>
              <a:t>,</a:t>
            </a: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heading</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yaw</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path_heading</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near_goal</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goal_distance</a:t>
            </a:r>
            <a:r>
              <a:rPr sz="1600">
                <a:solidFill>
                  <a:srgbClr val="202632"/>
                </a:solidFill>
                <a:latin typeface="Liberation Mono"/>
              </a:rPr>
              <a:t> </a:t>
            </a:r>
            <a:r>
              <a:rPr sz="1600">
                <a:solidFill>
                  <a:srgbClr val="666666"/>
                </a:solidFill>
                <a:latin typeface="Liberation Mono"/>
              </a:rPr>
              <a:t>&lt;</a:t>
            </a:r>
            <a:r>
              <a:rPr sz="1600">
                <a:solidFill>
                  <a:srgbClr val="666666"/>
                </a:solidFill>
                <a:latin typeface="Liberation Mono"/>
              </a:rPr>
              <a:t>=</a:t>
            </a:r>
            <a:r>
              <a:rPr sz="1600">
                <a:solidFill>
                  <a:srgbClr val="202632"/>
                </a:solidFill>
                <a:latin typeface="Liberation Mono"/>
              </a:rPr>
              <a:t> </a:t>
            </a:r>
            <a:r>
              <a:rPr sz="1600">
                <a:solidFill>
                  <a:srgbClr val="40A070"/>
                </a:solidFill>
                <a:latin typeface="Liberation Mono"/>
              </a:rPr>
              <a:t>0.25</a:t>
            </a:r>
          </a:p>
          <a:p>
            <a:pPr>
              <a:lnSpc>
                <a:spcPts val="1750"/>
              </a:lnSpc>
              <a:spcBef>
                <a:spcPts val="0"/>
              </a:spcBef>
              <a:spcAft>
                <a:spcPts val="0"/>
              </a:spcAft>
            </a:pP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def</a:t>
            </a:r>
            <a:r>
              <a:rPr sz="1600">
                <a:solidFill>
                  <a:srgbClr val="BBBBBB"/>
                </a:solidFill>
                <a:latin typeface="Liberation Mono"/>
              </a:rPr>
              <a:t> </a:t>
            </a:r>
            <a:r>
              <a:rPr sz="1600">
                <a:solidFill>
                  <a:srgbClr val="06287E"/>
                </a:solidFill>
                <a:latin typeface="Liberation Mono"/>
              </a:rPr>
              <a:t>score</a:t>
            </a:r>
            <a:r>
              <a:rPr sz="1600">
                <a:solidFill>
                  <a:srgbClr val="202632"/>
                </a:solidFill>
                <a:latin typeface="Liberation Mono"/>
              </a:rPr>
              <a:t>(</a:t>
            </a:r>
            <a:r>
              <a:rPr sz="1600">
                <a:solidFill>
                  <a:srgbClr val="007020"/>
                </a:solidFill>
                <a:latin typeface="Liberation Mono"/>
              </a:rPr>
              <a:t>self</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vx</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vy</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wz</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final_heading</a:t>
            </a:r>
            <a:r>
              <a:rPr sz="1600">
                <a:solidFill>
                  <a:srgbClr val="202632"/>
                </a:solidFill>
                <a:latin typeface="Liberation Mono"/>
              </a:rPr>
              <a:t>)</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202632"/>
                </a:solidFill>
                <a:latin typeface="Liberation Mono"/>
              </a:rPr>
              <a:t>moving</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hypot</a:t>
            </a:r>
            <a:r>
              <a:rPr sz="1600">
                <a:solidFill>
                  <a:srgbClr val="202632"/>
                </a:solidFill>
                <a:latin typeface="Liberation Mono"/>
              </a:rPr>
              <a:t>(</a:t>
            </a:r>
            <a:r>
              <a:rPr sz="1600">
                <a:solidFill>
                  <a:srgbClr val="202632"/>
                </a:solidFill>
                <a:latin typeface="Liberation Mono"/>
              </a:rPr>
              <a:t>vx</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vy</a:t>
            </a:r>
            <a:r>
              <a:rPr sz="1600">
                <a:solidFill>
                  <a:srgbClr val="202632"/>
                </a:solidFill>
                <a:latin typeface="Liberation Mono"/>
              </a:rPr>
              <a:t>)</a:t>
            </a:r>
            <a:r>
              <a:rPr sz="1600">
                <a:solidFill>
                  <a:srgbClr val="202632"/>
                </a:solidFill>
                <a:latin typeface="Liberation Mono"/>
              </a:rPr>
              <a:t> </a:t>
            </a:r>
            <a:r>
              <a:rPr sz="1600">
                <a:solidFill>
                  <a:srgbClr val="666666"/>
                </a:solidFill>
                <a:latin typeface="Liberation Mono"/>
              </a:rPr>
              <a:t>&gt;</a:t>
            </a:r>
            <a:r>
              <a:rPr sz="1600">
                <a:solidFill>
                  <a:srgbClr val="202632"/>
                </a:solidFill>
                <a:latin typeface="Liberation Mono"/>
              </a:rPr>
              <a:t> </a:t>
            </a:r>
            <a:r>
              <a:rPr sz="1600">
                <a:solidFill>
                  <a:srgbClr val="40A070"/>
                </a:solidFill>
                <a:latin typeface="Liberation Mono"/>
              </a:rPr>
              <a:t>0.0001</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if</a:t>
            </a:r>
            <a:r>
              <a:rPr sz="1600">
                <a:solidFill>
                  <a:srgbClr val="202632"/>
                </a:solidFill>
                <a:latin typeface="Liberation Mono"/>
              </a:rPr>
              <a:t> </a:t>
            </a:r>
            <a:r>
              <a:rPr sz="1600">
                <a:solidFill>
                  <a:srgbClr val="202632"/>
                </a:solidFill>
                <a:latin typeface="Liberation Mono"/>
              </a:rPr>
              <a:t>moving</a:t>
            </a:r>
            <a:r>
              <a:rPr sz="1600">
                <a:solidFill>
                  <a:srgbClr val="202632"/>
                </a:solidFill>
                <a:latin typeface="Liberation Mono"/>
              </a:rPr>
              <a:t> </a:t>
            </a:r>
            <a:r>
              <a:rPr sz="1600">
                <a:solidFill>
                  <a:srgbClr val="007020"/>
                </a:solidFill>
                <a:latin typeface="Liberation Mono"/>
              </a:rPr>
              <a:t>and</a:t>
            </a:r>
            <a:r>
              <a:rPr sz="1600">
                <a:solidFill>
                  <a:srgbClr val="202632"/>
                </a:solidFill>
                <a:latin typeface="Liberation Mono"/>
              </a:rPr>
              <a:t> </a:t>
            </a:r>
            <a:r>
              <a:rPr sz="1600">
                <a:solidFill>
                  <a:srgbClr val="007020"/>
                </a:solidFill>
                <a:latin typeface="Liberation Mono"/>
              </a:rPr>
              <a:t>abs</a:t>
            </a:r>
            <a:r>
              <a:rPr sz="1600">
                <a:solidFill>
                  <a:srgbClr val="202632"/>
                </a:solidFill>
                <a:latin typeface="Liberation Mono"/>
              </a:rPr>
              <a:t>(</a:t>
            </a:r>
            <a:r>
              <a:rPr sz="1600">
                <a:solidFill>
                  <a:srgbClr val="202632"/>
                </a:solidFill>
                <a:latin typeface="Liberation Mono"/>
              </a:rPr>
              <a:t>math</a:t>
            </a:r>
            <a:r>
              <a:rPr sz="1600">
                <a:solidFill>
                  <a:srgbClr val="666666"/>
                </a:solidFill>
                <a:latin typeface="Liberation Mono"/>
              </a:rPr>
              <a:t>.</a:t>
            </a:r>
            <a:r>
              <a:rPr sz="1600">
                <a:solidFill>
                  <a:srgbClr val="202632"/>
                </a:solidFill>
                <a:latin typeface="Liberation Mono"/>
              </a:rPr>
              <a:t>atan2</a:t>
            </a:r>
            <a:r>
              <a:rPr sz="1600">
                <a:solidFill>
                  <a:srgbClr val="202632"/>
                </a:solidFill>
                <a:latin typeface="Liberation Mono"/>
              </a:rPr>
              <a:t>(</a:t>
            </a:r>
            <a:r>
              <a:rPr sz="1600">
                <a:solidFill>
                  <a:srgbClr val="202632"/>
                </a:solidFill>
                <a:latin typeface="Liberation Mono"/>
              </a:rPr>
              <a:t>vy</a:t>
            </a:r>
            <a:r>
              <a:rPr sz="1600">
                <a:solidFill>
                  <a:srgbClr val="202632"/>
                </a:solidFill>
                <a:latin typeface="Liberation Mono"/>
              </a:rPr>
              <a:t>,</a:t>
            </a:r>
            <a:r>
              <a:rPr sz="1600">
                <a:solidFill>
                  <a:srgbClr val="202632"/>
                </a:solidFill>
                <a:latin typeface="Liberation Mono"/>
              </a:rPr>
              <a:t> </a:t>
            </a:r>
            <a:r>
              <a:rPr sz="1600">
                <a:solidFill>
                  <a:srgbClr val="202632"/>
                </a:solidFill>
                <a:latin typeface="Liberation Mono"/>
              </a:rPr>
              <a:t>vx</a:t>
            </a:r>
            <a:r>
              <a:rPr sz="1600">
                <a:solidFill>
                  <a:srgbClr val="202632"/>
                </a:solidFill>
                <a:latin typeface="Liberation Mono"/>
              </a:rPr>
              <a:t>)</a:t>
            </a:r>
            <a:r>
              <a:rPr sz="1600">
                <a:solidFill>
                  <a:srgbClr val="202632"/>
                </a:solidFill>
                <a:latin typeface="Liberation Mono"/>
              </a:rPr>
              <a:t>)</a:t>
            </a:r>
            <a:r>
              <a:rPr sz="1600">
                <a:solidFill>
                  <a:srgbClr val="202632"/>
                </a:solidFill>
                <a:latin typeface="Liberation Mono"/>
              </a:rPr>
              <a:t> </a:t>
            </a:r>
            <a:r>
              <a:rPr sz="1600">
                <a:solidFill>
                  <a:srgbClr val="666666"/>
                </a:solidFill>
                <a:latin typeface="Liberation Mono"/>
              </a:rPr>
              <a:t>&gt;</a:t>
            </a: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cone</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return</a:t>
            </a:r>
            <a:r>
              <a:rPr sz="1600">
                <a:solidFill>
                  <a:srgbClr val="202632"/>
                </a:solidFill>
                <a:latin typeface="Liberation Mono"/>
              </a:rPr>
              <a:t> </a:t>
            </a:r>
            <a:r>
              <a:rPr sz="1600">
                <a:solidFill>
                  <a:srgbClr val="007020"/>
                </a:solidFill>
                <a:latin typeface="Liberation Mono"/>
              </a:rPr>
              <a:t>None</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if</a:t>
            </a: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near_goal</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return</a:t>
            </a:r>
            <a:r>
              <a:rPr sz="1600">
                <a:solidFill>
                  <a:srgbClr val="202632"/>
                </a:solidFill>
                <a:latin typeface="Liberation Mono"/>
              </a:rPr>
              <a:t> </a:t>
            </a:r>
            <a:r>
              <a:rPr sz="1600">
                <a:solidFill>
                  <a:srgbClr val="40A070"/>
                </a:solidFill>
                <a:latin typeface="Liberation Mono"/>
              </a:rPr>
              <a:t>0.0</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if</a:t>
            </a:r>
            <a:r>
              <a:rPr sz="1600">
                <a:solidFill>
                  <a:srgbClr val="202632"/>
                </a:solidFill>
                <a:latin typeface="Liberation Mono"/>
              </a:rPr>
              <a:t> </a:t>
            </a:r>
            <a:r>
              <a:rPr sz="1600">
                <a:solidFill>
                  <a:srgbClr val="202632"/>
                </a:solidFill>
                <a:latin typeface="Liberation Mono"/>
              </a:rPr>
              <a:t>moving</a:t>
            </a:r>
            <a:r>
              <a:rPr sz="1600">
                <a:solidFill>
                  <a:srgbClr val="202632"/>
                </a:solidFill>
                <a:latin typeface="Liberation Mono"/>
              </a:rPr>
              <a:t> </a:t>
            </a:r>
            <a:r>
              <a:rPr sz="1600">
                <a:solidFill>
                  <a:srgbClr val="007020"/>
                </a:solidFill>
                <a:latin typeface="Liberation Mono"/>
              </a:rPr>
              <a:t>and</a:t>
            </a:r>
            <a:r>
              <a:rPr sz="1600">
                <a:solidFill>
                  <a:srgbClr val="202632"/>
                </a:solidFill>
                <a:latin typeface="Liberation Mono"/>
              </a:rPr>
              <a:t> </a:t>
            </a:r>
            <a:r>
              <a:rPr sz="1600">
                <a:solidFill>
                  <a:srgbClr val="007020"/>
                </a:solidFill>
                <a:latin typeface="Liberation Mono"/>
              </a:rPr>
              <a:t>abs</a:t>
            </a:r>
            <a:r>
              <a:rPr sz="1600">
                <a:solidFill>
                  <a:srgbClr val="202632"/>
                </a:solidFill>
                <a:latin typeface="Liberation Mono"/>
              </a:rPr>
              <a:t>(</a:t>
            </a:r>
            <a:r>
              <a:rPr sz="1600">
                <a:solidFill>
                  <a:srgbClr val="202632"/>
                </a:solidFill>
                <a:latin typeface="Liberation Mono"/>
              </a:rPr>
              <a:t>angle</a:t>
            </a:r>
            <a:r>
              <a:rPr sz="1600">
                <a:solidFill>
                  <a:srgbClr val="202632"/>
                </a:solidFill>
                <a:latin typeface="Liberation Mono"/>
              </a:rPr>
              <a:t>(</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heading</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yaw</a:t>
            </a:r>
            <a:r>
              <a:rPr sz="1600">
                <a:solidFill>
                  <a:srgbClr val="202632"/>
                </a:solidFill>
                <a:latin typeface="Liberation Mono"/>
              </a:rPr>
              <a:t>)</a:t>
            </a:r>
            <a:r>
              <a:rPr sz="1600">
                <a:solidFill>
                  <a:srgbClr val="202632"/>
                </a:solidFill>
                <a:latin typeface="Liberation Mono"/>
              </a:rPr>
              <a:t>)</a:t>
            </a:r>
            <a:r>
              <a:rPr sz="1600">
                <a:solidFill>
                  <a:srgbClr val="202632"/>
                </a:solidFill>
                <a:latin typeface="Liberation Mono"/>
              </a:rPr>
              <a:t> </a:t>
            </a:r>
            <a:r>
              <a:rPr sz="1600">
                <a:solidFill>
                  <a:srgbClr val="666666"/>
                </a:solidFill>
                <a:latin typeface="Liberation Mono"/>
              </a:rPr>
              <a:t>&gt;</a:t>
            </a:r>
            <a:r>
              <a:rPr sz="1600">
                <a:solidFill>
                  <a:srgbClr val="202632"/>
                </a:solidFill>
                <a:latin typeface="Liberation Mono"/>
              </a:rPr>
              <a:t> </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cone</a:t>
            </a:r>
            <a:r>
              <a:rPr sz="1600">
                <a:solidFill>
                  <a:srgbClr val="202632"/>
                </a:solidFill>
                <a:latin typeface="Liberation Mono"/>
              </a:rPr>
              <a:t>:</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return</a:t>
            </a:r>
            <a:r>
              <a:rPr sz="1600">
                <a:solidFill>
                  <a:srgbClr val="202632"/>
                </a:solidFill>
                <a:latin typeface="Liberation Mono"/>
              </a:rPr>
              <a:t> </a:t>
            </a:r>
            <a:r>
              <a:rPr sz="1600">
                <a:solidFill>
                  <a:srgbClr val="007020"/>
                </a:solidFill>
                <a:latin typeface="Liberation Mono"/>
              </a:rPr>
              <a:t>None</a:t>
            </a:r>
          </a:p>
          <a:p>
            <a:pPr>
              <a:lnSpc>
                <a:spcPts val="1750"/>
              </a:lnSpc>
              <a:spcBef>
                <a:spcPts val="0"/>
              </a:spcBef>
              <a:spcAft>
                <a:spcPts val="0"/>
              </a:spcAft>
            </a:pPr>
            <a:r>
              <a:rPr sz="1600">
                <a:solidFill>
                  <a:srgbClr val="202632"/>
                </a:solidFill>
                <a:latin typeface="Liberation Mono"/>
              </a:rPr>
              <a:t>        </a:t>
            </a:r>
            <a:r>
              <a:rPr sz="1600">
                <a:solidFill>
                  <a:srgbClr val="007020"/>
                </a:solidFill>
                <a:latin typeface="Liberation Mono"/>
              </a:rPr>
              <a:t>return</a:t>
            </a:r>
            <a:r>
              <a:rPr sz="1600">
                <a:solidFill>
                  <a:srgbClr val="202632"/>
                </a:solidFill>
                <a:latin typeface="Liberation Mono"/>
              </a:rPr>
              <a:t> </a:t>
            </a:r>
            <a:r>
              <a:rPr sz="1600">
                <a:solidFill>
                  <a:srgbClr val="40A070"/>
                </a:solidFill>
                <a:latin typeface="Liberation Mono"/>
              </a:rPr>
              <a:t>80.0</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angle</a:t>
            </a:r>
            <a:r>
              <a:rPr sz="1600">
                <a:solidFill>
                  <a:srgbClr val="202632"/>
                </a:solidFill>
                <a:latin typeface="Liberation Mono"/>
              </a:rPr>
              <a:t>(</a:t>
            </a:r>
            <a:r>
              <a:rPr sz="1600">
                <a:solidFill>
                  <a:srgbClr val="007020"/>
                </a:solidFill>
                <a:latin typeface="Liberation Mono"/>
              </a:rPr>
              <a:t>self</a:t>
            </a:r>
            <a:r>
              <a:rPr sz="1600">
                <a:solidFill>
                  <a:srgbClr val="666666"/>
                </a:solidFill>
                <a:latin typeface="Liberation Mono"/>
              </a:rPr>
              <a:t>.</a:t>
            </a:r>
            <a:r>
              <a:rPr sz="1600">
                <a:solidFill>
                  <a:srgbClr val="202632"/>
                </a:solidFill>
                <a:latin typeface="Liberation Mono"/>
              </a:rPr>
              <a:t>heading</a:t>
            </a:r>
            <a:r>
              <a:rPr sz="1600">
                <a:solidFill>
                  <a:srgbClr val="202632"/>
                </a:solidFill>
                <a:latin typeface="Liberation Mono"/>
              </a:rPr>
              <a:t> </a:t>
            </a:r>
            <a:r>
              <a:rPr sz="1600">
                <a:solidFill>
                  <a:srgbClr val="666666"/>
                </a:solidFill>
                <a:latin typeface="Liberation Mono"/>
              </a:rPr>
              <a:t>-</a:t>
            </a:r>
            <a:r>
              <a:rPr sz="1600">
                <a:solidFill>
                  <a:srgbClr val="202632"/>
                </a:solidFill>
                <a:latin typeface="Liberation Mono"/>
              </a:rPr>
              <a:t> </a:t>
            </a:r>
            <a:r>
              <a:rPr sz="1600">
                <a:solidFill>
                  <a:srgbClr val="202632"/>
                </a:solidFill>
                <a:latin typeface="Liberation Mono"/>
              </a:rPr>
              <a:t>final_heading</a:t>
            </a:r>
            <a:r>
              <a:rPr sz="1600">
                <a:solidFill>
                  <a:srgbClr val="202632"/>
                </a:solidFill>
                <a:latin typeface="Liberation Mono"/>
              </a:rPr>
              <a:t>)</a:t>
            </a:r>
            <a:r>
              <a:rPr sz="1600">
                <a:solidFill>
                  <a:srgbClr val="666666"/>
                </a:solidFill>
                <a:latin typeface="Liberation Mono"/>
              </a:rPr>
              <a:t>*</a:t>
            </a:r>
            <a:r>
              <a:rPr sz="1600">
                <a:solidFill>
                  <a:srgbClr val="666666"/>
                </a:solidFill>
                <a:latin typeface="Liberation Mono"/>
              </a:rPr>
              <a:t>*</a:t>
            </a:r>
            <a:r>
              <a:rPr sz="1600">
                <a:solidFill>
                  <a:srgbClr val="40A070"/>
                </a:solidFill>
                <a:latin typeface="Liberation Mono"/>
              </a:rPr>
              <a:t>2</a:t>
            </a:r>
          </a:p>
          <a:p>
            <a:pPr>
              <a:lnSpc>
                <a:spcPts val="1750"/>
              </a:lnSpc>
              <a:spcBef>
                <a:spcPts val="0"/>
              </a:spcBef>
              <a:spcAft>
                <a:spcPts val="0"/>
              </a:spcAft>
            </a:p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ros2_control: register the adapter and select our class</a:t>
            </a:r>
          </a:p>
        </p:txBody>
      </p:sp>
      <p:sp>
        <p:nvSpPr>
          <p:cNvPr id="208" name="TextBox 207"/>
          <p:cNvSpPr txBox="1"/>
          <p:nvPr/>
        </p:nvSpPr>
        <p:spPr>
          <a:xfrm>
            <a:off x="640080" y="1234440"/>
            <a:ext cx="10972800" cy="320040"/>
          </a:xfrm>
          <a:prstGeom prst="rect">
            <a:avLst/>
          </a:prstGeom>
          <a:noFill/>
        </p:spPr>
        <p:txBody>
          <a:bodyPr wrap="square" lIns="36576" rIns="36576" tIns="0" bIns="0">
            <a:spAutoFit/>
          </a:bodyPr>
          <a:lstStyle/>
          <a:p>
            <a:pPr>
              <a:spcAft>
                <a:spcPts val="300"/>
              </a:spcAft>
            </a:pPr>
            <a:r>
              <a:rPr sz="1800" b="0">
                <a:solidFill>
                  <a:srgbClr val="252B35"/>
                </a:solidFill>
                <a:latin typeface="Roboto"/>
              </a:rPr>
              <a:t>In the launcher, before starting Gazebo / controller_manager:</a:t>
            </a:r>
          </a:p>
        </p:txBody>
      </p:sp>
      <p:sp>
        <p:nvSpPr>
          <p:cNvPr id="209" name="Rectangle 208"/>
          <p:cNvSpPr/>
          <p:nvPr/>
        </p:nvSpPr>
        <p:spPr>
          <a:xfrm>
            <a:off x="640080" y="1737360"/>
            <a:ext cx="10881360" cy="155448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749808" y="1828800"/>
            <a:ext cx="10661904" cy="1417320"/>
          </a:xfrm>
          <a:prstGeom prst="rect">
            <a:avLst/>
          </a:prstGeom>
          <a:noFill/>
        </p:spPr>
        <p:txBody>
          <a:bodyPr wrap="square" lIns="0" rIns="0" tIns="0" bIns="0">
            <a:spAutoFit/>
          </a:bodyPr>
          <a:lstStyle/>
          <a:p>
            <a:pPr>
              <a:lnSpc>
                <a:spcPts val="1650"/>
              </a:lnSpc>
              <a:spcBef>
                <a:spcPts val="0"/>
              </a:spcBef>
              <a:spcAft>
                <a:spcPts val="0"/>
              </a:spcAft>
            </a:pPr>
            <a:r>
              <a:rPr sz="1500">
                <a:solidFill>
                  <a:srgbClr val="007020"/>
                </a:solidFill>
                <a:latin typeface="Liberation Mono"/>
              </a:rPr>
              <a:t>import</a:t>
            </a:r>
            <a:r>
              <a:rPr sz="1500">
                <a:solidFill>
                  <a:srgbClr val="BBBBBB"/>
                </a:solidFill>
                <a:latin typeface="Liberation Mono"/>
              </a:rPr>
              <a:t> </a:t>
            </a:r>
            <a:r>
              <a:rPr sz="1500">
                <a:solidFill>
                  <a:srgbClr val="0E84B5"/>
                </a:solidFill>
                <a:latin typeface="Liberation Mono"/>
              </a:rPr>
              <a:t>os</a:t>
            </a:r>
          </a:p>
          <a:p>
            <a:pPr>
              <a:lnSpc>
                <a:spcPts val="1650"/>
              </a:lnSpc>
              <a:spcBef>
                <a:spcPts val="0"/>
              </a:spcBef>
              <a:spcAft>
                <a:spcPts val="0"/>
              </a:spcAft>
            </a:pPr>
            <a:r>
              <a:rPr sz="1500">
                <a:solidFill>
                  <a:srgbClr val="007020"/>
                </a:solidFill>
                <a:latin typeface="Liberation Mono"/>
              </a:rPr>
              <a:t>from</a:t>
            </a:r>
            <a:r>
              <a:rPr sz="1500">
                <a:solidFill>
                  <a:srgbClr val="BBBBBB"/>
                </a:solidFill>
                <a:latin typeface="Liberation Mono"/>
              </a:rPr>
              <a:t> </a:t>
            </a:r>
            <a:r>
              <a:rPr sz="1500">
                <a:solidFill>
                  <a:srgbClr val="0E84B5"/>
                </a:solidFill>
                <a:latin typeface="Liberation Mono"/>
              </a:rPr>
              <a:t>control_kit</a:t>
            </a:r>
            <a:r>
              <a:rPr sz="1500">
                <a:solidFill>
                  <a:srgbClr val="0E84B5"/>
                </a:solidFill>
                <a:latin typeface="Liberation Mono"/>
              </a:rPr>
              <a:t>.</a:t>
            </a:r>
            <a:r>
              <a:rPr sz="1500">
                <a:solidFill>
                  <a:srgbClr val="0E84B5"/>
                </a:solidFill>
                <a:latin typeface="Liberation Mono"/>
              </a:rPr>
              <a:t>python_control</a:t>
            </a:r>
            <a:r>
              <a:rPr sz="1500">
                <a:solidFill>
                  <a:srgbClr val="BBBBBB"/>
                </a:solidFill>
                <a:latin typeface="Liberation Mono"/>
              </a:rPr>
              <a:t> </a:t>
            </a:r>
            <a:r>
              <a:rPr sz="1500">
                <a:solidFill>
                  <a:srgbClr val="007020"/>
                </a:solidFill>
                <a:latin typeface="Liberation Mono"/>
              </a:rPr>
              <a:t>import</a:t>
            </a:r>
            <a:r>
              <a:rPr sz="1500">
                <a:solidFill>
                  <a:srgbClr val="202632"/>
                </a:solidFill>
                <a:latin typeface="Liberation Mono"/>
              </a:rPr>
              <a:t> </a:t>
            </a:r>
            <a:r>
              <a:rPr sz="1500">
                <a:solidFill>
                  <a:srgbClr val="202632"/>
                </a:solidFill>
                <a:latin typeface="Liberation Mono"/>
              </a:rPr>
              <a:t>install_python_controller_plugin</a:t>
            </a:r>
          </a:p>
          <a:p>
            <a:pPr>
              <a:lnSpc>
                <a:spcPts val="1650"/>
              </a:lnSpc>
              <a:spcBef>
                <a:spcPts val="0"/>
              </a:spcBef>
              <a:spcAft>
                <a:spcPts val="0"/>
              </a:spcAft>
            </a:pPr>
          </a:p>
          <a:p>
            <a:pPr>
              <a:lnSpc>
                <a:spcPts val="1650"/>
              </a:lnSpc>
              <a:spcBef>
                <a:spcPts val="0"/>
              </a:spcBef>
              <a:spcAft>
                <a:spcPts val="0"/>
              </a:spcAft>
            </a:pP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install_python_controller_plugin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./plugin_overlay</a:t>
            </a:r>
            <a:r>
              <a:rPr sz="1500">
                <a:solidFill>
                  <a:srgbClr val="4070A0"/>
                </a:solidFill>
                <a:latin typeface="Liberation Mono"/>
              </a:rPr>
              <a:t>"</a:t>
            </a:r>
            <a:r>
              <a:rPr sz="1500">
                <a:solidFill>
                  <a:srgbClr val="202632"/>
                </a:solidFill>
                <a:latin typeface="Liberation Mono"/>
              </a:rPr>
              <a:t>)</a:t>
            </a:r>
          </a:p>
          <a:p>
            <a:pPr>
              <a:lnSpc>
                <a:spcPts val="1650"/>
              </a:lnSpc>
              <a:spcBef>
                <a:spcPts val="0"/>
              </a:spcBef>
              <a:spcAft>
                <a:spcPts val="0"/>
              </a:spcAft>
            </a:pP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prefix</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4070A0"/>
                </a:solidFill>
                <a:latin typeface="Liberation Mono"/>
              </a:rPr>
              <a:t>"</a:t>
            </a:r>
            <a:r>
              <a:rPr sz="1500">
                <a:solidFill>
                  <a:srgbClr val="4070A0"/>
                </a:solidFill>
                <a:latin typeface="Liberation Mono"/>
              </a:rPr>
              <a:t>:</a:t>
            </a:r>
            <a:r>
              <a:rPr sz="1500">
                <a:solidFill>
                  <a:srgbClr val="4070A0"/>
                </a:solidFill>
                <a:latin typeface="Liberation Mono"/>
              </a:rPr>
              <a:t>"</a:t>
            </a:r>
            <a:r>
              <a:rPr sz="1500">
                <a:solidFill>
                  <a:srgbClr val="202632"/>
                </a:solidFill>
                <a:latin typeface="Liberation Mono"/>
              </a:rPr>
              <a:t> </a:t>
            </a:r>
            <a:r>
              <a:rPr sz="1500">
                <a:solidFill>
                  <a:srgbClr val="666666"/>
                </a:solidFill>
                <a:latin typeface="Liberation Mono"/>
              </a:rPr>
              <a:t>+</a:t>
            </a:r>
            <a:r>
              <a:rPr sz="1500">
                <a:solidFill>
                  <a:srgbClr val="202632"/>
                </a:solidFill>
                <a:latin typeface="Liberation Mono"/>
              </a:rPr>
              <a:t> </a:t>
            </a:r>
            <a:r>
              <a:rPr sz="1500">
                <a:solidFill>
                  <a:srgbClr val="202632"/>
                </a:solidFill>
                <a:latin typeface="Liberation Mono"/>
              </a:rPr>
              <a:t>os</a:t>
            </a:r>
            <a:r>
              <a:rPr sz="1500">
                <a:solidFill>
                  <a:srgbClr val="666666"/>
                </a:solidFill>
                <a:latin typeface="Liberation Mono"/>
              </a:rPr>
              <a:t>.</a:t>
            </a:r>
            <a:r>
              <a:rPr sz="1500">
                <a:solidFill>
                  <a:srgbClr val="202632"/>
                </a:solidFill>
                <a:latin typeface="Liberation Mono"/>
              </a:rPr>
              <a:t>environ</a:t>
            </a:r>
            <a:r>
              <a:rPr sz="1500">
                <a:solidFill>
                  <a:srgbClr val="202632"/>
                </a:solidFill>
                <a:latin typeface="Liberation Mono"/>
              </a:rPr>
              <a:t>[</a:t>
            </a:r>
            <a:r>
              <a:rPr sz="1500">
                <a:solidFill>
                  <a:srgbClr val="4070A0"/>
                </a:solidFill>
                <a:latin typeface="Liberation Mono"/>
              </a:rPr>
              <a:t>"</a:t>
            </a:r>
            <a:r>
              <a:rPr sz="1500">
                <a:solidFill>
                  <a:srgbClr val="4070A0"/>
                </a:solidFill>
                <a:latin typeface="Liberation Mono"/>
              </a:rPr>
              <a:t>AMENT_PREFIX_PATH</a:t>
            </a:r>
            <a:r>
              <a:rPr sz="1500">
                <a:solidFill>
                  <a:srgbClr val="4070A0"/>
                </a:solidFill>
                <a:latin typeface="Liberation Mono"/>
              </a:rPr>
              <a:t>"</a:t>
            </a:r>
            <a:r>
              <a:rPr sz="1500">
                <a:solidFill>
                  <a:srgbClr val="202632"/>
                </a:solidFill>
                <a:latin typeface="Liberation Mono"/>
              </a:rPr>
              <a:t>]</a:t>
            </a:r>
          </a:p>
          <a:p>
            <a:pPr>
              <a:lnSpc>
                <a:spcPts val="1650"/>
              </a:lnSpc>
              <a:spcBef>
                <a:spcPts val="0"/>
              </a:spcBef>
              <a:spcAft>
                <a:spcPts val="0"/>
              </a:spcAft>
            </a:pPr>
          </a:p>
        </p:txBody>
      </p:sp>
      <p:sp>
        <p:nvSpPr>
          <p:cNvPr id="211" name="TextBox 210"/>
          <p:cNvSpPr txBox="1"/>
          <p:nvPr/>
        </p:nvSpPr>
        <p:spPr>
          <a:xfrm>
            <a:off x="640080" y="3474720"/>
            <a:ext cx="10972800" cy="320040"/>
          </a:xfrm>
          <a:prstGeom prst="rect">
            <a:avLst/>
          </a:prstGeom>
          <a:noFill/>
        </p:spPr>
        <p:txBody>
          <a:bodyPr wrap="square" lIns="36576" rIns="36576" tIns="0" bIns="0">
            <a:spAutoFit/>
          </a:bodyPr>
          <a:lstStyle/>
          <a:p>
            <a:pPr>
              <a:spcAft>
                <a:spcPts val="300"/>
              </a:spcAft>
            </a:pPr>
            <a:r>
              <a:rPr sz="1800" b="0">
                <a:solidFill>
                  <a:srgbClr val="252B35"/>
                </a:solidFill>
                <a:latin typeface="Roboto"/>
              </a:rPr>
              <a:t>Controller parameters (hold.yaml):</a:t>
            </a:r>
          </a:p>
        </p:txBody>
      </p:sp>
      <p:sp>
        <p:nvSpPr>
          <p:cNvPr id="212" name="Rectangle 211"/>
          <p:cNvSpPr/>
          <p:nvPr/>
        </p:nvSpPr>
        <p:spPr>
          <a:xfrm>
            <a:off x="640080" y="3931920"/>
            <a:ext cx="10881360" cy="242316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749808" y="4023359"/>
            <a:ext cx="10661904" cy="2286000"/>
          </a:xfrm>
          <a:prstGeom prst="rect">
            <a:avLst/>
          </a:prstGeom>
          <a:noFill/>
        </p:spPr>
        <p:txBody>
          <a:bodyPr wrap="square" lIns="0" rIns="0" tIns="0" bIns="0">
            <a:spAutoFit/>
          </a:bodyPr>
          <a:lstStyle/>
          <a:p>
            <a:pPr>
              <a:lnSpc>
                <a:spcPts val="1750"/>
              </a:lnSpc>
              <a:spcBef>
                <a:spcPts val="0"/>
              </a:spcBef>
              <a:spcAft>
                <a:spcPts val="0"/>
              </a:spcAft>
            </a:pPr>
            <a:r>
              <a:rPr sz="1600">
                <a:solidFill>
                  <a:srgbClr val="062873"/>
                </a:solidFill>
                <a:latin typeface="Liberation Mono"/>
              </a:rPr>
              <a:t>hold</a:t>
            </a:r>
            <a:r>
              <a:rPr sz="1600">
                <a:solidFill>
                  <a:srgbClr val="202632"/>
                </a:solidFill>
                <a:latin typeface="Liberation Mono"/>
              </a:rPr>
              <a:t>:</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ros__parameters</a:t>
            </a:r>
            <a:r>
              <a:rPr sz="1600">
                <a:solidFill>
                  <a:srgbClr val="202632"/>
                </a:solidFill>
                <a:latin typeface="Liberation Mono"/>
              </a:rPr>
              <a:t>:</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type</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control_kit_python/PythonController</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joints</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a:t>
            </a:r>
            <a:r>
              <a:rPr sz="1600">
                <a:solidFill>
                  <a:srgbClr val="BB60D5"/>
                </a:solidFill>
                <a:latin typeface="Liberation Mono"/>
              </a:rPr>
              <a:t>joint_1</a:t>
            </a:r>
            <a:r>
              <a:rPr sz="1600">
                <a:solidFill>
                  <a:srgbClr val="202632"/>
                </a:solidFill>
                <a:latin typeface="Liberation Mono"/>
              </a:rPr>
              <a:t>,</a:t>
            </a:r>
            <a:r>
              <a:rPr sz="1600">
                <a:solidFill>
                  <a:srgbClr val="BBBBBB"/>
                </a:solidFill>
                <a:latin typeface="Liberation Mono"/>
              </a:rPr>
              <a:t> </a:t>
            </a:r>
            <a:r>
              <a:rPr sz="1600">
                <a:solidFill>
                  <a:srgbClr val="BB60D5"/>
                </a:solidFill>
                <a:latin typeface="Liberation Mono"/>
              </a:rPr>
              <a:t>joint_2</a:t>
            </a:r>
            <a:r>
              <a:rPr sz="1600">
                <a:solidFill>
                  <a:srgbClr val="202632"/>
                </a:solidFill>
                <a:latin typeface="Liberation Mono"/>
              </a:rPr>
              <a:t>]</a:t>
            </a:r>
            <a:r>
              <a:rPr sz="1600">
                <a:solidFill>
                  <a:srgbClr val="BBBBBB"/>
                </a:solidFill>
                <a:latin typeface="Liberation Mono"/>
              </a:rPr>
              <a:t>  </a:t>
            </a:r>
            <a:r>
              <a:rPr sz="1600">
                <a:solidFill>
                  <a:srgbClr val="60A0B0"/>
                </a:solidFill>
                <a:latin typeface="Liberation Mono"/>
              </a:rPr>
              <a:t># Your position-controlled joints.</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python_module</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hold_position</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python_class</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HoldPosition</a:t>
            </a:r>
          </a:p>
          <a:p>
            <a:pPr>
              <a:lnSpc>
                <a:spcPts val="1750"/>
              </a:lnSpc>
              <a:spcBef>
                <a:spcPts val="0"/>
              </a:spcBef>
              <a:spcAft>
                <a:spcPts val="0"/>
              </a:spcAft>
            </a:pPr>
            <a:r>
              <a:rPr sz="1600">
                <a:solidFill>
                  <a:srgbClr val="BBBBBB"/>
                </a:solidFill>
                <a:latin typeface="Liberation Mono"/>
              </a:rPr>
              <a:t>    </a:t>
            </a:r>
            <a:r>
              <a:rPr sz="1600">
                <a:solidFill>
                  <a:srgbClr val="062873"/>
                </a:solidFill>
                <a:latin typeface="Liberation Mono"/>
              </a:rPr>
              <a:t>python_path</a:t>
            </a:r>
            <a:r>
              <a:rPr sz="1600">
                <a:solidFill>
                  <a:srgbClr val="202632"/>
                </a:solidFill>
                <a:latin typeface="Liberation Mono"/>
              </a:rPr>
              <a:t>:</a:t>
            </a:r>
            <a:r>
              <a:rPr sz="1600">
                <a:solidFill>
                  <a:srgbClr val="BBBBBB"/>
                </a:solidFill>
                <a:latin typeface="Liberation Mono"/>
              </a:rPr>
              <a:t> </a:t>
            </a:r>
            <a:r>
              <a:rPr sz="1600">
                <a:solidFill>
                  <a:srgbClr val="202632"/>
                </a:solidFill>
                <a:latin typeface="Liberation Mono"/>
              </a:rPr>
              <a:t>/absolute/path/to/your/controller</a:t>
            </a:r>
          </a:p>
          <a:p>
            <a:pPr>
              <a:lnSpc>
                <a:spcPts val="1750"/>
              </a:lnSpc>
              <a:spcBef>
                <a:spcPts val="0"/>
              </a:spcBef>
              <a:spcAft>
                <a:spcPts val="0"/>
              </a:spcAft>
            </a:p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ros2_control: a complete Python controller</a:t>
            </a:r>
          </a:p>
        </p:txBody>
      </p:sp>
      <p:sp>
        <p:nvSpPr>
          <p:cNvPr id="208" name="Rectangle 207"/>
          <p:cNvSpPr/>
          <p:nvPr/>
        </p:nvSpPr>
        <p:spPr>
          <a:xfrm>
            <a:off x="640080" y="1371600"/>
            <a:ext cx="10881360" cy="406908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49808" y="1463040"/>
            <a:ext cx="10661904" cy="3931920"/>
          </a:xfrm>
          <a:prstGeom prst="rect">
            <a:avLst/>
          </a:prstGeom>
          <a:noFill/>
        </p:spPr>
        <p:txBody>
          <a:bodyPr wrap="square" lIns="0" rIns="0" tIns="0" bIns="0">
            <a:spAutoFit/>
          </a:bodyPr>
          <a:lstStyle/>
          <a:p>
            <a:pPr>
              <a:lnSpc>
                <a:spcPts val="2050"/>
              </a:lnSpc>
              <a:spcBef>
                <a:spcPts val="0"/>
              </a:spcBef>
              <a:spcAft>
                <a:spcPts val="0"/>
              </a:spcAft>
            </a:pPr>
            <a:r>
              <a:rPr sz="1900">
                <a:solidFill>
                  <a:srgbClr val="007020"/>
                </a:solidFill>
                <a:latin typeface="Liberation Mono"/>
              </a:rPr>
              <a:t>class</a:t>
            </a:r>
            <a:r>
              <a:rPr sz="1900">
                <a:solidFill>
                  <a:srgbClr val="BBBBBB"/>
                </a:solidFill>
                <a:latin typeface="Liberation Mono"/>
              </a:rPr>
              <a:t> </a:t>
            </a:r>
            <a:r>
              <a:rPr sz="1900">
                <a:solidFill>
                  <a:srgbClr val="0E84B5"/>
                </a:solidFill>
                <a:latin typeface="Liberation Mono"/>
              </a:rPr>
              <a:t>HoldPosition</a:t>
            </a:r>
            <a:r>
              <a:rPr sz="1900">
                <a:solidFill>
                  <a:srgbClr val="202632"/>
                </a:solidFill>
                <a:latin typeface="Liberation Mono"/>
              </a:rPr>
              <a:t>:</a:t>
            </a: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def</a:t>
            </a:r>
            <a:r>
              <a:rPr sz="1900">
                <a:solidFill>
                  <a:srgbClr val="BBBBBB"/>
                </a:solidFill>
                <a:latin typeface="Liberation Mono"/>
              </a:rPr>
              <a:t> </a:t>
            </a:r>
            <a:r>
              <a:rPr sz="1900">
                <a:solidFill>
                  <a:srgbClr val="06287E"/>
                </a:solidFill>
                <a:latin typeface="Liberation Mono"/>
              </a:rPr>
              <a:t>configure</a:t>
            </a:r>
            <a:r>
              <a:rPr sz="1900">
                <a:solidFill>
                  <a:srgbClr val="202632"/>
                </a:solidFill>
                <a:latin typeface="Liberation Mono"/>
              </a:rPr>
              <a:t>(</a:t>
            </a:r>
            <a:r>
              <a:rPr sz="1900">
                <a:solidFill>
                  <a:srgbClr val="007020"/>
                </a:solidFill>
                <a:latin typeface="Liberation Mono"/>
              </a:rPr>
              <a:t>self</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joints</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options</a:t>
            </a:r>
            <a:r>
              <a:rPr sz="1900">
                <a:solidFill>
                  <a:srgbClr val="202632"/>
                </a:solidFill>
                <a:latin typeface="Liberation Mono"/>
              </a:rPr>
              <a:t>)</a:t>
            </a:r>
            <a:r>
              <a:rPr sz="1900">
                <a:solidFill>
                  <a:srgbClr val="202632"/>
                </a:solidFill>
                <a:latin typeface="Liberation Mono"/>
              </a:rPr>
              <a:t>:</a:t>
            </a: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pass</a:t>
            </a:r>
          </a:p>
          <a:p>
            <a:pPr>
              <a:lnSpc>
                <a:spcPts val="2050"/>
              </a:lnSpc>
              <a:spcBef>
                <a:spcPts val="0"/>
              </a:spcBef>
              <a:spcAft>
                <a:spcPts val="0"/>
              </a:spcAft>
            </a:pP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def</a:t>
            </a:r>
            <a:r>
              <a:rPr sz="1900">
                <a:solidFill>
                  <a:srgbClr val="BBBBBB"/>
                </a:solidFill>
                <a:latin typeface="Liberation Mono"/>
              </a:rPr>
              <a:t> </a:t>
            </a:r>
            <a:r>
              <a:rPr sz="1900">
                <a:solidFill>
                  <a:srgbClr val="06287E"/>
                </a:solidFill>
                <a:latin typeface="Liberation Mono"/>
              </a:rPr>
              <a:t>activate</a:t>
            </a:r>
            <a:r>
              <a:rPr sz="1900">
                <a:solidFill>
                  <a:srgbClr val="202632"/>
                </a:solidFill>
                <a:latin typeface="Liberation Mono"/>
              </a:rPr>
              <a:t>(</a:t>
            </a:r>
            <a:r>
              <a:rPr sz="1900">
                <a:solidFill>
                  <a:srgbClr val="007020"/>
                </a:solidFill>
                <a:latin typeface="Liberation Mono"/>
              </a:rPr>
              <a:t>self</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measured_positions</a:t>
            </a:r>
            <a:r>
              <a:rPr sz="1900">
                <a:solidFill>
                  <a:srgbClr val="202632"/>
                </a:solidFill>
                <a:latin typeface="Liberation Mono"/>
              </a:rPr>
              <a:t>)</a:t>
            </a:r>
            <a:r>
              <a:rPr sz="1900">
                <a:solidFill>
                  <a:srgbClr val="202632"/>
                </a:solidFill>
                <a:latin typeface="Liberation Mono"/>
              </a:rPr>
              <a:t>:</a:t>
            </a: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self</a:t>
            </a:r>
            <a:r>
              <a:rPr sz="1900">
                <a:solidFill>
                  <a:srgbClr val="666666"/>
                </a:solidFill>
                <a:latin typeface="Liberation Mono"/>
              </a:rPr>
              <a:t>.</a:t>
            </a:r>
            <a:r>
              <a:rPr sz="1900">
                <a:solidFill>
                  <a:srgbClr val="202632"/>
                </a:solidFill>
                <a:latin typeface="Liberation Mono"/>
              </a:rPr>
              <a:t>reference</a:t>
            </a:r>
            <a:r>
              <a:rPr sz="1900">
                <a:solidFill>
                  <a:srgbClr val="202632"/>
                </a:solidFill>
                <a:latin typeface="Liberation Mono"/>
              </a:rPr>
              <a:t> </a:t>
            </a:r>
            <a:r>
              <a:rPr sz="1900">
                <a:solidFill>
                  <a:srgbClr val="666666"/>
                </a:solidFill>
                <a:latin typeface="Liberation Mono"/>
              </a:rPr>
              <a:t>=</a:t>
            </a:r>
            <a:r>
              <a:rPr sz="1900">
                <a:solidFill>
                  <a:srgbClr val="202632"/>
                </a:solidFill>
                <a:latin typeface="Liberation Mono"/>
              </a:rPr>
              <a:t> </a:t>
            </a:r>
            <a:r>
              <a:rPr sz="1900">
                <a:solidFill>
                  <a:srgbClr val="007020"/>
                </a:solidFill>
                <a:latin typeface="Liberation Mono"/>
              </a:rPr>
              <a:t>list</a:t>
            </a:r>
            <a:r>
              <a:rPr sz="1900">
                <a:solidFill>
                  <a:srgbClr val="202632"/>
                </a:solidFill>
                <a:latin typeface="Liberation Mono"/>
              </a:rPr>
              <a:t>(</a:t>
            </a:r>
            <a:r>
              <a:rPr sz="1900">
                <a:solidFill>
                  <a:srgbClr val="202632"/>
                </a:solidFill>
                <a:latin typeface="Liberation Mono"/>
              </a:rPr>
              <a:t>measured_positions</a:t>
            </a:r>
            <a:r>
              <a:rPr sz="1900">
                <a:solidFill>
                  <a:srgbClr val="202632"/>
                </a:solidFill>
                <a:latin typeface="Liberation Mono"/>
              </a:rPr>
              <a:t>)</a:t>
            </a:r>
          </a:p>
          <a:p>
            <a:pPr>
              <a:lnSpc>
                <a:spcPts val="2050"/>
              </a:lnSpc>
              <a:spcBef>
                <a:spcPts val="0"/>
              </a:spcBef>
              <a:spcAft>
                <a:spcPts val="0"/>
              </a:spcAft>
            </a:pP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def</a:t>
            </a:r>
            <a:r>
              <a:rPr sz="1900">
                <a:solidFill>
                  <a:srgbClr val="BBBBBB"/>
                </a:solidFill>
                <a:latin typeface="Liberation Mono"/>
              </a:rPr>
              <a:t> </a:t>
            </a:r>
            <a:r>
              <a:rPr sz="1900">
                <a:solidFill>
                  <a:srgbClr val="06287E"/>
                </a:solidFill>
                <a:latin typeface="Liberation Mono"/>
              </a:rPr>
              <a:t>update</a:t>
            </a:r>
            <a:r>
              <a:rPr sz="1900">
                <a:solidFill>
                  <a:srgbClr val="202632"/>
                </a:solidFill>
                <a:latin typeface="Liberation Mono"/>
              </a:rPr>
              <a:t>(</a:t>
            </a:r>
            <a:r>
              <a:rPr sz="1900">
                <a:solidFill>
                  <a:srgbClr val="007020"/>
                </a:solidFill>
                <a:latin typeface="Liberation Mono"/>
              </a:rPr>
              <a:t>self</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measured_positions</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dt</a:t>
            </a:r>
            <a:r>
              <a:rPr sz="1900">
                <a:solidFill>
                  <a:srgbClr val="202632"/>
                </a:solidFill>
                <a:latin typeface="Liberation Mono"/>
              </a:rPr>
              <a:t>)</a:t>
            </a:r>
            <a:r>
              <a:rPr sz="1900">
                <a:solidFill>
                  <a:srgbClr val="202632"/>
                </a:solidFill>
                <a:latin typeface="Liberation Mono"/>
              </a:rPr>
              <a:t>:</a:t>
            </a: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return</a:t>
            </a:r>
            <a:r>
              <a:rPr sz="1900">
                <a:solidFill>
                  <a:srgbClr val="202632"/>
                </a:solidFill>
                <a:latin typeface="Liberation Mono"/>
              </a:rPr>
              <a:t> </a:t>
            </a:r>
            <a:r>
              <a:rPr sz="1900">
                <a:solidFill>
                  <a:srgbClr val="007020"/>
                </a:solidFill>
                <a:latin typeface="Liberation Mono"/>
              </a:rPr>
              <a:t>self</a:t>
            </a:r>
            <a:r>
              <a:rPr sz="1900">
                <a:solidFill>
                  <a:srgbClr val="666666"/>
                </a:solidFill>
                <a:latin typeface="Liberation Mono"/>
              </a:rPr>
              <a:t>.</a:t>
            </a:r>
            <a:r>
              <a:rPr sz="1900">
                <a:solidFill>
                  <a:srgbClr val="202632"/>
                </a:solidFill>
                <a:latin typeface="Liberation Mono"/>
              </a:rPr>
              <a:t>reference</a:t>
            </a:r>
          </a:p>
          <a:p>
            <a:pPr>
              <a:lnSpc>
                <a:spcPts val="2050"/>
              </a:lnSpc>
              <a:spcBef>
                <a:spcPts val="0"/>
              </a:spcBef>
              <a:spcAft>
                <a:spcPts val="0"/>
              </a:spcAft>
            </a:pP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def</a:t>
            </a:r>
            <a:r>
              <a:rPr sz="1900">
                <a:solidFill>
                  <a:srgbClr val="BBBBBB"/>
                </a:solidFill>
                <a:latin typeface="Liberation Mono"/>
              </a:rPr>
              <a:t> </a:t>
            </a:r>
            <a:r>
              <a:rPr sz="1900">
                <a:solidFill>
                  <a:srgbClr val="06287E"/>
                </a:solidFill>
                <a:latin typeface="Liberation Mono"/>
              </a:rPr>
              <a:t>set_target</a:t>
            </a:r>
            <a:r>
              <a:rPr sz="1900">
                <a:solidFill>
                  <a:srgbClr val="202632"/>
                </a:solidFill>
                <a:latin typeface="Liberation Mono"/>
              </a:rPr>
              <a:t>(</a:t>
            </a:r>
            <a:r>
              <a:rPr sz="1900">
                <a:solidFill>
                  <a:srgbClr val="007020"/>
                </a:solidFill>
                <a:latin typeface="Liberation Mono"/>
              </a:rPr>
              <a:t>self</a:t>
            </a:r>
            <a:r>
              <a:rPr sz="1900">
                <a:solidFill>
                  <a:srgbClr val="202632"/>
                </a:solidFill>
                <a:latin typeface="Liberation Mono"/>
              </a:rPr>
              <a:t>,</a:t>
            </a:r>
            <a:r>
              <a:rPr sz="1900">
                <a:solidFill>
                  <a:srgbClr val="202632"/>
                </a:solidFill>
                <a:latin typeface="Liberation Mono"/>
              </a:rPr>
              <a:t> </a:t>
            </a:r>
            <a:r>
              <a:rPr sz="1900">
                <a:solidFill>
                  <a:srgbClr val="202632"/>
                </a:solidFill>
                <a:latin typeface="Liberation Mono"/>
              </a:rPr>
              <a:t>values</a:t>
            </a:r>
            <a:r>
              <a:rPr sz="1900">
                <a:solidFill>
                  <a:srgbClr val="202632"/>
                </a:solidFill>
                <a:latin typeface="Liberation Mono"/>
              </a:rPr>
              <a:t>)</a:t>
            </a:r>
            <a:r>
              <a:rPr sz="1900">
                <a:solidFill>
                  <a:srgbClr val="202632"/>
                </a:solidFill>
                <a:latin typeface="Liberation Mono"/>
              </a:rPr>
              <a:t>:</a:t>
            </a:r>
          </a:p>
          <a:p>
            <a:pPr>
              <a:lnSpc>
                <a:spcPts val="2050"/>
              </a:lnSpc>
              <a:spcBef>
                <a:spcPts val="0"/>
              </a:spcBef>
              <a:spcAft>
                <a:spcPts val="0"/>
              </a:spcAft>
            </a:pPr>
            <a:r>
              <a:rPr sz="1900">
                <a:solidFill>
                  <a:srgbClr val="202632"/>
                </a:solidFill>
                <a:latin typeface="Liberation Mono"/>
              </a:rPr>
              <a:t>        </a:t>
            </a:r>
            <a:r>
              <a:rPr sz="1900">
                <a:solidFill>
                  <a:srgbClr val="007020"/>
                </a:solidFill>
                <a:latin typeface="Liberation Mono"/>
              </a:rPr>
              <a:t>return</a:t>
            </a:r>
            <a:r>
              <a:rPr sz="1900">
                <a:solidFill>
                  <a:srgbClr val="202632"/>
                </a:solidFill>
                <a:latin typeface="Liberation Mono"/>
              </a:rPr>
              <a:t> </a:t>
            </a:r>
            <a:r>
              <a:rPr sz="1900">
                <a:solidFill>
                  <a:srgbClr val="007020"/>
                </a:solidFill>
                <a:latin typeface="Liberation Mono"/>
              </a:rPr>
              <a:t>False</a:t>
            </a:r>
            <a:r>
              <a:rPr sz="1900">
                <a:solidFill>
                  <a:srgbClr val="202632"/>
                </a:solidFill>
                <a:latin typeface="Liberation Mono"/>
              </a:rPr>
              <a:t>  </a:t>
            </a:r>
            <a:r>
              <a:rPr sz="1900">
                <a:solidFill>
                  <a:srgbClr val="60A0B0"/>
                </a:solidFill>
                <a:latin typeface="Liberation Mono"/>
              </a:rPr>
              <a:t># This example holds its activation pose.</a:t>
            </a:r>
          </a:p>
          <a:p>
            <a:pPr>
              <a:lnSpc>
                <a:spcPts val="2050"/>
              </a:lnSpc>
              <a:spcBef>
                <a:spcPts val="0"/>
              </a:spcBef>
              <a:spcAft>
                <a:spcPts val="0"/>
              </a:spcAft>
            </a:pPr>
          </a:p>
        </p:txBody>
      </p:sp>
      <p:sp>
        <p:nvSpPr>
          <p:cNvPr id="210" name="TextBox 209"/>
          <p:cNvSpPr txBox="1"/>
          <p:nvPr/>
        </p:nvSpPr>
        <p:spPr>
          <a:xfrm>
            <a:off x="640080" y="5577840"/>
            <a:ext cx="10972800" cy="320040"/>
          </a:xfrm>
          <a:prstGeom prst="rect">
            <a:avLst/>
          </a:prstGeom>
          <a:noFill/>
        </p:spPr>
        <p:txBody>
          <a:bodyPr wrap="square" lIns="36576" rIns="36576" tIns="0" bIns="0">
            <a:spAutoFit/>
          </a:bodyPr>
          <a:lstStyle/>
          <a:p>
            <a:pPr>
              <a:spcAft>
                <a:spcPts val="300"/>
              </a:spcAft>
            </a:pPr>
            <a:r>
              <a:rPr sz="1700" b="0">
                <a:solidFill>
                  <a:srgbClr val="252B35"/>
                </a:solidFill>
                <a:latin typeface="Roboto"/>
              </a:rPr>
              <a:t>Load and activate through the standard controller manager:</a:t>
            </a:r>
          </a:p>
        </p:txBody>
      </p:sp>
      <p:sp>
        <p:nvSpPr>
          <p:cNvPr id="211" name="Rectangle 210"/>
          <p:cNvSpPr/>
          <p:nvPr/>
        </p:nvSpPr>
        <p:spPr>
          <a:xfrm>
            <a:off x="640080" y="5989320"/>
            <a:ext cx="10881360" cy="59436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749808" y="6080759"/>
            <a:ext cx="10661904" cy="457200"/>
          </a:xfrm>
          <a:prstGeom prst="rect">
            <a:avLst/>
          </a:prstGeom>
          <a:noFill/>
        </p:spPr>
        <p:txBody>
          <a:bodyPr wrap="square" lIns="0" rIns="0" tIns="0" bIns="0">
            <a:spAutoFit/>
          </a:bodyPr>
          <a:lstStyle/>
          <a:p>
            <a:pPr>
              <a:lnSpc>
                <a:spcPts val="1750"/>
              </a:lnSpc>
              <a:spcBef>
                <a:spcPts val="0"/>
              </a:spcBef>
              <a:spcAft>
                <a:spcPts val="0"/>
              </a:spcAft>
            </a:pPr>
            <a:r>
              <a:rPr sz="1600">
                <a:solidFill>
                  <a:srgbClr val="202632"/>
                </a:solidFill>
                <a:latin typeface="Liberation Mono"/>
              </a:rPr>
              <a:t>ros2</a:t>
            </a:r>
            <a:r>
              <a:rPr sz="1600">
                <a:solidFill>
                  <a:srgbClr val="BBBBBB"/>
                </a:solidFill>
                <a:latin typeface="Liberation Mono"/>
              </a:rPr>
              <a:t> </a:t>
            </a:r>
            <a:r>
              <a:rPr sz="1600">
                <a:solidFill>
                  <a:srgbClr val="202632"/>
                </a:solidFill>
                <a:latin typeface="Liberation Mono"/>
              </a:rPr>
              <a:t>run</a:t>
            </a:r>
            <a:r>
              <a:rPr sz="1600">
                <a:solidFill>
                  <a:srgbClr val="BBBBBB"/>
                </a:solidFill>
                <a:latin typeface="Liberation Mono"/>
              </a:rPr>
              <a:t> </a:t>
            </a:r>
            <a:r>
              <a:rPr sz="1600">
                <a:solidFill>
                  <a:srgbClr val="202632"/>
                </a:solidFill>
                <a:latin typeface="Liberation Mono"/>
              </a:rPr>
              <a:t>controller_manager</a:t>
            </a:r>
            <a:r>
              <a:rPr sz="1600">
                <a:solidFill>
                  <a:srgbClr val="BBBBBB"/>
                </a:solidFill>
                <a:latin typeface="Liberation Mono"/>
              </a:rPr>
              <a:t> </a:t>
            </a:r>
            <a:r>
              <a:rPr sz="1600">
                <a:solidFill>
                  <a:srgbClr val="202632"/>
                </a:solidFill>
                <a:latin typeface="Liberation Mono"/>
              </a:rPr>
              <a:t>spawner</a:t>
            </a:r>
            <a:r>
              <a:rPr sz="1600">
                <a:solidFill>
                  <a:srgbClr val="BBBBBB"/>
                </a:solidFill>
                <a:latin typeface="Liberation Mono"/>
              </a:rPr>
              <a:t> </a:t>
            </a:r>
            <a:r>
              <a:rPr sz="1600">
                <a:solidFill>
                  <a:srgbClr val="202632"/>
                </a:solidFill>
                <a:latin typeface="Liberation Mono"/>
              </a:rPr>
              <a:t>hold</a:t>
            </a:r>
            <a:r>
              <a:rPr sz="1600">
                <a:solidFill>
                  <a:srgbClr val="BBBBBB"/>
                </a:solidFill>
                <a:latin typeface="Liberation Mono"/>
              </a:rPr>
              <a:t> </a:t>
            </a:r>
            <a:r>
              <a:rPr sz="1600">
                <a:solidFill>
                  <a:srgbClr val="202632"/>
                </a:solidFill>
                <a:latin typeface="Liberation Mono"/>
              </a:rPr>
              <a:t>-p</a:t>
            </a:r>
            <a:r>
              <a:rPr sz="1600">
                <a:solidFill>
                  <a:srgbClr val="BBBBBB"/>
                </a:solidFill>
                <a:latin typeface="Liberation Mono"/>
              </a:rPr>
              <a:t> </a:t>
            </a:r>
            <a:r>
              <a:rPr sz="1600">
                <a:solidFill>
                  <a:srgbClr val="202632"/>
                </a:solidFill>
                <a:latin typeface="Liberation Mono"/>
              </a:rPr>
              <a:t>hold.yaml</a:t>
            </a:r>
          </a:p>
          <a:p>
            <a:pPr>
              <a:lnSpc>
                <a:spcPts val="1750"/>
              </a:lnSpc>
              <a:spcBef>
                <a:spcPts val="0"/>
              </a:spcBef>
              <a:spcAft>
                <a:spcPts val="0"/>
              </a:spcAft>
            </a:p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We can generate code. How do we check the idea?</a:t>
            </a:r>
          </a:p>
        </p:txBody>
      </p:sp>
      <p:sp>
        <p:nvSpPr>
          <p:cNvPr id="208" name="TextBox 207"/>
          <p:cNvSpPr txBox="1"/>
          <p:nvPr/>
        </p:nvSpPr>
        <p:spPr>
          <a:xfrm>
            <a:off x="685800" y="1554480"/>
            <a:ext cx="10698480" cy="914400"/>
          </a:xfrm>
          <a:prstGeom prst="rect">
            <a:avLst/>
          </a:prstGeom>
          <a:noFill/>
        </p:spPr>
        <p:txBody>
          <a:bodyPr wrap="square" lIns="36576" rIns="36576" tIns="0" bIns="0">
            <a:spAutoFit/>
          </a:bodyPr>
          <a:lstStyle/>
          <a:p>
            <a:pPr>
              <a:spcAft>
                <a:spcPts val="300"/>
              </a:spcAft>
            </a:pPr>
            <a:r>
              <a:rPr sz="2700" b="0">
                <a:solidFill>
                  <a:srgbClr val="252B35"/>
                </a:solidFill>
                <a:latin typeface="Roboto"/>
              </a:rPr>
              <a:t>An agent can write the extension and its build files.</a:t>
            </a:r>
          </a:p>
          <a:p>
            <a:pPr>
              <a:spcAft>
                <a:spcPts val="300"/>
              </a:spcAft>
            </a:pPr>
            <a:r>
              <a:rPr sz="2700" b="0">
                <a:solidFill>
                  <a:srgbClr val="252B35"/>
                </a:solidFill>
                <a:latin typeface="Roboto"/>
              </a:rPr>
              <a:t>I want a shorter loop with the actual data.</a:t>
            </a:r>
          </a:p>
        </p:txBody>
      </p:sp>
      <p:sp>
        <p:nvSpPr>
          <p:cNvPr id="209" name="Rounded Rectangle 208"/>
          <p:cNvSpPr/>
          <p:nvPr/>
        </p:nvSpPr>
        <p:spPr>
          <a:xfrm>
            <a:off x="685800" y="3063240"/>
            <a:ext cx="3337560" cy="12801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768096" y="3136392"/>
            <a:ext cx="3172968" cy="1170431"/>
          </a:xfrm>
          <a:prstGeom prst="rect">
            <a:avLst/>
          </a:prstGeom>
          <a:noFill/>
        </p:spPr>
        <p:txBody>
          <a:bodyPr wrap="square" lIns="36576" rIns="36576" tIns="0" bIns="0">
            <a:spAutoFit/>
          </a:bodyPr>
          <a:lstStyle/>
          <a:p>
            <a:pPr>
              <a:spcAft>
                <a:spcPts val="300"/>
              </a:spcAft>
            </a:pPr>
            <a:r>
              <a:rPr sz="2500" b="0">
                <a:solidFill>
                  <a:srgbClr val="252B35"/>
                </a:solidFill>
                <a:latin typeface="Roboto"/>
              </a:rPr>
              <a:t>Ask for a change</a:t>
            </a:r>
          </a:p>
        </p:txBody>
      </p:sp>
      <p:sp>
        <p:nvSpPr>
          <p:cNvPr id="211" name="Rounded Rectangle 210"/>
          <p:cNvSpPr/>
          <p:nvPr/>
        </p:nvSpPr>
        <p:spPr>
          <a:xfrm>
            <a:off x="4434840" y="3063240"/>
            <a:ext cx="3337560" cy="12801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4517136" y="3136392"/>
            <a:ext cx="3172968" cy="1170431"/>
          </a:xfrm>
          <a:prstGeom prst="rect">
            <a:avLst/>
          </a:prstGeom>
          <a:noFill/>
        </p:spPr>
        <p:txBody>
          <a:bodyPr wrap="square" lIns="36576" rIns="36576" tIns="0" bIns="0">
            <a:spAutoFit/>
          </a:bodyPr>
          <a:lstStyle/>
          <a:p>
            <a:pPr>
              <a:spcAft>
                <a:spcPts val="300"/>
              </a:spcAft>
            </a:pPr>
            <a:r>
              <a:rPr sz="2500" b="0">
                <a:solidFill>
                  <a:srgbClr val="252B35"/>
                </a:solidFill>
                <a:latin typeface="Roboto"/>
              </a:rPr>
              <a:t>See it running</a:t>
            </a:r>
          </a:p>
        </p:txBody>
      </p:sp>
      <p:sp>
        <p:nvSpPr>
          <p:cNvPr id="213" name="Rounded Rectangle 212"/>
          <p:cNvSpPr/>
          <p:nvPr/>
        </p:nvSpPr>
        <p:spPr>
          <a:xfrm>
            <a:off x="8183879" y="3063240"/>
            <a:ext cx="3337560" cy="12801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8266175" y="3136392"/>
            <a:ext cx="3172968" cy="1170431"/>
          </a:xfrm>
          <a:prstGeom prst="rect">
            <a:avLst/>
          </a:prstGeom>
          <a:noFill/>
        </p:spPr>
        <p:txBody>
          <a:bodyPr wrap="square" lIns="36576" rIns="36576" tIns="0" bIns="0">
            <a:spAutoFit/>
          </a:bodyPr>
          <a:lstStyle/>
          <a:p>
            <a:pPr>
              <a:spcAft>
                <a:spcPts val="300"/>
              </a:spcAft>
            </a:pPr>
            <a:r>
              <a:rPr sz="2500" b="0">
                <a:solidFill>
                  <a:srgbClr val="252B35"/>
                </a:solidFill>
                <a:latin typeface="Roboto"/>
              </a:rPr>
              <a:t>Check and refine</a:t>
            </a:r>
          </a:p>
        </p:txBody>
      </p:sp>
      <p:cxnSp>
        <p:nvCxnSpPr>
          <p:cNvPr id="215" name="Connector 214"/>
          <p:cNvCxnSpPr/>
          <p:nvPr/>
        </p:nvCxnSpPr>
        <p:spPr>
          <a:xfrm>
            <a:off x="4023360" y="3703320"/>
            <a:ext cx="41148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7772400" y="3703320"/>
            <a:ext cx="411479"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85800" y="5074920"/>
            <a:ext cx="10698480" cy="914400"/>
          </a:xfrm>
          <a:prstGeom prst="rect">
            <a:avLst/>
          </a:prstGeom>
          <a:noFill/>
        </p:spPr>
        <p:txBody>
          <a:bodyPr wrap="square" lIns="36576" rIns="36576" tIns="0" bIns="0">
            <a:spAutoFit/>
          </a:bodyPr>
          <a:lstStyle/>
          <a:p>
            <a:pPr>
              <a:spcAft>
                <a:spcPts val="300"/>
              </a:spcAft>
            </a:pPr>
            <a:r>
              <a:rPr sz="2400" b="0">
                <a:solidFill>
                  <a:srgbClr val="252B35"/>
                </a:solidFill>
                <a:latin typeface="Roboto"/>
              </a:rPr>
              <a:t>Keep the interpreter, camera and models alive.</a:t>
            </a:r>
          </a:p>
          <a:p>
            <a:pPr>
              <a:spcAft>
                <a:spcPts val="300"/>
              </a:spcAft>
            </a:pPr>
            <a:r>
              <a:rPr sz="2400" b="0">
                <a:solidFill>
                  <a:srgbClr val="252B35"/>
                </a:solidFill>
                <a:latin typeface="Roboto"/>
              </a:rPr>
              <a:t>Change the processing while the stream continues.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One live interpreter, two views</a:t>
            </a:r>
          </a:p>
        </p:txBody>
      </p:sp>
      <p:sp>
        <p:nvSpPr>
          <p:cNvPr id="208" name="Rounded Rectangle 207"/>
          <p:cNvSpPr/>
          <p:nvPr/>
        </p:nvSpPr>
        <p:spPr>
          <a:xfrm>
            <a:off x="640080" y="1508760"/>
            <a:ext cx="3749039" cy="10515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22375" y="1581912"/>
            <a:ext cx="3584447" cy="941831"/>
          </a:xfrm>
          <a:prstGeom prst="rect">
            <a:avLst/>
          </a:prstGeom>
          <a:noFill/>
        </p:spPr>
        <p:txBody>
          <a:bodyPr wrap="square" lIns="36576" rIns="36576" tIns="0" bIns="0">
            <a:spAutoFit/>
          </a:bodyPr>
          <a:lstStyle/>
          <a:p>
            <a:pPr>
              <a:spcAft>
                <a:spcPts val="300"/>
              </a:spcAft>
            </a:pPr>
            <a:r>
              <a:rPr sz="2100" b="0">
                <a:solidFill>
                  <a:srgbClr val="252B35"/>
                </a:solidFill>
                <a:latin typeface="Roboto"/>
              </a:rPr>
              <a:t>LEFT: agent terminal</a:t>
            </a:r>
          </a:p>
          <a:p>
            <a:pPr>
              <a:spcAft>
                <a:spcPts val="300"/>
              </a:spcAft>
            </a:pPr>
            <a:r>
              <a:rPr sz="2100" b="0">
                <a:solidFill>
                  <a:srgbClr val="252B35"/>
                </a:solidFill>
                <a:latin typeface="Roboto"/>
              </a:rPr>
              <a:t>Inspect state; edit processing cells</a:t>
            </a:r>
          </a:p>
        </p:txBody>
      </p:sp>
      <p:sp>
        <p:nvSpPr>
          <p:cNvPr id="210" name="Rounded Rectangle 209"/>
          <p:cNvSpPr/>
          <p:nvPr/>
        </p:nvSpPr>
        <p:spPr>
          <a:xfrm>
            <a:off x="7772400" y="1508760"/>
            <a:ext cx="3749039" cy="10515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7854696" y="1581912"/>
            <a:ext cx="3584447" cy="941831"/>
          </a:xfrm>
          <a:prstGeom prst="rect">
            <a:avLst/>
          </a:prstGeom>
          <a:noFill/>
        </p:spPr>
        <p:txBody>
          <a:bodyPr wrap="square" lIns="36576" rIns="36576" tIns="0" bIns="0">
            <a:spAutoFit/>
          </a:bodyPr>
          <a:lstStyle/>
          <a:p>
            <a:pPr>
              <a:spcAft>
                <a:spcPts val="300"/>
              </a:spcAft>
            </a:pPr>
            <a:r>
              <a:rPr sz="2100" b="0">
                <a:solidFill>
                  <a:srgbClr val="252B35"/>
                </a:solidFill>
                <a:latin typeface="Roboto"/>
              </a:rPr>
              <a:t>RIGHT: Viser viewer</a:t>
            </a:r>
          </a:p>
          <a:p>
            <a:pPr>
              <a:spcAft>
                <a:spcPts val="300"/>
              </a:spcAft>
            </a:pPr>
            <a:r>
              <a:rPr sz="2100" b="0">
                <a:solidFill>
                  <a:srgbClr val="252B35"/>
                </a:solidFill>
                <a:latin typeface="Roboto"/>
              </a:rPr>
              <a:t>Image, results and controls</a:t>
            </a:r>
          </a:p>
        </p:txBody>
      </p:sp>
      <p:sp>
        <p:nvSpPr>
          <p:cNvPr id="212" name="Rounded Rectangle 211"/>
          <p:cNvSpPr/>
          <p:nvPr/>
        </p:nvSpPr>
        <p:spPr>
          <a:xfrm>
            <a:off x="2743200" y="3200400"/>
            <a:ext cx="6675120" cy="19659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2825496" y="3273552"/>
            <a:ext cx="6510528" cy="1856231"/>
          </a:xfrm>
          <a:prstGeom prst="rect">
            <a:avLst/>
          </a:prstGeom>
          <a:noFill/>
        </p:spPr>
        <p:txBody>
          <a:bodyPr wrap="square" lIns="36576" rIns="36576" tIns="0" bIns="0">
            <a:spAutoFit/>
          </a:bodyPr>
          <a:lstStyle/>
          <a:p>
            <a:pPr>
              <a:spcAft>
                <a:spcPts val="300"/>
              </a:spcAft>
            </a:pPr>
            <a:r>
              <a:rPr sz="2200" b="0">
                <a:solidFill>
                  <a:srgbClr val="252B35"/>
                </a:solidFill>
                <a:latin typeface="Roboto"/>
              </a:rPr>
              <a:t>marimo: persistent Python interpreter</a:t>
            </a:r>
          </a:p>
          <a:p>
            <a:pPr>
              <a:spcAft>
                <a:spcPts val="300"/>
              </a:spcAft>
            </a:pPr>
          </a:p>
          <a:p>
            <a:pPr>
              <a:spcAft>
                <a:spcPts val="300"/>
              </a:spcAft>
            </a:pPr>
            <a:r>
              <a:rPr sz="2200" b="0">
                <a:solidFill>
                  <a:srgbClr val="252B35"/>
                </a:solidFill>
                <a:latin typeface="Roboto"/>
              </a:rPr>
              <a:t>Camera + processing state + models added as needed</a:t>
            </a:r>
          </a:p>
          <a:p>
            <a:pPr>
              <a:spcAft>
                <a:spcPts val="300"/>
              </a:spcAft>
            </a:pPr>
            <a:r>
              <a:rPr sz="2200" b="0">
                <a:solidFill>
                  <a:srgbClr val="252B35"/>
                </a:solidFill>
                <a:latin typeface="Roboto"/>
              </a:rPr>
              <a:t>Python processing + cppyy_kit C++ kernels</a:t>
            </a:r>
          </a:p>
        </p:txBody>
      </p:sp>
      <p:cxnSp>
        <p:nvCxnSpPr>
          <p:cNvPr id="214" name="Connector 213"/>
          <p:cNvCxnSpPr/>
          <p:nvPr/>
        </p:nvCxnSpPr>
        <p:spPr>
          <a:xfrm>
            <a:off x="2514600" y="2560320"/>
            <a:ext cx="1234439" cy="64008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8412480" y="2560320"/>
            <a:ext cx="1234440" cy="64008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sp>
        <p:nvSpPr>
          <p:cNvPr id="216" name="TextBox 215"/>
          <p:cNvSpPr txBox="1"/>
          <p:nvPr/>
        </p:nvSpPr>
        <p:spPr>
          <a:xfrm>
            <a:off x="685800" y="5623560"/>
            <a:ext cx="10972800" cy="594360"/>
          </a:xfrm>
          <a:prstGeom prst="rect">
            <a:avLst/>
          </a:prstGeom>
          <a:noFill/>
        </p:spPr>
        <p:txBody>
          <a:bodyPr wrap="square" lIns="36576" rIns="36576" tIns="0" bIns="0">
            <a:spAutoFit/>
          </a:bodyPr>
          <a:lstStyle/>
          <a:p>
            <a:pPr>
              <a:spcAft>
                <a:spcPts val="300"/>
              </a:spcAft>
            </a:pPr>
            <a:r>
              <a:rPr sz="2300" b="0">
                <a:solidFill>
                  <a:srgbClr val="252B35"/>
                </a:solidFill>
                <a:latin typeface="Roboto"/>
              </a:rPr>
              <a:t>Edit processing → inspect the live result → keep the accepted code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Live coding: build it against the webcam</a:t>
            </a:r>
          </a:p>
        </p:txBody>
      </p:sp>
      <p:sp>
        <p:nvSpPr>
          <p:cNvPr id="208" name="Rounded Rectangle 207"/>
          <p:cNvSpPr/>
          <p:nvPr/>
        </p:nvSpPr>
        <p:spPr>
          <a:xfrm>
            <a:off x="640080" y="1508760"/>
            <a:ext cx="5212080" cy="35661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22375" y="1581912"/>
            <a:ext cx="5047488" cy="3456432"/>
          </a:xfrm>
          <a:prstGeom prst="rect">
            <a:avLst/>
          </a:prstGeom>
          <a:noFill/>
        </p:spPr>
        <p:txBody>
          <a:bodyPr wrap="square" lIns="36576" rIns="36576" tIns="0" bIns="0">
            <a:spAutoFit/>
          </a:bodyPr>
          <a:lstStyle/>
          <a:p>
            <a:pPr>
              <a:spcAft>
                <a:spcPts val="300"/>
              </a:spcAft>
            </a:pPr>
            <a:r>
              <a:rPr sz="2000" b="0">
                <a:solidFill>
                  <a:srgbClr val="252B35"/>
                </a:solidFill>
                <a:latin typeface="Roboto"/>
              </a:rPr>
              <a:t>LEFT: AGENT TERMINAL</a:t>
            </a:r>
          </a:p>
        </p:txBody>
      </p:sp>
      <p:sp>
        <p:nvSpPr>
          <p:cNvPr id="210" name="TextBox 209"/>
          <p:cNvSpPr txBox="1"/>
          <p:nvPr/>
        </p:nvSpPr>
        <p:spPr>
          <a:xfrm>
            <a:off x="868680" y="2331720"/>
            <a:ext cx="4754880" cy="2103120"/>
          </a:xfrm>
          <a:prstGeom prst="rect">
            <a:avLst/>
          </a:prstGeom>
          <a:noFill/>
        </p:spPr>
        <p:txBody>
          <a:bodyPr wrap="square" lIns="36576" rIns="36576" tIns="0" bIns="0">
            <a:spAutoFit/>
          </a:bodyPr>
          <a:lstStyle/>
          <a:p>
            <a:pPr>
              <a:spcAft>
                <a:spcPts val="300"/>
              </a:spcAft>
            </a:pPr>
            <a:r>
              <a:rPr sz="2500" b="0">
                <a:solidFill>
                  <a:srgbClr val="252B35"/>
                </a:solidFill>
                <a:latin typeface="Roboto"/>
              </a:rPr>
              <a:t>Choose a task from the scene.</a:t>
            </a:r>
          </a:p>
          <a:p>
            <a:pPr>
              <a:spcAft>
                <a:spcPts val="300"/>
              </a:spcAft>
            </a:pPr>
            <a:r>
              <a:rPr sz="2500" b="0">
                <a:solidFill>
                  <a:srgbClr val="252B35"/>
                </a:solidFill>
                <a:latin typeface="Roboto"/>
              </a:rPr>
              <a:t>Implement it in the live session.</a:t>
            </a:r>
          </a:p>
          <a:p>
            <a:pPr>
              <a:spcAft>
                <a:spcPts val="300"/>
              </a:spcAft>
            </a:pPr>
            <a:r>
              <a:rPr sz="2500" b="0">
                <a:solidFill>
                  <a:srgbClr val="252B35"/>
                </a:solidFill>
                <a:latin typeface="Roboto"/>
              </a:rPr>
              <a:t>Inspect the result.</a:t>
            </a:r>
          </a:p>
          <a:p>
            <a:pPr>
              <a:spcAft>
                <a:spcPts val="300"/>
              </a:spcAft>
            </a:pPr>
            <a:r>
              <a:rPr sz="2500" b="0">
                <a:solidFill>
                  <a:srgbClr val="252B35"/>
                </a:solidFill>
                <a:latin typeface="Roboto"/>
              </a:rPr>
              <a:t>Refine the behavior.</a:t>
            </a:r>
          </a:p>
        </p:txBody>
      </p:sp>
      <p:sp>
        <p:nvSpPr>
          <p:cNvPr id="211" name="Rounded Rectangle 210"/>
          <p:cNvSpPr/>
          <p:nvPr/>
        </p:nvSpPr>
        <p:spPr>
          <a:xfrm>
            <a:off x="6263640" y="1508760"/>
            <a:ext cx="5212080" cy="356616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345936" y="1581912"/>
            <a:ext cx="5047488" cy="3456432"/>
          </a:xfrm>
          <a:prstGeom prst="rect">
            <a:avLst/>
          </a:prstGeom>
          <a:noFill/>
        </p:spPr>
        <p:txBody>
          <a:bodyPr wrap="square" lIns="36576" rIns="36576" tIns="0" bIns="0">
            <a:spAutoFit/>
          </a:bodyPr>
          <a:lstStyle/>
          <a:p>
            <a:pPr>
              <a:spcAft>
                <a:spcPts val="300"/>
              </a:spcAft>
            </a:pPr>
            <a:r>
              <a:rPr sz="2000" b="0">
                <a:solidFill>
                  <a:srgbClr val="252B35"/>
                </a:solidFill>
                <a:latin typeface="Roboto"/>
              </a:rPr>
              <a:t>RIGHT: LIVE VIEWER</a:t>
            </a:r>
          </a:p>
        </p:txBody>
      </p:sp>
      <p:sp>
        <p:nvSpPr>
          <p:cNvPr id="213" name="TextBox 212"/>
          <p:cNvSpPr txBox="1"/>
          <p:nvPr/>
        </p:nvSpPr>
        <p:spPr>
          <a:xfrm>
            <a:off x="6492240" y="2331720"/>
            <a:ext cx="4754880" cy="2103120"/>
          </a:xfrm>
          <a:prstGeom prst="rect">
            <a:avLst/>
          </a:prstGeom>
          <a:noFill/>
        </p:spPr>
        <p:txBody>
          <a:bodyPr wrap="square" lIns="36576" rIns="36576" tIns="0" bIns="0">
            <a:spAutoFit/>
          </a:bodyPr>
          <a:lstStyle/>
          <a:p>
            <a:pPr>
              <a:spcAft>
                <a:spcPts val="300"/>
              </a:spcAft>
            </a:pPr>
            <a:r>
              <a:rPr sz="2400" b="0">
                <a:solidFill>
                  <a:srgbClr val="252B35"/>
                </a:solidFill>
                <a:latin typeface="Roboto"/>
              </a:rPr>
              <a:t>Camera keeps running.</a:t>
            </a:r>
          </a:p>
          <a:p>
            <a:pPr>
              <a:spcAft>
                <a:spcPts val="300"/>
              </a:spcAft>
            </a:pPr>
            <a:r>
              <a:rPr sz="2400" b="0">
                <a:solidFill>
                  <a:srgbClr val="252B35"/>
                </a:solidFill>
                <a:latin typeface="Roboto"/>
              </a:rPr>
              <a:t>Results appear on the stream.</a:t>
            </a:r>
          </a:p>
          <a:p>
            <a:pPr>
              <a:spcAft>
                <a:spcPts val="300"/>
              </a:spcAft>
            </a:pPr>
            <a:r>
              <a:rPr sz="2400" b="0">
                <a:solidFill>
                  <a:srgbClr val="252B35"/>
                </a:solidFill>
                <a:latin typeface="Roboto"/>
              </a:rPr>
              <a:t>Controls help us explore.</a:t>
            </a:r>
          </a:p>
          <a:p>
            <a:pPr>
              <a:spcAft>
                <a:spcPts val="300"/>
              </a:spcAft>
            </a:pPr>
            <a:r>
              <a:rPr sz="2400" b="0">
                <a:solidFill>
                  <a:srgbClr val="252B35"/>
                </a:solidFill>
                <a:latin typeface="Roboto"/>
              </a:rPr>
              <a:t>Accepted edits stay in the notebook.</a:t>
            </a:r>
          </a:p>
        </p:txBody>
      </p:sp>
      <p:sp>
        <p:nvSpPr>
          <p:cNvPr id="214" name="TextBox 213"/>
          <p:cNvSpPr txBox="1"/>
          <p:nvPr/>
        </p:nvSpPr>
        <p:spPr>
          <a:xfrm>
            <a:off x="731520" y="5577840"/>
            <a:ext cx="10698480" cy="731520"/>
          </a:xfrm>
          <a:prstGeom prst="rect">
            <a:avLst/>
          </a:prstGeom>
          <a:noFill/>
        </p:spPr>
        <p:txBody>
          <a:bodyPr wrap="square" lIns="36576" rIns="36576" tIns="0" bIns="0">
            <a:spAutoFit/>
          </a:bodyPr>
          <a:lstStyle/>
          <a:p>
            <a:pPr>
              <a:spcAft>
                <a:spcPts val="300"/>
              </a:spcAft>
            </a:pPr>
            <a:r>
              <a:rPr sz="2800" b="0">
                <a:solidFill>
                  <a:srgbClr val="185B91"/>
                </a:solidFill>
                <a:latin typeface="Roboto"/>
              </a:rPr>
              <a:t>Ask → implement → observe → adjust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Add native code where the task needs it</a:t>
            </a:r>
          </a:p>
        </p:txBody>
      </p:sp>
      <p:sp>
        <p:nvSpPr>
          <p:cNvPr id="208" name="TextBox 207"/>
          <p:cNvSpPr txBox="1"/>
          <p:nvPr/>
        </p:nvSpPr>
        <p:spPr>
          <a:xfrm>
            <a:off x="640080" y="1463040"/>
            <a:ext cx="10881360" cy="548640"/>
          </a:xfrm>
          <a:prstGeom prst="rect">
            <a:avLst/>
          </a:prstGeom>
          <a:noFill/>
        </p:spPr>
        <p:txBody>
          <a:bodyPr wrap="square" lIns="36576" rIns="36576" tIns="0" bIns="0">
            <a:spAutoFit/>
          </a:bodyPr>
          <a:lstStyle/>
          <a:p>
            <a:pPr>
              <a:spcAft>
                <a:spcPts val="300"/>
              </a:spcAft>
            </a:pPr>
            <a:r>
              <a:rPr sz="2400" b="0">
                <a:solidFill>
                  <a:srgbClr val="252B35"/>
                </a:solidFill>
                <a:latin typeface="Roboto"/>
              </a:rPr>
              <a:t>Example: depth → points with @cpp(nogil=True)</a:t>
            </a:r>
          </a:p>
        </p:txBody>
      </p:sp>
      <p:sp>
        <p:nvSpPr>
          <p:cNvPr id="209" name="Rectangle 208"/>
          <p:cNvSpPr/>
          <p:nvPr/>
        </p:nvSpPr>
        <p:spPr>
          <a:xfrm>
            <a:off x="640080" y="2240280"/>
            <a:ext cx="10881360" cy="265176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749808" y="2331720"/>
            <a:ext cx="10661904" cy="2514600"/>
          </a:xfrm>
          <a:prstGeom prst="rect">
            <a:avLst/>
          </a:prstGeom>
          <a:noFill/>
        </p:spPr>
        <p:txBody>
          <a:bodyPr wrap="square" lIns="0" rIns="0" tIns="0" bIns="0">
            <a:spAutoFit/>
          </a:bodyPr>
          <a:lstStyle/>
          <a:p>
            <a:pPr>
              <a:lnSpc>
                <a:spcPts val="1850"/>
              </a:lnSpc>
              <a:spcBef>
                <a:spcPts val="0"/>
              </a:spcBef>
              <a:spcAft>
                <a:spcPts val="0"/>
              </a:spcAft>
            </a:pPr>
            <a:r>
              <a:rPr sz="1700">
                <a:solidFill>
                  <a:srgbClr val="007020"/>
                </a:solidFill>
                <a:latin typeface="Liberation Mono"/>
              </a:rPr>
              <a:t>for</a:t>
            </a:r>
            <a:r>
              <a:rPr sz="1700">
                <a:solidFill>
                  <a:srgbClr val="BBBBBB"/>
                </a:solidFill>
                <a:latin typeface="Liberation Mono"/>
              </a:rPr>
              <a:t> </a:t>
            </a:r>
            <a:r>
              <a:rPr sz="1700">
                <a:solidFill>
                  <a:srgbClr val="202632"/>
                </a:solidFill>
                <a:latin typeface="Liberation Mono"/>
              </a:rPr>
              <a:t>(</a:t>
            </a:r>
            <a:r>
              <a:rPr sz="1700">
                <a:solidFill>
                  <a:srgbClr val="202632"/>
                </a:solidFill>
                <a:latin typeface="Liberation Mono"/>
              </a:rPr>
              <a:t>std</a:t>
            </a:r>
            <a:r>
              <a:rPr sz="1700">
                <a:solidFill>
                  <a:srgbClr val="666666"/>
                </a:solidFill>
                <a:latin typeface="Liberation Mono"/>
              </a:rPr>
              <a:t>:</a:t>
            </a:r>
            <a:r>
              <a:rPr sz="1700">
                <a:solidFill>
                  <a:srgbClr val="666666"/>
                </a:solidFill>
                <a:latin typeface="Liberation Mono"/>
              </a:rPr>
              <a:t>:</a:t>
            </a:r>
            <a:r>
              <a:rPr sz="1700">
                <a:solidFill>
                  <a:srgbClr val="902000"/>
                </a:solidFill>
                <a:latin typeface="Liberation Mono"/>
              </a:rPr>
              <a:t>size_t</a:t>
            </a:r>
            <a:r>
              <a:rPr sz="1700">
                <a:solidFill>
                  <a:srgbClr val="BBBBBB"/>
                </a:solidFill>
                <a:latin typeface="Liberation Mono"/>
              </a:rPr>
              <a:t> </a:t>
            </a:r>
            <a:r>
              <a:rPr sz="1700">
                <a:solidFill>
                  <a:srgbClr val="202632"/>
                </a:solidFill>
                <a:latin typeface="Liberation Mono"/>
              </a:rPr>
              <a:t>i</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40A070"/>
                </a:solidFill>
                <a:latin typeface="Liberation Mono"/>
              </a:rPr>
              <a:t>0</a:t>
            </a:r>
            <a:r>
              <a:rPr sz="1700">
                <a:solidFill>
                  <a:srgbClr val="202632"/>
                </a:solidFill>
                <a:latin typeface="Liberation Mono"/>
              </a:rPr>
              <a:t>;</a:t>
            </a:r>
            <a:r>
              <a:rPr sz="1700">
                <a:solidFill>
                  <a:srgbClr val="BBBBBB"/>
                </a:solidFill>
                <a:latin typeface="Liberation Mono"/>
              </a:rPr>
              <a:t> </a:t>
            </a:r>
            <a:r>
              <a:rPr sz="1700">
                <a:solidFill>
                  <a:srgbClr val="202632"/>
                </a:solidFill>
                <a:latin typeface="Liberation Mono"/>
              </a:rPr>
              <a:t>i</a:t>
            </a:r>
            <a:r>
              <a:rPr sz="1700">
                <a:solidFill>
                  <a:srgbClr val="BBBBBB"/>
                </a:solidFill>
                <a:latin typeface="Liberation Mono"/>
              </a:rPr>
              <a:t> </a:t>
            </a:r>
            <a:r>
              <a:rPr sz="1700">
                <a:solidFill>
                  <a:srgbClr val="666666"/>
                </a:solidFill>
                <a:latin typeface="Liberation Mono"/>
              </a:rPr>
              <a:t>&lt;</a:t>
            </a:r>
            <a:r>
              <a:rPr sz="1700">
                <a:solidFill>
                  <a:srgbClr val="BBBBBB"/>
                </a:solidFill>
                <a:latin typeface="Liberation Mono"/>
              </a:rPr>
              <a:t> </a:t>
            </a:r>
            <a:r>
              <a:rPr sz="1700">
                <a:solidFill>
                  <a:srgbClr val="202632"/>
                </a:solidFill>
                <a:latin typeface="Liberation Mono"/>
              </a:rPr>
              <a:t>depth_size</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666666"/>
                </a:solidFill>
                <a:latin typeface="Liberation Mono"/>
              </a:rPr>
              <a:t>+</a:t>
            </a:r>
            <a:r>
              <a:rPr sz="1700">
                <a:solidFill>
                  <a:srgbClr val="202632"/>
                </a:solidFill>
                <a:latin typeface="Liberation Mono"/>
              </a:rPr>
              <a:t>i</a:t>
            </a:r>
            <a:r>
              <a:rPr sz="1700">
                <a:solidFill>
                  <a:srgbClr val="202632"/>
                </a:solidFill>
                <a:latin typeface="Liberation Mono"/>
              </a:rPr>
              <a:t>)</a:t>
            </a:r>
            <a:r>
              <a:rPr sz="1700">
                <a:solidFill>
                  <a:srgbClr val="BBBBBB"/>
                </a:solidFill>
                <a:latin typeface="Liberation Mono"/>
              </a:rPr>
              <a:t> </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007020"/>
                </a:solidFill>
                <a:latin typeface="Liberation Mono"/>
              </a:rPr>
              <a:t>const</a:t>
            </a:r>
            <a:r>
              <a:rPr sz="1700">
                <a:solidFill>
                  <a:srgbClr val="BBBBBB"/>
                </a:solidFill>
                <a:latin typeface="Liberation Mono"/>
              </a:rPr>
              <a:t> </a:t>
            </a:r>
            <a:r>
              <a:rPr sz="1700">
                <a:solidFill>
                  <a:srgbClr val="902000"/>
                </a:solidFill>
                <a:latin typeface="Liberation Mono"/>
              </a:rPr>
              <a:t>float</a:t>
            </a:r>
            <a:r>
              <a:rPr sz="1700">
                <a:solidFill>
                  <a:srgbClr val="BBBBBB"/>
                </a:solidFill>
                <a:latin typeface="Liberation Mono"/>
              </a:rPr>
              <a:t> </a:t>
            </a:r>
            <a:r>
              <a:rPr sz="1700">
                <a:solidFill>
                  <a:srgbClr val="202632"/>
                </a:solidFill>
                <a:latin typeface="Liberation Mono"/>
              </a:rPr>
              <a:t>z</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depth</a:t>
            </a:r>
            <a:r>
              <a:rPr sz="1700">
                <a:solidFill>
                  <a:srgbClr val="202632"/>
                </a:solidFill>
                <a:latin typeface="Liberation Mono"/>
              </a:rPr>
              <a:t>[</a:t>
            </a:r>
            <a:r>
              <a:rPr sz="1700">
                <a:solidFill>
                  <a:srgbClr val="202632"/>
                </a:solidFill>
                <a:latin typeface="Liberation Mono"/>
              </a:rPr>
              <a:t>i</a:t>
            </a:r>
            <a:r>
              <a:rPr sz="1700">
                <a:solidFill>
                  <a:srgbClr val="202632"/>
                </a:solidFill>
                <a:latin typeface="Liberation Mono"/>
              </a:rPr>
              <a:t>]</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007020"/>
                </a:solidFill>
                <a:latin typeface="Liberation Mono"/>
              </a:rPr>
              <a:t>if</a:t>
            </a:r>
            <a:r>
              <a:rPr sz="1700">
                <a:solidFill>
                  <a:srgbClr val="BBBBBB"/>
                </a:solidFill>
                <a:latin typeface="Liberation Mono"/>
              </a:rPr>
              <a:t> </a:t>
            </a:r>
            <a:r>
              <a:rPr sz="1700">
                <a:solidFill>
                  <a:srgbClr val="202632"/>
                </a:solidFill>
                <a:latin typeface="Liberation Mono"/>
              </a:rPr>
              <a:t>(</a:t>
            </a:r>
            <a:r>
              <a:rPr sz="1700">
                <a:solidFill>
                  <a:srgbClr val="666666"/>
                </a:solidFill>
                <a:latin typeface="Liberation Mono"/>
              </a:rPr>
              <a:t>!</a:t>
            </a:r>
            <a:r>
              <a:rPr sz="1700">
                <a:solidFill>
                  <a:srgbClr val="202632"/>
                </a:solidFill>
                <a:latin typeface="Liberation Mono"/>
              </a:rPr>
              <a:t>mask</a:t>
            </a:r>
            <a:r>
              <a:rPr sz="1700">
                <a:solidFill>
                  <a:srgbClr val="202632"/>
                </a:solidFill>
                <a:latin typeface="Liberation Mono"/>
              </a:rPr>
              <a:t>[</a:t>
            </a:r>
            <a:r>
              <a:rPr sz="1700">
                <a:solidFill>
                  <a:srgbClr val="202632"/>
                </a:solidFill>
                <a:latin typeface="Liberation Mono"/>
              </a:rPr>
              <a:t>i</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666666"/>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202632"/>
                </a:solidFill>
                <a:latin typeface="Liberation Mono"/>
              </a:rPr>
              <a:t>(</a:t>
            </a:r>
            <a:r>
              <a:rPr sz="1700">
                <a:solidFill>
                  <a:srgbClr val="202632"/>
                </a:solidFill>
                <a:latin typeface="Liberation Mono"/>
              </a:rPr>
              <a:t>z</a:t>
            </a:r>
            <a:r>
              <a:rPr sz="1700">
                <a:solidFill>
                  <a:srgbClr val="BBBBBB"/>
                </a:solidFill>
                <a:latin typeface="Liberation Mono"/>
              </a:rPr>
              <a:t> </a:t>
            </a:r>
            <a:r>
              <a:rPr sz="1700">
                <a:solidFill>
                  <a:srgbClr val="666666"/>
                </a:solidFill>
                <a:latin typeface="Liberation Mono"/>
              </a:rPr>
              <a:t>&gt;</a:t>
            </a:r>
            <a:r>
              <a:rPr sz="1700">
                <a:solidFill>
                  <a:srgbClr val="BBBBBB"/>
                </a:solidFill>
                <a:latin typeface="Liberation Mono"/>
              </a:rPr>
              <a:t> </a:t>
            </a:r>
            <a:r>
              <a:rPr sz="1700">
                <a:solidFill>
                  <a:srgbClr val="202632"/>
                </a:solidFill>
                <a:latin typeface="Liberation Mono"/>
              </a:rPr>
              <a:t>near</a:t>
            </a:r>
            <a:r>
              <a:rPr sz="1700">
                <a:solidFill>
                  <a:srgbClr val="BBBBBB"/>
                </a:solidFill>
                <a:latin typeface="Liberation Mono"/>
              </a:rPr>
              <a:t> </a:t>
            </a:r>
            <a:r>
              <a:rPr sz="1700">
                <a:solidFill>
                  <a:srgbClr val="666666"/>
                </a:solidFill>
                <a:latin typeface="Liberation Mono"/>
              </a:rPr>
              <a:t>&amp;</a:t>
            </a:r>
            <a:r>
              <a:rPr sz="1700">
                <a:solidFill>
                  <a:srgbClr val="666666"/>
                </a:solidFill>
                <a:latin typeface="Liberation Mono"/>
              </a:rPr>
              <a:t>&amp;</a:t>
            </a:r>
            <a:r>
              <a:rPr sz="1700">
                <a:solidFill>
                  <a:srgbClr val="BBBBBB"/>
                </a:solidFill>
                <a:latin typeface="Liberation Mono"/>
              </a:rPr>
              <a:t> </a:t>
            </a:r>
            <a:r>
              <a:rPr sz="1700">
                <a:solidFill>
                  <a:srgbClr val="202632"/>
                </a:solidFill>
                <a:latin typeface="Liberation Mono"/>
              </a:rPr>
              <a:t>z</a:t>
            </a:r>
            <a:r>
              <a:rPr sz="1700">
                <a:solidFill>
                  <a:srgbClr val="BBBBBB"/>
                </a:solidFill>
                <a:latin typeface="Liberation Mono"/>
              </a:rPr>
              <a:t> </a:t>
            </a:r>
            <a:r>
              <a:rPr sz="1700">
                <a:solidFill>
                  <a:srgbClr val="666666"/>
                </a:solidFill>
                <a:latin typeface="Liberation Mono"/>
              </a:rPr>
              <a:t>&lt;</a:t>
            </a:r>
            <a:r>
              <a:rPr sz="1700">
                <a:solidFill>
                  <a:srgbClr val="BBBBBB"/>
                </a:solidFill>
                <a:latin typeface="Liberation Mono"/>
              </a:rPr>
              <a:t> </a:t>
            </a:r>
            <a:r>
              <a:rPr sz="1700">
                <a:solidFill>
                  <a:srgbClr val="202632"/>
                </a:solidFill>
                <a:latin typeface="Liberation Mono"/>
              </a:rPr>
              <a:t>far</a:t>
            </a:r>
            <a:r>
              <a:rPr sz="1700">
                <a:solidFill>
                  <a:srgbClr val="202632"/>
                </a:solidFill>
                <a:latin typeface="Liberation Mono"/>
              </a:rPr>
              <a:t>)</a:t>
            </a:r>
            <a:r>
              <a:rPr sz="1700">
                <a:solidFill>
                  <a:srgbClr val="202632"/>
                </a:solidFill>
                <a:latin typeface="Liberation Mono"/>
              </a:rPr>
              <a:t>)</a:t>
            </a:r>
            <a:r>
              <a:rPr sz="1700">
                <a:solidFill>
                  <a:srgbClr val="BBBBBB"/>
                </a:solidFill>
                <a:latin typeface="Liberation Mono"/>
              </a:rPr>
              <a:t> </a:t>
            </a:r>
            <a:r>
              <a:rPr sz="1700">
                <a:solidFill>
                  <a:srgbClr val="007020"/>
                </a:solidFill>
                <a:latin typeface="Liberation Mono"/>
              </a:rPr>
              <a:t>continue</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202632"/>
                </a:solidFill>
                <a:latin typeface="Liberation Mono"/>
              </a:rPr>
              <a:t>xyz</a:t>
            </a:r>
            <a:r>
              <a:rPr sz="1700">
                <a:solidFill>
                  <a:srgbClr val="202632"/>
                </a:solidFill>
                <a:latin typeface="Liberation Mono"/>
              </a:rPr>
              <a:t>[</a:t>
            </a:r>
            <a:r>
              <a:rPr sz="1700">
                <a:solidFill>
                  <a:srgbClr val="40A070"/>
                </a:solidFill>
                <a:latin typeface="Liberation Mono"/>
              </a:rPr>
              <a:t>3</a:t>
            </a:r>
            <a:r>
              <a:rPr sz="1700">
                <a:solidFill>
                  <a:srgbClr val="666666"/>
                </a:solidFill>
                <a:latin typeface="Liberation Mono"/>
              </a:rPr>
              <a:t>*</a:t>
            </a:r>
            <a:r>
              <a:rPr sz="1700">
                <a:solidFill>
                  <a:srgbClr val="202632"/>
                </a:solidFill>
                <a:latin typeface="Liberation Mono"/>
              </a:rPr>
              <a:t>count</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a:t>
            </a:r>
            <a:r>
              <a:rPr sz="1700">
                <a:solidFill>
                  <a:srgbClr val="902000"/>
                </a:solidFill>
                <a:latin typeface="Liberation Mono"/>
              </a:rPr>
              <a:t>double</a:t>
            </a:r>
            <a:r>
              <a:rPr sz="1700">
                <a:solidFill>
                  <a:srgbClr val="202632"/>
                </a:solidFill>
                <a:latin typeface="Liberation Mono"/>
              </a:rPr>
              <a:t>(</a:t>
            </a:r>
            <a:r>
              <a:rPr sz="1700">
                <a:solidFill>
                  <a:srgbClr val="202632"/>
                </a:solidFill>
                <a:latin typeface="Liberation Mono"/>
              </a:rPr>
              <a:t>i</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width</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cx</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z</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fx</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202632"/>
                </a:solidFill>
                <a:latin typeface="Liberation Mono"/>
              </a:rPr>
              <a:t>xyz</a:t>
            </a:r>
            <a:r>
              <a:rPr sz="1700">
                <a:solidFill>
                  <a:srgbClr val="202632"/>
                </a:solidFill>
                <a:latin typeface="Liberation Mono"/>
              </a:rPr>
              <a:t>[</a:t>
            </a:r>
            <a:r>
              <a:rPr sz="1700">
                <a:solidFill>
                  <a:srgbClr val="40A070"/>
                </a:solidFill>
                <a:latin typeface="Liberation Mono"/>
              </a:rPr>
              <a:t>3</a:t>
            </a:r>
            <a:r>
              <a:rPr sz="1700">
                <a:solidFill>
                  <a:srgbClr val="666666"/>
                </a:solidFill>
                <a:latin typeface="Liberation Mono"/>
              </a:rPr>
              <a:t>*</a:t>
            </a:r>
            <a:r>
              <a:rPr sz="1700">
                <a:solidFill>
                  <a:srgbClr val="202632"/>
                </a:solidFill>
                <a:latin typeface="Liberation Mono"/>
              </a:rPr>
              <a:t>count</a:t>
            </a:r>
            <a:r>
              <a:rPr sz="1700">
                <a:solidFill>
                  <a:srgbClr val="666666"/>
                </a:solidFill>
                <a:latin typeface="Liberation Mono"/>
              </a:rPr>
              <a:t>+</a:t>
            </a:r>
            <a:r>
              <a:rPr sz="1700">
                <a:solidFill>
                  <a:srgbClr val="40A070"/>
                </a:solidFill>
                <a:latin typeface="Liberation Mono"/>
              </a:rPr>
              <a:t>1</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a:t>
            </a:r>
            <a:r>
              <a:rPr sz="1700">
                <a:solidFill>
                  <a:srgbClr val="902000"/>
                </a:solidFill>
                <a:latin typeface="Liberation Mono"/>
              </a:rPr>
              <a:t>double</a:t>
            </a:r>
            <a:r>
              <a:rPr sz="1700">
                <a:solidFill>
                  <a:srgbClr val="202632"/>
                </a:solidFill>
                <a:latin typeface="Liberation Mono"/>
              </a:rPr>
              <a:t>(</a:t>
            </a:r>
            <a:r>
              <a:rPr sz="1700">
                <a:solidFill>
                  <a:srgbClr val="202632"/>
                </a:solidFill>
                <a:latin typeface="Liberation Mono"/>
              </a:rPr>
              <a:t>i</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width</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cy</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z</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fy</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202632"/>
                </a:solidFill>
                <a:latin typeface="Liberation Mono"/>
              </a:rPr>
              <a:t>xyz</a:t>
            </a:r>
            <a:r>
              <a:rPr sz="1700">
                <a:solidFill>
                  <a:srgbClr val="202632"/>
                </a:solidFill>
                <a:latin typeface="Liberation Mono"/>
              </a:rPr>
              <a:t>[</a:t>
            </a:r>
            <a:r>
              <a:rPr sz="1700">
                <a:solidFill>
                  <a:srgbClr val="40A070"/>
                </a:solidFill>
                <a:latin typeface="Liberation Mono"/>
              </a:rPr>
              <a:t>3</a:t>
            </a:r>
            <a:r>
              <a:rPr sz="1700">
                <a:solidFill>
                  <a:srgbClr val="666666"/>
                </a:solidFill>
                <a:latin typeface="Liberation Mono"/>
              </a:rPr>
              <a:t>*</a:t>
            </a:r>
            <a:r>
              <a:rPr sz="1700">
                <a:solidFill>
                  <a:srgbClr val="202632"/>
                </a:solidFill>
                <a:latin typeface="Liberation Mono"/>
              </a:rPr>
              <a:t>count</a:t>
            </a:r>
            <a:r>
              <a:rPr sz="1700">
                <a:solidFill>
                  <a:srgbClr val="666666"/>
                </a:solidFill>
                <a:latin typeface="Liberation Mono"/>
              </a:rPr>
              <a:t>+</a:t>
            </a:r>
            <a:r>
              <a:rPr sz="1700">
                <a:solidFill>
                  <a:srgbClr val="40A070"/>
                </a:solidFill>
                <a:latin typeface="Liberation Mono"/>
              </a:rPr>
              <a:t>2</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z</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202632"/>
                </a:solidFill>
                <a:latin typeface="Liberation Mono"/>
              </a:rPr>
              <a:t>pixels</a:t>
            </a:r>
            <a:r>
              <a:rPr sz="1700">
                <a:solidFill>
                  <a:srgbClr val="202632"/>
                </a:solidFill>
                <a:latin typeface="Liberation Mono"/>
              </a:rPr>
              <a:t>[</a:t>
            </a:r>
            <a:r>
              <a:rPr sz="1700">
                <a:solidFill>
                  <a:srgbClr val="202632"/>
                </a:solidFill>
                <a:latin typeface="Liberation Mono"/>
              </a:rPr>
              <a:t>count</a:t>
            </a:r>
            <a:r>
              <a:rPr sz="1700">
                <a:solidFill>
                  <a:srgbClr val="202632"/>
                </a:solidFill>
                <a:latin typeface="Liberation Mono"/>
              </a:rPr>
              <a:t>]</a:t>
            </a:r>
            <a:r>
              <a:rPr sz="1700">
                <a:solidFill>
                  <a:srgbClr val="BBBBBB"/>
                </a:solidFill>
                <a:latin typeface="Liberation Mono"/>
              </a:rPr>
              <a:t> </a:t>
            </a:r>
            <a:r>
              <a:rPr sz="1700">
                <a:solidFill>
                  <a:srgbClr val="666666"/>
                </a:solidFill>
                <a:latin typeface="Liberation Mono"/>
              </a:rPr>
              <a:t>=</a:t>
            </a:r>
            <a:r>
              <a:rPr sz="1700">
                <a:solidFill>
                  <a:srgbClr val="BBBBBB"/>
                </a:solidFill>
                <a:latin typeface="Liberation Mono"/>
              </a:rPr>
              <a:t> </a:t>
            </a:r>
            <a:r>
              <a:rPr sz="1700">
                <a:solidFill>
                  <a:srgbClr val="202632"/>
                </a:solidFill>
                <a:latin typeface="Liberation Mono"/>
              </a:rPr>
              <a:t>i</a:t>
            </a:r>
            <a:r>
              <a:rPr sz="1700">
                <a:solidFill>
                  <a:srgbClr val="202632"/>
                </a:solidFill>
                <a:latin typeface="Liberation Mono"/>
              </a:rPr>
              <a:t>;</a:t>
            </a:r>
          </a:p>
          <a:p>
            <a:pPr>
              <a:lnSpc>
                <a:spcPts val="1850"/>
              </a:lnSpc>
              <a:spcBef>
                <a:spcPts val="0"/>
              </a:spcBef>
              <a:spcAft>
                <a:spcPts val="0"/>
              </a:spcAft>
            </a:pPr>
            <a:r>
              <a:rPr sz="1700">
                <a:solidFill>
                  <a:srgbClr val="BBBBBB"/>
                </a:solidFill>
                <a:latin typeface="Liberation Mono"/>
              </a:rPr>
              <a:t>    </a:t>
            </a:r>
            <a:r>
              <a:rPr sz="1700">
                <a:solidFill>
                  <a:srgbClr val="666666"/>
                </a:solidFill>
                <a:latin typeface="Liberation Mono"/>
              </a:rPr>
              <a:t>+</a:t>
            </a:r>
            <a:r>
              <a:rPr sz="1700">
                <a:solidFill>
                  <a:srgbClr val="666666"/>
                </a:solidFill>
                <a:latin typeface="Liberation Mono"/>
              </a:rPr>
              <a:t>+</a:t>
            </a:r>
            <a:r>
              <a:rPr sz="1700">
                <a:solidFill>
                  <a:srgbClr val="202632"/>
                </a:solidFill>
                <a:latin typeface="Liberation Mono"/>
              </a:rPr>
              <a:t>count</a:t>
            </a:r>
            <a:r>
              <a:rPr sz="1700">
                <a:solidFill>
                  <a:srgbClr val="202632"/>
                </a:solidFill>
                <a:latin typeface="Liberation Mono"/>
              </a:rPr>
              <a:t>;</a:t>
            </a:r>
          </a:p>
          <a:p>
            <a:pPr>
              <a:lnSpc>
                <a:spcPts val="1850"/>
              </a:lnSpc>
              <a:spcBef>
                <a:spcPts val="0"/>
              </a:spcBef>
              <a:spcAft>
                <a:spcPts val="0"/>
              </a:spcAft>
            </a:pPr>
            <a:r>
              <a:rPr sz="1700">
                <a:solidFill>
                  <a:srgbClr val="202632"/>
                </a:solidFill>
                <a:latin typeface="Liberation Mono"/>
              </a:rPr>
              <a:t>}</a:t>
            </a:r>
          </a:p>
          <a:p>
            <a:pPr>
              <a:lnSpc>
                <a:spcPts val="1850"/>
              </a:lnSpc>
              <a:spcBef>
                <a:spcPts val="0"/>
              </a:spcBef>
              <a:spcAft>
                <a:spcPts val="0"/>
              </a:spcAft>
            </a:pPr>
          </a:p>
        </p:txBody>
      </p:sp>
      <p:sp>
        <p:nvSpPr>
          <p:cNvPr id="211" name="TextBox 210"/>
          <p:cNvSpPr txBox="1"/>
          <p:nvPr/>
        </p:nvSpPr>
        <p:spPr>
          <a:xfrm>
            <a:off x="685800" y="5212080"/>
            <a:ext cx="10789920" cy="1097280"/>
          </a:xfrm>
          <a:prstGeom prst="rect">
            <a:avLst/>
          </a:prstGeom>
          <a:noFill/>
        </p:spPr>
        <p:txBody>
          <a:bodyPr wrap="square" lIns="36576" rIns="36576" tIns="0" bIns="0">
            <a:spAutoFit/>
          </a:bodyPr>
          <a:lstStyle/>
          <a:p>
            <a:pPr>
              <a:spcAft>
                <a:spcPts val="300"/>
              </a:spcAft>
            </a:pPr>
            <a:r>
              <a:rPr sz="2200" b="0">
                <a:solidFill>
                  <a:srgbClr val="252B35"/>
                </a:solidFill>
                <a:latin typeface="Roboto"/>
              </a:rPr>
              <a:t>Choose the native operation from the live task.</a:t>
            </a:r>
          </a:p>
          <a:p>
            <a:pPr>
              <a:spcAft>
                <a:spcPts val="300"/>
              </a:spcAft>
            </a:pPr>
            <a:r>
              <a:rPr sz="2200" b="0">
                <a:solidFill>
                  <a:srgbClr val="252B35"/>
                </a:solidFill>
                <a:latin typeface="Roboto"/>
              </a:rPr>
              <a:t>Models: PyTorch / OpenCV / MediaPipe. UI: marimo + Viser.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The interactive process has a cost</a:t>
            </a:r>
          </a:p>
        </p:txBody>
      </p:sp>
      <p:sp>
        <p:nvSpPr>
          <p:cNvPr id="208" name="TextBox 207"/>
          <p:cNvSpPr txBox="1"/>
          <p:nvPr/>
        </p:nvSpPr>
        <p:spPr>
          <a:xfrm>
            <a:off x="685800" y="1463040"/>
            <a:ext cx="10789920" cy="548640"/>
          </a:xfrm>
          <a:prstGeom prst="rect">
            <a:avLst/>
          </a:prstGeom>
          <a:noFill/>
        </p:spPr>
        <p:txBody>
          <a:bodyPr wrap="square" lIns="36576" rIns="36576" tIns="0" bIns="0">
            <a:spAutoFit/>
          </a:bodyPr>
          <a:lstStyle/>
          <a:p>
            <a:pPr>
              <a:spcAft>
                <a:spcPts val="300"/>
              </a:spcAft>
            </a:pPr>
            <a:r>
              <a:rPr sz="2600" b="0">
                <a:solidFill>
                  <a:srgbClr val="252B35"/>
                </a:solidFill>
                <a:latin typeface="Roboto"/>
              </a:rPr>
              <a:t>Cling and its compiler state stay in the process.</a:t>
            </a:r>
          </a:p>
        </p:txBody>
      </p:sp>
      <p:sp>
        <p:nvSpPr>
          <p:cNvPr id="209" name="TextBox 208"/>
          <p:cNvSpPr txBox="1"/>
          <p:nvPr/>
        </p:nvSpPr>
        <p:spPr>
          <a:xfrm>
            <a:off x="822960" y="2423160"/>
            <a:ext cx="7498079" cy="457200"/>
          </a:xfrm>
          <a:prstGeom prst="rect">
            <a:avLst/>
          </a:prstGeom>
          <a:noFill/>
        </p:spPr>
        <p:txBody>
          <a:bodyPr wrap="square" lIns="36576" rIns="36576" tIns="0" bIns="0">
            <a:spAutoFit/>
          </a:bodyPr>
          <a:lstStyle/>
          <a:p>
            <a:pPr>
              <a:spcAft>
                <a:spcPts val="300"/>
              </a:spcAft>
            </a:pPr>
            <a:r>
              <a:rPr sz="2300" b="0">
                <a:solidFill>
                  <a:srgbClr val="252B35"/>
                </a:solidFill>
                <a:latin typeface="Roboto"/>
              </a:rPr>
              <a:t>Eigen via vanilla cppyy</a:t>
            </a:r>
          </a:p>
        </p:txBody>
      </p:sp>
      <p:sp>
        <p:nvSpPr>
          <p:cNvPr id="210" name="TextBox 209"/>
          <p:cNvSpPr txBox="1"/>
          <p:nvPr/>
        </p:nvSpPr>
        <p:spPr>
          <a:xfrm>
            <a:off x="8641080" y="2423160"/>
            <a:ext cx="2286000" cy="457200"/>
          </a:xfrm>
          <a:prstGeom prst="rect">
            <a:avLst/>
          </a:prstGeom>
          <a:noFill/>
        </p:spPr>
        <p:txBody>
          <a:bodyPr wrap="square" lIns="36576" rIns="36576" tIns="0" bIns="0">
            <a:spAutoFit/>
          </a:bodyPr>
          <a:lstStyle/>
          <a:p>
            <a:pPr>
              <a:spcAft>
                <a:spcPts val="300"/>
              </a:spcAft>
            </a:pPr>
            <a:r>
              <a:rPr sz="2300" b="1">
                <a:solidFill>
                  <a:srgbClr val="185B91"/>
                </a:solidFill>
                <a:latin typeface="Roboto"/>
              </a:rPr>
              <a:t>367 MiB</a:t>
            </a:r>
          </a:p>
        </p:txBody>
      </p:sp>
      <p:sp>
        <p:nvSpPr>
          <p:cNvPr id="211" name="TextBox 210"/>
          <p:cNvSpPr txBox="1"/>
          <p:nvPr/>
        </p:nvSpPr>
        <p:spPr>
          <a:xfrm>
            <a:off x="822960" y="3063239"/>
            <a:ext cx="7498079" cy="457200"/>
          </a:xfrm>
          <a:prstGeom prst="rect">
            <a:avLst/>
          </a:prstGeom>
          <a:noFill/>
        </p:spPr>
        <p:txBody>
          <a:bodyPr wrap="square" lIns="36576" rIns="36576" tIns="0" bIns="0">
            <a:spAutoFit/>
          </a:bodyPr>
          <a:lstStyle/>
          <a:p>
            <a:pPr>
              <a:spcAft>
                <a:spcPts val="300"/>
              </a:spcAft>
            </a:pPr>
            <a:r>
              <a:rPr sz="2300" b="0">
                <a:solidFill>
                  <a:srgbClr val="252B35"/>
                </a:solidFill>
                <a:latin typeface="Roboto"/>
              </a:rPr>
              <a:t>Eigen via prepared kit cache</a:t>
            </a:r>
          </a:p>
        </p:txBody>
      </p:sp>
      <p:sp>
        <p:nvSpPr>
          <p:cNvPr id="212" name="TextBox 211"/>
          <p:cNvSpPr txBox="1"/>
          <p:nvPr/>
        </p:nvSpPr>
        <p:spPr>
          <a:xfrm>
            <a:off x="8641080" y="3063239"/>
            <a:ext cx="2286000" cy="457200"/>
          </a:xfrm>
          <a:prstGeom prst="rect">
            <a:avLst/>
          </a:prstGeom>
          <a:noFill/>
        </p:spPr>
        <p:txBody>
          <a:bodyPr wrap="square" lIns="36576" rIns="36576" tIns="0" bIns="0">
            <a:spAutoFit/>
          </a:bodyPr>
          <a:lstStyle/>
          <a:p>
            <a:pPr>
              <a:spcAft>
                <a:spcPts val="300"/>
              </a:spcAft>
            </a:pPr>
            <a:r>
              <a:rPr sz="2300" b="1">
                <a:solidFill>
                  <a:srgbClr val="185B91"/>
                </a:solidFill>
                <a:latin typeface="Roboto"/>
              </a:rPr>
              <a:t>203 MiB</a:t>
            </a:r>
          </a:p>
        </p:txBody>
      </p:sp>
      <p:sp>
        <p:nvSpPr>
          <p:cNvPr id="213" name="TextBox 212"/>
          <p:cNvSpPr txBox="1"/>
          <p:nvPr/>
        </p:nvSpPr>
        <p:spPr>
          <a:xfrm>
            <a:off x="822960" y="3703320"/>
            <a:ext cx="7498079" cy="457200"/>
          </a:xfrm>
          <a:prstGeom prst="rect">
            <a:avLst/>
          </a:prstGeom>
          <a:noFill/>
        </p:spPr>
        <p:txBody>
          <a:bodyPr wrap="square" lIns="36576" rIns="36576" tIns="0" bIns="0">
            <a:spAutoFit/>
          </a:bodyPr>
          <a:lstStyle/>
          <a:p>
            <a:pPr>
              <a:spcAft>
                <a:spcPts val="300"/>
              </a:spcAft>
            </a:pPr>
            <a:r>
              <a:rPr sz="2300" b="0">
                <a:solidFill>
                  <a:srgbClr val="252B35"/>
                </a:solidFill>
                <a:latin typeface="Roboto"/>
              </a:rPr>
              <a:t>Compiled Python extension</a:t>
            </a:r>
          </a:p>
        </p:txBody>
      </p:sp>
      <p:sp>
        <p:nvSpPr>
          <p:cNvPr id="214" name="TextBox 213"/>
          <p:cNvSpPr txBox="1"/>
          <p:nvPr/>
        </p:nvSpPr>
        <p:spPr>
          <a:xfrm>
            <a:off x="8641080" y="3703320"/>
            <a:ext cx="2286000" cy="457200"/>
          </a:xfrm>
          <a:prstGeom prst="rect">
            <a:avLst/>
          </a:prstGeom>
          <a:noFill/>
        </p:spPr>
        <p:txBody>
          <a:bodyPr wrap="square" lIns="36576" rIns="36576" tIns="0" bIns="0">
            <a:spAutoFit/>
          </a:bodyPr>
          <a:lstStyle/>
          <a:p>
            <a:pPr>
              <a:spcAft>
                <a:spcPts val="300"/>
              </a:spcAft>
            </a:pPr>
            <a:r>
              <a:rPr sz="2300" b="1">
                <a:solidFill>
                  <a:srgbClr val="185B91"/>
                </a:solidFill>
                <a:latin typeface="Roboto"/>
              </a:rPr>
              <a:t>~37 MiB</a:t>
            </a:r>
          </a:p>
        </p:txBody>
      </p:sp>
      <p:sp>
        <p:nvSpPr>
          <p:cNvPr id="215" name="TextBox 214"/>
          <p:cNvSpPr txBox="1"/>
          <p:nvPr/>
        </p:nvSpPr>
        <p:spPr>
          <a:xfrm>
            <a:off x="777240" y="4617720"/>
            <a:ext cx="10698480" cy="548640"/>
          </a:xfrm>
          <a:prstGeom prst="rect">
            <a:avLst/>
          </a:prstGeom>
          <a:noFill/>
        </p:spPr>
        <p:txBody>
          <a:bodyPr wrap="square" lIns="36576" rIns="36576" tIns="0" bIns="0">
            <a:spAutoFit/>
          </a:bodyPr>
          <a:lstStyle/>
          <a:p>
            <a:pPr>
              <a:spcAft>
                <a:spcPts val="300"/>
              </a:spcAft>
            </a:pPr>
            <a:r>
              <a:rPr sz="1600" b="0">
                <a:solidFill>
                  <a:srgbClr val="596675"/>
                </a:solidFill>
                <a:latin typeface="Roboto"/>
              </a:rPr>
              <a:t>Process RSS after first call · separate Eigen experiment · this laptop</a:t>
            </a:r>
          </a:p>
        </p:txBody>
      </p:sp>
      <p:sp>
        <p:nvSpPr>
          <p:cNvPr id="216" name="TextBox 215"/>
          <p:cNvSpPr txBox="1"/>
          <p:nvPr/>
        </p:nvSpPr>
        <p:spPr>
          <a:xfrm>
            <a:off x="777240" y="5486400"/>
            <a:ext cx="10698480" cy="868680"/>
          </a:xfrm>
          <a:prstGeom prst="rect">
            <a:avLst/>
          </a:prstGeom>
          <a:noFill/>
        </p:spPr>
        <p:txBody>
          <a:bodyPr wrap="square" lIns="36576" rIns="36576" tIns="0" bIns="0">
            <a:spAutoFit/>
          </a:bodyPr>
          <a:lstStyle/>
          <a:p>
            <a:pPr>
              <a:spcAft>
                <a:spcPts val="300"/>
              </a:spcAft>
            </a:pPr>
            <a:r>
              <a:rPr sz="2300" b="0">
                <a:solidFill>
                  <a:srgbClr val="252B35"/>
                </a:solidFill>
                <a:latin typeface="Roboto"/>
              </a:rPr>
              <a:t>First use can trigger more compilation.</a:t>
            </a:r>
          </a:p>
          <a:p>
            <a:pPr>
              <a:spcAft>
                <a:spcPts val="300"/>
              </a:spcAft>
            </a:pPr>
            <a:r>
              <a:rPr sz="2300" b="0">
                <a:solidFill>
                  <a:srgbClr val="252B35"/>
                </a:solidFill>
                <a:latin typeface="Roboto"/>
              </a:rPr>
              <a:t>Measure startup, warmed work, memory and behavior separately.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Give the implementation agent more than a prompt</a:t>
            </a:r>
          </a:p>
        </p:txBody>
      </p:sp>
      <p:sp>
        <p:nvSpPr>
          <p:cNvPr id="208" name="TextBox 207"/>
          <p:cNvSpPr txBox="1"/>
          <p:nvPr/>
        </p:nvSpPr>
        <p:spPr>
          <a:xfrm>
            <a:off x="731520" y="1463040"/>
            <a:ext cx="10698480" cy="365760"/>
          </a:xfrm>
          <a:prstGeom prst="rect">
            <a:avLst/>
          </a:prstGeom>
          <a:noFill/>
        </p:spPr>
        <p:txBody>
          <a:bodyPr wrap="square" lIns="36576" rIns="36576" tIns="0" bIns="0">
            <a:spAutoFit/>
          </a:bodyPr>
          <a:lstStyle/>
          <a:p>
            <a:pPr>
              <a:spcAft>
                <a:spcPts val="300"/>
              </a:spcAft>
            </a:pPr>
            <a:r>
              <a:rPr sz="2300" b="1">
                <a:solidFill>
                  <a:srgbClr val="185B91"/>
                </a:solidFill>
                <a:latin typeface="Roboto"/>
              </a:rPr>
              <a:t>Inputs and expected results</a:t>
            </a:r>
          </a:p>
        </p:txBody>
      </p:sp>
      <p:sp>
        <p:nvSpPr>
          <p:cNvPr id="209" name="TextBox 208"/>
          <p:cNvSpPr txBox="1"/>
          <p:nvPr/>
        </p:nvSpPr>
        <p:spPr>
          <a:xfrm>
            <a:off x="731520" y="1874520"/>
            <a:ext cx="10698480" cy="411480"/>
          </a:xfrm>
          <a:prstGeom prst="rect">
            <a:avLst/>
          </a:prstGeom>
          <a:noFill/>
        </p:spPr>
        <p:txBody>
          <a:bodyPr wrap="square" lIns="36576" rIns="36576" tIns="0" bIns="0">
            <a:spAutoFit/>
          </a:bodyPr>
          <a:lstStyle/>
          <a:p>
            <a:pPr>
              <a:spcAft>
                <a:spcPts val="300"/>
              </a:spcAft>
            </a:pPr>
            <a:r>
              <a:rPr sz="2000" b="0">
                <a:solidFill>
                  <a:srgbClr val="252B35"/>
                </a:solidFill>
                <a:latin typeface="Roboto"/>
              </a:rPr>
              <a:t>Saved frames, reviewed outputs and tolerances</a:t>
            </a:r>
          </a:p>
        </p:txBody>
      </p:sp>
      <p:sp>
        <p:nvSpPr>
          <p:cNvPr id="210" name="TextBox 209"/>
          <p:cNvSpPr txBox="1"/>
          <p:nvPr/>
        </p:nvSpPr>
        <p:spPr>
          <a:xfrm>
            <a:off x="731520" y="2395728"/>
            <a:ext cx="10698480" cy="365760"/>
          </a:xfrm>
          <a:prstGeom prst="rect">
            <a:avLst/>
          </a:prstGeom>
          <a:noFill/>
        </p:spPr>
        <p:txBody>
          <a:bodyPr wrap="square" lIns="36576" rIns="36576" tIns="0" bIns="0">
            <a:spAutoFit/>
          </a:bodyPr>
          <a:lstStyle/>
          <a:p>
            <a:pPr>
              <a:spcAft>
                <a:spcPts val="300"/>
              </a:spcAft>
            </a:pPr>
            <a:r>
              <a:rPr sz="2300" b="1">
                <a:solidFill>
                  <a:srgbClr val="185B91"/>
                </a:solidFill>
                <a:latin typeface="Roboto"/>
              </a:rPr>
              <a:t>Failure cases</a:t>
            </a:r>
          </a:p>
        </p:txBody>
      </p:sp>
      <p:sp>
        <p:nvSpPr>
          <p:cNvPr id="211" name="TextBox 210"/>
          <p:cNvSpPr txBox="1"/>
          <p:nvPr/>
        </p:nvSpPr>
        <p:spPr>
          <a:xfrm>
            <a:off x="731520" y="2807208"/>
            <a:ext cx="10698480" cy="411480"/>
          </a:xfrm>
          <a:prstGeom prst="rect">
            <a:avLst/>
          </a:prstGeom>
          <a:noFill/>
        </p:spPr>
        <p:txBody>
          <a:bodyPr wrap="square" lIns="36576" rIns="36576" tIns="0" bIns="0">
            <a:spAutoFit/>
          </a:bodyPr>
          <a:lstStyle/>
          <a:p>
            <a:pPr>
              <a:spcAft>
                <a:spcPts val="300"/>
              </a:spcAft>
            </a:pPr>
            <a:r>
              <a:rPr sz="2000" b="0">
                <a:solidFill>
                  <a:srgbClr val="252B35"/>
                </a:solidFill>
                <a:latin typeface="Roboto"/>
              </a:rPr>
              <a:t>Occlusion, target loss, false detections and changing conditions</a:t>
            </a:r>
          </a:p>
        </p:txBody>
      </p:sp>
      <p:sp>
        <p:nvSpPr>
          <p:cNvPr id="212" name="TextBox 211"/>
          <p:cNvSpPr txBox="1"/>
          <p:nvPr/>
        </p:nvSpPr>
        <p:spPr>
          <a:xfrm>
            <a:off x="731520" y="3328416"/>
            <a:ext cx="10698480" cy="365760"/>
          </a:xfrm>
          <a:prstGeom prst="rect">
            <a:avLst/>
          </a:prstGeom>
          <a:noFill/>
        </p:spPr>
        <p:txBody>
          <a:bodyPr wrap="square" lIns="36576" rIns="36576" tIns="0" bIns="0">
            <a:spAutoFit/>
          </a:bodyPr>
          <a:lstStyle/>
          <a:p>
            <a:pPr>
              <a:spcAft>
                <a:spcPts val="300"/>
              </a:spcAft>
            </a:pPr>
            <a:r>
              <a:rPr sz="2300" b="1">
                <a:solidFill>
                  <a:srgbClr val="185B91"/>
                </a:solidFill>
                <a:latin typeface="Roboto"/>
              </a:rPr>
              <a:t>Working reference</a:t>
            </a:r>
          </a:p>
        </p:txBody>
      </p:sp>
      <p:sp>
        <p:nvSpPr>
          <p:cNvPr id="213" name="TextBox 212"/>
          <p:cNvSpPr txBox="1"/>
          <p:nvPr/>
        </p:nvSpPr>
        <p:spPr>
          <a:xfrm>
            <a:off x="731520" y="3739896"/>
            <a:ext cx="10698480" cy="411480"/>
          </a:xfrm>
          <a:prstGeom prst="rect">
            <a:avLst/>
          </a:prstGeom>
          <a:noFill/>
        </p:spPr>
        <p:txBody>
          <a:bodyPr wrap="square" lIns="36576" rIns="36576" tIns="0" bIns="0">
            <a:spAutoFit/>
          </a:bodyPr>
          <a:lstStyle/>
          <a:p>
            <a:pPr>
              <a:spcAft>
                <a:spcPts val="300"/>
              </a:spcAft>
            </a:pPr>
            <a:r>
              <a:rPr sz="2000" b="0">
                <a:solidFill>
                  <a:srgbClr val="252B35"/>
                </a:solidFill>
                <a:latin typeface="Roboto"/>
              </a:rPr>
              <a:t>Accepted code, dependencies and data contracts</a:t>
            </a:r>
          </a:p>
        </p:txBody>
      </p:sp>
      <p:sp>
        <p:nvSpPr>
          <p:cNvPr id="214" name="TextBox 213"/>
          <p:cNvSpPr txBox="1"/>
          <p:nvPr/>
        </p:nvSpPr>
        <p:spPr>
          <a:xfrm>
            <a:off x="731520" y="4261104"/>
            <a:ext cx="10698480" cy="365760"/>
          </a:xfrm>
          <a:prstGeom prst="rect">
            <a:avLst/>
          </a:prstGeom>
          <a:noFill/>
        </p:spPr>
        <p:txBody>
          <a:bodyPr wrap="square" lIns="36576" rIns="36576" tIns="0" bIns="0">
            <a:spAutoFit/>
          </a:bodyPr>
          <a:lstStyle/>
          <a:p>
            <a:pPr>
              <a:spcAft>
                <a:spcPts val="300"/>
              </a:spcAft>
            </a:pPr>
            <a:r>
              <a:rPr sz="2300" b="1">
                <a:solidFill>
                  <a:srgbClr val="185B91"/>
                </a:solidFill>
                <a:latin typeface="Roboto"/>
              </a:rPr>
              <a:t>Deployment requirements</a:t>
            </a:r>
          </a:p>
        </p:txBody>
      </p:sp>
      <p:sp>
        <p:nvSpPr>
          <p:cNvPr id="215" name="TextBox 214"/>
          <p:cNvSpPr txBox="1"/>
          <p:nvPr/>
        </p:nvSpPr>
        <p:spPr>
          <a:xfrm>
            <a:off x="731520" y="4672584"/>
            <a:ext cx="10698480" cy="411480"/>
          </a:xfrm>
          <a:prstGeom prst="rect">
            <a:avLst/>
          </a:prstGeom>
          <a:noFill/>
        </p:spPr>
        <p:txBody>
          <a:bodyPr wrap="square" lIns="36576" rIns="36576" tIns="0" bIns="0">
            <a:spAutoFit/>
          </a:bodyPr>
          <a:lstStyle/>
          <a:p>
            <a:pPr>
              <a:spcAft>
                <a:spcPts val="300"/>
              </a:spcAft>
            </a:pPr>
            <a:r>
              <a:rPr sz="2000" b="0">
                <a:solidFill>
                  <a:srgbClr val="252B35"/>
                </a:solidFill>
                <a:latin typeface="Roboto"/>
              </a:rPr>
              <a:t>Hardware, latency, memory and verification criteria</a:t>
            </a:r>
          </a:p>
        </p:txBody>
      </p:sp>
      <p:sp>
        <p:nvSpPr>
          <p:cNvPr id="216" name="Rounded Rectangle 215"/>
          <p:cNvSpPr/>
          <p:nvPr/>
        </p:nvSpPr>
        <p:spPr>
          <a:xfrm>
            <a:off x="685800" y="5596128"/>
            <a:ext cx="10835640" cy="868680"/>
          </a:xfrm>
          <a:prstGeom prst="roundRect">
            <a:avLst/>
          </a:prstGeom>
          <a:solidFill>
            <a:srgbClr val="FFF0B7"/>
          </a:solidFill>
          <a:ln>
            <a:solidFill>
              <a:srgbClr val="C29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768096" y="5669280"/>
            <a:ext cx="10671048" cy="758952"/>
          </a:xfrm>
          <a:prstGeom prst="rect">
            <a:avLst/>
          </a:prstGeom>
          <a:noFill/>
        </p:spPr>
        <p:txBody>
          <a:bodyPr wrap="square" lIns="36576" rIns="36576" tIns="0" bIns="0">
            <a:spAutoFit/>
          </a:bodyPr>
          <a:lstStyle/>
          <a:p>
            <a:pPr>
              <a:spcAft>
                <a:spcPts val="300"/>
              </a:spcAft>
            </a:pPr>
            <a:r>
              <a:rPr sz="2100" b="0">
                <a:solidFill>
                  <a:srgbClr val="252B35"/>
                </a:solidFill>
                <a:latin typeface="Roboto"/>
              </a:rPr>
              <a:t>Implement → compare against the reference → evaluate on held-out cases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pic>
        <p:nvPicPr>
          <p:cNvPr id="205" name="Picture 5" descr=""/>
          <p:cNvPicPr/>
          <p:nvPr/>
        </p:nvPicPr>
        <p:blipFill>
          <a:blip r:embed="rId2"/>
          <a:stretch/>
        </p:blipFill>
        <p:spPr>
          <a:xfrm>
            <a:off x="10623600" y="345600"/>
            <a:ext cx="1059120" cy="1059120"/>
          </a:xfrm>
          <a:prstGeom prst="rect">
            <a:avLst/>
          </a:prstGeom>
          <a:ln w="0">
            <a:noFill/>
          </a:ln>
        </p:spPr>
      </p:pic>
      <p:cxnSp>
        <p:nvCxnSpPr>
          <p:cNvPr id="206" name="Straight Connector 7"/>
          <p:cNvCxnSpPr/>
          <p:nvPr/>
        </p:nvCxnSpPr>
        <p:spPr>
          <a:xfrm>
            <a:off x="0" y="1134720"/>
            <a:ext cx="4365360" cy="1800"/>
          </a:xfrm>
          <a:prstGeom prst="straightConnector1">
            <a:avLst/>
          </a:prstGeom>
          <a:ln w="38100">
            <a:solidFill>
              <a:srgbClr val="fed021"/>
            </a:solidFill>
            <a:round/>
          </a:ln>
        </p:spPr>
      </p:cxnSp>
      <p:sp>
        <p:nvSpPr>
          <p:cNvPr id="207" name="TextBox 206"/>
          <p:cNvSpPr txBox="1"/>
          <p:nvPr/>
        </p:nvSpPr>
        <p:spPr>
          <a:xfrm>
            <a:off x="502920" y="320040"/>
            <a:ext cx="10241280" cy="594360"/>
          </a:xfrm>
          <a:prstGeom prst="rect">
            <a:avLst/>
          </a:prstGeom>
          <a:noFill/>
        </p:spPr>
        <p:txBody>
          <a:bodyPr wrap="square" lIns="0" rIns="0">
            <a:noAutofit/>
          </a:bodyPr>
          <a:lstStyle/>
          <a:p>
            <a:r>
              <a:rPr sz="2800">
                <a:solidFill>
                  <a:srgbClr val="202632"/>
                </a:solidFill>
                <a:latin typeface="Roboto"/>
              </a:rPr>
              <a:t>Fallback: find the blocks in robot data</a:t>
            </a:r>
          </a:p>
        </p:txBody>
      </p:sp>
      <p:sp>
        <p:nvSpPr>
          <p:cNvPr id="208" name="TextBox 207"/>
          <p:cNvSpPr txBox="1"/>
          <p:nvPr/>
        </p:nvSpPr>
        <p:spPr>
          <a:xfrm>
            <a:off x="685800" y="1508760"/>
            <a:ext cx="10789920" cy="731520"/>
          </a:xfrm>
          <a:prstGeom prst="rect">
            <a:avLst/>
          </a:prstGeom>
          <a:noFill/>
        </p:spPr>
        <p:txBody>
          <a:bodyPr wrap="square" lIns="36576" rIns="36576" tIns="0" bIns="0">
            <a:spAutoFit/>
          </a:bodyPr>
          <a:lstStyle/>
          <a:p>
            <a:pPr>
              <a:spcAft>
                <a:spcPts val="300"/>
              </a:spcAft>
            </a:pPr>
            <a:r>
              <a:rPr sz="2600" b="0">
                <a:solidFill>
                  <a:srgbClr val="252B35"/>
                </a:solidFill>
                <a:latin typeface="Roboto"/>
              </a:rPr>
              <a:t>Same interactive workflow. The input is a robot MCAP.</a:t>
            </a:r>
          </a:p>
        </p:txBody>
      </p:sp>
      <p:sp>
        <p:nvSpPr>
          <p:cNvPr id="209" name="Rounded Rectangle 208"/>
          <p:cNvSpPr/>
          <p:nvPr/>
        </p:nvSpPr>
        <p:spPr>
          <a:xfrm>
            <a:off x="685800" y="2560320"/>
            <a:ext cx="3383280" cy="141732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TextBox 209"/>
          <p:cNvSpPr txBox="1"/>
          <p:nvPr/>
        </p:nvSpPr>
        <p:spPr>
          <a:xfrm>
            <a:off x="768096" y="2633472"/>
            <a:ext cx="3218688" cy="1307592"/>
          </a:xfrm>
          <a:prstGeom prst="rect">
            <a:avLst/>
          </a:prstGeom>
          <a:noFill/>
        </p:spPr>
        <p:txBody>
          <a:bodyPr wrap="square" lIns="36576" rIns="36576" tIns="0" bIns="0">
            <a:spAutoFit/>
          </a:bodyPr>
          <a:lstStyle/>
          <a:p>
            <a:pPr>
              <a:spcAft>
                <a:spcPts val="300"/>
              </a:spcAft>
            </a:pPr>
            <a:r>
              <a:rPr sz="2300" b="0">
                <a:solidFill>
                  <a:srgbClr val="252B35"/>
                </a:solidFill>
                <a:latin typeface="Roboto"/>
              </a:rPr>
              <a:t>Recorded RGB + depth</a:t>
            </a:r>
          </a:p>
          <a:p>
            <a:pPr>
              <a:spcAft>
                <a:spcPts val="300"/>
              </a:spcAft>
            </a:pPr>
            <a:r>
              <a:rPr sz="2300" b="0">
                <a:solidFill>
                  <a:srgbClr val="252B35"/>
                </a:solidFill>
                <a:latin typeface="Roboto"/>
              </a:rPr>
              <a:t>Blocks on the table</a:t>
            </a:r>
          </a:p>
        </p:txBody>
      </p:sp>
      <p:sp>
        <p:nvSpPr>
          <p:cNvPr id="211" name="Rounded Rectangle 210"/>
          <p:cNvSpPr/>
          <p:nvPr/>
        </p:nvSpPr>
        <p:spPr>
          <a:xfrm>
            <a:off x="4434840" y="2560320"/>
            <a:ext cx="3383280" cy="141732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4517136" y="2633472"/>
            <a:ext cx="3218688" cy="1307592"/>
          </a:xfrm>
          <a:prstGeom prst="rect">
            <a:avLst/>
          </a:prstGeom>
          <a:noFill/>
        </p:spPr>
        <p:txBody>
          <a:bodyPr wrap="square" lIns="36576" rIns="36576" tIns="0" bIns="0">
            <a:spAutoFit/>
          </a:bodyPr>
          <a:lstStyle/>
          <a:p>
            <a:pPr>
              <a:spcAft>
                <a:spcPts val="300"/>
              </a:spcAft>
            </a:pPr>
            <a:r>
              <a:rPr sz="2300" b="0">
                <a:solidFill>
                  <a:srgbClr val="252B35"/>
                </a:solidFill>
                <a:latin typeface="Roboto"/>
              </a:rPr>
              <a:t>marimo + agent</a:t>
            </a:r>
          </a:p>
          <a:p>
            <a:pPr>
              <a:spcAft>
                <a:spcPts val="300"/>
              </a:spcAft>
            </a:pPr>
            <a:r>
              <a:rPr sz="2300" b="0">
                <a:solidFill>
                  <a:srgbClr val="252B35"/>
                </a:solidFill>
                <a:latin typeface="Roboto"/>
              </a:rPr>
              <a:t>Inspect and edit</a:t>
            </a:r>
          </a:p>
        </p:txBody>
      </p:sp>
      <p:sp>
        <p:nvSpPr>
          <p:cNvPr id="213" name="Rounded Rectangle 212"/>
          <p:cNvSpPr/>
          <p:nvPr/>
        </p:nvSpPr>
        <p:spPr>
          <a:xfrm>
            <a:off x="8183879" y="2560320"/>
            <a:ext cx="3383280" cy="1417320"/>
          </a:xfrm>
          <a:prstGeom prst="roundRect">
            <a:avLst/>
          </a:prstGeom>
          <a:solidFill>
            <a:srgbClr val="EEF2F6"/>
          </a:solidFill>
          <a:ln>
            <a:solidFill>
              <a:srgbClr val="7990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8266175" y="2633472"/>
            <a:ext cx="3218688" cy="1307592"/>
          </a:xfrm>
          <a:prstGeom prst="rect">
            <a:avLst/>
          </a:prstGeom>
          <a:noFill/>
        </p:spPr>
        <p:txBody>
          <a:bodyPr wrap="square" lIns="36576" rIns="36576" tIns="0" bIns="0">
            <a:spAutoFit/>
          </a:bodyPr>
          <a:lstStyle/>
          <a:p>
            <a:pPr>
              <a:spcAft>
                <a:spcPts val="300"/>
              </a:spcAft>
            </a:pPr>
            <a:r>
              <a:rPr sz="2300" b="0">
                <a:solidFill>
                  <a:srgbClr val="252B35"/>
                </a:solidFill>
                <a:latin typeface="Roboto"/>
              </a:rPr>
              <a:t>Detection result</a:t>
            </a:r>
          </a:p>
          <a:p>
            <a:pPr>
              <a:spcAft>
                <a:spcPts val="300"/>
              </a:spcAft>
            </a:pPr>
            <a:r>
              <a:rPr sz="2300" b="0">
                <a:solidFill>
                  <a:srgbClr val="252B35"/>
                </a:solidFill>
                <a:latin typeface="Roboto"/>
              </a:rPr>
              <a:t>Image + point cloud</a:t>
            </a:r>
          </a:p>
        </p:txBody>
      </p:sp>
      <p:cxnSp>
        <p:nvCxnSpPr>
          <p:cNvPr id="215" name="Connector 214"/>
          <p:cNvCxnSpPr/>
          <p:nvPr/>
        </p:nvCxnSpPr>
        <p:spPr>
          <a:xfrm>
            <a:off x="4069080" y="3246120"/>
            <a:ext cx="365760"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7818120" y="3246120"/>
            <a:ext cx="365759" cy="0"/>
          </a:xfrm>
          <a:prstGeom prst="line">
            <a:avLst/>
          </a:prstGeom>
          <a:ln w="22860">
            <a:solidFill>
              <a:srgbClr val="56718A"/>
            </a:solidFill>
            <a:tailEnd type="triangle" w="sm" len="sm"/>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731520" y="4709160"/>
            <a:ext cx="10698480" cy="1143000"/>
          </a:xfrm>
          <a:prstGeom prst="rect">
            <a:avLst/>
          </a:prstGeom>
          <a:noFill/>
        </p:spPr>
        <p:txBody>
          <a:bodyPr wrap="square" lIns="36576" rIns="36576" tIns="0" bIns="0">
            <a:spAutoFit/>
          </a:bodyPr>
          <a:lstStyle/>
          <a:p>
            <a:pPr>
              <a:spcAft>
                <a:spcPts val="300"/>
              </a:spcAft>
            </a:pPr>
            <a:r>
              <a:rPr sz="2500" b="0">
                <a:solidFill>
                  <a:srgbClr val="252B35"/>
                </a:solidFill>
                <a:latin typeface="Roboto"/>
              </a:rPr>
              <a:t>Find a block → select by color → inspect its 3D cluster</a:t>
            </a:r>
          </a:p>
          <a:p>
            <a:pPr>
              <a:spcAft>
                <a:spcPts val="300"/>
              </a:spcAft>
            </a:pPr>
            <a:r>
              <a:rPr sz="2500" b="0">
                <a:solidFill>
                  <a:srgbClr val="252B35"/>
                </a:solidFill>
                <a:latin typeface="Roboto"/>
              </a:rPr>
              <a:t>Refine the region and check the result on the recorded data.</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1447</TotalTime>
  <Application>LibreOffice/24.2.7.2$Linux_X86_64 LibreOffice_project/420$Build-2</Application>
  <AppVersion>15.0000</AppVersion>
  <Words>209</Words>
  <Paragraphs>30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2026-10-18T21:32:39Z</dcterms:created>
  <dc:creator>Danielle Lang</dc:creator>
  <dc:description/>
  <dc:language>en-US</dc:language>
  <cp:lastModifiedBy/>
  <dcterms:modified xsi:type="dcterms:W3CDTF">2026-10-21T23:33:28Z</dcterms:modified>
  <cp:revision>9</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11</vt:i4>
  </property>
</Properties>
</file>