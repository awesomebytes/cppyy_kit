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bd23c04-2e64-fe93-c42d-eba6a50e0cb2}">
          <p14:sldIdLst>
            <p14:sldId id="256"/>
            <p14:sldId id="257"/>
            <p14:sldId id="258"/>
            <p14:sldId id="259"/>
          </p14:sldIdLst>
        </p14:section>
        <p14:section name="1 Python" id="{fe216404-9286-02d5-c59d-238cce7c0ac7}">
          <p14:sldIdLst>
            <p14:sldId id="260"/>
            <p14:sldId id="261"/>
            <p14:sldId id="262"/>
            <p14:sldId id="263"/>
            <p14:sldId id="264"/>
            <p14:sldId id="265"/>
          </p14:sldIdLst>
        </p14:section>
        <p14:section name="2 MCAP" id="{bb41d6c8-73e0-5347-9500-571c0313541e}">
          <p14:sldIdLst>
            <p14:sldId id="266"/>
            <p14:sldId id="267"/>
            <p14:sldId id="268"/>
            <p14:sldId id="269"/>
            <p14:sldId id="270"/>
          </p14:sldIdLst>
        </p14:section>
        <p14:section name="3 Native library" id="{8b09335d-f264-4bbb-ff1a-b0e7a6d77bbd}">
          <p14:sldIdLst>
            <p14:sldId id="271"/>
            <p14:sldId id="272"/>
            <p14:sldId id="273"/>
          </p14:sldIdLst>
        </p14:section>
        <p14:section name="4 ROS" id="{80d8a914-58b2-bb66-1e87-41c5a7fd5258}">
          <p14:sldIdLst>
            <p14:sldId id="274"/>
            <p14:sldId id="275"/>
            <p14:sldId id="276"/>
          </p14:sldIdLst>
        </p14:section>
        <p14:section name="5 Controller" id="{7c9efe3c-f127-4cc7-1e98-21059bbbf464}">
          <p14:sldIdLst>
            <p14:sldId id="277"/>
            <p14:sldId id="278"/>
            <p14:sldId id="279"/>
          </p14:sldIdLst>
        </p14:section>
        <p14:section name="6 Webcam" id="{5e48f264-dab5-a389-4984-951bbe87284c}">
          <p14:sldIdLst>
            <p14:sldId id="280"/>
            <p14:sldId id="281"/>
            <p14:sldId id="282"/>
          </p14:sldIdLst>
        </p14:section>
        <p14:section name="Closing" id="{8f5df437-cf0e-0eb9-3198-70dc5a107e1d}">
          <p14:sldIdLst>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working spoken script for a roughly 45-minute deep dive. The story follows one prototype as we keep asking it to do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say you're putting together a robot dataset. You've collected some recordings. You want to train a policy. Before that, you have a very reasonable question: where does the interesting bit actually start? The robot waits. Someone gets ready. Then it reaches for something. Then there's another pause. You'd quite like to cut some of that out before you spend your afternoon training a robot to wait patiently.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to solve all of robot learning today. You just want a little heuristic: tell me when the hand starts moving, keep it active while it's moving, and don't get excited about every tiny twitch. We have one speed to start moving and another to stop. We also want the movement to last a little while before we believe it. Otherwise we've built a very efficient noise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where we'll start. A small computation that's taking longer than we'd like. Then we'll do the usual thing that happens to a small robotics script: ask it to read a bag, run it in ROS, and eventually wonder whether it could be a controller. We'll finish by pointing a camera at something and moving it around. Timing budget: Python 7, MCAP 8, native library 4, ROS 6, controller 7, webcam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little motion detector. Timestamps go in, hand positions go in, and a mask comes out telling us which samples count as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supplied the boring bits in task.py: the input checks, the example data, and the entry point. The agent writes the missing logic. At this point I haven't told it anything about cppyy. Run the baseline prompt. Show the resulting function and its test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gave us a sensible Python implementation. It already uses NumPy for the displacement and speed calculations. There's still a sequential loop deciding when a movement starts and ends. For 250,000 samples, that took about 29 milliseconds. We have options. We could try Numba, use Cython, or build a C++ extension with pybind11. I'm choosing cppyy because I also want to see what happens when our next request involves a C++ library or a native ROS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moment, here's the whole idea in a tiny example. That string is the C++ body. The decorator compiles it, and we call it from Python. ConstNDArray[np.float64] supplies a const double* and the total element count as data_size. It borrows the buffer for the call and caches the compiled kernel for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array must have the specified dtype, native byte order, alignment and C-contiguous layout. The decorator rejects a mismatch; any normalization belongs in the Python wrapper. It borrows the buffer for the call. A mutable output uses NDArray[T].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original evaluation, twelve supplied test cases passed and independent random checks matched. The warmed computation went from about 29.3 milliseconds to 1.48. About twenty times faster on this input. We did pay for compilation and startup. We'll show that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went looking for an open humanoid manipulation recording and found this G1 pillow episode. It comes from HIW-500, by BitRobot, Unitree, and Hugging Face. Our question is still quite modest: when are the hands moving? How much does that answer change if I adjust the speed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discovery: the hand poses we want are inside JSON, inside a ROS String. So the loader gives us arrays of recorded timestamps and left/right hand states. There are 2,735 observations. That subtraction happens while the timestamps are still integers. Then we convert to seconds. I'd quite like our motion detector to use the time the data was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ask the agent to take our rule and sweep 41 speed thresholds for both hands. And here's a useful surprise from actually trying it. With the original 120-millisecond confirmation time, we got zero events. At 20 milliseconds, the lowest speed threshold gave us 89 events for the left hand and 82 for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have we discovered 171 successful grasps? We have discovered 171 things our motion rule calls events. Let's look at some of them before we put those labels into a training dataset. Even the annotations gave us something to discuss: the episode name mentions a sofa and floor, while the subtask labels mention a bed and chair. Welcome to working with somebody else's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query went from about 24.8 milliseconds in Python to 1.14 in C++. About twenty-two times faster. Loading and decoding the bag still took about 191 milliseconds in that run. So if I reload the whole file every time, that part still dominates. If I've already got the arrays and I'm experimenting with the rule, the faster query is useful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our next experiment needs nearby Cartesian observations, but only those with sufficient confidence and enough separation in recorded frames. We also want the centroid of the selected observations.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nanoflann recipe does that without creating a nanoflann kit. It pins and checks the header, builds a small native adapter, loads its declarations, and retains the index between queries. Python validates arrays and allocates outputs. C++ owns a copy of indexed storage, traverses the actual nanoflann tree, filters candidates and writes neighbors, squared distances, counts and centroids into output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 October experiment used 50,000 synthetic positions and 2,000 queries. The warmed composed native call took 3.19 milliseconds. The adaptive SciPy search plus Python selection and centroid calculation took 31.49 milliseconds. Direct unfiltered searches were close: 1.95 milliseconds native, including the centroid, and 2.32 for SciPy without it. A complete agent run took 513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we can put it in ROS. There's a subscriber already written in node.py. It decodes the message, keeps the latest 256 observations, and runs the same query on that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our computation has a regular job: finish its work before the next round of data gives it more to do. We're playing the recording at four times its original speed. The replay adapter puts the original timestamps and a sequence number into each standard ROS message. Our speed calculation still uses recorded time. Playing a bag faster shouldn't persuade the heuristic that the robot grew faster 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two-terminal demonstration, start the node first. Both terminals need the same ROS domain. Both original playback trials received all 2,735 messages, in order, and produced matching event counts. The median callback went from about 2.84 milliseconds to 0.50. There's still JSON decoding, checking, and assembling the window around the accelerated computation. That's why the whole callback gets a smaller speedup than the loop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got Python talking to native code. We have ROS running. So naturally someone asks: could we write a ros2_control controller in Python? Let's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skeleton in controller.py derives from ck.ControllerInterface. That's the native controller interface, exposed through control_kit. The lifecycle methods and interface declarations are supplied. The agent fills in the update. This example runs inside a real controller_manager, with mock hardware. We read two joint positions, follow a moving reference, and write the commands back through the claimed interfaces.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original controller evaluation, we asked for a thousand updates a second. The agent's three-second run achieved about 996 Hz. The independent run, while other checks were active, was about 989 Hz. Its tracking error in the second half was about 0.016 radians. Now, before anyone makes this slide their robot's new control architecture: look at the timing distribution too. That independent run had a 3.89-millisecond p99 interval, and 203 intervals longer than 1.5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webcam. I want to click on a little patch and follow it as I move it around. A small image-processing task where we can see what the code is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missing bit searches for the most similar patch in the next frame: an 11-by-11 template, with a search of eight pixels in each direction. Inside the search, we're comparing pixel values and adding up squared differences. Convert the pixel values before subtracting them, and use a wide accumulator.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synthetic search measured about 0.026 milliseconds once warm. Building its kernel took about 546 milliseconds. The actual headless webcam check tracked 30 frames at about 0.20 milliseconds per search. It's a small local tracker, so big jumps and occlusion can lose it, and it can drift. That's useful to show too: we can see where this particular algorithm stops helping and start changing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a script to find some movement. Then it became a dataset query. We added a native library and a custom selection rule. Then we wanted the motion query in a ROS callback. Then we tried a controller. Finally, we gave it an image-processing job we could poke at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what interests me about cppyy. If I only need to speed up a numerical loop, I've got several tools I can try. But I often want to keep adding things: a C++ library that's already doing useful work, a native ROS API, or a controller interface I'd like to experiment with from Python. cppyy_kit gives us the cached kernels and kit setup to work with those pieces. The agent gets explicit guidance, and we get to spend more of the session asking what the robot data means and what the program should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now, take a bit of Python you wish was quicker. Ask your agent to implement it, test it, and measure it. Then give it the cppyy_kit guide and try moving the busy part into one native call. See whether the result is useful for your problem. And if your next thought is 'could we also add...', that's the bit I'd like to explore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The dataset is the HIW-500 G1 pillow episode from BitRobot, Unitree and Hugging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5760720" cy="2743200"/>
          </a:xfrm>
          <a:prstGeom prst="rect">
            <a:avLst/>
          </a:prstGeom>
          <a:noFill/>
          <a:ln/>
        </p:spPr>
        <p:txBody>
          <a:bodyPr wrap="square" rtlCol="0"/>
          <a:lstStyle>
            <a:lvl1pPr algn="l" indent="0" marL="0">
              <a:buNone/>
              <a:defRPr lang="en-US" sz="4600" b="1" dirty="0">
                <a:solidFill>
                  <a:srgbClr val="1E3A6E"/>
                </a:solidFill>
                <a:latin typeface="Arial" pitchFamily="34" charset="0"/>
                <a:ea typeface="Arial" pitchFamily="34" charset="-122"/>
                <a:cs typeface="Arial" pitchFamily="34" charset="-120"/>
              </a:defRPr>
            </a:lvl1pPr>
          </a:lstStyle>
          <a:p>
            <a:pPr algn="l" indent="0" marL="0">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rtlCol="0"/>
          <a:lstStyle>
            <a:lvl1pPr algn="l" indent="0" marL="0">
              <a:buNone/>
              <a:defRPr lang="en-US" sz="3200" b="1" dirty="0">
                <a:solidFill>
                  <a:srgbClr val="1E3A6E"/>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600200"/>
            <a:ext cx="10515600" cy="1554480"/>
          </a:xfrm>
          <a:prstGeom prst="rect">
            <a:avLst/>
          </a:prstGeom>
          <a:noFill/>
          <a:ln/>
        </p:spPr>
        <p:txBody>
          <a:bodyPr wrap="square" rtlCol="0"/>
          <a:lstStyle>
            <a:lvl1pPr algn="l" indent="0" marL="0">
              <a:buNone/>
              <a:defRPr lang="en-US" sz="4400" b="1" dirty="0">
                <a:solidFill>
                  <a:srgbClr val="1E3A6E"/>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3.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3.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4.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3.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4.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3.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3.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3.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3.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slideLayout" Target="../slideLayouts/slideLayout3.xml"/><Relationship Id="rId1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3.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slideLayout" Target="../slideLayouts/slideLayout3.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jpg"/><Relationship Id="rId8" Type="http://schemas.openxmlformats.org/officeDocument/2006/relationships/slideLayout" Target="../slideLayouts/slideLayout3.xml"/><Relationship Id="rId9"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5760720" cy="2743200"/>
          </a:xfrm>
          <a:prstGeom prst="rect">
            <a:avLst/>
          </a:prstGeom>
          <a:noFill/>
          <a:ln/>
        </p:spPr>
        <p:txBody>
          <a:bodyPr wrap="square" lIns="0" tIns="0" rIns="0" bIns="0" rtlCol="0" anchor="t"/>
          <a:lstStyle/>
          <a:p>
            <a:pPr algn="l" indent="0" marL="0">
              <a:buNone/>
            </a:pPr>
            <a:r>
              <a:rPr lang="en-US" sz="4600" b="1" dirty="0">
                <a:solidFill>
                  <a:srgbClr val="1E3A6E"/>
                </a:solidFill>
                <a:latin typeface="Arial" pitchFamily="34" charset="0"/>
                <a:ea typeface="Arial" pitchFamily="34" charset="-122"/>
                <a:cs typeface="Arial" pitchFamily="34" charset="-120"/>
              </a:rPr>
              <a:t>It was supposed to be a small Python script</a:t>
            </a:r>
            <a:endParaRPr lang="en-US" sz="4600" dirty="0"/>
          </a:p>
        </p:txBody>
      </p:sp>
      <p:sp>
        <p:nvSpPr>
          <p:cNvPr id="4" name="Text 1"/>
          <p:cNvSpPr txBox="1"/>
          <p:nvPr/>
        </p:nvSpPr>
        <p:spPr>
          <a:xfrm>
            <a:off x="731520" y="4160520"/>
            <a:ext cx="5760720" cy="457200"/>
          </a:xfrm>
          <a:prstGeom prst="rect">
            <a:avLst/>
          </a:prstGeom>
          <a:noFill/>
          <a:ln/>
        </p:spPr>
        <p:txBody>
          <a:bodyPr wrap="square" lIns="0" tIns="0" rIns="0" bIns="0" rtlCol="0" anchor="t"/>
          <a:lstStyle/>
          <a:p>
            <a:pPr indent="0" marL="0">
              <a:buNone/>
            </a:pPr>
            <a:r>
              <a:rPr lang="en-US" sz="2600" b="1" dirty="0">
                <a:solidFill>
                  <a:srgbClr val="3776AB"/>
                </a:solidFill>
                <a:latin typeface="Arial" pitchFamily="34" charset="0"/>
                <a:ea typeface="Arial" pitchFamily="34" charset="-122"/>
                <a:cs typeface="Arial" pitchFamily="34" charset="-120"/>
              </a:rPr>
              <a:t>A cppyy_kit deep dive</a:t>
            </a:r>
            <a:endParaRPr lang="en-US" sz="2600" dirty="0"/>
          </a:p>
        </p:txBody>
      </p:sp>
      <p:sp>
        <p:nvSpPr>
          <p:cNvPr id="5" name="Text 2"/>
          <p:cNvSpPr/>
          <p:nvPr/>
        </p:nvSpPr>
        <p:spPr>
          <a:xfrm>
            <a:off x="731520" y="4846320"/>
            <a:ext cx="2377440" cy="502920"/>
          </a:xfrm>
          <a:prstGeom prst="roundRect">
            <a:avLst>
              <a:gd name="adj" fmla="val 18182"/>
            </a:avLst>
          </a:prstGeom>
          <a:solidFill>
            <a:srgbClr val="F5C518"/>
          </a:solidFill>
          <a:ln/>
        </p:spPr>
        <p:txBody>
          <a:bodyPr wrap="square" lIns="1270" tIns="1270" rIns="1270" bIns="1270" rtlCol="0" anchor="ctr"/>
          <a:lstStyle/>
          <a:p>
            <a:pPr algn="ctr" indent="0" marL="0">
              <a:buNone/>
            </a:pPr>
            <a:r>
              <a:rPr lang="en-US" sz="1800" b="1" dirty="0">
                <a:solidFill>
                  <a:srgbClr val="1E3A6E"/>
                </a:solidFill>
                <a:latin typeface="Arial" pitchFamily="34" charset="0"/>
                <a:ea typeface="Arial" pitchFamily="34" charset="-122"/>
                <a:cs typeface="Arial" pitchFamily="34" charset="-120"/>
              </a:rPr>
              <a:t>ROSCon UK 2026</a:t>
            </a:r>
            <a:endParaRPr lang="en-US" sz="1800" dirty="0"/>
          </a:p>
        </p:txBody>
      </p:sp>
      <p:pic>
        <p:nvPicPr>
          <p:cNvPr id="6" name="Image 0" descr="/home/sapf/playground/ros_project/cppyy_kit/docs/media/cppyy_kit_logo.jpg">    </p:cNvPr>
          <p:cNvPicPr>
            <a:picLocks noChangeAspect="1"/>
          </p:cNvPicPr>
          <p:nvPr/>
        </p:nvPicPr>
        <p:blipFill>
          <a:blip r:embed="rId1"/>
          <a:stretch>
            <a:fillRect/>
          </a:stretch>
        </p:blipFill>
        <p:spPr>
          <a:xfrm>
            <a:off x="6949440" y="960120"/>
            <a:ext cx="4846320" cy="4846320"/>
          </a:xfrm>
          <a:prstGeom prst="rect">
            <a:avLst/>
          </a:prstGeom>
        </p:spPr>
      </p:pic>
      <p:sp>
        <p:nvSpPr>
          <p:cNvPr id="7" name="Shape 3"/>
          <p:cNvSpPr/>
          <p:nvPr/>
        </p:nvSpPr>
        <p:spPr>
          <a:xfrm>
            <a:off x="1152144" y="5971032"/>
            <a:ext cx="292608" cy="0"/>
          </a:xfrm>
          <a:prstGeom prst="line">
            <a:avLst/>
          </a:prstGeom>
          <a:noFill/>
          <a:ln w="25400">
            <a:solidFill>
              <a:srgbClr val="B8C2D3"/>
            </a:solidFill>
            <a:prstDash val="solid"/>
          </a:ln>
        </p:spPr>
      </p:sp>
      <p:sp>
        <p:nvSpPr>
          <p:cNvPr id="8" name="Shape 4"/>
          <p:cNvSpPr/>
          <p:nvPr/>
        </p:nvSpPr>
        <p:spPr>
          <a:xfrm>
            <a:off x="1865376" y="5971032"/>
            <a:ext cx="292608" cy="0"/>
          </a:xfrm>
          <a:prstGeom prst="line">
            <a:avLst/>
          </a:prstGeom>
          <a:noFill/>
          <a:ln w="25400">
            <a:solidFill>
              <a:srgbClr val="B8C2D3"/>
            </a:solidFill>
            <a:prstDash val="solid"/>
          </a:ln>
        </p:spPr>
      </p:sp>
      <p:sp>
        <p:nvSpPr>
          <p:cNvPr id="9" name="Shape 5"/>
          <p:cNvSpPr/>
          <p:nvPr/>
        </p:nvSpPr>
        <p:spPr>
          <a:xfrm>
            <a:off x="2578608" y="5971032"/>
            <a:ext cx="292608" cy="0"/>
          </a:xfrm>
          <a:prstGeom prst="line">
            <a:avLst/>
          </a:prstGeom>
          <a:noFill/>
          <a:ln w="25400">
            <a:solidFill>
              <a:srgbClr val="B8C2D3"/>
            </a:solidFill>
            <a:prstDash val="solid"/>
          </a:ln>
        </p:spPr>
      </p:sp>
      <p:sp>
        <p:nvSpPr>
          <p:cNvPr id="10" name="Shape 6"/>
          <p:cNvSpPr/>
          <p:nvPr/>
        </p:nvSpPr>
        <p:spPr>
          <a:xfrm>
            <a:off x="3291840" y="5971032"/>
            <a:ext cx="292608" cy="0"/>
          </a:xfrm>
          <a:prstGeom prst="line">
            <a:avLst/>
          </a:prstGeom>
          <a:noFill/>
          <a:ln w="25400">
            <a:solidFill>
              <a:srgbClr val="B8C2D3"/>
            </a:solidFill>
            <a:prstDash val="solid"/>
          </a:ln>
        </p:spPr>
      </p:sp>
      <p:sp>
        <p:nvSpPr>
          <p:cNvPr id="11" name="Shape 7"/>
          <p:cNvSpPr/>
          <p:nvPr/>
        </p:nvSpPr>
        <p:spPr>
          <a:xfrm>
            <a:off x="4005072" y="5971032"/>
            <a:ext cx="292608" cy="0"/>
          </a:xfrm>
          <a:prstGeom prst="line">
            <a:avLst/>
          </a:prstGeom>
          <a:noFill/>
          <a:ln w="25400">
            <a:solidFill>
              <a:srgbClr val="B8C2D3"/>
            </a:solidFill>
            <a:prstDash val="solid"/>
          </a:ln>
        </p:spPr>
      </p:sp>
      <p:sp>
        <p:nvSpPr>
          <p:cNvPr id="12" name="Shape 8"/>
          <p:cNvSpPr/>
          <p:nvPr/>
        </p:nvSpPr>
        <p:spPr>
          <a:xfrm>
            <a:off x="731520" y="5760720"/>
            <a:ext cx="420624" cy="420624"/>
          </a:xfrm>
          <a:prstGeom prst="ellipse">
            <a:avLst/>
          </a:prstGeom>
          <a:solidFill>
            <a:srgbClr val="E3E8F0"/>
          </a:solidFill>
          <a:ln/>
        </p:spPr>
      </p:sp>
      <p:pic>
        <p:nvPicPr>
          <p:cNvPr id="13" name="Image 1" descr="preencoded.png">    </p:cNvPr>
          <p:cNvPicPr>
            <a:picLocks noChangeAspect="1"/>
          </p:cNvPicPr>
          <p:nvPr/>
        </p:nvPicPr>
        <p:blipFill>
          <a:blip r:embed="rId2"/>
          <a:stretch>
            <a:fillRect/>
          </a:stretch>
        </p:blipFill>
        <p:spPr>
          <a:xfrm>
            <a:off x="836676" y="5865876"/>
            <a:ext cx="210312" cy="210312"/>
          </a:xfrm>
          <a:prstGeom prst="rect">
            <a:avLst/>
          </a:prstGeom>
        </p:spPr>
      </p:pic>
      <p:sp>
        <p:nvSpPr>
          <p:cNvPr id="14" name="Text 9"/>
          <p:cNvSpPr txBox="1"/>
          <p:nvPr/>
        </p:nvSpPr>
        <p:spPr>
          <a:xfrm>
            <a:off x="585216" y="622706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5" name="Shape 10"/>
          <p:cNvSpPr/>
          <p:nvPr/>
        </p:nvSpPr>
        <p:spPr>
          <a:xfrm>
            <a:off x="1444752" y="576072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1549908" y="5865876"/>
            <a:ext cx="210312" cy="210312"/>
          </a:xfrm>
          <a:prstGeom prst="rect">
            <a:avLst/>
          </a:prstGeom>
        </p:spPr>
      </p:pic>
      <p:sp>
        <p:nvSpPr>
          <p:cNvPr id="17" name="Text 11"/>
          <p:cNvSpPr txBox="1"/>
          <p:nvPr/>
        </p:nvSpPr>
        <p:spPr>
          <a:xfrm>
            <a:off x="1298448" y="622706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8" name="Shape 12"/>
          <p:cNvSpPr/>
          <p:nvPr/>
        </p:nvSpPr>
        <p:spPr>
          <a:xfrm>
            <a:off x="2157984" y="576072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2263140" y="5865876"/>
            <a:ext cx="210312" cy="210312"/>
          </a:xfrm>
          <a:prstGeom prst="rect">
            <a:avLst/>
          </a:prstGeom>
        </p:spPr>
      </p:pic>
      <p:sp>
        <p:nvSpPr>
          <p:cNvPr id="20" name="Text 13"/>
          <p:cNvSpPr txBox="1"/>
          <p:nvPr/>
        </p:nvSpPr>
        <p:spPr>
          <a:xfrm>
            <a:off x="2011680" y="622706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21" name="Shape 14"/>
          <p:cNvSpPr/>
          <p:nvPr/>
        </p:nvSpPr>
        <p:spPr>
          <a:xfrm>
            <a:off x="2871216" y="576072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2976372" y="5865876"/>
            <a:ext cx="210312" cy="210312"/>
          </a:xfrm>
          <a:prstGeom prst="rect">
            <a:avLst/>
          </a:prstGeom>
        </p:spPr>
      </p:pic>
      <p:sp>
        <p:nvSpPr>
          <p:cNvPr id="23" name="Text 15"/>
          <p:cNvSpPr txBox="1"/>
          <p:nvPr/>
        </p:nvSpPr>
        <p:spPr>
          <a:xfrm>
            <a:off x="2724912" y="622706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4" name="Shape 16"/>
          <p:cNvSpPr/>
          <p:nvPr/>
        </p:nvSpPr>
        <p:spPr>
          <a:xfrm>
            <a:off x="3584448" y="576072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3689604" y="5865876"/>
            <a:ext cx="210312" cy="210312"/>
          </a:xfrm>
          <a:prstGeom prst="rect">
            <a:avLst/>
          </a:prstGeom>
        </p:spPr>
      </p:pic>
      <p:sp>
        <p:nvSpPr>
          <p:cNvPr id="26" name="Text 17"/>
          <p:cNvSpPr txBox="1"/>
          <p:nvPr/>
        </p:nvSpPr>
        <p:spPr>
          <a:xfrm>
            <a:off x="3438144" y="622706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7" name="Shape 18"/>
          <p:cNvSpPr/>
          <p:nvPr/>
        </p:nvSpPr>
        <p:spPr>
          <a:xfrm>
            <a:off x="4297680" y="5760720"/>
            <a:ext cx="420624" cy="420624"/>
          </a:xfrm>
          <a:prstGeom prst="ellipse">
            <a:avLst/>
          </a:prstGeom>
          <a:solidFill>
            <a:srgbClr val="E3E8F0"/>
          </a:solidFill>
          <a:ln/>
        </p:spPr>
      </p:sp>
      <p:pic>
        <p:nvPicPr>
          <p:cNvPr id="28" name="Image 6" descr="preencoded.png">    </p:cNvPr>
          <p:cNvPicPr>
            <a:picLocks noChangeAspect="1"/>
          </p:cNvPicPr>
          <p:nvPr/>
        </p:nvPicPr>
        <p:blipFill>
          <a:blip r:embed="rId7"/>
          <a:stretch>
            <a:fillRect/>
          </a:stretch>
        </p:blipFill>
        <p:spPr>
          <a:xfrm>
            <a:off x="4402836" y="5865876"/>
            <a:ext cx="210312" cy="210312"/>
          </a:xfrm>
          <a:prstGeom prst="rect">
            <a:avLst/>
          </a:prstGeom>
        </p:spPr>
      </p:pic>
      <p:sp>
        <p:nvSpPr>
          <p:cNvPr id="29" name="Text 19"/>
          <p:cNvSpPr txBox="1"/>
          <p:nvPr/>
        </p:nvSpPr>
        <p:spPr>
          <a:xfrm>
            <a:off x="4151376" y="622706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Where does the interesting bit start?</a:t>
            </a:r>
            <a:endParaRPr lang="en-US" sz="3200" dirty="0"/>
          </a:p>
        </p:txBody>
      </p:sp>
      <p:sp>
        <p:nvSpPr>
          <p:cNvPr id="4" name="Shape 1"/>
          <p:cNvSpPr/>
          <p:nvPr/>
        </p:nvSpPr>
        <p:spPr>
          <a:xfrm>
            <a:off x="8330184" y="576072"/>
            <a:ext cx="292608" cy="0"/>
          </a:xfrm>
          <a:prstGeom prst="line">
            <a:avLst/>
          </a:prstGeom>
          <a:noFill/>
          <a:ln w="25400">
            <a:solidFill>
              <a:srgbClr val="B8C2D3"/>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E3E8F0"/>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E3E8F0"/>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2103120"/>
            <a:ext cx="2103120" cy="1005840"/>
          </a:xfrm>
          <a:prstGeom prst="roundRect">
            <a:avLst>
              <a:gd name="adj" fmla="val 9091"/>
            </a:avLst>
          </a:prstGeom>
          <a:solidFill>
            <a:srgbClr val="E3E8F0"/>
          </a:solidFill>
          <a:ln/>
        </p:spPr>
        <p:txBody>
          <a:bodyPr wrap="square" lIns="1270" tIns="1270" rIns="1270" bIns="1270" rtlCol="0" anchor="ctr"/>
          <a:lstStyle/>
          <a:p>
            <a:pPr algn="ctr" indent="0" marL="0">
              <a:buNone/>
            </a:pPr>
            <a:r>
              <a:rPr lang="en-US" sz="2000" b="1" dirty="0">
                <a:solidFill>
                  <a:srgbClr val="6B778C"/>
                </a:solidFill>
                <a:latin typeface="Arial" pitchFamily="34" charset="0"/>
                <a:ea typeface="Arial" pitchFamily="34" charset="-122"/>
                <a:cs typeface="Arial" pitchFamily="34" charset="-120"/>
              </a:rPr>
              <a:t>wait</a:t>
            </a:r>
            <a:endParaRPr lang="en-US" sz="2000" dirty="0"/>
          </a:p>
        </p:txBody>
      </p:sp>
      <p:sp>
        <p:nvSpPr>
          <p:cNvPr id="28" name="Text 19"/>
          <p:cNvSpPr/>
          <p:nvPr/>
        </p:nvSpPr>
        <p:spPr>
          <a:xfrm>
            <a:off x="2743200" y="2103120"/>
            <a:ext cx="2011680" cy="1005840"/>
          </a:xfrm>
          <a:prstGeom prst="roundRect">
            <a:avLst>
              <a:gd name="adj" fmla="val 9091"/>
            </a:avLst>
          </a:prstGeom>
          <a:solidFill>
            <a:srgbClr val="E3E8F0"/>
          </a:solidFill>
          <a:ln/>
        </p:spPr>
        <p:txBody>
          <a:bodyPr wrap="square" lIns="1270" tIns="1270" rIns="1270" bIns="1270" rtlCol="0" anchor="ctr"/>
          <a:lstStyle/>
          <a:p>
            <a:pPr algn="ctr" indent="0" marL="0">
              <a:buNone/>
            </a:pPr>
            <a:r>
              <a:rPr lang="en-US" sz="2000" b="1" dirty="0">
                <a:solidFill>
                  <a:srgbClr val="6B778C"/>
                </a:solidFill>
                <a:latin typeface="Arial" pitchFamily="34" charset="0"/>
                <a:ea typeface="Arial" pitchFamily="34" charset="-122"/>
                <a:cs typeface="Arial" pitchFamily="34" charset="-120"/>
              </a:rPr>
              <a:t>get ready</a:t>
            </a:r>
            <a:endParaRPr lang="en-US" sz="2000" dirty="0"/>
          </a:p>
        </p:txBody>
      </p:sp>
      <p:sp>
        <p:nvSpPr>
          <p:cNvPr id="29" name="Text 20"/>
          <p:cNvSpPr/>
          <p:nvPr/>
        </p:nvSpPr>
        <p:spPr>
          <a:xfrm>
            <a:off x="4846320" y="2103120"/>
            <a:ext cx="2377440" cy="1005840"/>
          </a:xfrm>
          <a:prstGeom prst="roundRect">
            <a:avLst>
              <a:gd name="adj" fmla="val 9091"/>
            </a:avLst>
          </a:prstGeom>
          <a:solidFill>
            <a:srgbClr val="F5C518"/>
          </a:solidFill>
          <a:ln/>
        </p:spPr>
        <p:txBody>
          <a:bodyPr wrap="square" lIns="1270" tIns="1270" rIns="1270" bIns="1270" rtlCol="0" anchor="ctr"/>
          <a:lstStyle/>
          <a:p>
            <a:pPr algn="ctr" indent="0" marL="0">
              <a:buNone/>
            </a:pPr>
            <a:r>
              <a:rPr lang="en-US" sz="2000" b="1" dirty="0">
                <a:solidFill>
                  <a:srgbClr val="1E3A6E"/>
                </a:solidFill>
                <a:latin typeface="Arial" pitchFamily="34" charset="0"/>
                <a:ea typeface="Arial" pitchFamily="34" charset="-122"/>
                <a:cs typeface="Arial" pitchFamily="34" charset="-120"/>
              </a:rPr>
              <a:t>reach</a:t>
            </a:r>
            <a:endParaRPr lang="en-US" sz="2000" dirty="0"/>
          </a:p>
        </p:txBody>
      </p:sp>
      <p:sp>
        <p:nvSpPr>
          <p:cNvPr id="30" name="Text 21"/>
          <p:cNvSpPr/>
          <p:nvPr/>
        </p:nvSpPr>
        <p:spPr>
          <a:xfrm>
            <a:off x="7315200" y="2103120"/>
            <a:ext cx="1828800" cy="1005840"/>
          </a:xfrm>
          <a:prstGeom prst="roundRect">
            <a:avLst>
              <a:gd name="adj" fmla="val 9091"/>
            </a:avLst>
          </a:prstGeom>
          <a:solidFill>
            <a:srgbClr val="E3E8F0"/>
          </a:solidFill>
          <a:ln/>
        </p:spPr>
        <p:txBody>
          <a:bodyPr wrap="square" lIns="1270" tIns="1270" rIns="1270" bIns="1270" rtlCol="0" anchor="ctr"/>
          <a:lstStyle/>
          <a:p>
            <a:pPr algn="ctr" indent="0" marL="0">
              <a:buNone/>
            </a:pPr>
            <a:r>
              <a:rPr lang="en-US" sz="2000" b="1" dirty="0">
                <a:solidFill>
                  <a:srgbClr val="6B778C"/>
                </a:solidFill>
                <a:latin typeface="Arial" pitchFamily="34" charset="0"/>
                <a:ea typeface="Arial" pitchFamily="34" charset="-122"/>
                <a:cs typeface="Arial" pitchFamily="34" charset="-120"/>
              </a:rPr>
              <a:t>pause</a:t>
            </a:r>
            <a:endParaRPr lang="en-US" sz="2000" dirty="0"/>
          </a:p>
        </p:txBody>
      </p:sp>
      <p:sp>
        <p:nvSpPr>
          <p:cNvPr id="31" name="Text 22"/>
          <p:cNvSpPr/>
          <p:nvPr/>
        </p:nvSpPr>
        <p:spPr>
          <a:xfrm>
            <a:off x="9235440" y="2103120"/>
            <a:ext cx="2377440" cy="1005840"/>
          </a:xfrm>
          <a:prstGeom prst="roundRect">
            <a:avLst>
              <a:gd name="adj" fmla="val 9091"/>
            </a:avLst>
          </a:prstGeom>
          <a:solidFill>
            <a:srgbClr val="F5C518"/>
          </a:solidFill>
          <a:ln/>
        </p:spPr>
        <p:txBody>
          <a:bodyPr wrap="square" lIns="1270" tIns="1270" rIns="1270" bIns="1270" rtlCol="0" anchor="ctr"/>
          <a:lstStyle/>
          <a:p>
            <a:pPr algn="ctr" indent="0" marL="0">
              <a:buNone/>
            </a:pPr>
            <a:r>
              <a:rPr lang="en-US" sz="2000" b="1" dirty="0">
                <a:solidFill>
                  <a:srgbClr val="1E3A6E"/>
                </a:solidFill>
                <a:latin typeface="Arial" pitchFamily="34" charset="0"/>
                <a:ea typeface="Arial" pitchFamily="34" charset="-122"/>
                <a:cs typeface="Arial" pitchFamily="34" charset="-120"/>
              </a:rPr>
              <a:t>reach</a:t>
            </a:r>
            <a:endParaRPr lang="en-US" sz="2000" dirty="0"/>
          </a:p>
        </p:txBody>
      </p:sp>
      <p:pic>
        <p:nvPicPr>
          <p:cNvPr id="32" name="Image 6" descr="preencoded.png">    </p:cNvPr>
          <p:cNvPicPr>
            <a:picLocks noChangeAspect="1"/>
          </p:cNvPicPr>
          <p:nvPr/>
        </p:nvPicPr>
        <p:blipFill>
          <a:blip r:embed="rId7"/>
          <a:stretch>
            <a:fillRect/>
          </a:stretch>
        </p:blipFill>
        <p:spPr>
          <a:xfrm>
            <a:off x="1417320" y="1645920"/>
            <a:ext cx="365760" cy="365760"/>
          </a:xfrm>
          <a:prstGeom prst="rect">
            <a:avLst/>
          </a:prstGeom>
        </p:spPr>
      </p:pic>
      <p:pic>
        <p:nvPicPr>
          <p:cNvPr id="33" name="Image 7" descr="preencoded.png">    </p:cNvPr>
          <p:cNvPicPr>
            <a:picLocks noChangeAspect="1"/>
          </p:cNvPicPr>
          <p:nvPr/>
        </p:nvPicPr>
        <p:blipFill>
          <a:blip r:embed="rId8"/>
          <a:stretch>
            <a:fillRect/>
          </a:stretch>
        </p:blipFill>
        <p:spPr>
          <a:xfrm>
            <a:off x="6675120" y="1600200"/>
            <a:ext cx="411480" cy="411480"/>
          </a:xfrm>
          <a:prstGeom prst="rect">
            <a:avLst/>
          </a:prstGeom>
        </p:spPr>
      </p:pic>
      <p:pic>
        <p:nvPicPr>
          <p:cNvPr id="34" name="Image 8" descr="preencoded.png">    </p:cNvPr>
          <p:cNvPicPr>
            <a:picLocks noChangeAspect="1"/>
          </p:cNvPicPr>
          <p:nvPr/>
        </p:nvPicPr>
        <p:blipFill>
          <a:blip r:embed="rId9"/>
          <a:stretch>
            <a:fillRect/>
          </a:stretch>
        </p:blipFill>
        <p:spPr>
          <a:xfrm>
            <a:off x="10744200" y="1600200"/>
            <a:ext cx="411480" cy="411480"/>
          </a:xfrm>
          <a:prstGeom prst="rect">
            <a:avLst/>
          </a:prstGeom>
        </p:spPr>
      </p:pic>
      <p:sp>
        <p:nvSpPr>
          <p:cNvPr id="35" name="Shape 23"/>
          <p:cNvSpPr/>
          <p:nvPr/>
        </p:nvSpPr>
        <p:spPr>
          <a:xfrm>
            <a:off x="548640" y="3429000"/>
            <a:ext cx="11064240" cy="0"/>
          </a:xfrm>
          <a:prstGeom prst="line">
            <a:avLst/>
          </a:prstGeom>
          <a:noFill/>
          <a:ln w="19050">
            <a:solidFill>
              <a:srgbClr val="5B6578"/>
            </a:solidFill>
            <a:prstDash val="solid"/>
            <a:tailEnd type="triangle"/>
          </a:ln>
        </p:spPr>
      </p:sp>
      <p:sp>
        <p:nvSpPr>
          <p:cNvPr id="36" name="Text 24"/>
          <p:cNvSpPr txBox="1"/>
          <p:nvPr/>
        </p:nvSpPr>
        <p:spPr>
          <a:xfrm>
            <a:off x="9784080" y="3474720"/>
            <a:ext cx="1828800" cy="274320"/>
          </a:xfrm>
          <a:prstGeom prst="rect">
            <a:avLst/>
          </a:prstGeom>
          <a:noFill/>
          <a:ln/>
        </p:spPr>
        <p:txBody>
          <a:bodyPr wrap="square" lIns="0" tIns="0" rIns="0" bIns="0" rtlCol="0" anchor="t"/>
          <a:lstStyle/>
          <a:p>
            <a:pPr algn="r" indent="0" marL="0">
              <a:buNone/>
            </a:pPr>
            <a:r>
              <a:rPr lang="en-US" sz="1200" dirty="0">
                <a:solidFill>
                  <a:srgbClr val="5B6578"/>
                </a:solidFill>
                <a:latin typeface="Arial" pitchFamily="34" charset="0"/>
                <a:ea typeface="Arial" pitchFamily="34" charset="-122"/>
                <a:cs typeface="Arial" pitchFamily="34" charset="-120"/>
              </a:rPr>
              <a:t>recording time</a:t>
            </a:r>
            <a:endParaRPr lang="en-US" sz="1200" dirty="0"/>
          </a:p>
        </p:txBody>
      </p:sp>
      <p:sp>
        <p:nvSpPr>
          <p:cNvPr id="37" name="Text 25"/>
          <p:cNvSpPr/>
          <p:nvPr/>
        </p:nvSpPr>
        <p:spPr>
          <a:xfrm>
            <a:off x="548640" y="4023360"/>
            <a:ext cx="5120640" cy="2103120"/>
          </a:xfrm>
          <a:prstGeom prst="roundRect">
            <a:avLst>
              <a:gd name="adj" fmla="val 4348"/>
            </a:avLst>
          </a:prstGeom>
          <a:solidFill>
            <a:srgbClr val="F3F5F8"/>
          </a:solidFill>
          <a:ln/>
        </p:spPr>
        <p:txBody>
          <a:bodyPr wrap="square" lIns="1270" tIns="1270" rIns="1270" bIns="1270" rtlCol="0" anchor="ctr"/>
          <a:lstStyle/>
          <a:p>
            <a:pPr algn="l" indent="0" marL="0">
              <a:buNone/>
            </a:pPr>
            <a:endParaRPr lang="en-US" sz="1600" dirty="0"/>
          </a:p>
        </p:txBody>
      </p:sp>
      <p:pic>
        <p:nvPicPr>
          <p:cNvPr id="38" name="Image 9" descr="preencoded.png">    </p:cNvPr>
          <p:cNvPicPr>
            <a:picLocks noChangeAspect="1"/>
          </p:cNvPicPr>
          <p:nvPr/>
        </p:nvPicPr>
        <p:blipFill>
          <a:blip r:embed="rId10"/>
          <a:stretch>
            <a:fillRect/>
          </a:stretch>
        </p:blipFill>
        <p:spPr>
          <a:xfrm>
            <a:off x="777240" y="4251960"/>
            <a:ext cx="365760" cy="365760"/>
          </a:xfrm>
          <a:prstGeom prst="rect">
            <a:avLst/>
          </a:prstGeom>
        </p:spPr>
      </p:pic>
      <p:sp>
        <p:nvSpPr>
          <p:cNvPr id="39" name="Text 26"/>
          <p:cNvSpPr txBox="1"/>
          <p:nvPr/>
        </p:nvSpPr>
        <p:spPr>
          <a:xfrm>
            <a:off x="1325880" y="4206240"/>
            <a:ext cx="4114800" cy="1463040"/>
          </a:xfrm>
          <a:prstGeom prst="rect">
            <a:avLst/>
          </a:prstGeom>
          <a:noFill/>
          <a:ln/>
        </p:spPr>
        <p:txBody>
          <a:bodyPr wrap="square" lIns="0" tIns="0" rIns="0" bIns="0" rtlCol="0" anchor="t"/>
          <a:lstStyle/>
          <a:p>
            <a:pPr indent="0" marL="0">
              <a:buNone/>
            </a:pPr>
            <a:r>
              <a:rPr lang="en-US" sz="2000" b="1" i="1" dirty="0">
                <a:solidFill>
                  <a:srgbClr val="1E3A6E"/>
                </a:solidFill>
                <a:latin typeface="Arial" pitchFamily="34" charset="0"/>
                <a:ea typeface="Arial" pitchFamily="34" charset="-122"/>
                <a:cs typeface="Arial" pitchFamily="34" charset="-120"/>
              </a:rPr>
              <a:t>Cut some of that out before you spend your afternoon training a robot to wait patiently.</a:t>
            </a:r>
            <a:endParaRPr lang="en-US" sz="2000" dirty="0"/>
          </a:p>
        </p:txBody>
      </p:sp>
      <p:sp>
        <p:nvSpPr>
          <p:cNvPr id="40" name="Text 27"/>
          <p:cNvSpPr/>
          <p:nvPr/>
        </p:nvSpPr>
        <p:spPr>
          <a:xfrm>
            <a:off x="6035040" y="4023360"/>
            <a:ext cx="5577840" cy="640080"/>
          </a:xfrm>
          <a:prstGeom prst="roundRect">
            <a:avLst>
              <a:gd name="adj" fmla="val 14286"/>
            </a:avLst>
          </a:prstGeom>
          <a:solidFill>
            <a:srgbClr val="FFFFFF"/>
          </a:solidFill>
          <a:ln w="19050">
            <a:solidFill>
              <a:srgbClr val="1E3A6E"/>
            </a:solidFill>
          </a:ln>
        </p:spPr>
        <p:txBody>
          <a:bodyPr wrap="square" lIns="2540" tIns="2540" rIns="2540" bIns="2540" rtlCol="0" anchor="ctr"/>
          <a:lstStyle/>
          <a:p>
            <a:pPr algn="l" indent="0" marL="0">
              <a:buNone/>
            </a:pPr>
            <a:r>
              <a:rPr lang="en-US" sz="1700" b="1" dirty="0">
                <a:solidFill>
                  <a:srgbClr val="1E3A6E"/>
                </a:solidFill>
                <a:latin typeface="Arial" pitchFamily="34" charset="0"/>
                <a:ea typeface="Arial" pitchFamily="34" charset="-122"/>
                <a:cs typeface="Arial" pitchFamily="34" charset="-120"/>
              </a:rPr>
              <a:t>Tell me when the hand starts moving</a:t>
            </a:r>
            <a:endParaRPr lang="en-US" sz="1700" dirty="0"/>
          </a:p>
        </p:txBody>
      </p:sp>
      <p:sp>
        <p:nvSpPr>
          <p:cNvPr id="41" name="Text 28"/>
          <p:cNvSpPr/>
          <p:nvPr/>
        </p:nvSpPr>
        <p:spPr>
          <a:xfrm>
            <a:off x="6035040" y="4754880"/>
            <a:ext cx="5577840" cy="640080"/>
          </a:xfrm>
          <a:prstGeom prst="roundRect">
            <a:avLst>
              <a:gd name="adj" fmla="val 14286"/>
            </a:avLst>
          </a:prstGeom>
          <a:solidFill>
            <a:srgbClr val="FFFFFF"/>
          </a:solidFill>
          <a:ln w="19050">
            <a:solidFill>
              <a:srgbClr val="1E3A6E"/>
            </a:solidFill>
          </a:ln>
        </p:spPr>
        <p:txBody>
          <a:bodyPr wrap="square" lIns="2540" tIns="2540" rIns="2540" bIns="2540" rtlCol="0" anchor="ctr"/>
          <a:lstStyle/>
          <a:p>
            <a:pPr algn="l" indent="0" marL="0">
              <a:buNone/>
            </a:pPr>
            <a:r>
              <a:rPr lang="en-US" sz="1700" b="1" dirty="0">
                <a:solidFill>
                  <a:srgbClr val="1E3A6E"/>
                </a:solidFill>
                <a:latin typeface="Arial" pitchFamily="34" charset="0"/>
                <a:ea typeface="Arial" pitchFamily="34" charset="-122"/>
                <a:cs typeface="Arial" pitchFamily="34" charset="-120"/>
              </a:rPr>
              <a:t>Keep it active while it is moving</a:t>
            </a:r>
            <a:endParaRPr lang="en-US" sz="1700" dirty="0"/>
          </a:p>
        </p:txBody>
      </p:sp>
      <p:sp>
        <p:nvSpPr>
          <p:cNvPr id="42" name="Text 29"/>
          <p:cNvSpPr/>
          <p:nvPr/>
        </p:nvSpPr>
        <p:spPr>
          <a:xfrm>
            <a:off x="6035040" y="5486400"/>
            <a:ext cx="5577840" cy="640080"/>
          </a:xfrm>
          <a:prstGeom prst="roundRect">
            <a:avLst>
              <a:gd name="adj" fmla="val 14286"/>
            </a:avLst>
          </a:prstGeom>
          <a:solidFill>
            <a:srgbClr val="FFFFFF"/>
          </a:solidFill>
          <a:ln w="19050">
            <a:solidFill>
              <a:srgbClr val="1E3A6E"/>
            </a:solidFill>
          </a:ln>
        </p:spPr>
        <p:txBody>
          <a:bodyPr wrap="square" lIns="2540" tIns="2540" rIns="2540" bIns="2540" rtlCol="0" anchor="ctr"/>
          <a:lstStyle/>
          <a:p>
            <a:pPr algn="l" indent="0" marL="0">
              <a:buNone/>
            </a:pPr>
            <a:r>
              <a:rPr lang="en-US" sz="1700" b="1" dirty="0">
                <a:solidFill>
                  <a:srgbClr val="1E3A6E"/>
                </a:solidFill>
                <a:latin typeface="Arial" pitchFamily="34" charset="0"/>
                <a:ea typeface="Arial" pitchFamily="34" charset="-122"/>
                <a:cs typeface="Arial" pitchFamily="34" charset="-120"/>
              </a:rPr>
              <a:t>Do not get excited about every tiny twitch</a:t>
            </a:r>
            <a:endParaRPr lang="en-US" sz="17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A small motion rule</a:t>
            </a:r>
            <a:endParaRPr lang="en-US" sz="3200" dirty="0"/>
          </a:p>
        </p:txBody>
      </p:sp>
      <p:sp>
        <p:nvSpPr>
          <p:cNvPr id="4" name="Shape 1"/>
          <p:cNvSpPr/>
          <p:nvPr/>
        </p:nvSpPr>
        <p:spPr>
          <a:xfrm>
            <a:off x="8330184" y="576072"/>
            <a:ext cx="292608" cy="0"/>
          </a:xfrm>
          <a:prstGeom prst="line">
            <a:avLst/>
          </a:prstGeom>
          <a:noFill/>
          <a:ln w="25400">
            <a:solidFill>
              <a:srgbClr val="B8C2D3"/>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E3E8F0"/>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E3E8F0"/>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463040"/>
            <a:ext cx="7498080" cy="4754880"/>
          </a:xfrm>
          <a:prstGeom prst="roundRect">
            <a:avLst>
              <a:gd name="adj" fmla="val 1923"/>
            </a:avLst>
          </a:prstGeom>
          <a:solidFill>
            <a:srgbClr val="FFFFFF"/>
          </a:solidFill>
          <a:ln w="12700">
            <a:solidFill>
              <a:srgbClr val="D0D7DE"/>
            </a:solidFill>
          </a:ln>
        </p:spPr>
        <p:txBody>
          <a:bodyPr wrap="square" lIns="1270" tIns="1270" rIns="1270" bIns="1270" rtlCol="0" anchor="ctr"/>
          <a:lstStyle/>
          <a:p>
            <a:pPr algn="l" indent="0" marL="0">
              <a:buNone/>
            </a:pPr>
            <a:endParaRPr lang="en-US" sz="1600" dirty="0"/>
          </a:p>
        </p:txBody>
      </p:sp>
      <p:sp>
        <p:nvSpPr>
          <p:cNvPr id="28" name="Shape 19"/>
          <p:cNvSpPr/>
          <p:nvPr/>
        </p:nvSpPr>
        <p:spPr>
          <a:xfrm>
            <a:off x="822960" y="1737360"/>
            <a:ext cx="0" cy="2834640"/>
          </a:xfrm>
          <a:prstGeom prst="line">
            <a:avLst/>
          </a:prstGeom>
          <a:noFill/>
          <a:ln w="19050">
            <a:solidFill>
              <a:srgbClr val="5B6578"/>
            </a:solidFill>
            <a:prstDash val="solid"/>
          </a:ln>
        </p:spPr>
      </p:sp>
      <p:sp>
        <p:nvSpPr>
          <p:cNvPr id="29" name="Shape 20"/>
          <p:cNvSpPr/>
          <p:nvPr/>
        </p:nvSpPr>
        <p:spPr>
          <a:xfrm>
            <a:off x="822960" y="4572000"/>
            <a:ext cx="6949440" cy="0"/>
          </a:xfrm>
          <a:prstGeom prst="line">
            <a:avLst/>
          </a:prstGeom>
          <a:noFill/>
          <a:ln w="19050">
            <a:solidFill>
              <a:srgbClr val="5B6578"/>
            </a:solidFill>
            <a:prstDash val="solid"/>
          </a:ln>
        </p:spPr>
      </p:sp>
      <p:sp>
        <p:nvSpPr>
          <p:cNvPr id="30" name="Text 21"/>
          <p:cNvSpPr txBox="1"/>
          <p:nvPr/>
        </p:nvSpPr>
        <p:spPr>
          <a:xfrm>
            <a:off x="640080" y="1554480"/>
            <a:ext cx="822960" cy="228600"/>
          </a:xfrm>
          <a:prstGeom prst="rect">
            <a:avLst/>
          </a:prstGeom>
          <a:noFill/>
          <a:ln/>
        </p:spPr>
        <p:txBody>
          <a:bodyPr wrap="square" lIns="0" tIns="0" rIns="0" bIns="0" rtlCol="0" anchor="t"/>
          <a:lstStyle/>
          <a:p>
            <a:pPr indent="0" marL="0">
              <a:buNone/>
            </a:pPr>
            <a:r>
              <a:rPr lang="en-US" sz="1200" dirty="0">
                <a:solidFill>
                  <a:srgbClr val="5B6578"/>
                </a:solidFill>
                <a:latin typeface="Arial" pitchFamily="34" charset="0"/>
                <a:ea typeface="Arial" pitchFamily="34" charset="-122"/>
                <a:cs typeface="Arial" pitchFamily="34" charset="-120"/>
              </a:rPr>
              <a:t>speed</a:t>
            </a:r>
            <a:endParaRPr lang="en-US" sz="1200" dirty="0"/>
          </a:p>
        </p:txBody>
      </p:sp>
      <p:sp>
        <p:nvSpPr>
          <p:cNvPr id="31" name="Shape 22"/>
          <p:cNvSpPr/>
          <p:nvPr/>
        </p:nvSpPr>
        <p:spPr>
          <a:xfrm>
            <a:off x="914400" y="4425696"/>
            <a:ext cx="132588" cy="146304"/>
          </a:xfrm>
          <a:prstGeom prst="rect">
            <a:avLst/>
          </a:prstGeom>
          <a:solidFill>
            <a:srgbClr val="B8C2D3"/>
          </a:solidFill>
          <a:ln/>
        </p:spPr>
      </p:sp>
      <p:sp>
        <p:nvSpPr>
          <p:cNvPr id="32" name="Shape 23"/>
          <p:cNvSpPr/>
          <p:nvPr/>
        </p:nvSpPr>
        <p:spPr>
          <a:xfrm>
            <a:off x="1058875" y="4334256"/>
            <a:ext cx="132588" cy="237744"/>
          </a:xfrm>
          <a:prstGeom prst="rect">
            <a:avLst/>
          </a:prstGeom>
          <a:solidFill>
            <a:srgbClr val="B8C2D3"/>
          </a:solidFill>
          <a:ln/>
        </p:spPr>
      </p:sp>
      <p:sp>
        <p:nvSpPr>
          <p:cNvPr id="33" name="Shape 24"/>
          <p:cNvSpPr/>
          <p:nvPr/>
        </p:nvSpPr>
        <p:spPr>
          <a:xfrm>
            <a:off x="1203350" y="4242816"/>
            <a:ext cx="132588" cy="329184"/>
          </a:xfrm>
          <a:prstGeom prst="rect">
            <a:avLst/>
          </a:prstGeom>
          <a:solidFill>
            <a:srgbClr val="B8C2D3"/>
          </a:solidFill>
          <a:ln/>
        </p:spPr>
      </p:sp>
      <p:sp>
        <p:nvSpPr>
          <p:cNvPr id="34" name="Shape 25"/>
          <p:cNvSpPr/>
          <p:nvPr/>
        </p:nvSpPr>
        <p:spPr>
          <a:xfrm>
            <a:off x="1347826" y="4425696"/>
            <a:ext cx="132588" cy="146304"/>
          </a:xfrm>
          <a:prstGeom prst="rect">
            <a:avLst/>
          </a:prstGeom>
          <a:solidFill>
            <a:srgbClr val="B8C2D3"/>
          </a:solidFill>
          <a:ln/>
        </p:spPr>
      </p:sp>
      <p:sp>
        <p:nvSpPr>
          <p:cNvPr id="35" name="Shape 26"/>
          <p:cNvSpPr/>
          <p:nvPr/>
        </p:nvSpPr>
        <p:spPr>
          <a:xfrm>
            <a:off x="1492301" y="4334256"/>
            <a:ext cx="132588" cy="237744"/>
          </a:xfrm>
          <a:prstGeom prst="rect">
            <a:avLst/>
          </a:prstGeom>
          <a:solidFill>
            <a:srgbClr val="B8C2D3"/>
          </a:solidFill>
          <a:ln/>
        </p:spPr>
      </p:sp>
      <p:sp>
        <p:nvSpPr>
          <p:cNvPr id="36" name="Shape 27"/>
          <p:cNvSpPr/>
          <p:nvPr/>
        </p:nvSpPr>
        <p:spPr>
          <a:xfrm>
            <a:off x="1636776" y="4242816"/>
            <a:ext cx="132588" cy="329184"/>
          </a:xfrm>
          <a:prstGeom prst="rect">
            <a:avLst/>
          </a:prstGeom>
          <a:solidFill>
            <a:srgbClr val="B8C2D3"/>
          </a:solidFill>
          <a:ln/>
        </p:spPr>
      </p:sp>
      <p:sp>
        <p:nvSpPr>
          <p:cNvPr id="37" name="Shape 28"/>
          <p:cNvSpPr/>
          <p:nvPr/>
        </p:nvSpPr>
        <p:spPr>
          <a:xfrm>
            <a:off x="1781251" y="4425696"/>
            <a:ext cx="132588" cy="146304"/>
          </a:xfrm>
          <a:prstGeom prst="rect">
            <a:avLst/>
          </a:prstGeom>
          <a:solidFill>
            <a:srgbClr val="B8C2D3"/>
          </a:solidFill>
          <a:ln/>
        </p:spPr>
      </p:sp>
      <p:sp>
        <p:nvSpPr>
          <p:cNvPr id="38" name="Shape 29"/>
          <p:cNvSpPr/>
          <p:nvPr/>
        </p:nvSpPr>
        <p:spPr>
          <a:xfrm>
            <a:off x="1925726" y="4334256"/>
            <a:ext cx="132588" cy="237744"/>
          </a:xfrm>
          <a:prstGeom prst="rect">
            <a:avLst/>
          </a:prstGeom>
          <a:solidFill>
            <a:srgbClr val="B8C2D3"/>
          </a:solidFill>
          <a:ln/>
        </p:spPr>
      </p:sp>
      <p:sp>
        <p:nvSpPr>
          <p:cNvPr id="39" name="Shape 30"/>
          <p:cNvSpPr/>
          <p:nvPr/>
        </p:nvSpPr>
        <p:spPr>
          <a:xfrm>
            <a:off x="2070202" y="3438144"/>
            <a:ext cx="132588" cy="1133856"/>
          </a:xfrm>
          <a:prstGeom prst="rect">
            <a:avLst/>
          </a:prstGeom>
          <a:solidFill>
            <a:srgbClr val="B8C2D3"/>
          </a:solidFill>
          <a:ln/>
        </p:spPr>
      </p:sp>
      <p:sp>
        <p:nvSpPr>
          <p:cNvPr id="40" name="Shape 31"/>
          <p:cNvSpPr/>
          <p:nvPr/>
        </p:nvSpPr>
        <p:spPr>
          <a:xfrm>
            <a:off x="2214677" y="4425696"/>
            <a:ext cx="132588" cy="146304"/>
          </a:xfrm>
          <a:prstGeom prst="rect">
            <a:avLst/>
          </a:prstGeom>
          <a:solidFill>
            <a:srgbClr val="B8C2D3"/>
          </a:solidFill>
          <a:ln/>
        </p:spPr>
      </p:sp>
      <p:sp>
        <p:nvSpPr>
          <p:cNvPr id="41" name="Shape 32"/>
          <p:cNvSpPr/>
          <p:nvPr/>
        </p:nvSpPr>
        <p:spPr>
          <a:xfrm>
            <a:off x="2359152" y="4114800"/>
            <a:ext cx="132588" cy="457200"/>
          </a:xfrm>
          <a:prstGeom prst="rect">
            <a:avLst/>
          </a:prstGeom>
          <a:solidFill>
            <a:srgbClr val="B8C2D3"/>
          </a:solidFill>
          <a:ln/>
        </p:spPr>
      </p:sp>
      <p:sp>
        <p:nvSpPr>
          <p:cNvPr id="42" name="Shape 33"/>
          <p:cNvSpPr/>
          <p:nvPr/>
        </p:nvSpPr>
        <p:spPr>
          <a:xfrm>
            <a:off x="2503627" y="3383280"/>
            <a:ext cx="132588" cy="1188720"/>
          </a:xfrm>
          <a:prstGeom prst="rect">
            <a:avLst/>
          </a:prstGeom>
          <a:solidFill>
            <a:srgbClr val="1E3A6E"/>
          </a:solidFill>
          <a:ln/>
        </p:spPr>
      </p:sp>
      <p:sp>
        <p:nvSpPr>
          <p:cNvPr id="43" name="Shape 34"/>
          <p:cNvSpPr/>
          <p:nvPr/>
        </p:nvSpPr>
        <p:spPr>
          <a:xfrm>
            <a:off x="2648102" y="2834640"/>
            <a:ext cx="132588" cy="1737360"/>
          </a:xfrm>
          <a:prstGeom prst="rect">
            <a:avLst/>
          </a:prstGeom>
          <a:solidFill>
            <a:srgbClr val="1E3A6E"/>
          </a:solidFill>
          <a:ln/>
        </p:spPr>
      </p:sp>
      <p:sp>
        <p:nvSpPr>
          <p:cNvPr id="44" name="Shape 35"/>
          <p:cNvSpPr/>
          <p:nvPr/>
        </p:nvSpPr>
        <p:spPr>
          <a:xfrm>
            <a:off x="2792578" y="2651760"/>
            <a:ext cx="132588" cy="1920240"/>
          </a:xfrm>
          <a:prstGeom prst="rect">
            <a:avLst/>
          </a:prstGeom>
          <a:solidFill>
            <a:srgbClr val="1E3A6E"/>
          </a:solidFill>
          <a:ln/>
        </p:spPr>
      </p:sp>
      <p:sp>
        <p:nvSpPr>
          <p:cNvPr id="45" name="Shape 36"/>
          <p:cNvSpPr/>
          <p:nvPr/>
        </p:nvSpPr>
        <p:spPr>
          <a:xfrm>
            <a:off x="2937053" y="2468880"/>
            <a:ext cx="132588" cy="2103120"/>
          </a:xfrm>
          <a:prstGeom prst="rect">
            <a:avLst/>
          </a:prstGeom>
          <a:solidFill>
            <a:srgbClr val="1E3A6E"/>
          </a:solidFill>
          <a:ln/>
        </p:spPr>
      </p:sp>
      <p:sp>
        <p:nvSpPr>
          <p:cNvPr id="46" name="Shape 37"/>
          <p:cNvSpPr/>
          <p:nvPr/>
        </p:nvSpPr>
        <p:spPr>
          <a:xfrm>
            <a:off x="3081528" y="2560320"/>
            <a:ext cx="132588" cy="2011680"/>
          </a:xfrm>
          <a:prstGeom prst="rect">
            <a:avLst/>
          </a:prstGeom>
          <a:solidFill>
            <a:srgbClr val="1E3A6E"/>
          </a:solidFill>
          <a:ln/>
        </p:spPr>
      </p:sp>
      <p:sp>
        <p:nvSpPr>
          <p:cNvPr id="47" name="Shape 38"/>
          <p:cNvSpPr/>
          <p:nvPr/>
        </p:nvSpPr>
        <p:spPr>
          <a:xfrm>
            <a:off x="3226003" y="2743200"/>
            <a:ext cx="132588" cy="1828800"/>
          </a:xfrm>
          <a:prstGeom prst="rect">
            <a:avLst/>
          </a:prstGeom>
          <a:solidFill>
            <a:srgbClr val="1E3A6E"/>
          </a:solidFill>
          <a:ln/>
        </p:spPr>
      </p:sp>
      <p:sp>
        <p:nvSpPr>
          <p:cNvPr id="48" name="Shape 39"/>
          <p:cNvSpPr/>
          <p:nvPr/>
        </p:nvSpPr>
        <p:spPr>
          <a:xfrm>
            <a:off x="3370478" y="2560320"/>
            <a:ext cx="132588" cy="2011680"/>
          </a:xfrm>
          <a:prstGeom prst="rect">
            <a:avLst/>
          </a:prstGeom>
          <a:solidFill>
            <a:srgbClr val="1E3A6E"/>
          </a:solidFill>
          <a:ln/>
        </p:spPr>
      </p:sp>
      <p:sp>
        <p:nvSpPr>
          <p:cNvPr id="49" name="Shape 40"/>
          <p:cNvSpPr/>
          <p:nvPr/>
        </p:nvSpPr>
        <p:spPr>
          <a:xfrm>
            <a:off x="3514954" y="2651760"/>
            <a:ext cx="132588" cy="1920240"/>
          </a:xfrm>
          <a:prstGeom prst="rect">
            <a:avLst/>
          </a:prstGeom>
          <a:solidFill>
            <a:srgbClr val="1E3A6E"/>
          </a:solidFill>
          <a:ln/>
        </p:spPr>
      </p:sp>
      <p:sp>
        <p:nvSpPr>
          <p:cNvPr id="50" name="Shape 41"/>
          <p:cNvSpPr/>
          <p:nvPr/>
        </p:nvSpPr>
        <p:spPr>
          <a:xfrm>
            <a:off x="3659429" y="2834640"/>
            <a:ext cx="132588" cy="1737360"/>
          </a:xfrm>
          <a:prstGeom prst="rect">
            <a:avLst/>
          </a:prstGeom>
          <a:solidFill>
            <a:srgbClr val="1E3A6E"/>
          </a:solidFill>
          <a:ln/>
        </p:spPr>
      </p:sp>
      <p:sp>
        <p:nvSpPr>
          <p:cNvPr id="51" name="Shape 42"/>
          <p:cNvSpPr/>
          <p:nvPr/>
        </p:nvSpPr>
        <p:spPr>
          <a:xfrm>
            <a:off x="3803904" y="2926080"/>
            <a:ext cx="132588" cy="1645920"/>
          </a:xfrm>
          <a:prstGeom prst="rect">
            <a:avLst/>
          </a:prstGeom>
          <a:solidFill>
            <a:srgbClr val="1E3A6E"/>
          </a:solidFill>
          <a:ln/>
        </p:spPr>
      </p:sp>
      <p:sp>
        <p:nvSpPr>
          <p:cNvPr id="52" name="Shape 43"/>
          <p:cNvSpPr/>
          <p:nvPr/>
        </p:nvSpPr>
        <p:spPr>
          <a:xfrm>
            <a:off x="3948379" y="3108960"/>
            <a:ext cx="132588" cy="1463040"/>
          </a:xfrm>
          <a:prstGeom prst="rect">
            <a:avLst/>
          </a:prstGeom>
          <a:solidFill>
            <a:srgbClr val="1E3A6E"/>
          </a:solidFill>
          <a:ln/>
        </p:spPr>
      </p:sp>
      <p:sp>
        <p:nvSpPr>
          <p:cNvPr id="53" name="Shape 44"/>
          <p:cNvSpPr/>
          <p:nvPr/>
        </p:nvSpPr>
        <p:spPr>
          <a:xfrm>
            <a:off x="4092854" y="3474720"/>
            <a:ext cx="132588" cy="1097280"/>
          </a:xfrm>
          <a:prstGeom prst="rect">
            <a:avLst/>
          </a:prstGeom>
          <a:solidFill>
            <a:srgbClr val="1E3A6E"/>
          </a:solidFill>
          <a:ln/>
        </p:spPr>
      </p:sp>
      <p:sp>
        <p:nvSpPr>
          <p:cNvPr id="54" name="Shape 45"/>
          <p:cNvSpPr/>
          <p:nvPr/>
        </p:nvSpPr>
        <p:spPr>
          <a:xfrm>
            <a:off x="4237330" y="3840480"/>
            <a:ext cx="132588" cy="731520"/>
          </a:xfrm>
          <a:prstGeom prst="rect">
            <a:avLst/>
          </a:prstGeom>
          <a:solidFill>
            <a:srgbClr val="1E3A6E"/>
          </a:solidFill>
          <a:ln/>
        </p:spPr>
      </p:sp>
      <p:sp>
        <p:nvSpPr>
          <p:cNvPr id="55" name="Shape 46"/>
          <p:cNvSpPr/>
          <p:nvPr/>
        </p:nvSpPr>
        <p:spPr>
          <a:xfrm>
            <a:off x="4381805" y="4206240"/>
            <a:ext cx="132588" cy="365760"/>
          </a:xfrm>
          <a:prstGeom prst="rect">
            <a:avLst/>
          </a:prstGeom>
          <a:solidFill>
            <a:srgbClr val="B8C2D3"/>
          </a:solidFill>
          <a:ln/>
        </p:spPr>
      </p:sp>
      <p:sp>
        <p:nvSpPr>
          <p:cNvPr id="56" name="Shape 47"/>
          <p:cNvSpPr/>
          <p:nvPr/>
        </p:nvSpPr>
        <p:spPr>
          <a:xfrm>
            <a:off x="4526280" y="4334256"/>
            <a:ext cx="132588" cy="237744"/>
          </a:xfrm>
          <a:prstGeom prst="rect">
            <a:avLst/>
          </a:prstGeom>
          <a:solidFill>
            <a:srgbClr val="B8C2D3"/>
          </a:solidFill>
          <a:ln/>
        </p:spPr>
      </p:sp>
      <p:sp>
        <p:nvSpPr>
          <p:cNvPr id="57" name="Shape 48"/>
          <p:cNvSpPr/>
          <p:nvPr/>
        </p:nvSpPr>
        <p:spPr>
          <a:xfrm>
            <a:off x="4670755" y="4242816"/>
            <a:ext cx="132588" cy="329184"/>
          </a:xfrm>
          <a:prstGeom prst="rect">
            <a:avLst/>
          </a:prstGeom>
          <a:solidFill>
            <a:srgbClr val="B8C2D3"/>
          </a:solidFill>
          <a:ln/>
        </p:spPr>
      </p:sp>
      <p:sp>
        <p:nvSpPr>
          <p:cNvPr id="58" name="Shape 49"/>
          <p:cNvSpPr/>
          <p:nvPr/>
        </p:nvSpPr>
        <p:spPr>
          <a:xfrm>
            <a:off x="4815230" y="4425696"/>
            <a:ext cx="132588" cy="146304"/>
          </a:xfrm>
          <a:prstGeom prst="rect">
            <a:avLst/>
          </a:prstGeom>
          <a:solidFill>
            <a:srgbClr val="B8C2D3"/>
          </a:solidFill>
          <a:ln/>
        </p:spPr>
      </p:sp>
      <p:sp>
        <p:nvSpPr>
          <p:cNvPr id="59" name="Shape 50"/>
          <p:cNvSpPr/>
          <p:nvPr/>
        </p:nvSpPr>
        <p:spPr>
          <a:xfrm>
            <a:off x="4959706" y="4334256"/>
            <a:ext cx="132588" cy="237744"/>
          </a:xfrm>
          <a:prstGeom prst="rect">
            <a:avLst/>
          </a:prstGeom>
          <a:solidFill>
            <a:srgbClr val="B8C2D3"/>
          </a:solidFill>
          <a:ln/>
        </p:spPr>
      </p:sp>
      <p:sp>
        <p:nvSpPr>
          <p:cNvPr id="60" name="Shape 51"/>
          <p:cNvSpPr/>
          <p:nvPr/>
        </p:nvSpPr>
        <p:spPr>
          <a:xfrm>
            <a:off x="5104181" y="4242816"/>
            <a:ext cx="132588" cy="329184"/>
          </a:xfrm>
          <a:prstGeom prst="rect">
            <a:avLst/>
          </a:prstGeom>
          <a:solidFill>
            <a:srgbClr val="B8C2D3"/>
          </a:solidFill>
          <a:ln/>
        </p:spPr>
      </p:sp>
      <p:sp>
        <p:nvSpPr>
          <p:cNvPr id="61" name="Shape 52"/>
          <p:cNvSpPr/>
          <p:nvPr/>
        </p:nvSpPr>
        <p:spPr>
          <a:xfrm>
            <a:off x="5248656" y="4425696"/>
            <a:ext cx="132588" cy="146304"/>
          </a:xfrm>
          <a:prstGeom prst="rect">
            <a:avLst/>
          </a:prstGeom>
          <a:solidFill>
            <a:srgbClr val="B8C2D3"/>
          </a:solidFill>
          <a:ln/>
        </p:spPr>
      </p:sp>
      <p:sp>
        <p:nvSpPr>
          <p:cNvPr id="62" name="Shape 53"/>
          <p:cNvSpPr/>
          <p:nvPr/>
        </p:nvSpPr>
        <p:spPr>
          <a:xfrm>
            <a:off x="5393131" y="4023360"/>
            <a:ext cx="132588" cy="548640"/>
          </a:xfrm>
          <a:prstGeom prst="rect">
            <a:avLst/>
          </a:prstGeom>
          <a:solidFill>
            <a:srgbClr val="B8C2D3"/>
          </a:solidFill>
          <a:ln/>
        </p:spPr>
      </p:sp>
      <p:sp>
        <p:nvSpPr>
          <p:cNvPr id="63" name="Shape 54"/>
          <p:cNvSpPr/>
          <p:nvPr/>
        </p:nvSpPr>
        <p:spPr>
          <a:xfrm>
            <a:off x="5537606" y="3291840"/>
            <a:ext cx="132588" cy="1280160"/>
          </a:xfrm>
          <a:prstGeom prst="rect">
            <a:avLst/>
          </a:prstGeom>
          <a:solidFill>
            <a:srgbClr val="1E3A6E"/>
          </a:solidFill>
          <a:ln/>
        </p:spPr>
      </p:sp>
      <p:sp>
        <p:nvSpPr>
          <p:cNvPr id="64" name="Shape 55"/>
          <p:cNvSpPr/>
          <p:nvPr/>
        </p:nvSpPr>
        <p:spPr>
          <a:xfrm>
            <a:off x="5682082" y="2743200"/>
            <a:ext cx="132588" cy="1828800"/>
          </a:xfrm>
          <a:prstGeom prst="rect">
            <a:avLst/>
          </a:prstGeom>
          <a:solidFill>
            <a:srgbClr val="1E3A6E"/>
          </a:solidFill>
          <a:ln/>
        </p:spPr>
      </p:sp>
      <p:sp>
        <p:nvSpPr>
          <p:cNvPr id="65" name="Shape 56"/>
          <p:cNvSpPr/>
          <p:nvPr/>
        </p:nvSpPr>
        <p:spPr>
          <a:xfrm>
            <a:off x="5826557" y="2560320"/>
            <a:ext cx="132588" cy="2011680"/>
          </a:xfrm>
          <a:prstGeom prst="rect">
            <a:avLst/>
          </a:prstGeom>
          <a:solidFill>
            <a:srgbClr val="1E3A6E"/>
          </a:solidFill>
          <a:ln/>
        </p:spPr>
      </p:sp>
      <p:sp>
        <p:nvSpPr>
          <p:cNvPr id="66" name="Shape 57"/>
          <p:cNvSpPr/>
          <p:nvPr/>
        </p:nvSpPr>
        <p:spPr>
          <a:xfrm>
            <a:off x="5971032" y="2377440"/>
            <a:ext cx="132588" cy="2194560"/>
          </a:xfrm>
          <a:prstGeom prst="rect">
            <a:avLst/>
          </a:prstGeom>
          <a:solidFill>
            <a:srgbClr val="1E3A6E"/>
          </a:solidFill>
          <a:ln/>
        </p:spPr>
      </p:sp>
      <p:sp>
        <p:nvSpPr>
          <p:cNvPr id="67" name="Shape 58"/>
          <p:cNvSpPr/>
          <p:nvPr/>
        </p:nvSpPr>
        <p:spPr>
          <a:xfrm>
            <a:off x="6115507" y="2651760"/>
            <a:ext cx="132588" cy="1920240"/>
          </a:xfrm>
          <a:prstGeom prst="rect">
            <a:avLst/>
          </a:prstGeom>
          <a:solidFill>
            <a:srgbClr val="1E3A6E"/>
          </a:solidFill>
          <a:ln/>
        </p:spPr>
      </p:sp>
      <p:sp>
        <p:nvSpPr>
          <p:cNvPr id="68" name="Shape 59"/>
          <p:cNvSpPr/>
          <p:nvPr/>
        </p:nvSpPr>
        <p:spPr>
          <a:xfrm>
            <a:off x="6259982" y="2743200"/>
            <a:ext cx="132588" cy="1828800"/>
          </a:xfrm>
          <a:prstGeom prst="rect">
            <a:avLst/>
          </a:prstGeom>
          <a:solidFill>
            <a:srgbClr val="1E3A6E"/>
          </a:solidFill>
          <a:ln/>
        </p:spPr>
      </p:sp>
      <p:sp>
        <p:nvSpPr>
          <p:cNvPr id="69" name="Shape 60"/>
          <p:cNvSpPr/>
          <p:nvPr/>
        </p:nvSpPr>
        <p:spPr>
          <a:xfrm>
            <a:off x="6404458" y="2560320"/>
            <a:ext cx="132588" cy="2011680"/>
          </a:xfrm>
          <a:prstGeom prst="rect">
            <a:avLst/>
          </a:prstGeom>
          <a:solidFill>
            <a:srgbClr val="1E3A6E"/>
          </a:solidFill>
          <a:ln/>
        </p:spPr>
      </p:sp>
      <p:sp>
        <p:nvSpPr>
          <p:cNvPr id="70" name="Shape 61"/>
          <p:cNvSpPr/>
          <p:nvPr/>
        </p:nvSpPr>
        <p:spPr>
          <a:xfrm>
            <a:off x="6548933" y="2926080"/>
            <a:ext cx="132588" cy="1645920"/>
          </a:xfrm>
          <a:prstGeom prst="rect">
            <a:avLst/>
          </a:prstGeom>
          <a:solidFill>
            <a:srgbClr val="1E3A6E"/>
          </a:solidFill>
          <a:ln/>
        </p:spPr>
      </p:sp>
      <p:sp>
        <p:nvSpPr>
          <p:cNvPr id="71" name="Shape 62"/>
          <p:cNvSpPr/>
          <p:nvPr/>
        </p:nvSpPr>
        <p:spPr>
          <a:xfrm>
            <a:off x="6693408" y="3291840"/>
            <a:ext cx="132588" cy="1280160"/>
          </a:xfrm>
          <a:prstGeom prst="rect">
            <a:avLst/>
          </a:prstGeom>
          <a:solidFill>
            <a:srgbClr val="1E3A6E"/>
          </a:solidFill>
          <a:ln/>
        </p:spPr>
      </p:sp>
      <p:sp>
        <p:nvSpPr>
          <p:cNvPr id="72" name="Shape 63"/>
          <p:cNvSpPr/>
          <p:nvPr/>
        </p:nvSpPr>
        <p:spPr>
          <a:xfrm>
            <a:off x="6837883" y="3749040"/>
            <a:ext cx="132588" cy="822960"/>
          </a:xfrm>
          <a:prstGeom prst="rect">
            <a:avLst/>
          </a:prstGeom>
          <a:solidFill>
            <a:srgbClr val="1E3A6E"/>
          </a:solidFill>
          <a:ln/>
        </p:spPr>
      </p:sp>
      <p:sp>
        <p:nvSpPr>
          <p:cNvPr id="73" name="Shape 64"/>
          <p:cNvSpPr/>
          <p:nvPr/>
        </p:nvSpPr>
        <p:spPr>
          <a:xfrm>
            <a:off x="6982358" y="4114800"/>
            <a:ext cx="132588" cy="457200"/>
          </a:xfrm>
          <a:prstGeom prst="rect">
            <a:avLst/>
          </a:prstGeom>
          <a:solidFill>
            <a:srgbClr val="B8C2D3"/>
          </a:solidFill>
          <a:ln/>
        </p:spPr>
      </p:sp>
      <p:sp>
        <p:nvSpPr>
          <p:cNvPr id="74" name="Shape 65"/>
          <p:cNvSpPr/>
          <p:nvPr/>
        </p:nvSpPr>
        <p:spPr>
          <a:xfrm>
            <a:off x="7126834" y="4334256"/>
            <a:ext cx="132588" cy="237744"/>
          </a:xfrm>
          <a:prstGeom prst="rect">
            <a:avLst/>
          </a:prstGeom>
          <a:solidFill>
            <a:srgbClr val="B8C2D3"/>
          </a:solidFill>
          <a:ln/>
        </p:spPr>
      </p:sp>
      <p:sp>
        <p:nvSpPr>
          <p:cNvPr id="75" name="Shape 66"/>
          <p:cNvSpPr/>
          <p:nvPr/>
        </p:nvSpPr>
        <p:spPr>
          <a:xfrm>
            <a:off x="7271309" y="4242816"/>
            <a:ext cx="132588" cy="329184"/>
          </a:xfrm>
          <a:prstGeom prst="rect">
            <a:avLst/>
          </a:prstGeom>
          <a:solidFill>
            <a:srgbClr val="B8C2D3"/>
          </a:solidFill>
          <a:ln/>
        </p:spPr>
      </p:sp>
      <p:sp>
        <p:nvSpPr>
          <p:cNvPr id="76" name="Shape 67"/>
          <p:cNvSpPr/>
          <p:nvPr/>
        </p:nvSpPr>
        <p:spPr>
          <a:xfrm>
            <a:off x="7415784" y="4425696"/>
            <a:ext cx="132588" cy="146304"/>
          </a:xfrm>
          <a:prstGeom prst="rect">
            <a:avLst/>
          </a:prstGeom>
          <a:solidFill>
            <a:srgbClr val="B8C2D3"/>
          </a:solidFill>
          <a:ln/>
        </p:spPr>
      </p:sp>
      <p:sp>
        <p:nvSpPr>
          <p:cNvPr id="77" name="Shape 68"/>
          <p:cNvSpPr/>
          <p:nvPr/>
        </p:nvSpPr>
        <p:spPr>
          <a:xfrm>
            <a:off x="7560259" y="4334256"/>
            <a:ext cx="132588" cy="237744"/>
          </a:xfrm>
          <a:prstGeom prst="rect">
            <a:avLst/>
          </a:prstGeom>
          <a:solidFill>
            <a:srgbClr val="B8C2D3"/>
          </a:solidFill>
          <a:ln/>
        </p:spPr>
      </p:sp>
      <p:sp>
        <p:nvSpPr>
          <p:cNvPr id="78" name="Shape 69"/>
          <p:cNvSpPr/>
          <p:nvPr/>
        </p:nvSpPr>
        <p:spPr>
          <a:xfrm>
            <a:off x="7704734" y="4242816"/>
            <a:ext cx="132588" cy="329184"/>
          </a:xfrm>
          <a:prstGeom prst="rect">
            <a:avLst/>
          </a:prstGeom>
          <a:solidFill>
            <a:srgbClr val="B8C2D3"/>
          </a:solidFill>
          <a:ln/>
        </p:spPr>
      </p:sp>
      <p:sp>
        <p:nvSpPr>
          <p:cNvPr id="79" name="Shape 70"/>
          <p:cNvSpPr/>
          <p:nvPr/>
        </p:nvSpPr>
        <p:spPr>
          <a:xfrm>
            <a:off x="822960" y="3566160"/>
            <a:ext cx="6949440" cy="0"/>
          </a:xfrm>
          <a:prstGeom prst="line">
            <a:avLst/>
          </a:prstGeom>
          <a:noFill/>
          <a:ln w="22225">
            <a:solidFill>
              <a:srgbClr val="C0392B"/>
            </a:solidFill>
            <a:prstDash val="dash"/>
          </a:ln>
        </p:spPr>
      </p:sp>
      <p:sp>
        <p:nvSpPr>
          <p:cNvPr id="80" name="Shape 71"/>
          <p:cNvSpPr/>
          <p:nvPr/>
        </p:nvSpPr>
        <p:spPr>
          <a:xfrm>
            <a:off x="822960" y="3931920"/>
            <a:ext cx="6949440" cy="0"/>
          </a:xfrm>
          <a:prstGeom prst="line">
            <a:avLst/>
          </a:prstGeom>
          <a:noFill/>
          <a:ln w="22225">
            <a:solidFill>
              <a:srgbClr val="3776AB"/>
            </a:solidFill>
            <a:prstDash val="dash"/>
          </a:ln>
        </p:spPr>
      </p:sp>
      <p:sp>
        <p:nvSpPr>
          <p:cNvPr id="81" name="Text 72"/>
          <p:cNvSpPr txBox="1"/>
          <p:nvPr/>
        </p:nvSpPr>
        <p:spPr>
          <a:xfrm>
            <a:off x="6035040" y="3291840"/>
            <a:ext cx="1737360" cy="228600"/>
          </a:xfrm>
          <a:prstGeom prst="rect">
            <a:avLst/>
          </a:prstGeom>
          <a:noFill/>
          <a:ln/>
        </p:spPr>
        <p:txBody>
          <a:bodyPr wrap="square" lIns="0" tIns="0" rIns="0" bIns="0" rtlCol="0" anchor="t"/>
          <a:lstStyle/>
          <a:p>
            <a:pPr algn="r" indent="0" marL="0">
              <a:buNone/>
            </a:pPr>
            <a:r>
              <a:rPr lang="en-US" sz="1200" b="1" dirty="0">
                <a:solidFill>
                  <a:srgbClr val="C0392B"/>
                </a:solidFill>
                <a:latin typeface="Arial" pitchFamily="34" charset="0"/>
                <a:ea typeface="Arial" pitchFamily="34" charset="-122"/>
                <a:cs typeface="Arial" pitchFamily="34" charset="-120"/>
              </a:rPr>
              <a:t>enter speed</a:t>
            </a:r>
            <a:endParaRPr lang="en-US" sz="1200" dirty="0"/>
          </a:p>
        </p:txBody>
      </p:sp>
      <p:sp>
        <p:nvSpPr>
          <p:cNvPr id="82" name="Text 73"/>
          <p:cNvSpPr txBox="1"/>
          <p:nvPr/>
        </p:nvSpPr>
        <p:spPr>
          <a:xfrm>
            <a:off x="6035040" y="3968496"/>
            <a:ext cx="1737360" cy="228600"/>
          </a:xfrm>
          <a:prstGeom prst="rect">
            <a:avLst/>
          </a:prstGeom>
          <a:noFill/>
          <a:ln/>
        </p:spPr>
        <p:txBody>
          <a:bodyPr wrap="square" lIns="0" tIns="0" rIns="0" bIns="0" rtlCol="0" anchor="t"/>
          <a:lstStyle/>
          <a:p>
            <a:pPr algn="r" indent="0" marL="0">
              <a:buNone/>
            </a:pPr>
            <a:r>
              <a:rPr lang="en-US" sz="1200" b="1" dirty="0">
                <a:solidFill>
                  <a:srgbClr val="3776AB"/>
                </a:solidFill>
                <a:latin typeface="Arial" pitchFamily="34" charset="0"/>
                <a:ea typeface="Arial" pitchFamily="34" charset="-122"/>
                <a:cs typeface="Arial" pitchFamily="34" charset="-120"/>
              </a:rPr>
              <a:t>exit speed</a:t>
            </a:r>
            <a:endParaRPr lang="en-US" sz="1200" dirty="0"/>
          </a:p>
        </p:txBody>
      </p:sp>
      <p:sp>
        <p:nvSpPr>
          <p:cNvPr id="83" name="Text 74"/>
          <p:cNvSpPr txBox="1"/>
          <p:nvPr/>
        </p:nvSpPr>
        <p:spPr>
          <a:xfrm>
            <a:off x="1097280" y="2148840"/>
            <a:ext cx="2103120" cy="274320"/>
          </a:xfrm>
          <a:prstGeom prst="rect">
            <a:avLst/>
          </a:prstGeom>
          <a:noFill/>
          <a:ln/>
        </p:spPr>
        <p:txBody>
          <a:bodyPr wrap="square" lIns="0" tIns="0" rIns="0" bIns="0" rtlCol="0" anchor="t"/>
          <a:lstStyle/>
          <a:p>
            <a:pPr indent="0" marL="0">
              <a:buNone/>
            </a:pPr>
            <a:r>
              <a:rPr lang="en-US" sz="1200" b="1" dirty="0">
                <a:solidFill>
                  <a:srgbClr val="C0392B"/>
                </a:solidFill>
                <a:latin typeface="Arial" pitchFamily="34" charset="0"/>
                <a:ea typeface="Arial" pitchFamily="34" charset="-122"/>
                <a:cs typeface="Arial" pitchFamily="34" charset="-120"/>
              </a:rPr>
              <a:t>tiny twitch, ignored</a:t>
            </a:r>
            <a:endParaRPr lang="en-US" sz="1200" dirty="0"/>
          </a:p>
        </p:txBody>
      </p:sp>
      <p:sp>
        <p:nvSpPr>
          <p:cNvPr id="84" name="Shape 75"/>
          <p:cNvSpPr/>
          <p:nvPr/>
        </p:nvSpPr>
        <p:spPr>
          <a:xfrm flipH="1">
            <a:off x="2103120" y="2423160"/>
            <a:ext cx="91440" cy="969264"/>
          </a:xfrm>
          <a:prstGeom prst="line">
            <a:avLst/>
          </a:prstGeom>
          <a:noFill/>
          <a:ln w="15875">
            <a:solidFill>
              <a:srgbClr val="C0392B"/>
            </a:solidFill>
            <a:prstDash val="solid"/>
            <a:tailEnd type="triangle"/>
          </a:ln>
        </p:spPr>
      </p:sp>
      <p:sp>
        <p:nvSpPr>
          <p:cNvPr id="85" name="Shape 76"/>
          <p:cNvSpPr/>
          <p:nvPr/>
        </p:nvSpPr>
        <p:spPr>
          <a:xfrm>
            <a:off x="2503627" y="2194560"/>
            <a:ext cx="433426" cy="0"/>
          </a:xfrm>
          <a:prstGeom prst="line">
            <a:avLst/>
          </a:prstGeom>
          <a:noFill/>
          <a:ln w="25400">
            <a:solidFill>
              <a:srgbClr val="1E3A6E"/>
            </a:solidFill>
            <a:prstDash val="solid"/>
          </a:ln>
        </p:spPr>
      </p:sp>
      <p:sp>
        <p:nvSpPr>
          <p:cNvPr id="86" name="Shape 77"/>
          <p:cNvSpPr/>
          <p:nvPr/>
        </p:nvSpPr>
        <p:spPr>
          <a:xfrm>
            <a:off x="2503627" y="2103120"/>
            <a:ext cx="0" cy="182880"/>
          </a:xfrm>
          <a:prstGeom prst="line">
            <a:avLst/>
          </a:prstGeom>
          <a:noFill/>
          <a:ln w="25400">
            <a:solidFill>
              <a:srgbClr val="1E3A6E"/>
            </a:solidFill>
            <a:prstDash val="solid"/>
          </a:ln>
        </p:spPr>
      </p:sp>
      <p:sp>
        <p:nvSpPr>
          <p:cNvPr id="87" name="Shape 78"/>
          <p:cNvSpPr/>
          <p:nvPr/>
        </p:nvSpPr>
        <p:spPr>
          <a:xfrm>
            <a:off x="2937053" y="2103120"/>
            <a:ext cx="0" cy="182880"/>
          </a:xfrm>
          <a:prstGeom prst="line">
            <a:avLst/>
          </a:prstGeom>
          <a:noFill/>
          <a:ln w="25400">
            <a:solidFill>
              <a:srgbClr val="1E3A6E"/>
            </a:solidFill>
            <a:prstDash val="solid"/>
          </a:ln>
        </p:spPr>
      </p:sp>
      <p:sp>
        <p:nvSpPr>
          <p:cNvPr id="88" name="Text 79"/>
          <p:cNvSpPr txBox="1"/>
          <p:nvPr/>
        </p:nvSpPr>
        <p:spPr>
          <a:xfrm>
            <a:off x="2137867" y="1874520"/>
            <a:ext cx="1371600" cy="228600"/>
          </a:xfrm>
          <a:prstGeom prst="rect">
            <a:avLst/>
          </a:prstGeom>
          <a:noFill/>
          <a:ln/>
        </p:spPr>
        <p:txBody>
          <a:bodyPr wrap="square" lIns="0" tIns="0" rIns="0" bIns="0" rtlCol="0" anchor="t"/>
          <a:lstStyle/>
          <a:p>
            <a:pPr indent="0" marL="0">
              <a:buNone/>
            </a:pPr>
            <a:r>
              <a:rPr lang="en-US" sz="1200" b="1" dirty="0">
                <a:solidFill>
                  <a:srgbClr val="1E3A6E"/>
                </a:solidFill>
                <a:latin typeface="Arial" pitchFamily="34" charset="0"/>
                <a:ea typeface="Arial" pitchFamily="34" charset="-122"/>
                <a:cs typeface="Arial" pitchFamily="34" charset="-120"/>
              </a:rPr>
              <a:t>hold time</a:t>
            </a:r>
            <a:endParaRPr lang="en-US" sz="1200" dirty="0"/>
          </a:p>
        </p:txBody>
      </p:sp>
      <p:sp>
        <p:nvSpPr>
          <p:cNvPr id="89" name="Text 80"/>
          <p:cNvSpPr txBox="1"/>
          <p:nvPr/>
        </p:nvSpPr>
        <p:spPr>
          <a:xfrm>
            <a:off x="640080" y="4892040"/>
            <a:ext cx="640080" cy="274320"/>
          </a:xfrm>
          <a:prstGeom prst="rect">
            <a:avLst/>
          </a:prstGeom>
          <a:noFill/>
          <a:ln/>
        </p:spPr>
        <p:txBody>
          <a:bodyPr wrap="square" lIns="0" tIns="0" rIns="0" bIns="0" rtlCol="0" anchor="t"/>
          <a:lstStyle/>
          <a:p>
            <a:pPr indent="0" marL="0">
              <a:buNone/>
            </a:pPr>
            <a:r>
              <a:rPr lang="en-US" sz="1200" b="1" dirty="0">
                <a:solidFill>
                  <a:srgbClr val="5B6578"/>
                </a:solidFill>
                <a:latin typeface="Arial" pitchFamily="34" charset="0"/>
                <a:ea typeface="Arial" pitchFamily="34" charset="-122"/>
                <a:cs typeface="Arial" pitchFamily="34" charset="-120"/>
              </a:rPr>
              <a:t>mask</a:t>
            </a:r>
            <a:endParaRPr lang="en-US" sz="1200" dirty="0"/>
          </a:p>
        </p:txBody>
      </p:sp>
      <p:sp>
        <p:nvSpPr>
          <p:cNvPr id="90" name="Shape 81"/>
          <p:cNvSpPr/>
          <p:nvPr/>
        </p:nvSpPr>
        <p:spPr>
          <a:xfrm>
            <a:off x="914400" y="4983480"/>
            <a:ext cx="144475" cy="411480"/>
          </a:xfrm>
          <a:prstGeom prst="rect">
            <a:avLst/>
          </a:prstGeom>
          <a:solidFill>
            <a:srgbClr val="E3E8F0"/>
          </a:solidFill>
          <a:ln/>
        </p:spPr>
      </p:sp>
      <p:sp>
        <p:nvSpPr>
          <p:cNvPr id="91" name="Shape 82"/>
          <p:cNvSpPr/>
          <p:nvPr/>
        </p:nvSpPr>
        <p:spPr>
          <a:xfrm>
            <a:off x="1058875" y="4983480"/>
            <a:ext cx="144475" cy="411480"/>
          </a:xfrm>
          <a:prstGeom prst="rect">
            <a:avLst/>
          </a:prstGeom>
          <a:solidFill>
            <a:srgbClr val="E3E8F0"/>
          </a:solidFill>
          <a:ln/>
        </p:spPr>
      </p:sp>
      <p:sp>
        <p:nvSpPr>
          <p:cNvPr id="92" name="Shape 83"/>
          <p:cNvSpPr/>
          <p:nvPr/>
        </p:nvSpPr>
        <p:spPr>
          <a:xfrm>
            <a:off x="1203350" y="4983480"/>
            <a:ext cx="144475" cy="411480"/>
          </a:xfrm>
          <a:prstGeom prst="rect">
            <a:avLst/>
          </a:prstGeom>
          <a:solidFill>
            <a:srgbClr val="E3E8F0"/>
          </a:solidFill>
          <a:ln/>
        </p:spPr>
      </p:sp>
      <p:sp>
        <p:nvSpPr>
          <p:cNvPr id="93" name="Shape 84"/>
          <p:cNvSpPr/>
          <p:nvPr/>
        </p:nvSpPr>
        <p:spPr>
          <a:xfrm>
            <a:off x="1347826" y="4983480"/>
            <a:ext cx="144475" cy="411480"/>
          </a:xfrm>
          <a:prstGeom prst="rect">
            <a:avLst/>
          </a:prstGeom>
          <a:solidFill>
            <a:srgbClr val="E3E8F0"/>
          </a:solidFill>
          <a:ln/>
        </p:spPr>
      </p:sp>
      <p:sp>
        <p:nvSpPr>
          <p:cNvPr id="94" name="Shape 85"/>
          <p:cNvSpPr/>
          <p:nvPr/>
        </p:nvSpPr>
        <p:spPr>
          <a:xfrm>
            <a:off x="1492301" y="4983480"/>
            <a:ext cx="144475" cy="411480"/>
          </a:xfrm>
          <a:prstGeom prst="rect">
            <a:avLst/>
          </a:prstGeom>
          <a:solidFill>
            <a:srgbClr val="E3E8F0"/>
          </a:solidFill>
          <a:ln/>
        </p:spPr>
      </p:sp>
      <p:sp>
        <p:nvSpPr>
          <p:cNvPr id="95" name="Shape 86"/>
          <p:cNvSpPr/>
          <p:nvPr/>
        </p:nvSpPr>
        <p:spPr>
          <a:xfrm>
            <a:off x="1636776" y="4983480"/>
            <a:ext cx="144475" cy="411480"/>
          </a:xfrm>
          <a:prstGeom prst="rect">
            <a:avLst/>
          </a:prstGeom>
          <a:solidFill>
            <a:srgbClr val="E3E8F0"/>
          </a:solidFill>
          <a:ln/>
        </p:spPr>
      </p:sp>
      <p:sp>
        <p:nvSpPr>
          <p:cNvPr id="96" name="Shape 87"/>
          <p:cNvSpPr/>
          <p:nvPr/>
        </p:nvSpPr>
        <p:spPr>
          <a:xfrm>
            <a:off x="1781251" y="4983480"/>
            <a:ext cx="144475" cy="411480"/>
          </a:xfrm>
          <a:prstGeom prst="rect">
            <a:avLst/>
          </a:prstGeom>
          <a:solidFill>
            <a:srgbClr val="E3E8F0"/>
          </a:solidFill>
          <a:ln/>
        </p:spPr>
      </p:sp>
      <p:sp>
        <p:nvSpPr>
          <p:cNvPr id="97" name="Shape 88"/>
          <p:cNvSpPr/>
          <p:nvPr/>
        </p:nvSpPr>
        <p:spPr>
          <a:xfrm>
            <a:off x="1925726" y="4983480"/>
            <a:ext cx="144475" cy="411480"/>
          </a:xfrm>
          <a:prstGeom prst="rect">
            <a:avLst/>
          </a:prstGeom>
          <a:solidFill>
            <a:srgbClr val="E3E8F0"/>
          </a:solidFill>
          <a:ln/>
        </p:spPr>
      </p:sp>
      <p:sp>
        <p:nvSpPr>
          <p:cNvPr id="98" name="Shape 89"/>
          <p:cNvSpPr/>
          <p:nvPr/>
        </p:nvSpPr>
        <p:spPr>
          <a:xfrm>
            <a:off x="2070202" y="4983480"/>
            <a:ext cx="144475" cy="411480"/>
          </a:xfrm>
          <a:prstGeom prst="rect">
            <a:avLst/>
          </a:prstGeom>
          <a:solidFill>
            <a:srgbClr val="E3E8F0"/>
          </a:solidFill>
          <a:ln/>
        </p:spPr>
      </p:sp>
      <p:sp>
        <p:nvSpPr>
          <p:cNvPr id="99" name="Shape 90"/>
          <p:cNvSpPr/>
          <p:nvPr/>
        </p:nvSpPr>
        <p:spPr>
          <a:xfrm>
            <a:off x="2214677" y="4983480"/>
            <a:ext cx="144475" cy="411480"/>
          </a:xfrm>
          <a:prstGeom prst="rect">
            <a:avLst/>
          </a:prstGeom>
          <a:solidFill>
            <a:srgbClr val="E3E8F0"/>
          </a:solidFill>
          <a:ln/>
        </p:spPr>
      </p:sp>
      <p:sp>
        <p:nvSpPr>
          <p:cNvPr id="100" name="Shape 91"/>
          <p:cNvSpPr/>
          <p:nvPr/>
        </p:nvSpPr>
        <p:spPr>
          <a:xfrm>
            <a:off x="2359152" y="4983480"/>
            <a:ext cx="144475" cy="411480"/>
          </a:xfrm>
          <a:prstGeom prst="rect">
            <a:avLst/>
          </a:prstGeom>
          <a:solidFill>
            <a:srgbClr val="E3E8F0"/>
          </a:solidFill>
          <a:ln/>
        </p:spPr>
      </p:sp>
      <p:sp>
        <p:nvSpPr>
          <p:cNvPr id="101" name="Shape 92"/>
          <p:cNvSpPr/>
          <p:nvPr/>
        </p:nvSpPr>
        <p:spPr>
          <a:xfrm>
            <a:off x="2503627" y="4983480"/>
            <a:ext cx="144475" cy="411480"/>
          </a:xfrm>
          <a:prstGeom prst="rect">
            <a:avLst/>
          </a:prstGeom>
          <a:solidFill>
            <a:srgbClr val="F5C518"/>
          </a:solidFill>
          <a:ln/>
        </p:spPr>
      </p:sp>
      <p:sp>
        <p:nvSpPr>
          <p:cNvPr id="102" name="Shape 93"/>
          <p:cNvSpPr/>
          <p:nvPr/>
        </p:nvSpPr>
        <p:spPr>
          <a:xfrm>
            <a:off x="2648102" y="4983480"/>
            <a:ext cx="144475" cy="411480"/>
          </a:xfrm>
          <a:prstGeom prst="rect">
            <a:avLst/>
          </a:prstGeom>
          <a:solidFill>
            <a:srgbClr val="F5C518"/>
          </a:solidFill>
          <a:ln/>
        </p:spPr>
      </p:sp>
      <p:sp>
        <p:nvSpPr>
          <p:cNvPr id="103" name="Shape 94"/>
          <p:cNvSpPr/>
          <p:nvPr/>
        </p:nvSpPr>
        <p:spPr>
          <a:xfrm>
            <a:off x="2792578" y="4983480"/>
            <a:ext cx="144475" cy="411480"/>
          </a:xfrm>
          <a:prstGeom prst="rect">
            <a:avLst/>
          </a:prstGeom>
          <a:solidFill>
            <a:srgbClr val="F5C518"/>
          </a:solidFill>
          <a:ln/>
        </p:spPr>
      </p:sp>
      <p:sp>
        <p:nvSpPr>
          <p:cNvPr id="104" name="Shape 95"/>
          <p:cNvSpPr/>
          <p:nvPr/>
        </p:nvSpPr>
        <p:spPr>
          <a:xfrm>
            <a:off x="2937053" y="4983480"/>
            <a:ext cx="144475" cy="411480"/>
          </a:xfrm>
          <a:prstGeom prst="rect">
            <a:avLst/>
          </a:prstGeom>
          <a:solidFill>
            <a:srgbClr val="F5C518"/>
          </a:solidFill>
          <a:ln/>
        </p:spPr>
      </p:sp>
      <p:sp>
        <p:nvSpPr>
          <p:cNvPr id="105" name="Shape 96"/>
          <p:cNvSpPr/>
          <p:nvPr/>
        </p:nvSpPr>
        <p:spPr>
          <a:xfrm>
            <a:off x="3081528" y="4983480"/>
            <a:ext cx="144475" cy="411480"/>
          </a:xfrm>
          <a:prstGeom prst="rect">
            <a:avLst/>
          </a:prstGeom>
          <a:solidFill>
            <a:srgbClr val="F5C518"/>
          </a:solidFill>
          <a:ln/>
        </p:spPr>
      </p:sp>
      <p:sp>
        <p:nvSpPr>
          <p:cNvPr id="106" name="Shape 97"/>
          <p:cNvSpPr/>
          <p:nvPr/>
        </p:nvSpPr>
        <p:spPr>
          <a:xfrm>
            <a:off x="3226003" y="4983480"/>
            <a:ext cx="144475" cy="411480"/>
          </a:xfrm>
          <a:prstGeom prst="rect">
            <a:avLst/>
          </a:prstGeom>
          <a:solidFill>
            <a:srgbClr val="F5C518"/>
          </a:solidFill>
          <a:ln/>
        </p:spPr>
      </p:sp>
      <p:sp>
        <p:nvSpPr>
          <p:cNvPr id="107" name="Shape 98"/>
          <p:cNvSpPr/>
          <p:nvPr/>
        </p:nvSpPr>
        <p:spPr>
          <a:xfrm>
            <a:off x="3370478" y="4983480"/>
            <a:ext cx="144475" cy="411480"/>
          </a:xfrm>
          <a:prstGeom prst="rect">
            <a:avLst/>
          </a:prstGeom>
          <a:solidFill>
            <a:srgbClr val="F5C518"/>
          </a:solidFill>
          <a:ln/>
        </p:spPr>
      </p:sp>
      <p:sp>
        <p:nvSpPr>
          <p:cNvPr id="108" name="Shape 99"/>
          <p:cNvSpPr/>
          <p:nvPr/>
        </p:nvSpPr>
        <p:spPr>
          <a:xfrm>
            <a:off x="3514954" y="4983480"/>
            <a:ext cx="144475" cy="411480"/>
          </a:xfrm>
          <a:prstGeom prst="rect">
            <a:avLst/>
          </a:prstGeom>
          <a:solidFill>
            <a:srgbClr val="F5C518"/>
          </a:solidFill>
          <a:ln/>
        </p:spPr>
      </p:sp>
      <p:sp>
        <p:nvSpPr>
          <p:cNvPr id="109" name="Shape 100"/>
          <p:cNvSpPr/>
          <p:nvPr/>
        </p:nvSpPr>
        <p:spPr>
          <a:xfrm>
            <a:off x="3659429" y="4983480"/>
            <a:ext cx="144475" cy="411480"/>
          </a:xfrm>
          <a:prstGeom prst="rect">
            <a:avLst/>
          </a:prstGeom>
          <a:solidFill>
            <a:srgbClr val="F5C518"/>
          </a:solidFill>
          <a:ln/>
        </p:spPr>
      </p:sp>
      <p:sp>
        <p:nvSpPr>
          <p:cNvPr id="110" name="Shape 101"/>
          <p:cNvSpPr/>
          <p:nvPr/>
        </p:nvSpPr>
        <p:spPr>
          <a:xfrm>
            <a:off x="3803904" y="4983480"/>
            <a:ext cx="144475" cy="411480"/>
          </a:xfrm>
          <a:prstGeom prst="rect">
            <a:avLst/>
          </a:prstGeom>
          <a:solidFill>
            <a:srgbClr val="F5C518"/>
          </a:solidFill>
          <a:ln/>
        </p:spPr>
      </p:sp>
      <p:sp>
        <p:nvSpPr>
          <p:cNvPr id="111" name="Shape 102"/>
          <p:cNvSpPr/>
          <p:nvPr/>
        </p:nvSpPr>
        <p:spPr>
          <a:xfrm>
            <a:off x="3948379" y="4983480"/>
            <a:ext cx="144475" cy="411480"/>
          </a:xfrm>
          <a:prstGeom prst="rect">
            <a:avLst/>
          </a:prstGeom>
          <a:solidFill>
            <a:srgbClr val="F5C518"/>
          </a:solidFill>
          <a:ln/>
        </p:spPr>
      </p:sp>
      <p:sp>
        <p:nvSpPr>
          <p:cNvPr id="112" name="Shape 103"/>
          <p:cNvSpPr/>
          <p:nvPr/>
        </p:nvSpPr>
        <p:spPr>
          <a:xfrm>
            <a:off x="4092854" y="4983480"/>
            <a:ext cx="144475" cy="411480"/>
          </a:xfrm>
          <a:prstGeom prst="rect">
            <a:avLst/>
          </a:prstGeom>
          <a:solidFill>
            <a:srgbClr val="F5C518"/>
          </a:solidFill>
          <a:ln/>
        </p:spPr>
      </p:sp>
      <p:sp>
        <p:nvSpPr>
          <p:cNvPr id="113" name="Shape 104"/>
          <p:cNvSpPr/>
          <p:nvPr/>
        </p:nvSpPr>
        <p:spPr>
          <a:xfrm>
            <a:off x="4237330" y="4983480"/>
            <a:ext cx="144475" cy="411480"/>
          </a:xfrm>
          <a:prstGeom prst="rect">
            <a:avLst/>
          </a:prstGeom>
          <a:solidFill>
            <a:srgbClr val="F5C518"/>
          </a:solidFill>
          <a:ln/>
        </p:spPr>
      </p:sp>
      <p:sp>
        <p:nvSpPr>
          <p:cNvPr id="114" name="Shape 105"/>
          <p:cNvSpPr/>
          <p:nvPr/>
        </p:nvSpPr>
        <p:spPr>
          <a:xfrm>
            <a:off x="4381805" y="4983480"/>
            <a:ext cx="144475" cy="411480"/>
          </a:xfrm>
          <a:prstGeom prst="rect">
            <a:avLst/>
          </a:prstGeom>
          <a:solidFill>
            <a:srgbClr val="E3E8F0"/>
          </a:solidFill>
          <a:ln/>
        </p:spPr>
      </p:sp>
      <p:sp>
        <p:nvSpPr>
          <p:cNvPr id="115" name="Shape 106"/>
          <p:cNvSpPr/>
          <p:nvPr/>
        </p:nvSpPr>
        <p:spPr>
          <a:xfrm>
            <a:off x="4526280" y="4983480"/>
            <a:ext cx="144475" cy="411480"/>
          </a:xfrm>
          <a:prstGeom prst="rect">
            <a:avLst/>
          </a:prstGeom>
          <a:solidFill>
            <a:srgbClr val="E3E8F0"/>
          </a:solidFill>
          <a:ln/>
        </p:spPr>
      </p:sp>
      <p:sp>
        <p:nvSpPr>
          <p:cNvPr id="116" name="Shape 107"/>
          <p:cNvSpPr/>
          <p:nvPr/>
        </p:nvSpPr>
        <p:spPr>
          <a:xfrm>
            <a:off x="4670755" y="4983480"/>
            <a:ext cx="144475" cy="411480"/>
          </a:xfrm>
          <a:prstGeom prst="rect">
            <a:avLst/>
          </a:prstGeom>
          <a:solidFill>
            <a:srgbClr val="E3E8F0"/>
          </a:solidFill>
          <a:ln/>
        </p:spPr>
      </p:sp>
      <p:sp>
        <p:nvSpPr>
          <p:cNvPr id="117" name="Shape 108"/>
          <p:cNvSpPr/>
          <p:nvPr/>
        </p:nvSpPr>
        <p:spPr>
          <a:xfrm>
            <a:off x="4815230" y="4983480"/>
            <a:ext cx="144475" cy="411480"/>
          </a:xfrm>
          <a:prstGeom prst="rect">
            <a:avLst/>
          </a:prstGeom>
          <a:solidFill>
            <a:srgbClr val="E3E8F0"/>
          </a:solidFill>
          <a:ln/>
        </p:spPr>
      </p:sp>
      <p:sp>
        <p:nvSpPr>
          <p:cNvPr id="118" name="Shape 109"/>
          <p:cNvSpPr/>
          <p:nvPr/>
        </p:nvSpPr>
        <p:spPr>
          <a:xfrm>
            <a:off x="4959706" y="4983480"/>
            <a:ext cx="144475" cy="411480"/>
          </a:xfrm>
          <a:prstGeom prst="rect">
            <a:avLst/>
          </a:prstGeom>
          <a:solidFill>
            <a:srgbClr val="E3E8F0"/>
          </a:solidFill>
          <a:ln/>
        </p:spPr>
      </p:sp>
      <p:sp>
        <p:nvSpPr>
          <p:cNvPr id="119" name="Shape 110"/>
          <p:cNvSpPr/>
          <p:nvPr/>
        </p:nvSpPr>
        <p:spPr>
          <a:xfrm>
            <a:off x="5104181" y="4983480"/>
            <a:ext cx="144475" cy="411480"/>
          </a:xfrm>
          <a:prstGeom prst="rect">
            <a:avLst/>
          </a:prstGeom>
          <a:solidFill>
            <a:srgbClr val="E3E8F0"/>
          </a:solidFill>
          <a:ln/>
        </p:spPr>
      </p:sp>
      <p:sp>
        <p:nvSpPr>
          <p:cNvPr id="120" name="Shape 111"/>
          <p:cNvSpPr/>
          <p:nvPr/>
        </p:nvSpPr>
        <p:spPr>
          <a:xfrm>
            <a:off x="5248656" y="4983480"/>
            <a:ext cx="144475" cy="411480"/>
          </a:xfrm>
          <a:prstGeom prst="rect">
            <a:avLst/>
          </a:prstGeom>
          <a:solidFill>
            <a:srgbClr val="E3E8F0"/>
          </a:solidFill>
          <a:ln/>
        </p:spPr>
      </p:sp>
      <p:sp>
        <p:nvSpPr>
          <p:cNvPr id="121" name="Shape 112"/>
          <p:cNvSpPr/>
          <p:nvPr/>
        </p:nvSpPr>
        <p:spPr>
          <a:xfrm>
            <a:off x="5393131" y="4983480"/>
            <a:ext cx="144475" cy="411480"/>
          </a:xfrm>
          <a:prstGeom prst="rect">
            <a:avLst/>
          </a:prstGeom>
          <a:solidFill>
            <a:srgbClr val="E3E8F0"/>
          </a:solidFill>
          <a:ln/>
        </p:spPr>
      </p:sp>
      <p:sp>
        <p:nvSpPr>
          <p:cNvPr id="122" name="Shape 113"/>
          <p:cNvSpPr/>
          <p:nvPr/>
        </p:nvSpPr>
        <p:spPr>
          <a:xfrm>
            <a:off x="5537606" y="4983480"/>
            <a:ext cx="144475" cy="411480"/>
          </a:xfrm>
          <a:prstGeom prst="rect">
            <a:avLst/>
          </a:prstGeom>
          <a:solidFill>
            <a:srgbClr val="F5C518"/>
          </a:solidFill>
          <a:ln/>
        </p:spPr>
      </p:sp>
      <p:sp>
        <p:nvSpPr>
          <p:cNvPr id="123" name="Shape 114"/>
          <p:cNvSpPr/>
          <p:nvPr/>
        </p:nvSpPr>
        <p:spPr>
          <a:xfrm>
            <a:off x="5682082" y="4983480"/>
            <a:ext cx="144475" cy="411480"/>
          </a:xfrm>
          <a:prstGeom prst="rect">
            <a:avLst/>
          </a:prstGeom>
          <a:solidFill>
            <a:srgbClr val="F5C518"/>
          </a:solidFill>
          <a:ln/>
        </p:spPr>
      </p:sp>
      <p:sp>
        <p:nvSpPr>
          <p:cNvPr id="124" name="Shape 115"/>
          <p:cNvSpPr/>
          <p:nvPr/>
        </p:nvSpPr>
        <p:spPr>
          <a:xfrm>
            <a:off x="5826557" y="4983480"/>
            <a:ext cx="144475" cy="411480"/>
          </a:xfrm>
          <a:prstGeom prst="rect">
            <a:avLst/>
          </a:prstGeom>
          <a:solidFill>
            <a:srgbClr val="F5C518"/>
          </a:solidFill>
          <a:ln/>
        </p:spPr>
      </p:sp>
      <p:sp>
        <p:nvSpPr>
          <p:cNvPr id="125" name="Shape 116"/>
          <p:cNvSpPr/>
          <p:nvPr/>
        </p:nvSpPr>
        <p:spPr>
          <a:xfrm>
            <a:off x="5971032" y="4983480"/>
            <a:ext cx="144475" cy="411480"/>
          </a:xfrm>
          <a:prstGeom prst="rect">
            <a:avLst/>
          </a:prstGeom>
          <a:solidFill>
            <a:srgbClr val="F5C518"/>
          </a:solidFill>
          <a:ln/>
        </p:spPr>
      </p:sp>
      <p:sp>
        <p:nvSpPr>
          <p:cNvPr id="126" name="Shape 117"/>
          <p:cNvSpPr/>
          <p:nvPr/>
        </p:nvSpPr>
        <p:spPr>
          <a:xfrm>
            <a:off x="6115507" y="4983480"/>
            <a:ext cx="144475" cy="411480"/>
          </a:xfrm>
          <a:prstGeom prst="rect">
            <a:avLst/>
          </a:prstGeom>
          <a:solidFill>
            <a:srgbClr val="F5C518"/>
          </a:solidFill>
          <a:ln/>
        </p:spPr>
      </p:sp>
      <p:sp>
        <p:nvSpPr>
          <p:cNvPr id="127" name="Shape 118"/>
          <p:cNvSpPr/>
          <p:nvPr/>
        </p:nvSpPr>
        <p:spPr>
          <a:xfrm>
            <a:off x="6259982" y="4983480"/>
            <a:ext cx="144475" cy="411480"/>
          </a:xfrm>
          <a:prstGeom prst="rect">
            <a:avLst/>
          </a:prstGeom>
          <a:solidFill>
            <a:srgbClr val="F5C518"/>
          </a:solidFill>
          <a:ln/>
        </p:spPr>
      </p:sp>
      <p:sp>
        <p:nvSpPr>
          <p:cNvPr id="128" name="Shape 119"/>
          <p:cNvSpPr/>
          <p:nvPr/>
        </p:nvSpPr>
        <p:spPr>
          <a:xfrm>
            <a:off x="6404458" y="4983480"/>
            <a:ext cx="144475" cy="411480"/>
          </a:xfrm>
          <a:prstGeom prst="rect">
            <a:avLst/>
          </a:prstGeom>
          <a:solidFill>
            <a:srgbClr val="F5C518"/>
          </a:solidFill>
          <a:ln/>
        </p:spPr>
      </p:sp>
      <p:sp>
        <p:nvSpPr>
          <p:cNvPr id="129" name="Shape 120"/>
          <p:cNvSpPr/>
          <p:nvPr/>
        </p:nvSpPr>
        <p:spPr>
          <a:xfrm>
            <a:off x="6548933" y="4983480"/>
            <a:ext cx="144475" cy="411480"/>
          </a:xfrm>
          <a:prstGeom prst="rect">
            <a:avLst/>
          </a:prstGeom>
          <a:solidFill>
            <a:srgbClr val="F5C518"/>
          </a:solidFill>
          <a:ln/>
        </p:spPr>
      </p:sp>
      <p:sp>
        <p:nvSpPr>
          <p:cNvPr id="130" name="Shape 121"/>
          <p:cNvSpPr/>
          <p:nvPr/>
        </p:nvSpPr>
        <p:spPr>
          <a:xfrm>
            <a:off x="6693408" y="4983480"/>
            <a:ext cx="144475" cy="411480"/>
          </a:xfrm>
          <a:prstGeom prst="rect">
            <a:avLst/>
          </a:prstGeom>
          <a:solidFill>
            <a:srgbClr val="F5C518"/>
          </a:solidFill>
          <a:ln/>
        </p:spPr>
      </p:sp>
      <p:sp>
        <p:nvSpPr>
          <p:cNvPr id="131" name="Shape 122"/>
          <p:cNvSpPr/>
          <p:nvPr/>
        </p:nvSpPr>
        <p:spPr>
          <a:xfrm>
            <a:off x="6837883" y="4983480"/>
            <a:ext cx="144475" cy="411480"/>
          </a:xfrm>
          <a:prstGeom prst="rect">
            <a:avLst/>
          </a:prstGeom>
          <a:solidFill>
            <a:srgbClr val="F5C518"/>
          </a:solidFill>
          <a:ln/>
        </p:spPr>
      </p:sp>
      <p:sp>
        <p:nvSpPr>
          <p:cNvPr id="132" name="Shape 123"/>
          <p:cNvSpPr/>
          <p:nvPr/>
        </p:nvSpPr>
        <p:spPr>
          <a:xfrm>
            <a:off x="6982358" y="4983480"/>
            <a:ext cx="144475" cy="411480"/>
          </a:xfrm>
          <a:prstGeom prst="rect">
            <a:avLst/>
          </a:prstGeom>
          <a:solidFill>
            <a:srgbClr val="E3E8F0"/>
          </a:solidFill>
          <a:ln/>
        </p:spPr>
      </p:sp>
      <p:sp>
        <p:nvSpPr>
          <p:cNvPr id="133" name="Shape 124"/>
          <p:cNvSpPr/>
          <p:nvPr/>
        </p:nvSpPr>
        <p:spPr>
          <a:xfrm>
            <a:off x="7126834" y="4983480"/>
            <a:ext cx="144475" cy="411480"/>
          </a:xfrm>
          <a:prstGeom prst="rect">
            <a:avLst/>
          </a:prstGeom>
          <a:solidFill>
            <a:srgbClr val="E3E8F0"/>
          </a:solidFill>
          <a:ln/>
        </p:spPr>
      </p:sp>
      <p:sp>
        <p:nvSpPr>
          <p:cNvPr id="134" name="Shape 125"/>
          <p:cNvSpPr/>
          <p:nvPr/>
        </p:nvSpPr>
        <p:spPr>
          <a:xfrm>
            <a:off x="7271309" y="4983480"/>
            <a:ext cx="144475" cy="411480"/>
          </a:xfrm>
          <a:prstGeom prst="rect">
            <a:avLst/>
          </a:prstGeom>
          <a:solidFill>
            <a:srgbClr val="E3E8F0"/>
          </a:solidFill>
          <a:ln/>
        </p:spPr>
      </p:sp>
      <p:sp>
        <p:nvSpPr>
          <p:cNvPr id="135" name="Shape 126"/>
          <p:cNvSpPr/>
          <p:nvPr/>
        </p:nvSpPr>
        <p:spPr>
          <a:xfrm>
            <a:off x="7415784" y="4983480"/>
            <a:ext cx="144475" cy="411480"/>
          </a:xfrm>
          <a:prstGeom prst="rect">
            <a:avLst/>
          </a:prstGeom>
          <a:solidFill>
            <a:srgbClr val="E3E8F0"/>
          </a:solidFill>
          <a:ln/>
        </p:spPr>
      </p:sp>
      <p:sp>
        <p:nvSpPr>
          <p:cNvPr id="136" name="Shape 127"/>
          <p:cNvSpPr/>
          <p:nvPr/>
        </p:nvSpPr>
        <p:spPr>
          <a:xfrm>
            <a:off x="7560259" y="4983480"/>
            <a:ext cx="144475" cy="411480"/>
          </a:xfrm>
          <a:prstGeom prst="rect">
            <a:avLst/>
          </a:prstGeom>
          <a:solidFill>
            <a:srgbClr val="E3E8F0"/>
          </a:solidFill>
          <a:ln/>
        </p:spPr>
      </p:sp>
      <p:sp>
        <p:nvSpPr>
          <p:cNvPr id="137" name="Shape 128"/>
          <p:cNvSpPr/>
          <p:nvPr/>
        </p:nvSpPr>
        <p:spPr>
          <a:xfrm>
            <a:off x="7704734" y="4983480"/>
            <a:ext cx="144475" cy="411480"/>
          </a:xfrm>
          <a:prstGeom prst="rect">
            <a:avLst/>
          </a:prstGeom>
          <a:solidFill>
            <a:srgbClr val="E3E8F0"/>
          </a:solidFill>
          <a:ln/>
        </p:spPr>
      </p:sp>
      <p:sp>
        <p:nvSpPr>
          <p:cNvPr id="138" name="Text 129"/>
          <p:cNvSpPr txBox="1"/>
          <p:nvPr/>
        </p:nvSpPr>
        <p:spPr>
          <a:xfrm>
            <a:off x="914400" y="5532120"/>
            <a:ext cx="3657600" cy="274320"/>
          </a:xfrm>
          <a:prstGeom prst="rect">
            <a:avLst/>
          </a:prstGeom>
          <a:noFill/>
          <a:ln/>
        </p:spPr>
        <p:txBody>
          <a:bodyPr wrap="square" lIns="0" tIns="0" rIns="0" bIns="0" rtlCol="0" anchor="t"/>
          <a:lstStyle/>
          <a:p>
            <a:pPr indent="0" marL="0">
              <a:buNone/>
            </a:pPr>
            <a:r>
              <a:rPr lang="en-US" sz="1200" dirty="0">
                <a:solidFill>
                  <a:srgbClr val="5B6578"/>
                </a:solidFill>
                <a:latin typeface="Arial" pitchFamily="34" charset="0"/>
                <a:ea typeface="Arial" pitchFamily="34" charset="-122"/>
                <a:cs typeface="Arial" pitchFamily="34" charset="-120"/>
              </a:rPr>
              <a:t>active = 1 while moving</a:t>
            </a:r>
            <a:endParaRPr lang="en-US" sz="1200" dirty="0"/>
          </a:p>
        </p:txBody>
      </p:sp>
      <p:sp>
        <p:nvSpPr>
          <p:cNvPr id="139" name="Text 130"/>
          <p:cNvSpPr/>
          <p:nvPr/>
        </p:nvSpPr>
        <p:spPr>
          <a:xfrm>
            <a:off x="8412480" y="1463040"/>
            <a:ext cx="3200400" cy="960120"/>
          </a:xfrm>
          <a:prstGeom prst="roundRect">
            <a:avLst>
              <a:gd name="adj" fmla="val 9524"/>
            </a:avLst>
          </a:prstGeom>
          <a:solidFill>
            <a:srgbClr val="F3F5F8"/>
          </a:solidFill>
          <a:ln/>
        </p:spPr>
        <p:txBody>
          <a:bodyPr wrap="square" lIns="1270" tIns="1270" rIns="1270" bIns="1270" rtlCol="0" anchor="ctr"/>
          <a:lstStyle/>
          <a:p>
            <a:pPr algn="l" indent="0" marL="0">
              <a:buNone/>
            </a:pPr>
            <a:endParaRPr lang="en-US" sz="1600" dirty="0"/>
          </a:p>
        </p:txBody>
      </p:sp>
      <p:sp>
        <p:nvSpPr>
          <p:cNvPr id="140" name="Shape 131"/>
          <p:cNvSpPr/>
          <p:nvPr/>
        </p:nvSpPr>
        <p:spPr>
          <a:xfrm>
            <a:off x="8595360" y="1645920"/>
            <a:ext cx="228600" cy="228600"/>
          </a:xfrm>
          <a:prstGeom prst="ellipse">
            <a:avLst/>
          </a:prstGeom>
          <a:solidFill>
            <a:srgbClr val="C0392B"/>
          </a:solidFill>
          <a:ln/>
        </p:spPr>
      </p:sp>
      <p:sp>
        <p:nvSpPr>
          <p:cNvPr id="141" name="Text 132"/>
          <p:cNvSpPr txBox="1"/>
          <p:nvPr/>
        </p:nvSpPr>
        <p:spPr>
          <a:xfrm>
            <a:off x="8961120" y="1572768"/>
            <a:ext cx="2560320" cy="320040"/>
          </a:xfrm>
          <a:prstGeom prst="rect">
            <a:avLst/>
          </a:prstGeom>
          <a:noFill/>
          <a:ln/>
        </p:spPr>
        <p:txBody>
          <a:bodyPr wrap="square" lIns="0" tIns="0" rIns="0" bIns="0" rtlCol="0" anchor="t"/>
          <a:lstStyle/>
          <a:p>
            <a:pPr indent="0" marL="0">
              <a:buNone/>
            </a:pPr>
            <a:r>
              <a:rPr lang="en-US" sz="1700" b="1" dirty="0">
                <a:solidFill>
                  <a:srgbClr val="1E3A6E"/>
                </a:solidFill>
                <a:latin typeface="Arial" pitchFamily="34" charset="0"/>
                <a:ea typeface="Arial" pitchFamily="34" charset="-122"/>
                <a:cs typeface="Arial" pitchFamily="34" charset="-120"/>
              </a:rPr>
              <a:t>Enter speed</a:t>
            </a:r>
            <a:endParaRPr lang="en-US" sz="1700" dirty="0"/>
          </a:p>
        </p:txBody>
      </p:sp>
      <p:sp>
        <p:nvSpPr>
          <p:cNvPr id="142" name="Text 133"/>
          <p:cNvSpPr txBox="1"/>
          <p:nvPr/>
        </p:nvSpPr>
        <p:spPr>
          <a:xfrm>
            <a:off x="8961120" y="1920240"/>
            <a:ext cx="2560320" cy="45720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Start moving above this</a:t>
            </a:r>
            <a:endParaRPr lang="en-US" sz="1400" dirty="0"/>
          </a:p>
        </p:txBody>
      </p:sp>
      <p:sp>
        <p:nvSpPr>
          <p:cNvPr id="143" name="Text 134"/>
          <p:cNvSpPr/>
          <p:nvPr/>
        </p:nvSpPr>
        <p:spPr>
          <a:xfrm>
            <a:off x="8412480" y="2560320"/>
            <a:ext cx="3200400" cy="960120"/>
          </a:xfrm>
          <a:prstGeom prst="roundRect">
            <a:avLst>
              <a:gd name="adj" fmla="val 9524"/>
            </a:avLst>
          </a:prstGeom>
          <a:solidFill>
            <a:srgbClr val="F3F5F8"/>
          </a:solidFill>
          <a:ln/>
        </p:spPr>
        <p:txBody>
          <a:bodyPr wrap="square" lIns="1270" tIns="1270" rIns="1270" bIns="1270" rtlCol="0" anchor="ctr"/>
          <a:lstStyle/>
          <a:p>
            <a:pPr algn="l" indent="0" marL="0">
              <a:buNone/>
            </a:pPr>
            <a:endParaRPr lang="en-US" sz="1600" dirty="0"/>
          </a:p>
        </p:txBody>
      </p:sp>
      <p:sp>
        <p:nvSpPr>
          <p:cNvPr id="144" name="Shape 135"/>
          <p:cNvSpPr/>
          <p:nvPr/>
        </p:nvSpPr>
        <p:spPr>
          <a:xfrm>
            <a:off x="8595360" y="2743200"/>
            <a:ext cx="228600" cy="228600"/>
          </a:xfrm>
          <a:prstGeom prst="ellipse">
            <a:avLst/>
          </a:prstGeom>
          <a:solidFill>
            <a:srgbClr val="3776AB"/>
          </a:solidFill>
          <a:ln/>
        </p:spPr>
      </p:sp>
      <p:sp>
        <p:nvSpPr>
          <p:cNvPr id="145" name="Text 136"/>
          <p:cNvSpPr txBox="1"/>
          <p:nvPr/>
        </p:nvSpPr>
        <p:spPr>
          <a:xfrm>
            <a:off x="8961120" y="2670048"/>
            <a:ext cx="2560320" cy="320040"/>
          </a:xfrm>
          <a:prstGeom prst="rect">
            <a:avLst/>
          </a:prstGeom>
          <a:noFill/>
          <a:ln/>
        </p:spPr>
        <p:txBody>
          <a:bodyPr wrap="square" lIns="0" tIns="0" rIns="0" bIns="0" rtlCol="0" anchor="t"/>
          <a:lstStyle/>
          <a:p>
            <a:pPr indent="0" marL="0">
              <a:buNone/>
            </a:pPr>
            <a:r>
              <a:rPr lang="en-US" sz="1700" b="1" dirty="0">
                <a:solidFill>
                  <a:srgbClr val="1E3A6E"/>
                </a:solidFill>
                <a:latin typeface="Arial" pitchFamily="34" charset="0"/>
                <a:ea typeface="Arial" pitchFamily="34" charset="-122"/>
                <a:cs typeface="Arial" pitchFamily="34" charset="-120"/>
              </a:rPr>
              <a:t>Exit speed</a:t>
            </a:r>
            <a:endParaRPr lang="en-US" sz="1700" dirty="0"/>
          </a:p>
        </p:txBody>
      </p:sp>
      <p:sp>
        <p:nvSpPr>
          <p:cNvPr id="146" name="Text 137"/>
          <p:cNvSpPr txBox="1"/>
          <p:nvPr/>
        </p:nvSpPr>
        <p:spPr>
          <a:xfrm>
            <a:off x="8961120" y="3017520"/>
            <a:ext cx="2560320" cy="45720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Stop below this</a:t>
            </a:r>
            <a:endParaRPr lang="en-US" sz="1400" dirty="0"/>
          </a:p>
        </p:txBody>
      </p:sp>
      <p:sp>
        <p:nvSpPr>
          <p:cNvPr id="147" name="Text 138"/>
          <p:cNvSpPr/>
          <p:nvPr/>
        </p:nvSpPr>
        <p:spPr>
          <a:xfrm>
            <a:off x="8412480" y="3657600"/>
            <a:ext cx="3200400" cy="960120"/>
          </a:xfrm>
          <a:prstGeom prst="roundRect">
            <a:avLst>
              <a:gd name="adj" fmla="val 9524"/>
            </a:avLst>
          </a:prstGeom>
          <a:solidFill>
            <a:srgbClr val="F3F5F8"/>
          </a:solidFill>
          <a:ln/>
        </p:spPr>
        <p:txBody>
          <a:bodyPr wrap="square" lIns="1270" tIns="1270" rIns="1270" bIns="1270" rtlCol="0" anchor="ctr"/>
          <a:lstStyle/>
          <a:p>
            <a:pPr algn="l" indent="0" marL="0">
              <a:buNone/>
            </a:pPr>
            <a:endParaRPr lang="en-US" sz="1600" dirty="0"/>
          </a:p>
        </p:txBody>
      </p:sp>
      <p:sp>
        <p:nvSpPr>
          <p:cNvPr id="148" name="Shape 139"/>
          <p:cNvSpPr/>
          <p:nvPr/>
        </p:nvSpPr>
        <p:spPr>
          <a:xfrm>
            <a:off x="8595360" y="3840480"/>
            <a:ext cx="228600" cy="228600"/>
          </a:xfrm>
          <a:prstGeom prst="ellipse">
            <a:avLst/>
          </a:prstGeom>
          <a:solidFill>
            <a:srgbClr val="1E3A6E"/>
          </a:solidFill>
          <a:ln/>
        </p:spPr>
      </p:sp>
      <p:sp>
        <p:nvSpPr>
          <p:cNvPr id="149" name="Text 140"/>
          <p:cNvSpPr txBox="1"/>
          <p:nvPr/>
        </p:nvSpPr>
        <p:spPr>
          <a:xfrm>
            <a:off x="8961120" y="3767328"/>
            <a:ext cx="2560320" cy="320040"/>
          </a:xfrm>
          <a:prstGeom prst="rect">
            <a:avLst/>
          </a:prstGeom>
          <a:noFill/>
          <a:ln/>
        </p:spPr>
        <p:txBody>
          <a:bodyPr wrap="square" lIns="0" tIns="0" rIns="0" bIns="0" rtlCol="0" anchor="t"/>
          <a:lstStyle/>
          <a:p>
            <a:pPr indent="0" marL="0">
              <a:buNone/>
            </a:pPr>
            <a:r>
              <a:rPr lang="en-US" sz="1700" b="1" dirty="0">
                <a:solidFill>
                  <a:srgbClr val="1E3A6E"/>
                </a:solidFill>
                <a:latin typeface="Arial" pitchFamily="34" charset="0"/>
                <a:ea typeface="Arial" pitchFamily="34" charset="-122"/>
                <a:cs typeface="Arial" pitchFamily="34" charset="-120"/>
              </a:rPr>
              <a:t>Hold time</a:t>
            </a:r>
            <a:endParaRPr lang="en-US" sz="1700" dirty="0"/>
          </a:p>
        </p:txBody>
      </p:sp>
      <p:sp>
        <p:nvSpPr>
          <p:cNvPr id="150" name="Text 141"/>
          <p:cNvSpPr txBox="1"/>
          <p:nvPr/>
        </p:nvSpPr>
        <p:spPr>
          <a:xfrm>
            <a:off x="8961120" y="4114800"/>
            <a:ext cx="2560320" cy="45720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Movement must last before we believe it</a:t>
            </a:r>
            <a:endParaRPr lang="en-US" sz="1400" dirty="0"/>
          </a:p>
        </p:txBody>
      </p:sp>
      <p:sp>
        <p:nvSpPr>
          <p:cNvPr id="151" name="Text 142"/>
          <p:cNvSpPr/>
          <p:nvPr/>
        </p:nvSpPr>
        <p:spPr>
          <a:xfrm>
            <a:off x="8412480" y="4846320"/>
            <a:ext cx="3200400" cy="1371600"/>
          </a:xfrm>
          <a:prstGeom prst="roundRect">
            <a:avLst>
              <a:gd name="adj" fmla="val 6667"/>
            </a:avLst>
          </a:prstGeom>
          <a:solidFill>
            <a:srgbClr val="F5C518"/>
          </a:solidFill>
          <a:ln/>
        </p:spPr>
        <p:txBody>
          <a:bodyPr wrap="square" lIns="2540" tIns="2540" rIns="2540" bIns="2540" rtlCol="0" anchor="ctr"/>
          <a:lstStyle/>
          <a:p>
            <a:pPr algn="l" indent="0" marL="0">
              <a:buNone/>
            </a:pPr>
            <a:r>
              <a:rPr lang="en-US" sz="1700" b="1" dirty="0">
                <a:solidFill>
                  <a:srgbClr val="1E3A6E"/>
                </a:solidFill>
                <a:latin typeface="Arial" pitchFamily="34" charset="0"/>
                <a:ea typeface="Arial" pitchFamily="34" charset="-122"/>
                <a:cs typeface="Arial" pitchFamily="34" charset="-120"/>
              </a:rPr>
              <a:t>Without the hold time we have built a very efficient noise detector.</a:t>
            </a:r>
            <a:endParaRPr lang="en-US" sz="17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Six stops for one small script</a:t>
            </a:r>
            <a:endParaRPr lang="en-US" sz="3200" dirty="0"/>
          </a:p>
        </p:txBody>
      </p:sp>
      <p:sp>
        <p:nvSpPr>
          <p:cNvPr id="4" name="Shape 1"/>
          <p:cNvSpPr/>
          <p:nvPr/>
        </p:nvSpPr>
        <p:spPr>
          <a:xfrm>
            <a:off x="1536192" y="2286000"/>
            <a:ext cx="813816" cy="0"/>
          </a:xfrm>
          <a:prstGeom prst="line">
            <a:avLst/>
          </a:prstGeom>
          <a:noFill/>
          <a:ln w="31750">
            <a:solidFill>
              <a:srgbClr val="B8C2D3"/>
            </a:solidFill>
            <a:prstDash val="solid"/>
            <a:tailEnd type="triangle"/>
          </a:ln>
        </p:spPr>
      </p:sp>
      <p:sp>
        <p:nvSpPr>
          <p:cNvPr id="5" name="Shape 2"/>
          <p:cNvSpPr/>
          <p:nvPr/>
        </p:nvSpPr>
        <p:spPr>
          <a:xfrm>
            <a:off x="640080" y="1828800"/>
            <a:ext cx="914400" cy="914400"/>
          </a:xfrm>
          <a:prstGeom prst="ellipse">
            <a:avLst/>
          </a:prstGeom>
          <a:solidFill>
            <a:srgbClr val="1E3A6E"/>
          </a:solidFill>
          <a:ln/>
        </p:spPr>
      </p:sp>
      <p:pic>
        <p:nvPicPr>
          <p:cNvPr id="6" name="Image 0" descr="preencoded.png">    </p:cNvPr>
          <p:cNvPicPr>
            <a:picLocks noChangeAspect="1"/>
          </p:cNvPicPr>
          <p:nvPr/>
        </p:nvPicPr>
        <p:blipFill>
          <a:blip r:embed="rId1"/>
          <a:stretch>
            <a:fillRect/>
          </a:stretch>
        </p:blipFill>
        <p:spPr>
          <a:xfrm>
            <a:off x="868680" y="2057400"/>
            <a:ext cx="457200" cy="457200"/>
          </a:xfrm>
          <a:prstGeom prst="rect">
            <a:avLst/>
          </a:prstGeom>
        </p:spPr>
      </p:pic>
      <p:sp>
        <p:nvSpPr>
          <p:cNvPr id="7" name="Text 3"/>
          <p:cNvSpPr/>
          <p:nvPr/>
        </p:nvSpPr>
        <p:spPr>
          <a:xfrm>
            <a:off x="548640" y="3108960"/>
            <a:ext cx="1737360" cy="237744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8" name="Text 4"/>
          <p:cNvSpPr txBox="1"/>
          <p:nvPr/>
        </p:nvSpPr>
        <p:spPr>
          <a:xfrm>
            <a:off x="658368" y="3246120"/>
            <a:ext cx="1554480" cy="320040"/>
          </a:xfrm>
          <a:prstGeom prst="rect">
            <a:avLst/>
          </a:prstGeom>
          <a:noFill/>
          <a:ln/>
        </p:spPr>
        <p:txBody>
          <a:bodyPr wrap="square" lIns="0" tIns="0" rIns="0" bIns="0" rtlCol="0" anchor="t"/>
          <a:lstStyle/>
          <a:p>
            <a:pPr indent="0" marL="0">
              <a:buNone/>
            </a:pPr>
            <a:r>
              <a:rPr lang="en-US" sz="1800" b="1" dirty="0">
                <a:solidFill>
                  <a:srgbClr val="1E3A6E"/>
                </a:solidFill>
                <a:latin typeface="Arial" pitchFamily="34" charset="0"/>
                <a:ea typeface="Arial" pitchFamily="34" charset="-122"/>
                <a:cs typeface="Arial" pitchFamily="34" charset="-120"/>
              </a:rPr>
              <a:t>Python</a:t>
            </a:r>
            <a:endParaRPr lang="en-US" sz="1800" dirty="0"/>
          </a:p>
        </p:txBody>
      </p:sp>
      <p:sp>
        <p:nvSpPr>
          <p:cNvPr id="9" name="Text 5"/>
          <p:cNvSpPr txBox="1"/>
          <p:nvPr/>
        </p:nvSpPr>
        <p:spPr>
          <a:xfrm>
            <a:off x="658368" y="3657600"/>
            <a:ext cx="1554480" cy="128016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This loop is annoying me</a:t>
            </a:r>
            <a:endParaRPr lang="en-US" sz="1400" dirty="0"/>
          </a:p>
        </p:txBody>
      </p:sp>
      <p:sp>
        <p:nvSpPr>
          <p:cNvPr id="10" name="Text 6"/>
          <p:cNvSpPr txBox="1"/>
          <p:nvPr/>
        </p:nvSpPr>
        <p:spPr>
          <a:xfrm>
            <a:off x="658368" y="5029200"/>
            <a:ext cx="1554480" cy="320040"/>
          </a:xfrm>
          <a:prstGeom prst="rect">
            <a:avLst/>
          </a:prstGeom>
          <a:noFill/>
          <a:ln/>
        </p:spPr>
        <p:txBody>
          <a:bodyPr wrap="square" lIns="0" tIns="0" rIns="0" bIns="0" rtlCol="0" anchor="t"/>
          <a:lstStyle/>
          <a:p>
            <a:pPr indent="0" marL="0">
              <a:buNone/>
            </a:pPr>
            <a:r>
              <a:rPr lang="en-US" sz="1400" b="1" dirty="0">
                <a:solidFill>
                  <a:srgbClr val="3776AB"/>
                </a:solidFill>
                <a:latin typeface="Arial" pitchFamily="34" charset="0"/>
                <a:ea typeface="Arial" pitchFamily="34" charset="-122"/>
                <a:cs typeface="Arial" pitchFamily="34" charset="-120"/>
              </a:rPr>
              <a:t>7 min</a:t>
            </a:r>
            <a:endParaRPr lang="en-US" sz="1400" dirty="0"/>
          </a:p>
        </p:txBody>
      </p:sp>
      <p:sp>
        <p:nvSpPr>
          <p:cNvPr id="11" name="Shape 7"/>
          <p:cNvSpPr/>
          <p:nvPr/>
        </p:nvSpPr>
        <p:spPr>
          <a:xfrm>
            <a:off x="3410712" y="2286000"/>
            <a:ext cx="813816" cy="0"/>
          </a:xfrm>
          <a:prstGeom prst="line">
            <a:avLst/>
          </a:prstGeom>
          <a:noFill/>
          <a:ln w="31750">
            <a:solidFill>
              <a:srgbClr val="B8C2D3"/>
            </a:solidFill>
            <a:prstDash val="solid"/>
            <a:tailEnd type="triangle"/>
          </a:ln>
        </p:spPr>
      </p:sp>
      <p:sp>
        <p:nvSpPr>
          <p:cNvPr id="12" name="Shape 8"/>
          <p:cNvSpPr/>
          <p:nvPr/>
        </p:nvSpPr>
        <p:spPr>
          <a:xfrm>
            <a:off x="2514600" y="1828800"/>
            <a:ext cx="914400" cy="914400"/>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2743200" y="2057400"/>
            <a:ext cx="457200" cy="457200"/>
          </a:xfrm>
          <a:prstGeom prst="rect">
            <a:avLst/>
          </a:prstGeom>
        </p:spPr>
      </p:pic>
      <p:sp>
        <p:nvSpPr>
          <p:cNvPr id="14" name="Text 9"/>
          <p:cNvSpPr/>
          <p:nvPr/>
        </p:nvSpPr>
        <p:spPr>
          <a:xfrm>
            <a:off x="2423160" y="3108960"/>
            <a:ext cx="1737360" cy="237744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15" name="Text 10"/>
          <p:cNvSpPr txBox="1"/>
          <p:nvPr/>
        </p:nvSpPr>
        <p:spPr>
          <a:xfrm>
            <a:off x="2532888" y="3246120"/>
            <a:ext cx="1554480" cy="320040"/>
          </a:xfrm>
          <a:prstGeom prst="rect">
            <a:avLst/>
          </a:prstGeom>
          <a:noFill/>
          <a:ln/>
        </p:spPr>
        <p:txBody>
          <a:bodyPr wrap="square" lIns="0" tIns="0" rIns="0" bIns="0" rtlCol="0" anchor="t"/>
          <a:lstStyle/>
          <a:p>
            <a:pPr indent="0" marL="0">
              <a:buNone/>
            </a:pPr>
            <a:r>
              <a:rPr lang="en-US" sz="1800" b="1" dirty="0">
                <a:solidFill>
                  <a:srgbClr val="1E3A6E"/>
                </a:solidFill>
                <a:latin typeface="Arial" pitchFamily="34" charset="0"/>
                <a:ea typeface="Arial" pitchFamily="34" charset="-122"/>
                <a:cs typeface="Arial" pitchFamily="34" charset="-120"/>
              </a:rPr>
              <a:t>MCAP</a:t>
            </a:r>
            <a:endParaRPr lang="en-US" sz="1800" dirty="0"/>
          </a:p>
        </p:txBody>
      </p:sp>
      <p:sp>
        <p:nvSpPr>
          <p:cNvPr id="16" name="Text 11"/>
          <p:cNvSpPr txBox="1"/>
          <p:nvPr/>
        </p:nvSpPr>
        <p:spPr>
          <a:xfrm>
            <a:off x="2532888" y="3657600"/>
            <a:ext cx="1554480" cy="128016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Someone gave us a humanoid bag</a:t>
            </a:r>
            <a:endParaRPr lang="en-US" sz="1400" dirty="0"/>
          </a:p>
        </p:txBody>
      </p:sp>
      <p:sp>
        <p:nvSpPr>
          <p:cNvPr id="17" name="Text 12"/>
          <p:cNvSpPr txBox="1"/>
          <p:nvPr/>
        </p:nvSpPr>
        <p:spPr>
          <a:xfrm>
            <a:off x="2532888" y="5029200"/>
            <a:ext cx="1554480" cy="320040"/>
          </a:xfrm>
          <a:prstGeom prst="rect">
            <a:avLst/>
          </a:prstGeom>
          <a:noFill/>
          <a:ln/>
        </p:spPr>
        <p:txBody>
          <a:bodyPr wrap="square" lIns="0" tIns="0" rIns="0" bIns="0" rtlCol="0" anchor="t"/>
          <a:lstStyle/>
          <a:p>
            <a:pPr indent="0" marL="0">
              <a:buNone/>
            </a:pPr>
            <a:r>
              <a:rPr lang="en-US" sz="1400" b="1" dirty="0">
                <a:solidFill>
                  <a:srgbClr val="3776AB"/>
                </a:solidFill>
                <a:latin typeface="Arial" pitchFamily="34" charset="0"/>
                <a:ea typeface="Arial" pitchFamily="34" charset="-122"/>
                <a:cs typeface="Arial" pitchFamily="34" charset="-120"/>
              </a:rPr>
              <a:t>8 min</a:t>
            </a:r>
            <a:endParaRPr lang="en-US" sz="1400" dirty="0"/>
          </a:p>
        </p:txBody>
      </p:sp>
      <p:sp>
        <p:nvSpPr>
          <p:cNvPr id="18" name="Shape 13"/>
          <p:cNvSpPr/>
          <p:nvPr/>
        </p:nvSpPr>
        <p:spPr>
          <a:xfrm>
            <a:off x="5285232" y="2286000"/>
            <a:ext cx="813816" cy="0"/>
          </a:xfrm>
          <a:prstGeom prst="line">
            <a:avLst/>
          </a:prstGeom>
          <a:noFill/>
          <a:ln w="31750">
            <a:solidFill>
              <a:srgbClr val="B8C2D3"/>
            </a:solidFill>
            <a:prstDash val="solid"/>
            <a:tailEnd type="triangle"/>
          </a:ln>
        </p:spPr>
      </p:sp>
      <p:sp>
        <p:nvSpPr>
          <p:cNvPr id="19" name="Shape 14"/>
          <p:cNvSpPr/>
          <p:nvPr/>
        </p:nvSpPr>
        <p:spPr>
          <a:xfrm>
            <a:off x="4389120" y="1828800"/>
            <a:ext cx="914400" cy="914400"/>
          </a:xfrm>
          <a:prstGeom prst="ellipse">
            <a:avLst/>
          </a:prstGeom>
          <a:solidFill>
            <a:srgbClr val="1E3A6E"/>
          </a:solidFill>
          <a:ln/>
        </p:spPr>
      </p:sp>
      <p:pic>
        <p:nvPicPr>
          <p:cNvPr id="20" name="Image 2" descr="preencoded.png">    </p:cNvPr>
          <p:cNvPicPr>
            <a:picLocks noChangeAspect="1"/>
          </p:cNvPicPr>
          <p:nvPr/>
        </p:nvPicPr>
        <p:blipFill>
          <a:blip r:embed="rId3"/>
          <a:stretch>
            <a:fillRect/>
          </a:stretch>
        </p:blipFill>
        <p:spPr>
          <a:xfrm>
            <a:off x="4617720" y="2057400"/>
            <a:ext cx="457200" cy="457200"/>
          </a:xfrm>
          <a:prstGeom prst="rect">
            <a:avLst/>
          </a:prstGeom>
        </p:spPr>
      </p:pic>
      <p:sp>
        <p:nvSpPr>
          <p:cNvPr id="21" name="Text 15"/>
          <p:cNvSpPr/>
          <p:nvPr/>
        </p:nvSpPr>
        <p:spPr>
          <a:xfrm>
            <a:off x="4297680" y="3108960"/>
            <a:ext cx="1737360" cy="237744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22" name="Text 16"/>
          <p:cNvSpPr txBox="1"/>
          <p:nvPr/>
        </p:nvSpPr>
        <p:spPr>
          <a:xfrm>
            <a:off x="4407408" y="3246120"/>
            <a:ext cx="1554480" cy="320040"/>
          </a:xfrm>
          <a:prstGeom prst="rect">
            <a:avLst/>
          </a:prstGeom>
          <a:noFill/>
          <a:ln/>
        </p:spPr>
        <p:txBody>
          <a:bodyPr wrap="square" lIns="0" tIns="0" rIns="0" bIns="0" rtlCol="0" anchor="t"/>
          <a:lstStyle/>
          <a:p>
            <a:pPr indent="0" marL="0">
              <a:buNone/>
            </a:pPr>
            <a:r>
              <a:rPr lang="en-US" sz="1800" b="1" dirty="0">
                <a:solidFill>
                  <a:srgbClr val="1E3A6E"/>
                </a:solidFill>
                <a:latin typeface="Arial" pitchFamily="34" charset="0"/>
                <a:ea typeface="Arial" pitchFamily="34" charset="-122"/>
                <a:cs typeface="Arial" pitchFamily="34" charset="-120"/>
              </a:rPr>
              <a:t>library</a:t>
            </a:r>
            <a:endParaRPr lang="en-US" sz="1800" dirty="0"/>
          </a:p>
        </p:txBody>
      </p:sp>
      <p:sp>
        <p:nvSpPr>
          <p:cNvPr id="23" name="Text 17"/>
          <p:cNvSpPr txBox="1"/>
          <p:nvPr/>
        </p:nvSpPr>
        <p:spPr>
          <a:xfrm>
            <a:off x="4407408" y="3657600"/>
            <a:ext cx="1554480" cy="128016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A library we have not wrapped</a:t>
            </a:r>
            <a:endParaRPr lang="en-US" sz="1400" dirty="0"/>
          </a:p>
        </p:txBody>
      </p:sp>
      <p:sp>
        <p:nvSpPr>
          <p:cNvPr id="24" name="Text 18"/>
          <p:cNvSpPr txBox="1"/>
          <p:nvPr/>
        </p:nvSpPr>
        <p:spPr>
          <a:xfrm>
            <a:off x="4407408" y="5029200"/>
            <a:ext cx="1554480" cy="320040"/>
          </a:xfrm>
          <a:prstGeom prst="rect">
            <a:avLst/>
          </a:prstGeom>
          <a:noFill/>
          <a:ln/>
        </p:spPr>
        <p:txBody>
          <a:bodyPr wrap="square" lIns="0" tIns="0" rIns="0" bIns="0" rtlCol="0" anchor="t"/>
          <a:lstStyle/>
          <a:p>
            <a:pPr indent="0" marL="0">
              <a:buNone/>
            </a:pPr>
            <a:r>
              <a:rPr lang="en-US" sz="1400" b="1" dirty="0">
                <a:solidFill>
                  <a:srgbClr val="3776AB"/>
                </a:solidFill>
                <a:latin typeface="Arial" pitchFamily="34" charset="0"/>
                <a:ea typeface="Arial" pitchFamily="34" charset="-122"/>
                <a:cs typeface="Arial" pitchFamily="34" charset="-120"/>
              </a:rPr>
              <a:t>4 min</a:t>
            </a:r>
            <a:endParaRPr lang="en-US" sz="1400" dirty="0"/>
          </a:p>
        </p:txBody>
      </p:sp>
      <p:sp>
        <p:nvSpPr>
          <p:cNvPr id="25" name="Shape 19"/>
          <p:cNvSpPr/>
          <p:nvPr/>
        </p:nvSpPr>
        <p:spPr>
          <a:xfrm>
            <a:off x="7159752" y="2286000"/>
            <a:ext cx="813816" cy="0"/>
          </a:xfrm>
          <a:prstGeom prst="line">
            <a:avLst/>
          </a:prstGeom>
          <a:noFill/>
          <a:ln w="31750">
            <a:solidFill>
              <a:srgbClr val="B8C2D3"/>
            </a:solidFill>
            <a:prstDash val="solid"/>
            <a:tailEnd type="triangle"/>
          </a:ln>
        </p:spPr>
      </p:sp>
      <p:sp>
        <p:nvSpPr>
          <p:cNvPr id="26" name="Shape 20"/>
          <p:cNvSpPr/>
          <p:nvPr/>
        </p:nvSpPr>
        <p:spPr>
          <a:xfrm>
            <a:off x="6263640" y="1828800"/>
            <a:ext cx="914400" cy="914400"/>
          </a:xfrm>
          <a:prstGeom prst="ellipse">
            <a:avLst/>
          </a:prstGeom>
          <a:solidFill>
            <a:srgbClr val="1E3A6E"/>
          </a:solidFill>
          <a:ln/>
        </p:spPr>
      </p:sp>
      <p:pic>
        <p:nvPicPr>
          <p:cNvPr id="27" name="Image 3" descr="preencoded.png">    </p:cNvPr>
          <p:cNvPicPr>
            <a:picLocks noChangeAspect="1"/>
          </p:cNvPicPr>
          <p:nvPr/>
        </p:nvPicPr>
        <p:blipFill>
          <a:blip r:embed="rId4"/>
          <a:stretch>
            <a:fillRect/>
          </a:stretch>
        </p:blipFill>
        <p:spPr>
          <a:xfrm>
            <a:off x="6492240" y="2057400"/>
            <a:ext cx="457200" cy="457200"/>
          </a:xfrm>
          <a:prstGeom prst="rect">
            <a:avLst/>
          </a:prstGeom>
        </p:spPr>
      </p:pic>
      <p:sp>
        <p:nvSpPr>
          <p:cNvPr id="28" name="Text 21"/>
          <p:cNvSpPr/>
          <p:nvPr/>
        </p:nvSpPr>
        <p:spPr>
          <a:xfrm>
            <a:off x="6172200" y="3108960"/>
            <a:ext cx="1737360" cy="237744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29" name="Text 22"/>
          <p:cNvSpPr txBox="1"/>
          <p:nvPr/>
        </p:nvSpPr>
        <p:spPr>
          <a:xfrm>
            <a:off x="6281928" y="3246120"/>
            <a:ext cx="1554480" cy="320040"/>
          </a:xfrm>
          <a:prstGeom prst="rect">
            <a:avLst/>
          </a:prstGeom>
          <a:noFill/>
          <a:ln/>
        </p:spPr>
        <p:txBody>
          <a:bodyPr wrap="square" lIns="0" tIns="0" rIns="0" bIns="0" rtlCol="0" anchor="t"/>
          <a:lstStyle/>
          <a:p>
            <a:pPr indent="0" marL="0">
              <a:buNone/>
            </a:pPr>
            <a:r>
              <a:rPr lang="en-US" sz="1800" b="1" dirty="0">
                <a:solidFill>
                  <a:srgbClr val="1E3A6E"/>
                </a:solidFill>
                <a:latin typeface="Arial" pitchFamily="34" charset="0"/>
                <a:ea typeface="Arial" pitchFamily="34" charset="-122"/>
                <a:cs typeface="Arial" pitchFamily="34" charset="-120"/>
              </a:rPr>
              <a:t>ROS</a:t>
            </a:r>
            <a:endParaRPr lang="en-US" sz="1800" dirty="0"/>
          </a:p>
        </p:txBody>
      </p:sp>
      <p:sp>
        <p:nvSpPr>
          <p:cNvPr id="30" name="Text 23"/>
          <p:cNvSpPr txBox="1"/>
          <p:nvPr/>
        </p:nvSpPr>
        <p:spPr>
          <a:xfrm>
            <a:off x="6281928" y="3657600"/>
            <a:ext cx="1554480" cy="128016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Could we just put it in ROS?</a:t>
            </a:r>
            <a:endParaRPr lang="en-US" sz="1400" dirty="0"/>
          </a:p>
        </p:txBody>
      </p:sp>
      <p:sp>
        <p:nvSpPr>
          <p:cNvPr id="31" name="Text 24"/>
          <p:cNvSpPr txBox="1"/>
          <p:nvPr/>
        </p:nvSpPr>
        <p:spPr>
          <a:xfrm>
            <a:off x="6281928" y="5029200"/>
            <a:ext cx="1554480" cy="320040"/>
          </a:xfrm>
          <a:prstGeom prst="rect">
            <a:avLst/>
          </a:prstGeom>
          <a:noFill/>
          <a:ln/>
        </p:spPr>
        <p:txBody>
          <a:bodyPr wrap="square" lIns="0" tIns="0" rIns="0" bIns="0" rtlCol="0" anchor="t"/>
          <a:lstStyle/>
          <a:p>
            <a:pPr indent="0" marL="0">
              <a:buNone/>
            </a:pPr>
            <a:r>
              <a:rPr lang="en-US" sz="1400" b="1" dirty="0">
                <a:solidFill>
                  <a:srgbClr val="3776AB"/>
                </a:solidFill>
                <a:latin typeface="Arial" pitchFamily="34" charset="0"/>
                <a:ea typeface="Arial" pitchFamily="34" charset="-122"/>
                <a:cs typeface="Arial" pitchFamily="34" charset="-120"/>
              </a:rPr>
              <a:t>6 min</a:t>
            </a:r>
            <a:endParaRPr lang="en-US" sz="1400" dirty="0"/>
          </a:p>
        </p:txBody>
      </p:sp>
      <p:sp>
        <p:nvSpPr>
          <p:cNvPr id="32" name="Shape 25"/>
          <p:cNvSpPr/>
          <p:nvPr/>
        </p:nvSpPr>
        <p:spPr>
          <a:xfrm>
            <a:off x="9034272" y="2286000"/>
            <a:ext cx="813816" cy="0"/>
          </a:xfrm>
          <a:prstGeom prst="line">
            <a:avLst/>
          </a:prstGeom>
          <a:noFill/>
          <a:ln w="31750">
            <a:solidFill>
              <a:srgbClr val="B8C2D3"/>
            </a:solidFill>
            <a:prstDash val="solid"/>
            <a:tailEnd type="triangle"/>
          </a:ln>
        </p:spPr>
      </p:sp>
      <p:sp>
        <p:nvSpPr>
          <p:cNvPr id="33" name="Shape 26"/>
          <p:cNvSpPr/>
          <p:nvPr/>
        </p:nvSpPr>
        <p:spPr>
          <a:xfrm>
            <a:off x="8138160" y="1828800"/>
            <a:ext cx="914400" cy="914400"/>
          </a:xfrm>
          <a:prstGeom prst="ellipse">
            <a:avLst/>
          </a:prstGeom>
          <a:solidFill>
            <a:srgbClr val="1E3A6E"/>
          </a:solidFill>
          <a:ln/>
        </p:spPr>
      </p:sp>
      <p:pic>
        <p:nvPicPr>
          <p:cNvPr id="34" name="Image 4" descr="preencoded.png">    </p:cNvPr>
          <p:cNvPicPr>
            <a:picLocks noChangeAspect="1"/>
          </p:cNvPicPr>
          <p:nvPr/>
        </p:nvPicPr>
        <p:blipFill>
          <a:blip r:embed="rId5"/>
          <a:stretch>
            <a:fillRect/>
          </a:stretch>
        </p:blipFill>
        <p:spPr>
          <a:xfrm>
            <a:off x="8366760" y="2057400"/>
            <a:ext cx="457200" cy="457200"/>
          </a:xfrm>
          <a:prstGeom prst="rect">
            <a:avLst/>
          </a:prstGeom>
        </p:spPr>
      </p:pic>
      <p:sp>
        <p:nvSpPr>
          <p:cNvPr id="35" name="Text 27"/>
          <p:cNvSpPr/>
          <p:nvPr/>
        </p:nvSpPr>
        <p:spPr>
          <a:xfrm>
            <a:off x="8046720" y="3108960"/>
            <a:ext cx="1737360" cy="237744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36" name="Text 28"/>
          <p:cNvSpPr txBox="1"/>
          <p:nvPr/>
        </p:nvSpPr>
        <p:spPr>
          <a:xfrm>
            <a:off x="8156448" y="3246120"/>
            <a:ext cx="1554480" cy="320040"/>
          </a:xfrm>
          <a:prstGeom prst="rect">
            <a:avLst/>
          </a:prstGeom>
          <a:noFill/>
          <a:ln/>
        </p:spPr>
        <p:txBody>
          <a:bodyPr wrap="square" lIns="0" tIns="0" rIns="0" bIns="0" rtlCol="0" anchor="t"/>
          <a:lstStyle/>
          <a:p>
            <a:pPr indent="0" marL="0">
              <a:buNone/>
            </a:pPr>
            <a:r>
              <a:rPr lang="en-US" sz="1800" b="1" dirty="0">
                <a:solidFill>
                  <a:srgbClr val="1E3A6E"/>
                </a:solidFill>
                <a:latin typeface="Arial" pitchFamily="34" charset="0"/>
                <a:ea typeface="Arial" pitchFamily="34" charset="-122"/>
                <a:cs typeface="Arial" pitchFamily="34" charset="-120"/>
              </a:rPr>
              <a:t>controller</a:t>
            </a:r>
            <a:endParaRPr lang="en-US" sz="1800" dirty="0"/>
          </a:p>
        </p:txBody>
      </p:sp>
      <p:sp>
        <p:nvSpPr>
          <p:cNvPr id="37" name="Text 29"/>
          <p:cNvSpPr txBox="1"/>
          <p:nvPr/>
        </p:nvSpPr>
        <p:spPr>
          <a:xfrm>
            <a:off x="8156448" y="3657600"/>
            <a:ext cx="1554480" cy="128016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Someone asks for a controller</a:t>
            </a:r>
            <a:endParaRPr lang="en-US" sz="1400" dirty="0"/>
          </a:p>
        </p:txBody>
      </p:sp>
      <p:sp>
        <p:nvSpPr>
          <p:cNvPr id="38" name="Text 30"/>
          <p:cNvSpPr txBox="1"/>
          <p:nvPr/>
        </p:nvSpPr>
        <p:spPr>
          <a:xfrm>
            <a:off x="8156448" y="5029200"/>
            <a:ext cx="1554480" cy="320040"/>
          </a:xfrm>
          <a:prstGeom prst="rect">
            <a:avLst/>
          </a:prstGeom>
          <a:noFill/>
          <a:ln/>
        </p:spPr>
        <p:txBody>
          <a:bodyPr wrap="square" lIns="0" tIns="0" rIns="0" bIns="0" rtlCol="0" anchor="t"/>
          <a:lstStyle/>
          <a:p>
            <a:pPr indent="0" marL="0">
              <a:buNone/>
            </a:pPr>
            <a:r>
              <a:rPr lang="en-US" sz="1400" b="1" dirty="0">
                <a:solidFill>
                  <a:srgbClr val="3776AB"/>
                </a:solidFill>
                <a:latin typeface="Arial" pitchFamily="34" charset="0"/>
                <a:ea typeface="Arial" pitchFamily="34" charset="-122"/>
                <a:cs typeface="Arial" pitchFamily="34" charset="-120"/>
              </a:rPr>
              <a:t>7 min</a:t>
            </a:r>
            <a:endParaRPr lang="en-US" sz="1400" dirty="0"/>
          </a:p>
        </p:txBody>
      </p:sp>
      <p:sp>
        <p:nvSpPr>
          <p:cNvPr id="39" name="Shape 31"/>
          <p:cNvSpPr/>
          <p:nvPr/>
        </p:nvSpPr>
        <p:spPr>
          <a:xfrm>
            <a:off x="10012680" y="1828800"/>
            <a:ext cx="914400" cy="914400"/>
          </a:xfrm>
          <a:prstGeom prst="ellipse">
            <a:avLst/>
          </a:prstGeom>
          <a:solidFill>
            <a:srgbClr val="1E3A6E"/>
          </a:solidFill>
          <a:ln/>
        </p:spPr>
      </p:sp>
      <p:pic>
        <p:nvPicPr>
          <p:cNvPr id="40" name="Image 5" descr="preencoded.png">    </p:cNvPr>
          <p:cNvPicPr>
            <a:picLocks noChangeAspect="1"/>
          </p:cNvPicPr>
          <p:nvPr/>
        </p:nvPicPr>
        <p:blipFill>
          <a:blip r:embed="rId6"/>
          <a:stretch>
            <a:fillRect/>
          </a:stretch>
        </p:blipFill>
        <p:spPr>
          <a:xfrm>
            <a:off x="10241280" y="2057400"/>
            <a:ext cx="457200" cy="457200"/>
          </a:xfrm>
          <a:prstGeom prst="rect">
            <a:avLst/>
          </a:prstGeom>
        </p:spPr>
      </p:pic>
      <p:sp>
        <p:nvSpPr>
          <p:cNvPr id="41" name="Text 32"/>
          <p:cNvSpPr/>
          <p:nvPr/>
        </p:nvSpPr>
        <p:spPr>
          <a:xfrm>
            <a:off x="9921240" y="3108960"/>
            <a:ext cx="1737360" cy="237744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42" name="Text 33"/>
          <p:cNvSpPr txBox="1"/>
          <p:nvPr/>
        </p:nvSpPr>
        <p:spPr>
          <a:xfrm>
            <a:off x="10030968" y="3246120"/>
            <a:ext cx="1554480" cy="320040"/>
          </a:xfrm>
          <a:prstGeom prst="rect">
            <a:avLst/>
          </a:prstGeom>
          <a:noFill/>
          <a:ln/>
        </p:spPr>
        <p:txBody>
          <a:bodyPr wrap="square" lIns="0" tIns="0" rIns="0" bIns="0" rtlCol="0" anchor="t"/>
          <a:lstStyle/>
          <a:p>
            <a:pPr indent="0" marL="0">
              <a:buNone/>
            </a:pPr>
            <a:r>
              <a:rPr lang="en-US" sz="1800" b="1" dirty="0">
                <a:solidFill>
                  <a:srgbClr val="1E3A6E"/>
                </a:solidFill>
                <a:latin typeface="Arial" pitchFamily="34" charset="0"/>
                <a:ea typeface="Arial" pitchFamily="34" charset="-122"/>
                <a:cs typeface="Arial" pitchFamily="34" charset="-120"/>
              </a:rPr>
              <a:t>webcam</a:t>
            </a:r>
            <a:endParaRPr lang="en-US" sz="1800" dirty="0"/>
          </a:p>
        </p:txBody>
      </p:sp>
      <p:sp>
        <p:nvSpPr>
          <p:cNvPr id="43" name="Text 34"/>
          <p:cNvSpPr txBox="1"/>
          <p:nvPr/>
        </p:nvSpPr>
        <p:spPr>
          <a:xfrm>
            <a:off x="10030968" y="3657600"/>
            <a:ext cx="1554480" cy="128016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Can we make it follow this?</a:t>
            </a:r>
            <a:endParaRPr lang="en-US" sz="1400" dirty="0"/>
          </a:p>
        </p:txBody>
      </p:sp>
      <p:sp>
        <p:nvSpPr>
          <p:cNvPr id="44" name="Text 35"/>
          <p:cNvSpPr txBox="1"/>
          <p:nvPr/>
        </p:nvSpPr>
        <p:spPr>
          <a:xfrm>
            <a:off x="10030968" y="5029200"/>
            <a:ext cx="1554480" cy="320040"/>
          </a:xfrm>
          <a:prstGeom prst="rect">
            <a:avLst/>
          </a:prstGeom>
          <a:noFill/>
          <a:ln/>
        </p:spPr>
        <p:txBody>
          <a:bodyPr wrap="square" lIns="0" tIns="0" rIns="0" bIns="0" rtlCol="0" anchor="t"/>
          <a:lstStyle/>
          <a:p>
            <a:pPr indent="0" marL="0">
              <a:buNone/>
            </a:pPr>
            <a:r>
              <a:rPr lang="en-US" sz="1400" b="1" dirty="0">
                <a:solidFill>
                  <a:srgbClr val="3776AB"/>
                </a:solidFill>
                <a:latin typeface="Arial" pitchFamily="34" charset="0"/>
                <a:ea typeface="Arial" pitchFamily="34" charset="-122"/>
                <a:cs typeface="Arial" pitchFamily="34" charset="-120"/>
              </a:rPr>
              <a:t>5 min</a:t>
            </a:r>
            <a:endParaRPr lang="en-US" sz="1400" dirty="0"/>
          </a:p>
        </p:txBody>
      </p:sp>
      <p:sp>
        <p:nvSpPr>
          <p:cNvPr id="45" name="Text 36"/>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800" i="1" dirty="0">
                <a:solidFill>
                  <a:srgbClr val="5B6578"/>
                </a:solidFill>
                <a:latin typeface="Arial" pitchFamily="34" charset="0"/>
                <a:ea typeface="Arial" pitchFamily="34" charset="-122"/>
                <a:cs typeface="Arial" pitchFamily="34" charset="-120"/>
              </a:rPr>
              <a:t>Then the same tool, asked for a little more each time.</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1600200"/>
            <a:ext cx="10515600" cy="1554480"/>
          </a:xfrm>
          <a:prstGeom prst="rect">
            <a:avLst/>
          </a:prstGeom>
          <a:noFill/>
          <a:ln/>
        </p:spPr>
        <p:txBody>
          <a:bodyPr wrap="square" lIns="0" tIns="0" rIns="0" bIns="0" rtlCol="0" anchor="t"/>
          <a:lstStyle/>
          <a:p>
            <a:pPr algn="l" indent="0" marL="0">
              <a:buNone/>
            </a:pPr>
            <a:r>
              <a:rPr lang="en-US" sz="4400" b="1" dirty="0">
                <a:solidFill>
                  <a:srgbClr val="1E3A6E"/>
                </a:solidFill>
                <a:latin typeface="Arial" pitchFamily="34" charset="0"/>
                <a:ea typeface="Arial" pitchFamily="34" charset="-122"/>
                <a:cs typeface="Arial" pitchFamily="34" charset="-120"/>
              </a:rPr>
              <a:t>1. This loop is annoying me</a:t>
            </a:r>
            <a:endParaRPr lang="en-US" sz="4400" dirty="0"/>
          </a:p>
        </p:txBody>
      </p:sp>
      <p:sp>
        <p:nvSpPr>
          <p:cNvPr id="4" name="Text 1"/>
          <p:cNvSpPr txBox="1"/>
          <p:nvPr/>
        </p:nvSpPr>
        <p:spPr>
          <a:xfrm>
            <a:off x="822960" y="1097280"/>
            <a:ext cx="10058400" cy="365760"/>
          </a:xfrm>
          <a:prstGeom prst="rect">
            <a:avLst/>
          </a:prstGeom>
          <a:noFill/>
          <a:ln/>
        </p:spPr>
        <p:txBody>
          <a:bodyPr wrap="square" lIns="0" tIns="0" rIns="0" bIns="0" rtlCol="0" anchor="t"/>
          <a:lstStyle/>
          <a:p>
            <a:pPr indent="0" marL="0">
              <a:buNone/>
            </a:pPr>
            <a:r>
              <a:rPr lang="en-US" sz="1800" b="1" dirty="0">
                <a:solidFill>
                  <a:srgbClr val="3776AB"/>
                </a:solidFill>
                <a:latin typeface="Arial" pitchFamily="34" charset="0"/>
                <a:ea typeface="Arial" pitchFamily="34" charset="-122"/>
                <a:cs typeface="Arial" pitchFamily="34" charset="-120"/>
              </a:rPr>
              <a:t>Python, 7 minutes</a:t>
            </a:r>
            <a:endParaRPr lang="en-US" sz="1800" dirty="0"/>
          </a:p>
        </p:txBody>
      </p:sp>
      <p:sp>
        <p:nvSpPr>
          <p:cNvPr id="5" name="Text 2"/>
          <p:cNvSpPr txBox="1"/>
          <p:nvPr/>
        </p:nvSpPr>
        <p:spPr>
          <a:xfrm>
            <a:off x="822960" y="3246120"/>
            <a:ext cx="10515600" cy="731520"/>
          </a:xfrm>
          <a:prstGeom prst="rect">
            <a:avLst/>
          </a:prstGeom>
          <a:noFill/>
          <a:ln/>
        </p:spPr>
        <p:txBody>
          <a:bodyPr wrap="square" lIns="0" tIns="0" rIns="0" bIns="0" rtlCol="0" anchor="t"/>
          <a:lstStyle/>
          <a:p>
            <a:pPr indent="0" marL="0">
              <a:buNone/>
            </a:pPr>
            <a:r>
              <a:rPr lang="en-US" sz="1800" dirty="0">
                <a:solidFill>
                  <a:srgbClr val="5B6578"/>
                </a:solidFill>
                <a:latin typeface="Arial" pitchFamily="34" charset="0"/>
                <a:ea typeface="Arial" pitchFamily="34" charset="-122"/>
                <a:cs typeface="Arial" pitchFamily="34" charset="-120"/>
              </a:rPr>
              <a:t>Timestamps go in, hand positions go in, and a mask comes out telling us which samples count as moving.</a:t>
            </a:r>
            <a:endParaRPr lang="en-US" sz="1800" dirty="0"/>
          </a:p>
        </p:txBody>
      </p:sp>
      <p:sp>
        <p:nvSpPr>
          <p:cNvPr id="6" name="Shape 3"/>
          <p:cNvSpPr/>
          <p:nvPr/>
        </p:nvSpPr>
        <p:spPr>
          <a:xfrm>
            <a:off x="1866748" y="4754880"/>
            <a:ext cx="960120" cy="0"/>
          </a:xfrm>
          <a:prstGeom prst="line">
            <a:avLst/>
          </a:prstGeom>
          <a:noFill/>
          <a:ln w="38100">
            <a:solidFill>
              <a:srgbClr val="B8C2D3"/>
            </a:solidFill>
            <a:prstDash val="solid"/>
          </a:ln>
        </p:spPr>
      </p:sp>
      <p:sp>
        <p:nvSpPr>
          <p:cNvPr id="7" name="Shape 4"/>
          <p:cNvSpPr/>
          <p:nvPr/>
        </p:nvSpPr>
        <p:spPr>
          <a:xfrm>
            <a:off x="3741268" y="4754880"/>
            <a:ext cx="960120" cy="0"/>
          </a:xfrm>
          <a:prstGeom prst="line">
            <a:avLst/>
          </a:prstGeom>
          <a:noFill/>
          <a:ln w="38100">
            <a:solidFill>
              <a:srgbClr val="B8C2D3"/>
            </a:solidFill>
            <a:prstDash val="solid"/>
          </a:ln>
        </p:spPr>
      </p:sp>
      <p:sp>
        <p:nvSpPr>
          <p:cNvPr id="8" name="Shape 5"/>
          <p:cNvSpPr/>
          <p:nvPr/>
        </p:nvSpPr>
        <p:spPr>
          <a:xfrm>
            <a:off x="5615788" y="4754880"/>
            <a:ext cx="960120" cy="0"/>
          </a:xfrm>
          <a:prstGeom prst="line">
            <a:avLst/>
          </a:prstGeom>
          <a:noFill/>
          <a:ln w="38100">
            <a:solidFill>
              <a:srgbClr val="B8C2D3"/>
            </a:solidFill>
            <a:prstDash val="solid"/>
          </a:ln>
        </p:spPr>
      </p:sp>
      <p:sp>
        <p:nvSpPr>
          <p:cNvPr id="9" name="Shape 6"/>
          <p:cNvSpPr/>
          <p:nvPr/>
        </p:nvSpPr>
        <p:spPr>
          <a:xfrm>
            <a:off x="7490308" y="4754880"/>
            <a:ext cx="960120" cy="0"/>
          </a:xfrm>
          <a:prstGeom prst="line">
            <a:avLst/>
          </a:prstGeom>
          <a:noFill/>
          <a:ln w="38100">
            <a:solidFill>
              <a:srgbClr val="B8C2D3"/>
            </a:solidFill>
            <a:prstDash val="solid"/>
          </a:ln>
        </p:spPr>
      </p:sp>
      <p:sp>
        <p:nvSpPr>
          <p:cNvPr id="10" name="Shape 7"/>
          <p:cNvSpPr/>
          <p:nvPr/>
        </p:nvSpPr>
        <p:spPr>
          <a:xfrm>
            <a:off x="9364828" y="4754880"/>
            <a:ext cx="960120" cy="0"/>
          </a:xfrm>
          <a:prstGeom prst="line">
            <a:avLst/>
          </a:prstGeom>
          <a:noFill/>
          <a:ln w="38100">
            <a:solidFill>
              <a:srgbClr val="B8C2D3"/>
            </a:solidFill>
            <a:prstDash val="solid"/>
          </a:ln>
        </p:spPr>
      </p:sp>
      <p:sp>
        <p:nvSpPr>
          <p:cNvPr id="11" name="Shape 8"/>
          <p:cNvSpPr/>
          <p:nvPr/>
        </p:nvSpPr>
        <p:spPr>
          <a:xfrm>
            <a:off x="952348" y="4297680"/>
            <a:ext cx="914400" cy="914400"/>
          </a:xfrm>
          <a:prstGeom prst="ellipse">
            <a:avLst/>
          </a:prstGeom>
          <a:solidFill>
            <a:srgbClr val="F5C518"/>
          </a:solidFill>
          <a:ln w="38100">
            <a:solidFill>
              <a:srgbClr val="1E3A6E"/>
            </a:solidFill>
            <a:prstDash val="solid"/>
          </a:ln>
        </p:spPr>
      </p:sp>
      <p:pic>
        <p:nvPicPr>
          <p:cNvPr id="12" name="Image 0" descr="preencoded.png">    </p:cNvPr>
          <p:cNvPicPr>
            <a:picLocks noChangeAspect="1"/>
          </p:cNvPicPr>
          <p:nvPr/>
        </p:nvPicPr>
        <p:blipFill>
          <a:blip r:embed="rId1"/>
          <a:stretch>
            <a:fillRect/>
          </a:stretch>
        </p:blipFill>
        <p:spPr>
          <a:xfrm>
            <a:off x="1180948" y="4526280"/>
            <a:ext cx="457200" cy="457200"/>
          </a:xfrm>
          <a:prstGeom prst="rect">
            <a:avLst/>
          </a:prstGeom>
        </p:spPr>
      </p:pic>
      <p:sp>
        <p:nvSpPr>
          <p:cNvPr id="13" name="Text 9"/>
          <p:cNvSpPr txBox="1"/>
          <p:nvPr/>
        </p:nvSpPr>
        <p:spPr>
          <a:xfrm>
            <a:off x="495148" y="5349240"/>
            <a:ext cx="1828800" cy="320040"/>
          </a:xfrm>
          <a:prstGeom prst="rect">
            <a:avLst/>
          </a:prstGeom>
          <a:noFill/>
          <a:ln/>
        </p:spPr>
        <p:txBody>
          <a:bodyPr wrap="square" lIns="0" tIns="0" rIns="0" bIns="0" rtlCol="0" anchor="t"/>
          <a:lstStyle/>
          <a:p>
            <a:pPr algn="ctr" indent="0" marL="0">
              <a:buNone/>
            </a:pPr>
            <a:r>
              <a:rPr lang="en-US" sz="1800" b="1" dirty="0">
                <a:solidFill>
                  <a:srgbClr val="1E3A6E"/>
                </a:solidFill>
                <a:latin typeface="Arial" pitchFamily="34" charset="0"/>
                <a:ea typeface="Arial" pitchFamily="34" charset="-122"/>
                <a:cs typeface="Arial" pitchFamily="34" charset="-120"/>
              </a:rPr>
              <a:t>Python</a:t>
            </a:r>
            <a:endParaRPr lang="en-US" sz="1800" dirty="0"/>
          </a:p>
        </p:txBody>
      </p:sp>
      <p:sp>
        <p:nvSpPr>
          <p:cNvPr id="14" name="Shape 10"/>
          <p:cNvSpPr/>
          <p:nvPr/>
        </p:nvSpPr>
        <p:spPr>
          <a:xfrm>
            <a:off x="2826868" y="4297680"/>
            <a:ext cx="914400" cy="914400"/>
          </a:xfrm>
          <a:prstGeom prst="ellipse">
            <a:avLst/>
          </a:prstGeom>
          <a:solidFill>
            <a:srgbClr val="E3E8F0"/>
          </a:solidFill>
          <a:ln/>
        </p:spPr>
      </p:sp>
      <p:pic>
        <p:nvPicPr>
          <p:cNvPr id="15" name="Image 1" descr="preencoded.png">    </p:cNvPr>
          <p:cNvPicPr>
            <a:picLocks noChangeAspect="1"/>
          </p:cNvPicPr>
          <p:nvPr/>
        </p:nvPicPr>
        <p:blipFill>
          <a:blip r:embed="rId2"/>
          <a:stretch>
            <a:fillRect/>
          </a:stretch>
        </p:blipFill>
        <p:spPr>
          <a:xfrm>
            <a:off x="3055468" y="4526280"/>
            <a:ext cx="457200" cy="457200"/>
          </a:xfrm>
          <a:prstGeom prst="rect">
            <a:avLst/>
          </a:prstGeom>
        </p:spPr>
      </p:pic>
      <p:sp>
        <p:nvSpPr>
          <p:cNvPr id="16" name="Text 11"/>
          <p:cNvSpPr txBox="1"/>
          <p:nvPr/>
        </p:nvSpPr>
        <p:spPr>
          <a:xfrm>
            <a:off x="236966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MCAP</a:t>
            </a:r>
            <a:endParaRPr lang="en-US" sz="1800" dirty="0"/>
          </a:p>
        </p:txBody>
      </p:sp>
      <p:sp>
        <p:nvSpPr>
          <p:cNvPr id="17" name="Shape 12"/>
          <p:cNvSpPr/>
          <p:nvPr/>
        </p:nvSpPr>
        <p:spPr>
          <a:xfrm>
            <a:off x="4701388" y="4297680"/>
            <a:ext cx="914400" cy="914400"/>
          </a:xfrm>
          <a:prstGeom prst="ellipse">
            <a:avLst/>
          </a:prstGeom>
          <a:solidFill>
            <a:srgbClr val="E3E8F0"/>
          </a:solidFill>
          <a:ln/>
        </p:spPr>
      </p:sp>
      <p:pic>
        <p:nvPicPr>
          <p:cNvPr id="18" name="Image 2" descr="preencoded.png">    </p:cNvPr>
          <p:cNvPicPr>
            <a:picLocks noChangeAspect="1"/>
          </p:cNvPicPr>
          <p:nvPr/>
        </p:nvPicPr>
        <p:blipFill>
          <a:blip r:embed="rId3"/>
          <a:stretch>
            <a:fillRect/>
          </a:stretch>
        </p:blipFill>
        <p:spPr>
          <a:xfrm>
            <a:off x="4929988" y="4526280"/>
            <a:ext cx="457200" cy="457200"/>
          </a:xfrm>
          <a:prstGeom prst="rect">
            <a:avLst/>
          </a:prstGeom>
        </p:spPr>
      </p:pic>
      <p:sp>
        <p:nvSpPr>
          <p:cNvPr id="19" name="Text 13"/>
          <p:cNvSpPr txBox="1"/>
          <p:nvPr/>
        </p:nvSpPr>
        <p:spPr>
          <a:xfrm>
            <a:off x="424418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library</a:t>
            </a:r>
            <a:endParaRPr lang="en-US" sz="1800" dirty="0"/>
          </a:p>
        </p:txBody>
      </p:sp>
      <p:sp>
        <p:nvSpPr>
          <p:cNvPr id="20" name="Shape 14"/>
          <p:cNvSpPr/>
          <p:nvPr/>
        </p:nvSpPr>
        <p:spPr>
          <a:xfrm>
            <a:off x="6575908" y="4297680"/>
            <a:ext cx="914400" cy="914400"/>
          </a:xfrm>
          <a:prstGeom prst="ellipse">
            <a:avLst/>
          </a:prstGeom>
          <a:solidFill>
            <a:srgbClr val="E3E8F0"/>
          </a:solidFill>
          <a:ln/>
        </p:spPr>
      </p:sp>
      <p:pic>
        <p:nvPicPr>
          <p:cNvPr id="21" name="Image 3" descr="preencoded.png">    </p:cNvPr>
          <p:cNvPicPr>
            <a:picLocks noChangeAspect="1"/>
          </p:cNvPicPr>
          <p:nvPr/>
        </p:nvPicPr>
        <p:blipFill>
          <a:blip r:embed="rId4"/>
          <a:stretch>
            <a:fillRect/>
          </a:stretch>
        </p:blipFill>
        <p:spPr>
          <a:xfrm>
            <a:off x="6804508" y="4526280"/>
            <a:ext cx="457200" cy="457200"/>
          </a:xfrm>
          <a:prstGeom prst="rect">
            <a:avLst/>
          </a:prstGeom>
        </p:spPr>
      </p:pic>
      <p:sp>
        <p:nvSpPr>
          <p:cNvPr id="22" name="Text 15"/>
          <p:cNvSpPr txBox="1"/>
          <p:nvPr/>
        </p:nvSpPr>
        <p:spPr>
          <a:xfrm>
            <a:off x="611870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ROS</a:t>
            </a:r>
            <a:endParaRPr lang="en-US" sz="1800" dirty="0"/>
          </a:p>
        </p:txBody>
      </p:sp>
      <p:sp>
        <p:nvSpPr>
          <p:cNvPr id="23" name="Shape 16"/>
          <p:cNvSpPr/>
          <p:nvPr/>
        </p:nvSpPr>
        <p:spPr>
          <a:xfrm>
            <a:off x="8450428" y="4297680"/>
            <a:ext cx="914400" cy="914400"/>
          </a:xfrm>
          <a:prstGeom prst="ellipse">
            <a:avLst/>
          </a:prstGeom>
          <a:solidFill>
            <a:srgbClr val="E3E8F0"/>
          </a:solidFill>
          <a:ln/>
        </p:spPr>
      </p:sp>
      <p:pic>
        <p:nvPicPr>
          <p:cNvPr id="24" name="Image 4" descr="preencoded.png">    </p:cNvPr>
          <p:cNvPicPr>
            <a:picLocks noChangeAspect="1"/>
          </p:cNvPicPr>
          <p:nvPr/>
        </p:nvPicPr>
        <p:blipFill>
          <a:blip r:embed="rId5"/>
          <a:stretch>
            <a:fillRect/>
          </a:stretch>
        </p:blipFill>
        <p:spPr>
          <a:xfrm>
            <a:off x="8679028" y="4526280"/>
            <a:ext cx="457200" cy="457200"/>
          </a:xfrm>
          <a:prstGeom prst="rect">
            <a:avLst/>
          </a:prstGeom>
        </p:spPr>
      </p:pic>
      <p:sp>
        <p:nvSpPr>
          <p:cNvPr id="25" name="Text 17"/>
          <p:cNvSpPr txBox="1"/>
          <p:nvPr/>
        </p:nvSpPr>
        <p:spPr>
          <a:xfrm>
            <a:off x="799322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controller</a:t>
            </a:r>
            <a:endParaRPr lang="en-US" sz="1800" dirty="0"/>
          </a:p>
        </p:txBody>
      </p:sp>
      <p:sp>
        <p:nvSpPr>
          <p:cNvPr id="26" name="Shape 18"/>
          <p:cNvSpPr/>
          <p:nvPr/>
        </p:nvSpPr>
        <p:spPr>
          <a:xfrm>
            <a:off x="10324948" y="4297680"/>
            <a:ext cx="914400" cy="914400"/>
          </a:xfrm>
          <a:prstGeom prst="ellipse">
            <a:avLst/>
          </a:prstGeom>
          <a:solidFill>
            <a:srgbClr val="E3E8F0"/>
          </a:solidFill>
          <a:ln/>
        </p:spPr>
      </p:sp>
      <p:pic>
        <p:nvPicPr>
          <p:cNvPr id="27" name="Image 5" descr="preencoded.png">    </p:cNvPr>
          <p:cNvPicPr>
            <a:picLocks noChangeAspect="1"/>
          </p:cNvPicPr>
          <p:nvPr/>
        </p:nvPicPr>
        <p:blipFill>
          <a:blip r:embed="rId6"/>
          <a:stretch>
            <a:fillRect/>
          </a:stretch>
        </p:blipFill>
        <p:spPr>
          <a:xfrm>
            <a:off x="10553548" y="4526280"/>
            <a:ext cx="457200" cy="457200"/>
          </a:xfrm>
          <a:prstGeom prst="rect">
            <a:avLst/>
          </a:prstGeom>
        </p:spPr>
      </p:pic>
      <p:sp>
        <p:nvSpPr>
          <p:cNvPr id="28" name="Text 19"/>
          <p:cNvSpPr txBox="1"/>
          <p:nvPr/>
        </p:nvSpPr>
        <p:spPr>
          <a:xfrm>
            <a:off x="986774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webcam</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Agent writes, tests, times</a:t>
            </a:r>
            <a:endParaRPr lang="en-US" sz="3200" dirty="0"/>
          </a:p>
        </p:txBody>
      </p:sp>
      <p:sp>
        <p:nvSpPr>
          <p:cNvPr id="4" name="Shape 1"/>
          <p:cNvSpPr/>
          <p:nvPr/>
        </p:nvSpPr>
        <p:spPr>
          <a:xfrm>
            <a:off x="8330184" y="576072"/>
            <a:ext cx="292608" cy="0"/>
          </a:xfrm>
          <a:prstGeom prst="line">
            <a:avLst/>
          </a:prstGeom>
          <a:noFill/>
          <a:ln w="25400">
            <a:solidFill>
              <a:srgbClr val="B8C2D3"/>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F5C518"/>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E3E8F0"/>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54480"/>
            <a:ext cx="2651760" cy="1463040"/>
          </a:xfrm>
          <a:prstGeom prst="roundRect">
            <a:avLst>
              <a:gd name="adj" fmla="val 6250"/>
            </a:avLst>
          </a:prstGeom>
          <a:solidFill>
            <a:srgbClr val="F3F5F8"/>
          </a:solidFill>
          <a:ln/>
        </p:spPr>
        <p:txBody>
          <a:bodyPr wrap="square" lIns="1270" tIns="1270" rIns="1270" bIns="1270" rtlCol="0" anchor="ctr"/>
          <a:lstStyle/>
          <a:p>
            <a:pPr algn="l" indent="0" marL="0">
              <a:buNone/>
            </a:pPr>
            <a:endParaRPr lang="en-US" sz="1600" dirty="0"/>
          </a:p>
        </p:txBody>
      </p:sp>
      <p:pic>
        <p:nvPicPr>
          <p:cNvPr id="28" name="Image 6" descr="preencoded.png">    </p:cNvPr>
          <p:cNvPicPr>
            <a:picLocks noChangeAspect="1"/>
          </p:cNvPicPr>
          <p:nvPr/>
        </p:nvPicPr>
        <p:blipFill>
          <a:blip r:embed="rId7"/>
          <a:stretch>
            <a:fillRect/>
          </a:stretch>
        </p:blipFill>
        <p:spPr>
          <a:xfrm>
            <a:off x="731520" y="1691640"/>
            <a:ext cx="365760" cy="365760"/>
          </a:xfrm>
          <a:prstGeom prst="rect">
            <a:avLst/>
          </a:prstGeom>
        </p:spPr>
      </p:pic>
      <p:sp>
        <p:nvSpPr>
          <p:cNvPr id="29" name="Text 19"/>
          <p:cNvSpPr txBox="1"/>
          <p:nvPr/>
        </p:nvSpPr>
        <p:spPr>
          <a:xfrm>
            <a:off x="1188720" y="1737360"/>
            <a:ext cx="1920240" cy="320040"/>
          </a:xfrm>
          <a:prstGeom prst="rect">
            <a:avLst/>
          </a:prstGeom>
          <a:noFill/>
          <a:ln/>
        </p:spPr>
        <p:txBody>
          <a:bodyPr wrap="square" lIns="0" tIns="0" rIns="0" bIns="0" rtlCol="0" anchor="t"/>
          <a:lstStyle/>
          <a:p>
            <a:pPr indent="0" marL="0">
              <a:buNone/>
            </a:pPr>
            <a:r>
              <a:rPr lang="en-US" sz="1600" b="1" dirty="0">
                <a:solidFill>
                  <a:srgbClr val="1E3A6E"/>
                </a:solidFill>
                <a:latin typeface="Arial" pitchFamily="34" charset="0"/>
                <a:ea typeface="Arial" pitchFamily="34" charset="-122"/>
                <a:cs typeface="Arial" pitchFamily="34" charset="-120"/>
              </a:rPr>
              <a:t>skeleton task.py</a:t>
            </a:r>
            <a:endParaRPr lang="en-US" sz="1600" dirty="0"/>
          </a:p>
        </p:txBody>
      </p:sp>
      <p:sp>
        <p:nvSpPr>
          <p:cNvPr id="30" name="Text 20"/>
          <p:cNvSpPr txBox="1"/>
          <p:nvPr/>
        </p:nvSpPr>
        <p:spPr>
          <a:xfrm>
            <a:off x="731520" y="2148840"/>
            <a:ext cx="2286000" cy="45720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checks, example data, entry point</a:t>
            </a:r>
            <a:endParaRPr lang="en-US" sz="1400" dirty="0"/>
          </a:p>
        </p:txBody>
      </p:sp>
      <p:sp>
        <p:nvSpPr>
          <p:cNvPr id="31" name="Text 21"/>
          <p:cNvSpPr txBox="1"/>
          <p:nvPr/>
        </p:nvSpPr>
        <p:spPr>
          <a:xfrm>
            <a:off x="731520" y="2606040"/>
            <a:ext cx="2286000" cy="274320"/>
          </a:xfrm>
          <a:prstGeom prst="rect">
            <a:avLst/>
          </a:prstGeom>
          <a:noFill/>
          <a:ln/>
        </p:spPr>
        <p:txBody>
          <a:bodyPr wrap="square" lIns="0" tIns="0" rIns="0" bIns="0" rtlCol="0" anchor="t"/>
          <a:lstStyle/>
          <a:p>
            <a:pPr indent="0" marL="0">
              <a:buNone/>
            </a:pPr>
            <a:r>
              <a:rPr lang="en-US" sz="1400" b="1" dirty="0">
                <a:solidFill>
                  <a:srgbClr val="3776AB"/>
                </a:solidFill>
                <a:latin typeface="Arial" pitchFamily="34" charset="0"/>
                <a:ea typeface="Arial" pitchFamily="34" charset="-122"/>
                <a:cs typeface="Arial" pitchFamily="34" charset="-120"/>
              </a:rPr>
              <a:t>+ prompt</a:t>
            </a:r>
            <a:endParaRPr lang="en-US" sz="1400" dirty="0"/>
          </a:p>
        </p:txBody>
      </p:sp>
      <p:sp>
        <p:nvSpPr>
          <p:cNvPr id="32" name="Text 22"/>
          <p:cNvSpPr/>
          <p:nvPr/>
        </p:nvSpPr>
        <p:spPr>
          <a:xfrm>
            <a:off x="3931920" y="1554480"/>
            <a:ext cx="2011680" cy="1463040"/>
          </a:xfrm>
          <a:prstGeom prst="roundRect">
            <a:avLst>
              <a:gd name="adj" fmla="val 6250"/>
            </a:avLst>
          </a:prstGeom>
          <a:solidFill>
            <a:srgbClr val="1E3A6E"/>
          </a:solidFill>
          <a:ln/>
        </p:spPr>
        <p:txBody>
          <a:bodyPr wrap="square" lIns="1270" tIns="1270" rIns="1270" bIns="1270" rtlCol="0" anchor="ctr"/>
          <a:lstStyle/>
          <a:p>
            <a:pPr algn="l" indent="0" marL="0">
              <a:buNone/>
            </a:pPr>
            <a:endParaRPr lang="en-US" sz="1600" dirty="0"/>
          </a:p>
        </p:txBody>
      </p:sp>
      <p:pic>
        <p:nvPicPr>
          <p:cNvPr id="33" name="Image 7" descr="preencoded.png">    </p:cNvPr>
          <p:cNvPicPr>
            <a:picLocks noChangeAspect="1"/>
          </p:cNvPicPr>
          <p:nvPr/>
        </p:nvPicPr>
        <p:blipFill>
          <a:blip r:embed="rId8"/>
          <a:stretch>
            <a:fillRect/>
          </a:stretch>
        </p:blipFill>
        <p:spPr>
          <a:xfrm>
            <a:off x="4480560" y="1691640"/>
            <a:ext cx="548640" cy="548640"/>
          </a:xfrm>
          <a:prstGeom prst="rect">
            <a:avLst/>
          </a:prstGeom>
        </p:spPr>
      </p:pic>
      <p:sp>
        <p:nvSpPr>
          <p:cNvPr id="34" name="Text 23"/>
          <p:cNvSpPr txBox="1"/>
          <p:nvPr/>
        </p:nvSpPr>
        <p:spPr>
          <a:xfrm>
            <a:off x="3931920" y="2377440"/>
            <a:ext cx="2011680" cy="365760"/>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agent</a:t>
            </a:r>
            <a:endParaRPr lang="en-US" sz="2000" dirty="0"/>
          </a:p>
        </p:txBody>
      </p:sp>
      <p:sp>
        <p:nvSpPr>
          <p:cNvPr id="35" name="Text 24"/>
          <p:cNvSpPr/>
          <p:nvPr/>
        </p:nvSpPr>
        <p:spPr>
          <a:xfrm>
            <a:off x="6675120" y="1554480"/>
            <a:ext cx="2194560" cy="1463040"/>
          </a:xfrm>
          <a:prstGeom prst="roundRect">
            <a:avLst>
              <a:gd name="adj" fmla="val 6250"/>
            </a:avLst>
          </a:prstGeom>
          <a:solidFill>
            <a:srgbClr val="F3F5F8"/>
          </a:solidFill>
          <a:ln/>
        </p:spPr>
        <p:txBody>
          <a:bodyPr wrap="square" lIns="1270" tIns="1270" rIns="1270" bIns="1270" rtlCol="0" anchor="ctr"/>
          <a:lstStyle/>
          <a:p>
            <a:pPr algn="l" indent="0" marL="0">
              <a:buNone/>
            </a:pPr>
            <a:endParaRPr lang="en-US" sz="1600" dirty="0"/>
          </a:p>
        </p:txBody>
      </p:sp>
      <p:pic>
        <p:nvPicPr>
          <p:cNvPr id="36" name="Image 8" descr="preencoded.png">    </p:cNvPr>
          <p:cNvPicPr>
            <a:picLocks noChangeAspect="1"/>
          </p:cNvPicPr>
          <p:nvPr/>
        </p:nvPicPr>
        <p:blipFill>
          <a:blip r:embed="rId9"/>
          <a:stretch>
            <a:fillRect/>
          </a:stretch>
        </p:blipFill>
        <p:spPr>
          <a:xfrm>
            <a:off x="6858000" y="1691640"/>
            <a:ext cx="365760" cy="365760"/>
          </a:xfrm>
          <a:prstGeom prst="rect">
            <a:avLst/>
          </a:prstGeom>
        </p:spPr>
      </p:pic>
      <p:sp>
        <p:nvSpPr>
          <p:cNvPr id="37" name="Text 25"/>
          <p:cNvSpPr txBox="1"/>
          <p:nvPr/>
        </p:nvSpPr>
        <p:spPr>
          <a:xfrm>
            <a:off x="7315200" y="1737360"/>
            <a:ext cx="1554480" cy="320040"/>
          </a:xfrm>
          <a:prstGeom prst="rect">
            <a:avLst/>
          </a:prstGeom>
          <a:noFill/>
          <a:ln/>
        </p:spPr>
        <p:txBody>
          <a:bodyPr wrap="square" lIns="0" tIns="0" rIns="0" bIns="0" rtlCol="0" anchor="t"/>
          <a:lstStyle/>
          <a:p>
            <a:pPr indent="0" marL="0">
              <a:buNone/>
            </a:pPr>
            <a:r>
              <a:rPr lang="en-US" sz="1500" b="1" dirty="0">
                <a:solidFill>
                  <a:srgbClr val="1E3A6E"/>
                </a:solidFill>
                <a:latin typeface="Arial" pitchFamily="34" charset="0"/>
                <a:ea typeface="Arial" pitchFamily="34" charset="-122"/>
                <a:cs typeface="Arial" pitchFamily="34" charset="-120"/>
              </a:rPr>
              <a:t>implementation</a:t>
            </a:r>
            <a:endParaRPr lang="en-US" sz="1500" dirty="0"/>
          </a:p>
        </p:txBody>
      </p:sp>
      <p:sp>
        <p:nvSpPr>
          <p:cNvPr id="38" name="Text 26"/>
          <p:cNvSpPr txBox="1"/>
          <p:nvPr/>
        </p:nvSpPr>
        <p:spPr>
          <a:xfrm>
            <a:off x="6858000" y="2286000"/>
            <a:ext cx="1920240" cy="54864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the missing logic</a:t>
            </a:r>
            <a:endParaRPr lang="en-US" sz="1400" dirty="0"/>
          </a:p>
        </p:txBody>
      </p:sp>
      <p:sp>
        <p:nvSpPr>
          <p:cNvPr id="39" name="Text 27"/>
          <p:cNvSpPr/>
          <p:nvPr/>
        </p:nvSpPr>
        <p:spPr>
          <a:xfrm>
            <a:off x="9601200" y="1554480"/>
            <a:ext cx="2011680" cy="1463040"/>
          </a:xfrm>
          <a:prstGeom prst="roundRect">
            <a:avLst>
              <a:gd name="adj" fmla="val 6250"/>
            </a:avLst>
          </a:prstGeom>
          <a:solidFill>
            <a:srgbClr val="F3F5F8"/>
          </a:solidFill>
          <a:ln/>
        </p:spPr>
        <p:txBody>
          <a:bodyPr wrap="square" lIns="1270" tIns="1270" rIns="1270" bIns="1270" rtlCol="0" anchor="ctr"/>
          <a:lstStyle/>
          <a:p>
            <a:pPr algn="l" indent="0" marL="0">
              <a:buNone/>
            </a:pPr>
            <a:endParaRPr lang="en-US" sz="1600" dirty="0"/>
          </a:p>
        </p:txBody>
      </p:sp>
      <p:pic>
        <p:nvPicPr>
          <p:cNvPr id="40" name="Image 9" descr="preencoded.png">    </p:cNvPr>
          <p:cNvPicPr>
            <a:picLocks noChangeAspect="1"/>
          </p:cNvPicPr>
          <p:nvPr/>
        </p:nvPicPr>
        <p:blipFill>
          <a:blip r:embed="rId10"/>
          <a:stretch>
            <a:fillRect/>
          </a:stretch>
        </p:blipFill>
        <p:spPr>
          <a:xfrm>
            <a:off x="9784080" y="1691640"/>
            <a:ext cx="365760" cy="365760"/>
          </a:xfrm>
          <a:prstGeom prst="rect">
            <a:avLst/>
          </a:prstGeom>
        </p:spPr>
      </p:pic>
      <p:sp>
        <p:nvSpPr>
          <p:cNvPr id="41" name="Text 28"/>
          <p:cNvSpPr txBox="1"/>
          <p:nvPr/>
        </p:nvSpPr>
        <p:spPr>
          <a:xfrm>
            <a:off x="10241280" y="1737360"/>
            <a:ext cx="1371600" cy="320040"/>
          </a:xfrm>
          <a:prstGeom prst="rect">
            <a:avLst/>
          </a:prstGeom>
          <a:noFill/>
          <a:ln/>
        </p:spPr>
        <p:txBody>
          <a:bodyPr wrap="square" lIns="0" tIns="0" rIns="0" bIns="0" rtlCol="0" anchor="t"/>
          <a:lstStyle/>
          <a:p>
            <a:pPr indent="0" marL="0">
              <a:buNone/>
            </a:pPr>
            <a:r>
              <a:rPr lang="en-US" sz="1500" b="1" dirty="0">
                <a:solidFill>
                  <a:srgbClr val="1E3A6E"/>
                </a:solidFill>
                <a:latin typeface="Arial" pitchFamily="34" charset="0"/>
                <a:ea typeface="Arial" pitchFamily="34" charset="-122"/>
                <a:cs typeface="Arial" pitchFamily="34" charset="-120"/>
              </a:rPr>
              <a:t>tests + timing</a:t>
            </a:r>
            <a:endParaRPr lang="en-US" sz="1500" dirty="0"/>
          </a:p>
        </p:txBody>
      </p:sp>
      <p:sp>
        <p:nvSpPr>
          <p:cNvPr id="42" name="Text 29"/>
          <p:cNvSpPr txBox="1"/>
          <p:nvPr/>
        </p:nvSpPr>
        <p:spPr>
          <a:xfrm>
            <a:off x="9784080" y="2286000"/>
            <a:ext cx="1737360" cy="64008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pass / fail and milliseconds</a:t>
            </a:r>
            <a:endParaRPr lang="en-US" sz="1400" dirty="0"/>
          </a:p>
        </p:txBody>
      </p:sp>
      <p:sp>
        <p:nvSpPr>
          <p:cNvPr id="43" name="Shape 30"/>
          <p:cNvSpPr/>
          <p:nvPr/>
        </p:nvSpPr>
        <p:spPr>
          <a:xfrm>
            <a:off x="3246120" y="2286000"/>
            <a:ext cx="640080" cy="0"/>
          </a:xfrm>
          <a:prstGeom prst="line">
            <a:avLst/>
          </a:prstGeom>
          <a:noFill/>
          <a:ln w="25400">
            <a:solidFill>
              <a:srgbClr val="1E3A6E"/>
            </a:solidFill>
            <a:prstDash val="solid"/>
            <a:tailEnd type="triangle"/>
          </a:ln>
        </p:spPr>
      </p:sp>
      <p:sp>
        <p:nvSpPr>
          <p:cNvPr id="44" name="Shape 31"/>
          <p:cNvSpPr/>
          <p:nvPr/>
        </p:nvSpPr>
        <p:spPr>
          <a:xfrm>
            <a:off x="5989320" y="2286000"/>
            <a:ext cx="640080" cy="0"/>
          </a:xfrm>
          <a:prstGeom prst="line">
            <a:avLst/>
          </a:prstGeom>
          <a:noFill/>
          <a:ln w="25400">
            <a:solidFill>
              <a:srgbClr val="1E3A6E"/>
            </a:solidFill>
            <a:prstDash val="solid"/>
            <a:tailEnd type="triangle"/>
          </a:ln>
        </p:spPr>
      </p:sp>
      <p:sp>
        <p:nvSpPr>
          <p:cNvPr id="45" name="Shape 32"/>
          <p:cNvSpPr/>
          <p:nvPr/>
        </p:nvSpPr>
        <p:spPr>
          <a:xfrm>
            <a:off x="8915400" y="2286000"/>
            <a:ext cx="640080" cy="0"/>
          </a:xfrm>
          <a:prstGeom prst="line">
            <a:avLst/>
          </a:prstGeom>
          <a:noFill/>
          <a:ln w="25400">
            <a:solidFill>
              <a:srgbClr val="1E3A6E"/>
            </a:solidFill>
            <a:prstDash val="solid"/>
            <a:tailEnd type="triangle"/>
          </a:ln>
        </p:spPr>
      </p:sp>
      <p:sp>
        <p:nvSpPr>
          <p:cNvPr id="46" name="Text 33"/>
          <p:cNvSpPr txBox="1"/>
          <p:nvPr/>
        </p:nvSpPr>
        <p:spPr>
          <a:xfrm>
            <a:off x="2926080" y="3108960"/>
            <a:ext cx="3657600" cy="274320"/>
          </a:xfrm>
          <a:prstGeom prst="rect">
            <a:avLst/>
          </a:prstGeom>
          <a:noFill/>
          <a:ln/>
        </p:spPr>
        <p:txBody>
          <a:bodyPr wrap="square" lIns="0" tIns="0" rIns="0" bIns="0" rtlCol="0" anchor="t"/>
          <a:lstStyle/>
          <a:p>
            <a:pPr indent="0" marL="0">
              <a:buNone/>
            </a:pPr>
            <a:r>
              <a:rPr lang="en-US" sz="1400" i="1" dirty="0">
                <a:solidFill>
                  <a:srgbClr val="5B6578"/>
                </a:solidFill>
                <a:latin typeface="Arial" pitchFamily="34" charset="0"/>
                <a:ea typeface="Arial" pitchFamily="34" charset="-122"/>
                <a:cs typeface="Arial" pitchFamily="34" charset="-120"/>
              </a:rPr>
              <a:t>No cppyy mentioned yet</a:t>
            </a:r>
            <a:endParaRPr lang="en-US" sz="1400" dirty="0"/>
          </a:p>
        </p:txBody>
      </p:sp>
      <p:sp>
        <p:nvSpPr>
          <p:cNvPr id="47" name="Text 34"/>
          <p:cNvSpPr/>
          <p:nvPr/>
        </p:nvSpPr>
        <p:spPr>
          <a:xfrm>
            <a:off x="548640" y="3703320"/>
            <a:ext cx="11064240" cy="1630680"/>
          </a:xfrm>
          <a:prstGeom prst="roundRect">
            <a:avLst>
              <a:gd name="adj" fmla="val 5607"/>
            </a:avLst>
          </a:prstGeom>
          <a:solidFill>
            <a:srgbClr val="1E1E2E"/>
          </a:solidFill>
          <a:ln/>
        </p:spPr>
        <p:txBody>
          <a:bodyPr wrap="square" lIns="1270" tIns="1270" rIns="1270" bIns="1270" rtlCol="0" anchor="ctr"/>
          <a:lstStyle/>
          <a:p>
            <a:pPr algn="l" indent="0" marL="0">
              <a:buNone/>
            </a:pPr>
            <a:endParaRPr lang="en-US" sz="1600" dirty="0"/>
          </a:p>
        </p:txBody>
      </p:sp>
      <p:sp>
        <p:nvSpPr>
          <p:cNvPr id="48" name="Text 35"/>
          <p:cNvSpPr/>
          <p:nvPr/>
        </p:nvSpPr>
        <p:spPr>
          <a:xfrm>
            <a:off x="548640" y="3703320"/>
            <a:ext cx="11064240" cy="384048"/>
          </a:xfrm>
          <a:prstGeom prst="roundRect">
            <a:avLst>
              <a:gd name="adj" fmla="val 23810"/>
            </a:avLst>
          </a:prstGeom>
          <a:solidFill>
            <a:srgbClr val="2B2D42"/>
          </a:solidFill>
          <a:ln/>
        </p:spPr>
        <p:txBody>
          <a:bodyPr wrap="square" lIns="1270" tIns="1270" rIns="1270" bIns="1270" rtlCol="0" anchor="ctr"/>
          <a:lstStyle/>
          <a:p>
            <a:pPr algn="l" indent="0" marL="0">
              <a:buNone/>
            </a:pPr>
            <a:endParaRPr lang="en-US" sz="1600" dirty="0"/>
          </a:p>
        </p:txBody>
      </p:sp>
      <p:sp>
        <p:nvSpPr>
          <p:cNvPr id="49" name="Shape 36"/>
          <p:cNvSpPr/>
          <p:nvPr/>
        </p:nvSpPr>
        <p:spPr>
          <a:xfrm>
            <a:off x="557784" y="3931920"/>
            <a:ext cx="11045952" cy="155448"/>
          </a:xfrm>
          <a:prstGeom prst="rect">
            <a:avLst/>
          </a:prstGeom>
          <a:solidFill>
            <a:srgbClr val="2B2D42"/>
          </a:solidFill>
          <a:ln/>
        </p:spPr>
      </p:sp>
      <p:sp>
        <p:nvSpPr>
          <p:cNvPr id="50" name="Shape 37"/>
          <p:cNvSpPr/>
          <p:nvPr/>
        </p:nvSpPr>
        <p:spPr>
          <a:xfrm>
            <a:off x="731520" y="3831336"/>
            <a:ext cx="128016" cy="128016"/>
          </a:xfrm>
          <a:prstGeom prst="ellipse">
            <a:avLst/>
          </a:prstGeom>
          <a:solidFill>
            <a:srgbClr val="FF5F56"/>
          </a:solidFill>
          <a:ln/>
        </p:spPr>
      </p:sp>
      <p:sp>
        <p:nvSpPr>
          <p:cNvPr id="51" name="Shape 38"/>
          <p:cNvSpPr/>
          <p:nvPr/>
        </p:nvSpPr>
        <p:spPr>
          <a:xfrm>
            <a:off x="932688" y="3831336"/>
            <a:ext cx="128016" cy="128016"/>
          </a:xfrm>
          <a:prstGeom prst="ellipse">
            <a:avLst/>
          </a:prstGeom>
          <a:solidFill>
            <a:srgbClr val="FFBD2E"/>
          </a:solidFill>
          <a:ln/>
        </p:spPr>
      </p:sp>
      <p:sp>
        <p:nvSpPr>
          <p:cNvPr id="52" name="Shape 39"/>
          <p:cNvSpPr/>
          <p:nvPr/>
        </p:nvSpPr>
        <p:spPr>
          <a:xfrm>
            <a:off x="1133856" y="3831336"/>
            <a:ext cx="128016" cy="128016"/>
          </a:xfrm>
          <a:prstGeom prst="ellipse">
            <a:avLst/>
          </a:prstGeom>
          <a:solidFill>
            <a:srgbClr val="27C93F"/>
          </a:solidFill>
          <a:ln/>
        </p:spPr>
      </p:sp>
      <p:sp>
        <p:nvSpPr>
          <p:cNvPr id="53" name="Text 40"/>
          <p:cNvSpPr txBox="1"/>
          <p:nvPr/>
        </p:nvSpPr>
        <p:spPr>
          <a:xfrm>
            <a:off x="1463040" y="3794760"/>
            <a:ext cx="9235440" cy="228600"/>
          </a:xfrm>
          <a:prstGeom prst="rect">
            <a:avLst/>
          </a:prstGeom>
          <a:noFill/>
          <a:ln/>
        </p:spPr>
        <p:txBody>
          <a:bodyPr wrap="square" lIns="0" tIns="0" rIns="0" bIns="0" rtlCol="0" anchor="t"/>
          <a:lstStyle/>
          <a:p>
            <a:pPr algn="ctr" indent="0" marL="0">
              <a:buNone/>
            </a:pPr>
            <a:r>
              <a:rPr lang="en-US" sz="1100" dirty="0">
                <a:solidFill>
                  <a:srgbClr val="9AA3B8"/>
                </a:solidFill>
                <a:latin typeface="Courier New" pitchFamily="34" charset="0"/>
                <a:ea typeface="Courier New" pitchFamily="34" charset="-122"/>
                <a:cs typeface="Courier New" pitchFamily="34" charset="-120"/>
              </a:rPr>
              <a:t>agent runner</a:t>
            </a:r>
            <a:endParaRPr lang="en-US" sz="1100" dirty="0"/>
          </a:p>
        </p:txBody>
      </p:sp>
      <p:sp>
        <p:nvSpPr>
          <p:cNvPr id="54" name="Text 41"/>
          <p:cNvSpPr txBox="1"/>
          <p:nvPr/>
        </p:nvSpPr>
        <p:spPr>
          <a:xfrm>
            <a:off x="822960" y="4206240"/>
            <a:ext cx="10515600" cy="944880"/>
          </a:xfrm>
          <a:prstGeom prst="rect">
            <a:avLst/>
          </a:prstGeom>
          <a:noFill/>
          <a:ln/>
        </p:spPr>
        <p:txBody>
          <a:bodyPr wrap="square" lIns="0" tIns="0" rIns="0" bIns="0" rtlCol="0" anchor="t"/>
          <a:lstStyle/>
          <a:p>
            <a:pPr indent="0" marL="0">
              <a:lnSpc>
                <a:spcPts val="1680"/>
              </a:lnSpc>
              <a:buNone/>
            </a:pPr>
            <a:r>
              <a:rPr lang="en-US" sz="1200" dirty="0">
                <a:solidFill>
                  <a:srgbClr val="9AA3B8"/>
                </a:solidFill>
                <a:latin typeface="Courier New" pitchFamily="34" charset="0"/>
                <a:ea typeface="Courier New" pitchFamily="34" charset="-122"/>
                <a:cs typeface="Courier New" pitchFamily="34" charset="-120"/>
              </a:rPr>
              <a:t># 1. baseline: plain Python</a:t>
            </a:r>
            <a:endParaRPr lang="en-US" sz="1600" dirty="0"/>
          </a:p>
          <a:p>
            <a:pPr indent="0" marL="0">
              <a:lnSpc>
                <a:spcPts val="1680"/>
              </a:lnSpc>
              <a:buNone/>
            </a:pPr>
            <a:r>
              <a:rPr lang="en-US" sz="1200" dirty="0">
                <a:solidFill>
                  <a:srgbClr val="50FA7B"/>
                </a:solidFill>
                <a:latin typeface="Courier New" pitchFamily="34" charset="0"/>
                <a:ea typeface="Courier New" pitchFamily="34" charset="-122"/>
                <a:cs typeface="Courier New" pitchFamily="34" charset="-120"/>
              </a:rPr>
              <a:t>$ </a:t>
            </a:r>
            <a:pPr indent="0" marL="0">
              <a:lnSpc>
                <a:spcPts val="1680"/>
              </a:lnSpc>
              <a:buNone/>
            </a:pPr>
            <a:r>
              <a:rPr lang="en-US" sz="1200" dirty="0">
                <a:solidFill>
                  <a:srgbClr val="F8F8F2"/>
                </a:solidFill>
                <a:latin typeface="Courier New" pitchFamily="34" charset="0"/>
                <a:ea typeface="Courier New" pitchFamily="34" charset="-122"/>
                <a:cs typeface="Courier New" pitchFamily="34" charset="-120"/>
              </a:rPr>
              <a:t>pixi run python scripts/run_agent_eval.py implement --run rehearsal_01_python</a:t>
            </a:r>
            <a:endParaRPr lang="en-US" sz="1600" dirty="0"/>
          </a:p>
          <a:p>
            <a:pPr indent="0" marL="0">
              <a:lnSpc>
                <a:spcPts val="1680"/>
              </a:lnSpc>
              <a:buNone/>
            </a:pPr>
            <a:r>
              <a:rPr lang="en-US" sz="1200" dirty="0">
                <a:solidFill>
                  <a:srgbClr val="9AA3B8"/>
                </a:solidFill>
                <a:latin typeface="Courier New" pitchFamily="34" charset="0"/>
                <a:ea typeface="Courier New" pitchFamily="34" charset="-122"/>
                <a:cs typeface="Courier New" pitchFamily="34" charset="-120"/>
              </a:rPr>
              <a:t># 2. fresh session, kernel guide supplied</a:t>
            </a:r>
            <a:endParaRPr lang="en-US" sz="1600" dirty="0"/>
          </a:p>
          <a:p>
            <a:pPr indent="0" marL="0">
              <a:lnSpc>
                <a:spcPts val="1680"/>
              </a:lnSpc>
              <a:buNone/>
            </a:pPr>
            <a:r>
              <a:rPr lang="en-US" sz="1200" dirty="0">
                <a:solidFill>
                  <a:srgbClr val="50FA7B"/>
                </a:solidFill>
                <a:latin typeface="Courier New" pitchFamily="34" charset="0"/>
                <a:ea typeface="Courier New" pitchFamily="34" charset="-122"/>
                <a:cs typeface="Courier New" pitchFamily="34" charset="-120"/>
              </a:rPr>
              <a:t>$ </a:t>
            </a:r>
            <a:pPr indent="0" marL="0">
              <a:lnSpc>
                <a:spcPts val="1680"/>
              </a:lnSpc>
              <a:buNone/>
            </a:pPr>
            <a:r>
              <a:rPr lang="en-US" sz="1200" dirty="0">
                <a:solidFill>
                  <a:srgbClr val="F8F8F2"/>
                </a:solidFill>
                <a:latin typeface="Courier New" pitchFamily="34" charset="0"/>
                <a:ea typeface="Courier New" pitchFamily="34" charset="-122"/>
                <a:cs typeface="Courier New" pitchFamily="34" charset="-120"/>
              </a:rPr>
              <a:t>pixi run python scripts/run_agent_eval.py accelerate --run rehearsal_01_native --baseline rehearsal_01_python</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NumPy plus a sequential loop</a:t>
            </a:r>
            <a:endParaRPr lang="en-US" sz="3200" dirty="0"/>
          </a:p>
        </p:txBody>
      </p:sp>
      <p:sp>
        <p:nvSpPr>
          <p:cNvPr id="4" name="Shape 1"/>
          <p:cNvSpPr/>
          <p:nvPr/>
        </p:nvSpPr>
        <p:spPr>
          <a:xfrm>
            <a:off x="8330184" y="576072"/>
            <a:ext cx="292608" cy="0"/>
          </a:xfrm>
          <a:prstGeom prst="line">
            <a:avLst/>
          </a:prstGeom>
          <a:noFill/>
          <a:ln w="25400">
            <a:solidFill>
              <a:srgbClr val="B8C2D3"/>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F5C518"/>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E3E8F0"/>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54480"/>
            <a:ext cx="4023360" cy="2286000"/>
          </a:xfrm>
          <a:prstGeom prst="roundRect">
            <a:avLst>
              <a:gd name="adj" fmla="val 4000"/>
            </a:avLst>
          </a:prstGeom>
          <a:solidFill>
            <a:srgbClr val="F3F5F8"/>
          </a:solidFill>
          <a:ln/>
        </p:spPr>
        <p:txBody>
          <a:bodyPr wrap="square" lIns="1270" tIns="1270" rIns="1270" bIns="1270" rtlCol="0" anchor="ctr"/>
          <a:lstStyle/>
          <a:p>
            <a:pPr algn="l" indent="0" marL="0">
              <a:buNone/>
            </a:pPr>
            <a:endParaRPr lang="en-US" sz="1600" dirty="0"/>
          </a:p>
        </p:txBody>
      </p:sp>
      <p:sp>
        <p:nvSpPr>
          <p:cNvPr id="28" name="Text 19"/>
          <p:cNvSpPr txBox="1"/>
          <p:nvPr/>
        </p:nvSpPr>
        <p:spPr>
          <a:xfrm>
            <a:off x="731520" y="1691640"/>
            <a:ext cx="3657600" cy="1143000"/>
          </a:xfrm>
          <a:prstGeom prst="rect">
            <a:avLst/>
          </a:prstGeom>
          <a:noFill/>
          <a:ln/>
        </p:spPr>
        <p:txBody>
          <a:bodyPr wrap="square" lIns="0" tIns="0" rIns="0" bIns="0" rtlCol="0" anchor="ctr"/>
          <a:lstStyle/>
          <a:p>
            <a:pPr indent="0" marL="0">
              <a:buNone/>
            </a:pPr>
            <a:r>
              <a:rPr lang="en-US" sz="4400" b="1" dirty="0">
                <a:solidFill>
                  <a:srgbClr val="1E3A6E"/>
                </a:solidFill>
                <a:latin typeface="Arial" pitchFamily="34" charset="0"/>
                <a:ea typeface="Arial" pitchFamily="34" charset="-122"/>
                <a:cs typeface="Arial" pitchFamily="34" charset="-120"/>
              </a:rPr>
              <a:t>29 ms</a:t>
            </a:r>
            <a:endParaRPr lang="en-US" sz="4400" dirty="0"/>
          </a:p>
        </p:txBody>
      </p:sp>
      <p:sp>
        <p:nvSpPr>
          <p:cNvPr id="29" name="Text 20"/>
          <p:cNvSpPr txBox="1"/>
          <p:nvPr/>
        </p:nvSpPr>
        <p:spPr>
          <a:xfrm>
            <a:off x="731520" y="2834640"/>
            <a:ext cx="3657600" cy="91440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for 250,000 samples, NumPy plus a sequential loop</a:t>
            </a:r>
            <a:endParaRPr lang="en-US" sz="1400" dirty="0"/>
          </a:p>
        </p:txBody>
      </p:sp>
      <p:sp>
        <p:nvSpPr>
          <p:cNvPr id="30" name="Text 21"/>
          <p:cNvSpPr/>
          <p:nvPr/>
        </p:nvSpPr>
        <p:spPr>
          <a:xfrm>
            <a:off x="4937760" y="1554480"/>
            <a:ext cx="3108960" cy="2286000"/>
          </a:xfrm>
          <a:prstGeom prst="roundRect">
            <a:avLst>
              <a:gd name="adj" fmla="val 4000"/>
            </a:avLst>
          </a:prstGeom>
          <a:solidFill>
            <a:srgbClr val="F3F5F8"/>
          </a:solidFill>
          <a:ln/>
        </p:spPr>
        <p:txBody>
          <a:bodyPr wrap="square" lIns="2540" tIns="2540" rIns="2540" bIns="2540" rtlCol="0" anchor="ctr"/>
          <a:lstStyle/>
          <a:p>
            <a:pPr algn="ctr" indent="0" marL="0">
              <a:buNone/>
            </a:pPr>
            <a:r>
              <a:rPr lang="en-US" sz="1700" b="1" dirty="0">
                <a:solidFill>
                  <a:srgbClr val="1E3A6E"/>
                </a:solidFill>
                <a:latin typeface="Arial" pitchFamily="34" charset="0"/>
                <a:ea typeface="Arial" pitchFamily="34" charset="-122"/>
                <a:cs typeface="Arial" pitchFamily="34" charset="-120"/>
              </a:rPr>
              <a:t>NumPy</a:t>
            </a:r>
            <a:endParaRPr lang="en-US" sz="1700" dirty="0"/>
          </a:p>
          <a:p>
            <a:pPr algn="ctr" indent="0" marL="0">
              <a:buNone/>
            </a:pPr>
            <a:r>
              <a:rPr lang="en-US" sz="1700" b="1" dirty="0">
                <a:solidFill>
                  <a:srgbClr val="1E3A6E"/>
                </a:solidFill>
                <a:latin typeface="Arial" pitchFamily="34" charset="0"/>
                <a:ea typeface="Arial" pitchFamily="34" charset="-122"/>
                <a:cs typeface="Arial" pitchFamily="34" charset="-120"/>
              </a:rPr>
              <a:t>displacement and speed</a:t>
            </a:r>
            <a:endParaRPr lang="en-US" sz="1700" dirty="0"/>
          </a:p>
        </p:txBody>
      </p:sp>
      <p:sp>
        <p:nvSpPr>
          <p:cNvPr id="31" name="Shape 22"/>
          <p:cNvSpPr/>
          <p:nvPr/>
        </p:nvSpPr>
        <p:spPr>
          <a:xfrm>
            <a:off x="8092440" y="2697480"/>
            <a:ext cx="457200" cy="0"/>
          </a:xfrm>
          <a:prstGeom prst="line">
            <a:avLst/>
          </a:prstGeom>
          <a:noFill/>
          <a:ln w="25400">
            <a:solidFill>
              <a:srgbClr val="1E3A6E"/>
            </a:solidFill>
            <a:prstDash val="solid"/>
            <a:tailEnd type="triangle"/>
          </a:ln>
        </p:spPr>
      </p:sp>
      <p:sp>
        <p:nvSpPr>
          <p:cNvPr id="32" name="Text 23"/>
          <p:cNvSpPr/>
          <p:nvPr/>
        </p:nvSpPr>
        <p:spPr>
          <a:xfrm>
            <a:off x="8595360" y="1554480"/>
            <a:ext cx="3017520" cy="2286000"/>
          </a:xfrm>
          <a:prstGeom prst="roundRect">
            <a:avLst>
              <a:gd name="adj" fmla="val 4000"/>
            </a:avLst>
          </a:prstGeom>
          <a:solidFill>
            <a:srgbClr val="F5C518"/>
          </a:solidFill>
          <a:ln/>
        </p:spPr>
        <p:txBody>
          <a:bodyPr wrap="square" lIns="2540" tIns="2540" rIns="2540" bIns="2540" rtlCol="0" anchor="ctr"/>
          <a:lstStyle/>
          <a:p>
            <a:pPr algn="ctr" indent="0" marL="0">
              <a:buNone/>
            </a:pPr>
            <a:r>
              <a:rPr lang="en-US" sz="1700" b="1" dirty="0">
                <a:solidFill>
                  <a:srgbClr val="1E3A6E"/>
                </a:solidFill>
                <a:latin typeface="Arial" pitchFamily="34" charset="0"/>
                <a:ea typeface="Arial" pitchFamily="34" charset="-122"/>
                <a:cs typeface="Arial" pitchFamily="34" charset="-120"/>
              </a:rPr>
              <a:t>Python loop</a:t>
            </a:r>
            <a:endParaRPr lang="en-US" sz="1700" dirty="0"/>
          </a:p>
          <a:p>
            <a:pPr algn="ctr" indent="0" marL="0">
              <a:buNone/>
            </a:pPr>
            <a:r>
              <a:rPr lang="en-US" sz="1700" b="1" dirty="0">
                <a:solidFill>
                  <a:srgbClr val="1E3A6E"/>
                </a:solidFill>
                <a:latin typeface="Arial" pitchFamily="34" charset="0"/>
                <a:ea typeface="Arial" pitchFamily="34" charset="-122"/>
                <a:cs typeface="Arial" pitchFamily="34" charset="-120"/>
              </a:rPr>
              <a:t>when does movement start and end?</a:t>
            </a:r>
            <a:endParaRPr lang="en-US" sz="1700" dirty="0"/>
          </a:p>
        </p:txBody>
      </p:sp>
      <p:sp>
        <p:nvSpPr>
          <p:cNvPr id="33" name="Text 24"/>
          <p:cNvSpPr txBox="1"/>
          <p:nvPr/>
        </p:nvSpPr>
        <p:spPr>
          <a:xfrm>
            <a:off x="548640" y="4114800"/>
            <a:ext cx="5486400" cy="320040"/>
          </a:xfrm>
          <a:prstGeom prst="rect">
            <a:avLst/>
          </a:prstGeom>
          <a:noFill/>
          <a:ln/>
        </p:spPr>
        <p:txBody>
          <a:bodyPr wrap="square" lIns="0" tIns="0" rIns="0" bIns="0" rtlCol="0" anchor="t"/>
          <a:lstStyle/>
          <a:p>
            <a:pPr indent="0" marL="0">
              <a:buNone/>
            </a:pPr>
            <a:r>
              <a:rPr lang="en-US" sz="1800" b="1" dirty="0">
                <a:solidFill>
                  <a:srgbClr val="1E3A6E"/>
                </a:solidFill>
                <a:latin typeface="Arial" pitchFamily="34" charset="0"/>
                <a:ea typeface="Arial" pitchFamily="34" charset="-122"/>
                <a:cs typeface="Arial" pitchFamily="34" charset="-120"/>
              </a:rPr>
              <a:t>Routes we could explore</a:t>
            </a:r>
            <a:endParaRPr lang="en-US" sz="1800" dirty="0"/>
          </a:p>
        </p:txBody>
      </p:sp>
      <p:sp>
        <p:nvSpPr>
          <p:cNvPr id="34" name="Text 25"/>
          <p:cNvSpPr/>
          <p:nvPr/>
        </p:nvSpPr>
        <p:spPr>
          <a:xfrm>
            <a:off x="548640" y="4526280"/>
            <a:ext cx="1828800" cy="640080"/>
          </a:xfrm>
          <a:prstGeom prst="roundRect">
            <a:avLst>
              <a:gd name="adj" fmla="val 14286"/>
            </a:avLst>
          </a:prstGeom>
          <a:solidFill>
            <a:srgbClr val="F3F5F8"/>
          </a:solidFill>
          <a:ln w="12700">
            <a:solidFill>
              <a:srgbClr val="D0D7DE"/>
            </a:solidFill>
          </a:ln>
        </p:spPr>
        <p:txBody>
          <a:bodyPr wrap="square" lIns="1270" tIns="1270" rIns="1270" bIns="1270" rtlCol="0" anchor="ctr"/>
          <a:lstStyle/>
          <a:p>
            <a:pPr algn="ctr" indent="0" marL="0">
              <a:buNone/>
            </a:pPr>
            <a:r>
              <a:rPr lang="en-US" sz="1700" b="1" dirty="0">
                <a:solidFill>
                  <a:srgbClr val="5B6578"/>
                </a:solidFill>
                <a:latin typeface="Arial" pitchFamily="34" charset="0"/>
                <a:ea typeface="Arial" pitchFamily="34" charset="-122"/>
                <a:cs typeface="Arial" pitchFamily="34" charset="-120"/>
              </a:rPr>
              <a:t>Numba</a:t>
            </a:r>
            <a:endParaRPr lang="en-US" sz="1700" dirty="0"/>
          </a:p>
        </p:txBody>
      </p:sp>
      <p:sp>
        <p:nvSpPr>
          <p:cNvPr id="35" name="Text 26"/>
          <p:cNvSpPr/>
          <p:nvPr/>
        </p:nvSpPr>
        <p:spPr>
          <a:xfrm>
            <a:off x="2560320" y="4526280"/>
            <a:ext cx="1828800" cy="640080"/>
          </a:xfrm>
          <a:prstGeom prst="roundRect">
            <a:avLst>
              <a:gd name="adj" fmla="val 14286"/>
            </a:avLst>
          </a:prstGeom>
          <a:solidFill>
            <a:srgbClr val="F3F5F8"/>
          </a:solidFill>
          <a:ln w="12700">
            <a:solidFill>
              <a:srgbClr val="D0D7DE"/>
            </a:solidFill>
          </a:ln>
        </p:spPr>
        <p:txBody>
          <a:bodyPr wrap="square" lIns="1270" tIns="1270" rIns="1270" bIns="1270" rtlCol="0" anchor="ctr"/>
          <a:lstStyle/>
          <a:p>
            <a:pPr algn="ctr" indent="0" marL="0">
              <a:buNone/>
            </a:pPr>
            <a:r>
              <a:rPr lang="en-US" sz="1700" b="1" dirty="0">
                <a:solidFill>
                  <a:srgbClr val="5B6578"/>
                </a:solidFill>
                <a:latin typeface="Arial" pitchFamily="34" charset="0"/>
                <a:ea typeface="Arial" pitchFamily="34" charset="-122"/>
                <a:cs typeface="Arial" pitchFamily="34" charset="-120"/>
              </a:rPr>
              <a:t>Cython</a:t>
            </a:r>
            <a:endParaRPr lang="en-US" sz="1700" dirty="0"/>
          </a:p>
        </p:txBody>
      </p:sp>
      <p:sp>
        <p:nvSpPr>
          <p:cNvPr id="36" name="Text 27"/>
          <p:cNvSpPr/>
          <p:nvPr/>
        </p:nvSpPr>
        <p:spPr>
          <a:xfrm>
            <a:off x="4572000" y="4526280"/>
            <a:ext cx="1828800" cy="640080"/>
          </a:xfrm>
          <a:prstGeom prst="roundRect">
            <a:avLst>
              <a:gd name="adj" fmla="val 14286"/>
            </a:avLst>
          </a:prstGeom>
          <a:solidFill>
            <a:srgbClr val="F3F5F8"/>
          </a:solidFill>
          <a:ln w="12700">
            <a:solidFill>
              <a:srgbClr val="D0D7DE"/>
            </a:solidFill>
          </a:ln>
        </p:spPr>
        <p:txBody>
          <a:bodyPr wrap="square" lIns="1270" tIns="1270" rIns="1270" bIns="1270" rtlCol="0" anchor="ctr"/>
          <a:lstStyle/>
          <a:p>
            <a:pPr algn="ctr" indent="0" marL="0">
              <a:buNone/>
            </a:pPr>
            <a:r>
              <a:rPr lang="en-US" sz="1700" b="1" dirty="0">
                <a:solidFill>
                  <a:srgbClr val="5B6578"/>
                </a:solidFill>
                <a:latin typeface="Arial" pitchFamily="34" charset="0"/>
                <a:ea typeface="Arial" pitchFamily="34" charset="-122"/>
                <a:cs typeface="Arial" pitchFamily="34" charset="-120"/>
              </a:rPr>
              <a:t>pybind11</a:t>
            </a:r>
            <a:endParaRPr lang="en-US" sz="1700" dirty="0"/>
          </a:p>
        </p:txBody>
      </p:sp>
      <p:sp>
        <p:nvSpPr>
          <p:cNvPr id="37" name="Text 28"/>
          <p:cNvSpPr/>
          <p:nvPr/>
        </p:nvSpPr>
        <p:spPr>
          <a:xfrm>
            <a:off x="6583680" y="4526280"/>
            <a:ext cx="2194560" cy="640080"/>
          </a:xfrm>
          <a:prstGeom prst="roundRect">
            <a:avLst>
              <a:gd name="adj" fmla="val 14286"/>
            </a:avLst>
          </a:prstGeom>
          <a:solidFill>
            <a:srgbClr val="F5C518"/>
          </a:solidFill>
          <a:ln/>
        </p:spPr>
        <p:txBody>
          <a:bodyPr wrap="square" lIns="1270" tIns="1270" rIns="1270" bIns="1270" rtlCol="0" anchor="ctr"/>
          <a:lstStyle/>
          <a:p>
            <a:pPr algn="ctr" indent="0" marL="0">
              <a:buNone/>
            </a:pPr>
            <a:r>
              <a:rPr lang="en-US" sz="2000" b="1" dirty="0">
                <a:solidFill>
                  <a:srgbClr val="1E3A6E"/>
                </a:solidFill>
                <a:latin typeface="Arial" pitchFamily="34" charset="0"/>
                <a:ea typeface="Arial" pitchFamily="34" charset="-122"/>
                <a:cs typeface="Arial" pitchFamily="34" charset="-120"/>
              </a:rPr>
              <a:t>cppyy</a:t>
            </a:r>
            <a:endParaRPr lang="en-US" sz="2000" dirty="0"/>
          </a:p>
        </p:txBody>
      </p:sp>
      <p:sp>
        <p:nvSpPr>
          <p:cNvPr id="38" name="Text 29"/>
          <p:cNvSpPr txBox="1"/>
          <p:nvPr/>
        </p:nvSpPr>
        <p:spPr>
          <a:xfrm>
            <a:off x="548640" y="5440680"/>
            <a:ext cx="10972800" cy="731520"/>
          </a:xfrm>
          <a:prstGeom prst="rect">
            <a:avLst/>
          </a:prstGeom>
          <a:noFill/>
          <a:ln/>
        </p:spPr>
        <p:txBody>
          <a:bodyPr wrap="square" lIns="0" tIns="0" rIns="0" bIns="0" rtlCol="0" anchor="t"/>
          <a:lstStyle/>
          <a:p>
            <a:pPr indent="0" marL="0">
              <a:buNone/>
            </a:pPr>
            <a:r>
              <a:rPr lang="en-US" sz="1800" dirty="0">
                <a:solidFill>
                  <a:srgbClr val="1B2433"/>
                </a:solidFill>
                <a:latin typeface="Arial" pitchFamily="34" charset="0"/>
                <a:ea typeface="Arial" pitchFamily="34" charset="-122"/>
                <a:cs typeface="Arial" pitchFamily="34" charset="-120"/>
              </a:rPr>
              <a:t>I want to see what happens when the next request involves a C++ library or a native ROS interface.</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The whole idea</a:t>
            </a:r>
            <a:endParaRPr lang="en-US" sz="3200" dirty="0"/>
          </a:p>
        </p:txBody>
      </p:sp>
      <p:sp>
        <p:nvSpPr>
          <p:cNvPr id="4" name="Shape 1"/>
          <p:cNvSpPr/>
          <p:nvPr/>
        </p:nvSpPr>
        <p:spPr>
          <a:xfrm>
            <a:off x="8330184" y="576072"/>
            <a:ext cx="292608" cy="0"/>
          </a:xfrm>
          <a:prstGeom prst="line">
            <a:avLst/>
          </a:prstGeom>
          <a:noFill/>
          <a:ln w="25400">
            <a:solidFill>
              <a:srgbClr val="B8C2D3"/>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F5C518"/>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E3E8F0"/>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801368"/>
            <a:ext cx="11064240" cy="2205990"/>
          </a:xfrm>
          <a:prstGeom prst="roundRect">
            <a:avLst>
              <a:gd name="adj" fmla="val 4145"/>
            </a:avLst>
          </a:prstGeom>
          <a:solidFill>
            <a:srgbClr val="F6F8FA"/>
          </a:solidFill>
          <a:ln w="12700">
            <a:solidFill>
              <a:srgbClr val="D0D7DE"/>
            </a:solidFill>
          </a:ln>
        </p:spPr>
        <p:txBody>
          <a:bodyPr wrap="square" lIns="1270" tIns="1270" rIns="1270" bIns="1270" rtlCol="0" anchor="ctr"/>
          <a:lstStyle/>
          <a:p>
            <a:pPr algn="l" indent="0" marL="0">
              <a:buNone/>
            </a:pPr>
            <a:endParaRPr lang="en-US" sz="1600" dirty="0"/>
          </a:p>
        </p:txBody>
      </p:sp>
      <p:sp>
        <p:nvSpPr>
          <p:cNvPr id="28" name="Text 19"/>
          <p:cNvSpPr/>
          <p:nvPr/>
        </p:nvSpPr>
        <p:spPr>
          <a:xfrm>
            <a:off x="731520" y="1508760"/>
            <a:ext cx="1188720" cy="310896"/>
          </a:xfrm>
          <a:prstGeom prst="roundRect">
            <a:avLst>
              <a:gd name="adj" fmla="val 29412"/>
            </a:avLst>
          </a:prstGeom>
          <a:solidFill>
            <a:srgbClr val="E6EAF0"/>
          </a:solidFill>
          <a:ln w="12700">
            <a:solidFill>
              <a:srgbClr val="D0D7DE"/>
            </a:solidFill>
          </a:ln>
        </p:spPr>
        <p:txBody>
          <a:bodyPr wrap="square" lIns="0" tIns="0" rIns="0" bIns="0" rtlCol="0" anchor="ctr"/>
          <a:lstStyle/>
          <a:p>
            <a:pPr algn="ctr" indent="0" marL="0">
              <a:buNone/>
            </a:pPr>
            <a:r>
              <a:rPr lang="en-US" sz="1200" dirty="0">
                <a:solidFill>
                  <a:srgbClr val="1B2433"/>
                </a:solidFill>
                <a:latin typeface="Courier New" pitchFamily="34" charset="0"/>
                <a:ea typeface="Courier New" pitchFamily="34" charset="-122"/>
                <a:cs typeface="Courier New" pitchFamily="34" charset="-120"/>
              </a:rPr>
              <a:t>kernel.py</a:t>
            </a:r>
            <a:endParaRPr lang="en-US" sz="1200" dirty="0"/>
          </a:p>
        </p:txBody>
      </p:sp>
      <p:sp>
        <p:nvSpPr>
          <p:cNvPr id="29" name="Text 20"/>
          <p:cNvSpPr txBox="1"/>
          <p:nvPr/>
        </p:nvSpPr>
        <p:spPr>
          <a:xfrm>
            <a:off x="1143000" y="1938528"/>
            <a:ext cx="10287000" cy="2023110"/>
          </a:xfrm>
          <a:prstGeom prst="rect">
            <a:avLst/>
          </a:prstGeom>
          <a:noFill/>
          <a:ln/>
        </p:spPr>
        <p:txBody>
          <a:bodyPr wrap="square" lIns="0" tIns="0" rIns="0" bIns="0" rtlCol="0" anchor="t"/>
          <a:lstStyle/>
          <a:p>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import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numpy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as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endParaRPr lang="en-US" sz="1600" dirty="0"/>
          </a:p>
          <a:p>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from</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cppyy_kit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import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cpp</a:t>
            </a:r>
            <a:endParaRPr lang="en-US" sz="1600" dirty="0"/>
          </a:p>
          <a:p>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from</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cppyy_kit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numpy_types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import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ConstNDArray</a:t>
            </a:r>
            <a:endParaRPr lang="en-US" sz="1600" dirty="0"/>
          </a:p>
          <a:p>
            <a:pPr indent="0" marL="0">
              <a:lnSpc>
                <a:spcPts val="1690"/>
              </a:lnSpc>
              <a:buNone/>
            </a:pPr>
            <a:r>
              <a:rPr lang="en-US" sz="1300" dirty="0">
                <a:solidFill>
                  <a:srgbClr val="1B2433"/>
                </a:solidFill>
                <a:latin typeface="Courier New" pitchFamily="34" charset="0"/>
                <a:ea typeface="Courier New" pitchFamily="34" charset="-122"/>
                <a:cs typeface="Courier New" pitchFamily="34" charset="-120"/>
              </a:rPr>
              <a:t> </a:t>
            </a:r>
            <a:endParaRPr lang="en-US" sz="1600" dirty="0"/>
          </a:p>
          <a:p>
            <a:pPr indent="0" marL="0">
              <a:lnSpc>
                <a:spcPts val="1690"/>
              </a:lnSpc>
              <a:buNone/>
            </a:pPr>
            <a:r>
              <a:rPr lang="en-US" sz="1300" dirty="0">
                <a:solidFill>
                  <a:srgbClr val="6F42C1"/>
                </a:solidFill>
                <a:latin typeface="Courier New" pitchFamily="34" charset="0"/>
                <a:ea typeface="Courier New" pitchFamily="34" charset="-122"/>
                <a:cs typeface="Courier New" pitchFamily="34" charset="-120"/>
              </a:rPr>
              <a:t>@cpp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nogil</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True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def</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6F42C1"/>
                </a:solidFill>
                <a:latin typeface="Courier New" pitchFamily="34" charset="0"/>
                <a:ea typeface="Courier New" pitchFamily="34" charset="-122"/>
                <a:cs typeface="Courier New" pitchFamily="34" charset="-120"/>
              </a:rPr>
              <a:t>sum_sq</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data</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ConstNDArray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float64</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&gt;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float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32F62"/>
                </a:solidFill>
                <a:latin typeface="Courier New" pitchFamily="34" charset="0"/>
                <a:ea typeface="Courier New" pitchFamily="34" charset="-122"/>
                <a:cs typeface="Courier New" pitchFamily="34" charset="-120"/>
              </a:rPr>
              <a:t>"double s = 0; for (std::size_t i = 0; i &lt; data_size; ++i) s += data[i]*data[i]; return s;"</a:t>
            </a:r>
            <a:endParaRPr lang="en-US" sz="1600" dirty="0"/>
          </a:p>
          <a:p>
            <a:pPr indent="0" marL="0">
              <a:lnSpc>
                <a:spcPts val="1690"/>
              </a:lnSpc>
              <a:buNone/>
            </a:pPr>
            <a:r>
              <a:rPr lang="en-US" sz="1300" dirty="0">
                <a:solidFill>
                  <a:srgbClr val="1B2433"/>
                </a:solidFill>
                <a:latin typeface="Courier New" pitchFamily="34" charset="0"/>
                <a:ea typeface="Courier New" pitchFamily="34" charset="-122"/>
                <a:cs typeface="Courier New" pitchFamily="34" charset="-120"/>
              </a:rPr>
              <a:t> </a:t>
            </a:r>
            <a:endParaRPr lang="en-US" sz="1600" dirty="0"/>
          </a:p>
          <a:p>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assert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sum_sq</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array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1</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2</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3</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dtype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float64</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14.0</a:t>
            </a:r>
            <a:endParaRPr lang="en-US" sz="1600" dirty="0"/>
          </a:p>
        </p:txBody>
      </p:sp>
      <p:sp>
        <p:nvSpPr>
          <p:cNvPr id="30" name="Text 21"/>
          <p:cNvSpPr/>
          <p:nvPr/>
        </p:nvSpPr>
        <p:spPr>
          <a:xfrm>
            <a:off x="685800" y="2758059"/>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3</a:t>
            </a:r>
            <a:endParaRPr lang="en-US" sz="1300" dirty="0"/>
          </a:p>
        </p:txBody>
      </p:sp>
      <p:sp>
        <p:nvSpPr>
          <p:cNvPr id="31" name="Text 22"/>
          <p:cNvSpPr/>
          <p:nvPr/>
        </p:nvSpPr>
        <p:spPr>
          <a:xfrm>
            <a:off x="685800" y="2972689"/>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2</a:t>
            </a:r>
            <a:endParaRPr lang="en-US" sz="1300" dirty="0"/>
          </a:p>
        </p:txBody>
      </p:sp>
      <p:sp>
        <p:nvSpPr>
          <p:cNvPr id="32" name="Text 23"/>
          <p:cNvSpPr/>
          <p:nvPr/>
        </p:nvSpPr>
        <p:spPr>
          <a:xfrm>
            <a:off x="685800" y="3187319"/>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1</a:t>
            </a:r>
            <a:endParaRPr lang="en-US" sz="1300" dirty="0"/>
          </a:p>
        </p:txBody>
      </p:sp>
      <p:sp>
        <p:nvSpPr>
          <p:cNvPr id="33" name="Text 24"/>
          <p:cNvSpPr/>
          <p:nvPr/>
        </p:nvSpPr>
        <p:spPr>
          <a:xfrm>
            <a:off x="685800" y="3616579"/>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4</a:t>
            </a:r>
            <a:endParaRPr lang="en-US" sz="1300" dirty="0"/>
          </a:p>
        </p:txBody>
      </p:sp>
      <p:sp>
        <p:nvSpPr>
          <p:cNvPr id="34" name="Text 25"/>
          <p:cNvSpPr/>
          <p:nvPr/>
        </p:nvSpPr>
        <p:spPr>
          <a:xfrm>
            <a:off x="548640" y="4480560"/>
            <a:ext cx="2651760" cy="1645920"/>
          </a:xfrm>
          <a:prstGeom prst="roundRect">
            <a:avLst>
              <a:gd name="adj" fmla="val 5556"/>
            </a:avLst>
          </a:prstGeom>
          <a:solidFill>
            <a:srgbClr val="F3F5F8"/>
          </a:solidFill>
          <a:ln/>
        </p:spPr>
        <p:txBody>
          <a:bodyPr wrap="square" lIns="1270" tIns="1270" rIns="1270" bIns="1270" rtlCol="0" anchor="ctr"/>
          <a:lstStyle/>
          <a:p>
            <a:pPr algn="l" indent="0" marL="0">
              <a:buNone/>
            </a:pPr>
            <a:endParaRPr lang="en-US" sz="1600" dirty="0"/>
          </a:p>
        </p:txBody>
      </p:sp>
      <p:sp>
        <p:nvSpPr>
          <p:cNvPr id="35" name="Text 26"/>
          <p:cNvSpPr/>
          <p:nvPr/>
        </p:nvSpPr>
        <p:spPr>
          <a:xfrm>
            <a:off x="731520" y="4617720"/>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1</a:t>
            </a:r>
            <a:endParaRPr lang="en-US" sz="1300" dirty="0"/>
          </a:p>
        </p:txBody>
      </p:sp>
      <p:sp>
        <p:nvSpPr>
          <p:cNvPr id="36" name="Text 27"/>
          <p:cNvSpPr txBox="1"/>
          <p:nvPr/>
        </p:nvSpPr>
        <p:spPr>
          <a:xfrm>
            <a:off x="731520" y="5029200"/>
            <a:ext cx="2286000" cy="100584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The string is the C++ body</a:t>
            </a:r>
            <a:endParaRPr lang="en-US" sz="1500" dirty="0"/>
          </a:p>
        </p:txBody>
      </p:sp>
      <p:sp>
        <p:nvSpPr>
          <p:cNvPr id="37" name="Text 28"/>
          <p:cNvSpPr/>
          <p:nvPr/>
        </p:nvSpPr>
        <p:spPr>
          <a:xfrm>
            <a:off x="3337560" y="4480560"/>
            <a:ext cx="2651760" cy="1645920"/>
          </a:xfrm>
          <a:prstGeom prst="roundRect">
            <a:avLst>
              <a:gd name="adj" fmla="val 5556"/>
            </a:avLst>
          </a:prstGeom>
          <a:solidFill>
            <a:srgbClr val="F3F5F8"/>
          </a:solidFill>
          <a:ln/>
        </p:spPr>
        <p:txBody>
          <a:bodyPr wrap="square" lIns="1270" tIns="1270" rIns="1270" bIns="1270" rtlCol="0" anchor="ctr"/>
          <a:lstStyle/>
          <a:p>
            <a:pPr algn="l" indent="0" marL="0">
              <a:buNone/>
            </a:pPr>
            <a:endParaRPr lang="en-US" sz="1600" dirty="0"/>
          </a:p>
        </p:txBody>
      </p:sp>
      <p:sp>
        <p:nvSpPr>
          <p:cNvPr id="38" name="Text 29"/>
          <p:cNvSpPr/>
          <p:nvPr/>
        </p:nvSpPr>
        <p:spPr>
          <a:xfrm>
            <a:off x="3520440" y="4617720"/>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2</a:t>
            </a:r>
            <a:endParaRPr lang="en-US" sz="1300" dirty="0"/>
          </a:p>
        </p:txBody>
      </p:sp>
      <p:sp>
        <p:nvSpPr>
          <p:cNvPr id="39" name="Text 30"/>
          <p:cNvSpPr txBox="1"/>
          <p:nvPr/>
        </p:nvSpPr>
        <p:spPr>
          <a:xfrm>
            <a:off x="3520440" y="5029200"/>
            <a:ext cx="2286000" cy="100584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ConstNDArray[np.float64] gives a const double* and data_size</a:t>
            </a:r>
            <a:endParaRPr lang="en-US" sz="1500" dirty="0"/>
          </a:p>
        </p:txBody>
      </p:sp>
      <p:sp>
        <p:nvSpPr>
          <p:cNvPr id="40" name="Text 31"/>
          <p:cNvSpPr/>
          <p:nvPr/>
        </p:nvSpPr>
        <p:spPr>
          <a:xfrm>
            <a:off x="6126480" y="4480560"/>
            <a:ext cx="2651760" cy="1645920"/>
          </a:xfrm>
          <a:prstGeom prst="roundRect">
            <a:avLst>
              <a:gd name="adj" fmla="val 5556"/>
            </a:avLst>
          </a:prstGeom>
          <a:solidFill>
            <a:srgbClr val="F3F5F8"/>
          </a:solidFill>
          <a:ln/>
        </p:spPr>
        <p:txBody>
          <a:bodyPr wrap="square" lIns="1270" tIns="1270" rIns="1270" bIns="1270" rtlCol="0" anchor="ctr"/>
          <a:lstStyle/>
          <a:p>
            <a:pPr algn="l" indent="0" marL="0">
              <a:buNone/>
            </a:pPr>
            <a:endParaRPr lang="en-US" sz="1600" dirty="0"/>
          </a:p>
        </p:txBody>
      </p:sp>
      <p:sp>
        <p:nvSpPr>
          <p:cNvPr id="41" name="Text 32"/>
          <p:cNvSpPr/>
          <p:nvPr/>
        </p:nvSpPr>
        <p:spPr>
          <a:xfrm>
            <a:off x="6309360" y="4617720"/>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3</a:t>
            </a:r>
            <a:endParaRPr lang="en-US" sz="1300" dirty="0"/>
          </a:p>
        </p:txBody>
      </p:sp>
      <p:sp>
        <p:nvSpPr>
          <p:cNvPr id="42" name="Text 33"/>
          <p:cNvSpPr txBox="1"/>
          <p:nvPr/>
        </p:nvSpPr>
        <p:spPr>
          <a:xfrm>
            <a:off x="6309360" y="5029200"/>
            <a:ext cx="2286000" cy="100584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nogil=True on the decorator</a:t>
            </a:r>
            <a:endParaRPr lang="en-US" sz="1500" dirty="0"/>
          </a:p>
        </p:txBody>
      </p:sp>
      <p:sp>
        <p:nvSpPr>
          <p:cNvPr id="43" name="Text 34"/>
          <p:cNvSpPr/>
          <p:nvPr/>
        </p:nvSpPr>
        <p:spPr>
          <a:xfrm>
            <a:off x="8915400" y="4480560"/>
            <a:ext cx="2651760" cy="1645920"/>
          </a:xfrm>
          <a:prstGeom prst="roundRect">
            <a:avLst>
              <a:gd name="adj" fmla="val 5556"/>
            </a:avLst>
          </a:prstGeom>
          <a:solidFill>
            <a:srgbClr val="F3F5F8"/>
          </a:solidFill>
          <a:ln/>
        </p:spPr>
        <p:txBody>
          <a:bodyPr wrap="square" lIns="1270" tIns="1270" rIns="1270" bIns="1270" rtlCol="0" anchor="ctr"/>
          <a:lstStyle/>
          <a:p>
            <a:pPr algn="l" indent="0" marL="0">
              <a:buNone/>
            </a:pPr>
            <a:endParaRPr lang="en-US" sz="1600" dirty="0"/>
          </a:p>
        </p:txBody>
      </p:sp>
      <p:sp>
        <p:nvSpPr>
          <p:cNvPr id="44" name="Text 35"/>
          <p:cNvSpPr/>
          <p:nvPr/>
        </p:nvSpPr>
        <p:spPr>
          <a:xfrm>
            <a:off x="9098280" y="4617720"/>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4</a:t>
            </a:r>
            <a:endParaRPr lang="en-US" sz="1300" dirty="0"/>
          </a:p>
        </p:txBody>
      </p:sp>
      <p:sp>
        <p:nvSpPr>
          <p:cNvPr id="45" name="Text 36"/>
          <p:cNvSpPr txBox="1"/>
          <p:nvPr/>
        </p:nvSpPr>
        <p:spPr>
          <a:xfrm>
            <a:off x="9098280" y="5029200"/>
            <a:ext cx="2286000" cy="100584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Compiled once, cached for reuse. The buffer is borrowed for the call</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The buffer contract</a:t>
            </a:r>
            <a:endParaRPr lang="en-US" sz="3200" dirty="0"/>
          </a:p>
        </p:txBody>
      </p:sp>
      <p:sp>
        <p:nvSpPr>
          <p:cNvPr id="4" name="Shape 1"/>
          <p:cNvSpPr/>
          <p:nvPr/>
        </p:nvSpPr>
        <p:spPr>
          <a:xfrm>
            <a:off x="8330184" y="576072"/>
            <a:ext cx="292608" cy="0"/>
          </a:xfrm>
          <a:prstGeom prst="line">
            <a:avLst/>
          </a:prstGeom>
          <a:noFill/>
          <a:ln w="25400">
            <a:solidFill>
              <a:srgbClr val="B8C2D3"/>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F5C518"/>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E3E8F0"/>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645920"/>
            <a:ext cx="2194560" cy="1737360"/>
          </a:xfrm>
          <a:prstGeom prst="roundRect">
            <a:avLst>
              <a:gd name="adj" fmla="val 5263"/>
            </a:avLst>
          </a:prstGeom>
          <a:solidFill>
            <a:srgbClr val="F3F5F8"/>
          </a:solidFill>
          <a:ln/>
        </p:spPr>
        <p:txBody>
          <a:bodyPr wrap="square" lIns="1270" tIns="1270" rIns="1270" bIns="1270" rtlCol="0" anchor="ctr"/>
          <a:lstStyle/>
          <a:p>
            <a:pPr algn="ctr" indent="0" marL="0">
              <a:buNone/>
            </a:pPr>
            <a:r>
              <a:rPr lang="en-US" sz="2000" b="1" dirty="0">
                <a:solidFill>
                  <a:srgbClr val="1E3A6E"/>
                </a:solidFill>
                <a:latin typeface="Arial" pitchFamily="34" charset="0"/>
                <a:ea typeface="Arial" pitchFamily="34" charset="-122"/>
                <a:cs typeface="Arial" pitchFamily="34" charset="-120"/>
              </a:rPr>
              <a:t>NumPy array</a:t>
            </a:r>
            <a:endParaRPr lang="en-US" sz="2000" dirty="0"/>
          </a:p>
        </p:txBody>
      </p:sp>
      <p:sp>
        <p:nvSpPr>
          <p:cNvPr id="28" name="Text 19"/>
          <p:cNvSpPr/>
          <p:nvPr/>
        </p:nvSpPr>
        <p:spPr>
          <a:xfrm>
            <a:off x="3383280" y="1554480"/>
            <a:ext cx="3291840" cy="1920240"/>
          </a:xfrm>
          <a:prstGeom prst="roundRect">
            <a:avLst>
              <a:gd name="adj" fmla="val 4762"/>
            </a:avLst>
          </a:prstGeom>
          <a:solidFill>
            <a:srgbClr val="FFFFFF"/>
          </a:solidFill>
          <a:ln w="25400">
            <a:solidFill>
              <a:srgbClr val="1E3A6E"/>
            </a:solidFill>
          </a:ln>
        </p:spPr>
        <p:txBody>
          <a:bodyPr wrap="square" lIns="1270" tIns="1270" rIns="1270" bIns="1270" rtlCol="0" anchor="ctr"/>
          <a:lstStyle/>
          <a:p>
            <a:pPr algn="l" indent="0" marL="0">
              <a:buNone/>
            </a:pPr>
            <a:endParaRPr lang="en-US" sz="1600" dirty="0"/>
          </a:p>
        </p:txBody>
      </p:sp>
      <p:sp>
        <p:nvSpPr>
          <p:cNvPr id="29" name="Text 20"/>
          <p:cNvSpPr txBox="1"/>
          <p:nvPr/>
        </p:nvSpPr>
        <p:spPr>
          <a:xfrm>
            <a:off x="3566160" y="1645920"/>
            <a:ext cx="2743200" cy="320040"/>
          </a:xfrm>
          <a:prstGeom prst="rect">
            <a:avLst/>
          </a:prstGeom>
          <a:noFill/>
          <a:ln/>
        </p:spPr>
        <p:txBody>
          <a:bodyPr wrap="square" lIns="0" tIns="0" rIns="0" bIns="0" rtlCol="0" anchor="t"/>
          <a:lstStyle/>
          <a:p>
            <a:pPr indent="0" marL="0">
              <a:buNone/>
            </a:pPr>
            <a:r>
              <a:rPr lang="en-US" sz="1800" b="1" dirty="0">
                <a:solidFill>
                  <a:srgbClr val="1E3A6E"/>
                </a:solidFill>
                <a:latin typeface="Arial" pitchFamily="34" charset="0"/>
                <a:ea typeface="Arial" pitchFamily="34" charset="-122"/>
                <a:cs typeface="Arial" pitchFamily="34" charset="-120"/>
              </a:rPr>
              <a:t>Checks</a:t>
            </a:r>
            <a:endParaRPr lang="en-US" sz="1800" dirty="0"/>
          </a:p>
        </p:txBody>
      </p:sp>
      <p:pic>
        <p:nvPicPr>
          <p:cNvPr id="30" name="Image 6" descr="preencoded.png">    </p:cNvPr>
          <p:cNvPicPr>
            <a:picLocks noChangeAspect="1"/>
          </p:cNvPicPr>
          <p:nvPr/>
        </p:nvPicPr>
        <p:blipFill>
          <a:blip r:embed="rId7"/>
          <a:stretch>
            <a:fillRect/>
          </a:stretch>
        </p:blipFill>
        <p:spPr>
          <a:xfrm>
            <a:off x="3611880" y="2084832"/>
            <a:ext cx="237744" cy="237744"/>
          </a:xfrm>
          <a:prstGeom prst="rect">
            <a:avLst/>
          </a:prstGeom>
        </p:spPr>
      </p:pic>
      <p:sp>
        <p:nvSpPr>
          <p:cNvPr id="31" name="Text 21"/>
          <p:cNvSpPr txBox="1"/>
          <p:nvPr/>
        </p:nvSpPr>
        <p:spPr>
          <a:xfrm>
            <a:off x="3977640" y="2066544"/>
            <a:ext cx="2560320" cy="27432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dtype</a:t>
            </a:r>
            <a:endParaRPr lang="en-US" sz="1500" dirty="0"/>
          </a:p>
        </p:txBody>
      </p:sp>
      <p:pic>
        <p:nvPicPr>
          <p:cNvPr id="32" name="Image 7" descr="preencoded.png">    </p:cNvPr>
          <p:cNvPicPr>
            <a:picLocks noChangeAspect="1"/>
          </p:cNvPicPr>
          <p:nvPr/>
        </p:nvPicPr>
        <p:blipFill>
          <a:blip r:embed="rId8"/>
          <a:stretch>
            <a:fillRect/>
          </a:stretch>
        </p:blipFill>
        <p:spPr>
          <a:xfrm>
            <a:off x="3611880" y="2423160"/>
            <a:ext cx="237744" cy="237744"/>
          </a:xfrm>
          <a:prstGeom prst="rect">
            <a:avLst/>
          </a:prstGeom>
        </p:spPr>
      </p:pic>
      <p:sp>
        <p:nvSpPr>
          <p:cNvPr id="33" name="Text 22"/>
          <p:cNvSpPr txBox="1"/>
          <p:nvPr/>
        </p:nvSpPr>
        <p:spPr>
          <a:xfrm>
            <a:off x="3977640" y="2404872"/>
            <a:ext cx="2560320" cy="27432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native byte order</a:t>
            </a:r>
            <a:endParaRPr lang="en-US" sz="1500" dirty="0"/>
          </a:p>
        </p:txBody>
      </p:sp>
      <p:pic>
        <p:nvPicPr>
          <p:cNvPr id="34" name="Image 8" descr="preencoded.png">    </p:cNvPr>
          <p:cNvPicPr>
            <a:picLocks noChangeAspect="1"/>
          </p:cNvPicPr>
          <p:nvPr/>
        </p:nvPicPr>
        <p:blipFill>
          <a:blip r:embed="rId9"/>
          <a:stretch>
            <a:fillRect/>
          </a:stretch>
        </p:blipFill>
        <p:spPr>
          <a:xfrm>
            <a:off x="3611880" y="2761488"/>
            <a:ext cx="237744" cy="237744"/>
          </a:xfrm>
          <a:prstGeom prst="rect">
            <a:avLst/>
          </a:prstGeom>
        </p:spPr>
      </p:pic>
      <p:sp>
        <p:nvSpPr>
          <p:cNvPr id="35" name="Text 23"/>
          <p:cNvSpPr txBox="1"/>
          <p:nvPr/>
        </p:nvSpPr>
        <p:spPr>
          <a:xfrm>
            <a:off x="3977640" y="2743200"/>
            <a:ext cx="2560320" cy="27432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alignment</a:t>
            </a:r>
            <a:endParaRPr lang="en-US" sz="1500" dirty="0"/>
          </a:p>
        </p:txBody>
      </p:sp>
      <p:pic>
        <p:nvPicPr>
          <p:cNvPr id="36" name="Image 9" descr="preencoded.png">    </p:cNvPr>
          <p:cNvPicPr>
            <a:picLocks noChangeAspect="1"/>
          </p:cNvPicPr>
          <p:nvPr/>
        </p:nvPicPr>
        <p:blipFill>
          <a:blip r:embed="rId10"/>
          <a:stretch>
            <a:fillRect/>
          </a:stretch>
        </p:blipFill>
        <p:spPr>
          <a:xfrm>
            <a:off x="3611880" y="3099816"/>
            <a:ext cx="237744" cy="237744"/>
          </a:xfrm>
          <a:prstGeom prst="rect">
            <a:avLst/>
          </a:prstGeom>
        </p:spPr>
      </p:pic>
      <p:sp>
        <p:nvSpPr>
          <p:cNvPr id="37" name="Text 24"/>
          <p:cNvSpPr txBox="1"/>
          <p:nvPr/>
        </p:nvSpPr>
        <p:spPr>
          <a:xfrm>
            <a:off x="3977640" y="3081528"/>
            <a:ext cx="2560320" cy="27432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C-contiguous</a:t>
            </a:r>
            <a:endParaRPr lang="en-US" sz="1500" dirty="0"/>
          </a:p>
        </p:txBody>
      </p:sp>
      <p:sp>
        <p:nvSpPr>
          <p:cNvPr id="38" name="Text 25"/>
          <p:cNvSpPr/>
          <p:nvPr/>
        </p:nvSpPr>
        <p:spPr>
          <a:xfrm>
            <a:off x="7315200" y="1645920"/>
            <a:ext cx="1828800" cy="1737360"/>
          </a:xfrm>
          <a:prstGeom prst="roundRect">
            <a:avLst>
              <a:gd name="adj" fmla="val 5263"/>
            </a:avLst>
          </a:prstGeom>
          <a:solidFill>
            <a:srgbClr val="F5C518"/>
          </a:solidFill>
          <a:ln/>
        </p:spPr>
        <p:txBody>
          <a:bodyPr wrap="square" lIns="1270" tIns="1270" rIns="1270" bIns="1270" rtlCol="0" anchor="ctr"/>
          <a:lstStyle/>
          <a:p>
            <a:pPr algn="ctr" indent="0" marL="0">
              <a:buNone/>
            </a:pPr>
            <a:r>
              <a:rPr lang="en-US" sz="1700" b="1" dirty="0">
                <a:solidFill>
                  <a:srgbClr val="1E3A6E"/>
                </a:solidFill>
                <a:latin typeface="Arial" pitchFamily="34" charset="0"/>
                <a:ea typeface="Arial" pitchFamily="34" charset="-122"/>
                <a:cs typeface="Arial" pitchFamily="34" charset="-120"/>
              </a:rPr>
              <a:t>borrowed pointer</a:t>
            </a:r>
            <a:endParaRPr lang="en-US" sz="1700" dirty="0"/>
          </a:p>
        </p:txBody>
      </p:sp>
      <p:sp>
        <p:nvSpPr>
          <p:cNvPr id="39" name="Text 26"/>
          <p:cNvSpPr/>
          <p:nvPr/>
        </p:nvSpPr>
        <p:spPr>
          <a:xfrm>
            <a:off x="9784080" y="1645920"/>
            <a:ext cx="1828800" cy="1737360"/>
          </a:xfrm>
          <a:prstGeom prst="roundRect">
            <a:avLst>
              <a:gd name="adj" fmla="val 5263"/>
            </a:avLst>
          </a:prstGeom>
          <a:solidFill>
            <a:srgbClr val="1E3A6E"/>
          </a:solidFill>
          <a:ln/>
        </p:spPr>
        <p:txBody>
          <a:bodyPr wrap="square" lIns="1270" tIns="1270" rIns="1270" bIns="127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 kernel</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const double*</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data_size</a:t>
            </a:r>
            <a:endParaRPr lang="en-US" sz="1600" dirty="0"/>
          </a:p>
        </p:txBody>
      </p:sp>
      <p:sp>
        <p:nvSpPr>
          <p:cNvPr id="40" name="Shape 27"/>
          <p:cNvSpPr/>
          <p:nvPr/>
        </p:nvSpPr>
        <p:spPr>
          <a:xfrm>
            <a:off x="2788920" y="2514600"/>
            <a:ext cx="548640" cy="0"/>
          </a:xfrm>
          <a:prstGeom prst="line">
            <a:avLst/>
          </a:prstGeom>
          <a:noFill/>
          <a:ln w="25400">
            <a:solidFill>
              <a:srgbClr val="1E3A6E"/>
            </a:solidFill>
            <a:prstDash val="solid"/>
            <a:tailEnd type="triangle"/>
          </a:ln>
        </p:spPr>
      </p:sp>
      <p:sp>
        <p:nvSpPr>
          <p:cNvPr id="41" name="Shape 28"/>
          <p:cNvSpPr/>
          <p:nvPr/>
        </p:nvSpPr>
        <p:spPr>
          <a:xfrm>
            <a:off x="6720840" y="2514600"/>
            <a:ext cx="548640" cy="0"/>
          </a:xfrm>
          <a:prstGeom prst="line">
            <a:avLst/>
          </a:prstGeom>
          <a:noFill/>
          <a:ln w="25400">
            <a:solidFill>
              <a:srgbClr val="1E3A6E"/>
            </a:solidFill>
            <a:prstDash val="solid"/>
            <a:tailEnd type="triangle"/>
          </a:ln>
        </p:spPr>
      </p:sp>
      <p:sp>
        <p:nvSpPr>
          <p:cNvPr id="42" name="Shape 29"/>
          <p:cNvSpPr/>
          <p:nvPr/>
        </p:nvSpPr>
        <p:spPr>
          <a:xfrm>
            <a:off x="9189720" y="2514600"/>
            <a:ext cx="548640" cy="0"/>
          </a:xfrm>
          <a:prstGeom prst="line">
            <a:avLst/>
          </a:prstGeom>
          <a:noFill/>
          <a:ln w="25400">
            <a:solidFill>
              <a:srgbClr val="1E3A6E"/>
            </a:solidFill>
            <a:prstDash val="solid"/>
            <a:tailEnd type="triangle"/>
          </a:ln>
        </p:spPr>
      </p:sp>
      <p:sp>
        <p:nvSpPr>
          <p:cNvPr id="43" name="Shape 30"/>
          <p:cNvSpPr/>
          <p:nvPr/>
        </p:nvSpPr>
        <p:spPr>
          <a:xfrm>
            <a:off x="5029200" y="3520440"/>
            <a:ext cx="0" cy="685800"/>
          </a:xfrm>
          <a:prstGeom prst="line">
            <a:avLst/>
          </a:prstGeom>
          <a:noFill/>
          <a:ln w="25400">
            <a:solidFill>
              <a:srgbClr val="C0392B"/>
            </a:solidFill>
            <a:prstDash val="solid"/>
            <a:tailEnd type="triangle"/>
          </a:ln>
        </p:spPr>
      </p:sp>
      <p:sp>
        <p:nvSpPr>
          <p:cNvPr id="44" name="Text 31"/>
          <p:cNvSpPr txBox="1"/>
          <p:nvPr/>
        </p:nvSpPr>
        <p:spPr>
          <a:xfrm>
            <a:off x="5166360" y="3657600"/>
            <a:ext cx="1828800" cy="274320"/>
          </a:xfrm>
          <a:prstGeom prst="rect">
            <a:avLst/>
          </a:prstGeom>
          <a:noFill/>
          <a:ln/>
        </p:spPr>
        <p:txBody>
          <a:bodyPr wrap="square" lIns="0" tIns="0" rIns="0" bIns="0" rtlCol="0" anchor="t"/>
          <a:lstStyle/>
          <a:p>
            <a:pPr indent="0" marL="0">
              <a:buNone/>
            </a:pPr>
            <a:r>
              <a:rPr lang="en-US" sz="1400" b="1" dirty="0">
                <a:solidFill>
                  <a:srgbClr val="C0392B"/>
                </a:solidFill>
                <a:latin typeface="Arial" pitchFamily="34" charset="0"/>
                <a:ea typeface="Arial" pitchFamily="34" charset="-122"/>
                <a:cs typeface="Arial" pitchFamily="34" charset="-120"/>
              </a:rPr>
              <a:t>mismatch</a:t>
            </a:r>
            <a:endParaRPr lang="en-US" sz="1400" dirty="0"/>
          </a:p>
        </p:txBody>
      </p:sp>
      <p:sp>
        <p:nvSpPr>
          <p:cNvPr id="45" name="Text 32"/>
          <p:cNvSpPr/>
          <p:nvPr/>
        </p:nvSpPr>
        <p:spPr>
          <a:xfrm>
            <a:off x="3657600" y="4251960"/>
            <a:ext cx="2743200" cy="822960"/>
          </a:xfrm>
          <a:prstGeom prst="roundRect">
            <a:avLst>
              <a:gd name="adj" fmla="val 11111"/>
            </a:avLst>
          </a:prstGeom>
          <a:solidFill>
            <a:srgbClr val="FFFFFF"/>
          </a:solidFill>
          <a:ln w="25400">
            <a:solidFill>
              <a:srgbClr val="C0392B"/>
            </a:solidFill>
          </a:ln>
        </p:spPr>
        <p:txBody>
          <a:bodyPr wrap="square" lIns="1270" tIns="1270" rIns="1270" bIns="1270" rtlCol="0" anchor="ctr"/>
          <a:lstStyle/>
          <a:p>
            <a:pPr algn="ctr" indent="0" marL="0">
              <a:buNone/>
            </a:pPr>
            <a:r>
              <a:rPr lang="en-US" sz="2000" b="1" dirty="0">
                <a:solidFill>
                  <a:srgbClr val="C0392B"/>
                </a:solidFill>
                <a:latin typeface="Arial" pitchFamily="34" charset="0"/>
                <a:ea typeface="Arial" pitchFamily="34" charset="-122"/>
                <a:cs typeface="Arial" pitchFamily="34" charset="-120"/>
              </a:rPr>
              <a:t>rejected</a:t>
            </a:r>
            <a:endParaRPr lang="en-US" sz="2000" dirty="0"/>
          </a:p>
        </p:txBody>
      </p:sp>
      <p:sp>
        <p:nvSpPr>
          <p:cNvPr id="46" name="Shape 33"/>
          <p:cNvSpPr/>
          <p:nvPr/>
        </p:nvSpPr>
        <p:spPr>
          <a:xfrm flipH="1">
            <a:off x="2743200" y="4663440"/>
            <a:ext cx="868680" cy="0"/>
          </a:xfrm>
          <a:prstGeom prst="line">
            <a:avLst/>
          </a:prstGeom>
          <a:noFill/>
          <a:ln w="25400">
            <a:solidFill>
              <a:srgbClr val="5B6578"/>
            </a:solidFill>
            <a:prstDash val="solid"/>
            <a:tailEnd type="triangle"/>
          </a:ln>
        </p:spPr>
      </p:sp>
      <p:sp>
        <p:nvSpPr>
          <p:cNvPr id="47" name="Text 34"/>
          <p:cNvSpPr/>
          <p:nvPr/>
        </p:nvSpPr>
        <p:spPr>
          <a:xfrm>
            <a:off x="548640" y="4251960"/>
            <a:ext cx="2148840" cy="822960"/>
          </a:xfrm>
          <a:prstGeom prst="roundRect">
            <a:avLst>
              <a:gd name="adj" fmla="val 11111"/>
            </a:avLst>
          </a:prstGeom>
          <a:solidFill>
            <a:srgbClr val="F3F5F8"/>
          </a:solidFill>
          <a:ln/>
        </p:spPr>
        <p:txBody>
          <a:bodyPr wrap="square" lIns="1270" tIns="1270" rIns="1270" bIns="1270" rtlCol="0" anchor="ctr"/>
          <a:lstStyle/>
          <a:p>
            <a:pPr algn="ctr" indent="0" marL="0">
              <a:buNone/>
            </a:pPr>
            <a:r>
              <a:rPr lang="en-US" sz="1500" b="1" dirty="0">
                <a:solidFill>
                  <a:srgbClr val="1E3A6E"/>
                </a:solidFill>
                <a:latin typeface="Arial" pitchFamily="34" charset="0"/>
                <a:ea typeface="Arial" pitchFamily="34" charset="-122"/>
                <a:cs typeface="Arial" pitchFamily="34" charset="-120"/>
              </a:rPr>
              <a:t>Python wrapper normalises</a:t>
            </a:r>
            <a:endParaRPr lang="en-US" sz="1500" dirty="0"/>
          </a:p>
        </p:txBody>
      </p:sp>
      <p:sp>
        <p:nvSpPr>
          <p:cNvPr id="48" name="Shape 35"/>
          <p:cNvSpPr/>
          <p:nvPr/>
        </p:nvSpPr>
        <p:spPr>
          <a:xfrm flipV="1">
            <a:off x="1645920" y="3429000"/>
            <a:ext cx="0" cy="777240"/>
          </a:xfrm>
          <a:prstGeom prst="line">
            <a:avLst/>
          </a:prstGeom>
          <a:noFill/>
          <a:ln w="25400">
            <a:solidFill>
              <a:srgbClr val="5B6578"/>
            </a:solidFill>
            <a:prstDash val="solid"/>
            <a:tailEnd type="triangle"/>
          </a:ln>
        </p:spPr>
      </p:sp>
      <p:sp>
        <p:nvSpPr>
          <p:cNvPr id="49" name="Text 36"/>
          <p:cNvSpPr txBox="1"/>
          <p:nvPr/>
        </p:nvSpPr>
        <p:spPr>
          <a:xfrm>
            <a:off x="7315200" y="4389120"/>
            <a:ext cx="4297680" cy="457200"/>
          </a:xfrm>
          <a:prstGeom prst="rect">
            <a:avLst/>
          </a:prstGeom>
          <a:noFill/>
          <a:ln/>
        </p:spPr>
        <p:txBody>
          <a:bodyPr wrap="square" lIns="0" tIns="0" rIns="0" bIns="0" rtlCol="0" anchor="t"/>
          <a:lstStyle/>
          <a:p>
            <a:pPr indent="0" marL="0">
              <a:buNone/>
            </a:pPr>
            <a:r>
              <a:rPr lang="en-US" sz="1600" dirty="0">
                <a:solidFill>
                  <a:srgbClr val="1B2433"/>
                </a:solidFill>
                <a:latin typeface="Arial" pitchFamily="34" charset="0"/>
                <a:ea typeface="Arial" pitchFamily="34" charset="-122"/>
                <a:cs typeface="Arial" pitchFamily="34" charset="-120"/>
              </a:rPr>
              <a:t>A mutable output uses NDArray[T].</a:t>
            </a:r>
            <a:endParaRPr lang="en-US" sz="1600" dirty="0"/>
          </a:p>
        </p:txBody>
      </p:sp>
      <p:sp>
        <p:nvSpPr>
          <p:cNvPr id="50" name="Text 37"/>
          <p:cNvSpPr txBox="1"/>
          <p:nvPr/>
        </p:nvSpPr>
        <p:spPr>
          <a:xfrm>
            <a:off x="7315200" y="4846320"/>
            <a:ext cx="4297680" cy="457200"/>
          </a:xfrm>
          <a:prstGeom prst="rect">
            <a:avLst/>
          </a:prstGeom>
          <a:noFill/>
          <a:ln/>
        </p:spPr>
        <p:txBody>
          <a:bodyPr wrap="square" lIns="0" tIns="0" rIns="0" bIns="0" rtlCol="0" anchor="t"/>
          <a:lstStyle/>
          <a:p>
            <a:pPr indent="0" marL="0">
              <a:buNone/>
            </a:pPr>
            <a:r>
              <a:rPr lang="en-US" sz="1600" dirty="0">
                <a:solidFill>
                  <a:srgbClr val="1B2433"/>
                </a:solidFill>
                <a:latin typeface="Arial" pitchFamily="34" charset="0"/>
                <a:ea typeface="Arial" pitchFamily="34" charset="-122"/>
                <a:cs typeface="Arial" pitchFamily="34" charset="-120"/>
              </a:rPr>
              <a:t>The kernel borrows the buffer for the call.</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About twenty times faster</a:t>
            </a:r>
            <a:endParaRPr lang="en-US" sz="3200" dirty="0"/>
          </a:p>
        </p:txBody>
      </p:sp>
      <p:sp>
        <p:nvSpPr>
          <p:cNvPr id="4" name="Shape 1"/>
          <p:cNvSpPr/>
          <p:nvPr/>
        </p:nvSpPr>
        <p:spPr>
          <a:xfrm>
            <a:off x="8330184" y="576072"/>
            <a:ext cx="292608" cy="0"/>
          </a:xfrm>
          <a:prstGeom prst="line">
            <a:avLst/>
          </a:prstGeom>
          <a:noFill/>
          <a:ln w="25400">
            <a:solidFill>
              <a:srgbClr val="B8C2D3"/>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F5C518"/>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E3E8F0"/>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801368"/>
            <a:ext cx="7132320" cy="1776730"/>
          </a:xfrm>
          <a:prstGeom prst="roundRect">
            <a:avLst>
              <a:gd name="adj" fmla="val 5147"/>
            </a:avLst>
          </a:prstGeom>
          <a:solidFill>
            <a:srgbClr val="F6F8FA"/>
          </a:solidFill>
          <a:ln w="12700">
            <a:solidFill>
              <a:srgbClr val="D0D7DE"/>
            </a:solidFill>
          </a:ln>
        </p:spPr>
        <p:txBody>
          <a:bodyPr wrap="square" lIns="1270" tIns="1270" rIns="1270" bIns="1270" rtlCol="0" anchor="ctr"/>
          <a:lstStyle/>
          <a:p>
            <a:pPr algn="l" indent="0" marL="0">
              <a:buNone/>
            </a:pPr>
            <a:endParaRPr lang="en-US" sz="1600" dirty="0"/>
          </a:p>
        </p:txBody>
      </p:sp>
      <p:sp>
        <p:nvSpPr>
          <p:cNvPr id="28" name="Text 19"/>
          <p:cNvSpPr/>
          <p:nvPr/>
        </p:nvSpPr>
        <p:spPr>
          <a:xfrm>
            <a:off x="731520" y="1508760"/>
            <a:ext cx="1828800" cy="310896"/>
          </a:xfrm>
          <a:prstGeom prst="roundRect">
            <a:avLst>
              <a:gd name="adj" fmla="val 29412"/>
            </a:avLst>
          </a:prstGeom>
          <a:solidFill>
            <a:srgbClr val="E6EAF0"/>
          </a:solidFill>
          <a:ln w="12700">
            <a:solidFill>
              <a:srgbClr val="D0D7DE"/>
            </a:solidFill>
          </a:ln>
        </p:spPr>
        <p:txBody>
          <a:bodyPr wrap="square" lIns="0" tIns="0" rIns="0" bIns="0" rtlCol="0" anchor="ctr"/>
          <a:lstStyle/>
          <a:p>
            <a:pPr algn="ctr" indent="0" marL="0">
              <a:buNone/>
            </a:pPr>
            <a:r>
              <a:rPr lang="en-US" sz="1200" dirty="0">
                <a:solidFill>
                  <a:srgbClr val="1B2433"/>
                </a:solidFill>
                <a:latin typeface="Courier New" pitchFamily="34" charset="0"/>
                <a:ea typeface="Courier New" pitchFamily="34" charset="-122"/>
                <a:cs typeface="Courier New" pitchFamily="34" charset="-120"/>
              </a:rPr>
              <a:t>python_native.py</a:t>
            </a:r>
            <a:endParaRPr lang="en-US" sz="1200" dirty="0"/>
          </a:p>
        </p:txBody>
      </p:sp>
      <p:sp>
        <p:nvSpPr>
          <p:cNvPr id="29" name="Text 20"/>
          <p:cNvSpPr txBox="1"/>
          <p:nvPr/>
        </p:nvSpPr>
        <p:spPr>
          <a:xfrm>
            <a:off x="731520" y="1938528"/>
            <a:ext cx="6766560" cy="1593850"/>
          </a:xfrm>
          <a:prstGeom prst="rect">
            <a:avLst/>
          </a:prstGeom>
          <a:noFill/>
          <a:ln/>
        </p:spPr>
        <p:txBody>
          <a:bodyPr wrap="square" lIns="0" tIns="0" rIns="0" bIns="0" rtlCol="0" anchor="t"/>
          <a:lstStyle/>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mask</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zeros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n</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dtype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int32</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if</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n</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&lt;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2</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return</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mask</a:t>
            </a:r>
            <a:endParaRPr lang="en-US" sz="1600" dirty="0"/>
          </a:p>
          <a:p>
            <a:pPr indent="0" marL="0">
              <a:lnSpc>
                <a:spcPts val="1690"/>
              </a:lnSpc>
              <a:buNone/>
            </a:pPr>
            <a:r>
              <a:rPr lang="en-US" sz="1300" dirty="0">
                <a:solidFill>
                  <a:srgbClr val="1B2433"/>
                </a:solidFill>
                <a:latin typeface="Courier New" pitchFamily="34" charset="0"/>
                <a:ea typeface="Courier New" pitchFamily="34" charset="-122"/>
                <a:cs typeface="Courier New" pitchFamily="34" charset="-120"/>
              </a:rPr>
              <a:t> </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_motion_mask_kernel</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xyz</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reshape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1</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n</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enter_speed</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exit_speed</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hold_seconds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mask</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return</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mask</a:t>
            </a:r>
            <a:endParaRPr lang="en-US" sz="1600" dirty="0"/>
          </a:p>
        </p:txBody>
      </p:sp>
      <p:sp>
        <p:nvSpPr>
          <p:cNvPr id="30" name="Text 21"/>
          <p:cNvSpPr/>
          <p:nvPr/>
        </p:nvSpPr>
        <p:spPr>
          <a:xfrm>
            <a:off x="7863840" y="1554480"/>
            <a:ext cx="3749040" cy="1325880"/>
          </a:xfrm>
          <a:prstGeom prst="roundRect">
            <a:avLst>
              <a:gd name="adj" fmla="val 6897"/>
            </a:avLst>
          </a:prstGeom>
          <a:solidFill>
            <a:srgbClr val="F3F5F8"/>
          </a:solidFill>
          <a:ln/>
        </p:spPr>
        <p:txBody>
          <a:bodyPr wrap="square" lIns="1270" tIns="1270" rIns="1270" bIns="1270" rtlCol="0" anchor="ctr"/>
          <a:lstStyle/>
          <a:p>
            <a:pPr algn="l" indent="0" marL="0">
              <a:buNone/>
            </a:pPr>
            <a:endParaRPr lang="en-US" sz="1600" dirty="0"/>
          </a:p>
        </p:txBody>
      </p:sp>
      <p:sp>
        <p:nvSpPr>
          <p:cNvPr id="31" name="Text 22"/>
          <p:cNvSpPr txBox="1"/>
          <p:nvPr/>
        </p:nvSpPr>
        <p:spPr>
          <a:xfrm>
            <a:off x="8046720" y="1691640"/>
            <a:ext cx="3383280" cy="662940"/>
          </a:xfrm>
          <a:prstGeom prst="rect">
            <a:avLst/>
          </a:prstGeom>
          <a:noFill/>
          <a:ln/>
        </p:spPr>
        <p:txBody>
          <a:bodyPr wrap="square" lIns="0" tIns="0" rIns="0" bIns="0" rtlCol="0" anchor="ctr"/>
          <a:lstStyle/>
          <a:p>
            <a:pPr indent="0" marL="0">
              <a:buNone/>
            </a:pPr>
            <a:r>
              <a:rPr lang="en-US" sz="3400" b="1" dirty="0">
                <a:solidFill>
                  <a:srgbClr val="1F8A4C"/>
                </a:solidFill>
                <a:latin typeface="Arial" pitchFamily="34" charset="0"/>
                <a:ea typeface="Arial" pitchFamily="34" charset="-122"/>
                <a:cs typeface="Arial" pitchFamily="34" charset="-120"/>
              </a:rPr>
              <a:t>12 tests</a:t>
            </a:r>
            <a:endParaRPr lang="en-US" sz="3400" dirty="0"/>
          </a:p>
        </p:txBody>
      </p:sp>
      <p:sp>
        <p:nvSpPr>
          <p:cNvPr id="32" name="Text 23"/>
          <p:cNvSpPr txBox="1"/>
          <p:nvPr/>
        </p:nvSpPr>
        <p:spPr>
          <a:xfrm>
            <a:off x="8046720" y="2354580"/>
            <a:ext cx="3383280" cy="43434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supplied tests passed</a:t>
            </a:r>
            <a:endParaRPr lang="en-US" sz="1400" dirty="0"/>
          </a:p>
        </p:txBody>
      </p:sp>
      <p:sp>
        <p:nvSpPr>
          <p:cNvPr id="33" name="Text 24"/>
          <p:cNvSpPr/>
          <p:nvPr/>
        </p:nvSpPr>
        <p:spPr>
          <a:xfrm>
            <a:off x="7863840" y="3017520"/>
            <a:ext cx="3749040" cy="1325880"/>
          </a:xfrm>
          <a:prstGeom prst="roundRect">
            <a:avLst>
              <a:gd name="adj" fmla="val 6897"/>
            </a:avLst>
          </a:prstGeom>
          <a:solidFill>
            <a:srgbClr val="F3F5F8"/>
          </a:solidFill>
          <a:ln/>
        </p:spPr>
        <p:txBody>
          <a:bodyPr wrap="square" lIns="1270" tIns="1270" rIns="1270" bIns="1270" rtlCol="0" anchor="ctr"/>
          <a:lstStyle/>
          <a:p>
            <a:pPr algn="l" indent="0" marL="0">
              <a:buNone/>
            </a:pPr>
            <a:endParaRPr lang="en-US" sz="1600" dirty="0"/>
          </a:p>
        </p:txBody>
      </p:sp>
      <p:sp>
        <p:nvSpPr>
          <p:cNvPr id="34" name="Text 25"/>
          <p:cNvSpPr txBox="1"/>
          <p:nvPr/>
        </p:nvSpPr>
        <p:spPr>
          <a:xfrm>
            <a:off x="8046720" y="3154680"/>
            <a:ext cx="3383280" cy="662940"/>
          </a:xfrm>
          <a:prstGeom prst="rect">
            <a:avLst/>
          </a:prstGeom>
          <a:noFill/>
          <a:ln/>
        </p:spPr>
        <p:txBody>
          <a:bodyPr wrap="square" lIns="0" tIns="0" rIns="0" bIns="0" rtlCol="0" anchor="ctr"/>
          <a:lstStyle/>
          <a:p>
            <a:pPr indent="0" marL="0">
              <a:buNone/>
            </a:pPr>
            <a:r>
              <a:rPr lang="en-US" sz="3400" b="1" dirty="0">
                <a:solidFill>
                  <a:srgbClr val="1F8A4C"/>
                </a:solidFill>
                <a:latin typeface="Arial" pitchFamily="34" charset="0"/>
                <a:ea typeface="Arial" pitchFamily="34" charset="-122"/>
                <a:cs typeface="Arial" pitchFamily="34" charset="-120"/>
              </a:rPr>
              <a:t>match</a:t>
            </a:r>
            <a:endParaRPr lang="en-US" sz="3400" dirty="0"/>
          </a:p>
        </p:txBody>
      </p:sp>
      <p:sp>
        <p:nvSpPr>
          <p:cNvPr id="35" name="Text 26"/>
          <p:cNvSpPr txBox="1"/>
          <p:nvPr/>
        </p:nvSpPr>
        <p:spPr>
          <a:xfrm>
            <a:off x="8046720" y="3817620"/>
            <a:ext cx="3383280" cy="43434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independent random checks matched</a:t>
            </a:r>
            <a:endParaRPr lang="en-US" sz="1400" dirty="0"/>
          </a:p>
        </p:txBody>
      </p:sp>
      <p:sp>
        <p:nvSpPr>
          <p:cNvPr id="36" name="Text 27"/>
          <p:cNvSpPr/>
          <p:nvPr/>
        </p:nvSpPr>
        <p:spPr>
          <a:xfrm>
            <a:off x="548640" y="4572000"/>
            <a:ext cx="11064240" cy="1645920"/>
          </a:xfrm>
          <a:prstGeom prst="roundRect">
            <a:avLst>
              <a:gd name="adj" fmla="val 5556"/>
            </a:avLst>
          </a:prstGeom>
          <a:solidFill>
            <a:srgbClr val="F3F5F8"/>
          </a:solidFill>
          <a:ln/>
        </p:spPr>
        <p:txBody>
          <a:bodyPr wrap="square" lIns="1270" tIns="1270" rIns="1270" bIns="1270" rtlCol="0" anchor="ctr"/>
          <a:lstStyle/>
          <a:p>
            <a:pPr algn="l" indent="0" marL="0">
              <a:buNone/>
            </a:pPr>
            <a:endParaRPr lang="en-US" sz="1600" dirty="0"/>
          </a:p>
        </p:txBody>
      </p:sp>
      <p:sp>
        <p:nvSpPr>
          <p:cNvPr id="37" name="Text 28"/>
          <p:cNvSpPr txBox="1"/>
          <p:nvPr/>
        </p:nvSpPr>
        <p:spPr>
          <a:xfrm>
            <a:off x="640080" y="4663440"/>
            <a:ext cx="2057400" cy="640080"/>
          </a:xfrm>
          <a:prstGeom prst="rect">
            <a:avLst/>
          </a:prstGeom>
          <a:noFill/>
          <a:ln/>
        </p:spPr>
        <p:txBody>
          <a:bodyPr wrap="square" lIns="0" tIns="0" rIns="0" bIns="0" rtlCol="0" anchor="ctr"/>
          <a:lstStyle/>
          <a:p>
            <a:pPr algn="r" indent="0" marL="0">
              <a:buNone/>
            </a:pPr>
            <a:r>
              <a:rPr lang="en-US" sz="1400" dirty="0">
                <a:solidFill>
                  <a:srgbClr val="1B2433"/>
                </a:solidFill>
                <a:latin typeface="Arial" pitchFamily="34" charset="0"/>
                <a:ea typeface="Arial" pitchFamily="34" charset="-122"/>
                <a:cs typeface="Arial" pitchFamily="34" charset="-120"/>
              </a:rPr>
              <a:t>NumPy + Python loop</a:t>
            </a:r>
            <a:endParaRPr lang="en-US" sz="1400" dirty="0"/>
          </a:p>
        </p:txBody>
      </p:sp>
      <p:sp>
        <p:nvSpPr>
          <p:cNvPr id="38" name="Shape 29"/>
          <p:cNvSpPr/>
          <p:nvPr/>
        </p:nvSpPr>
        <p:spPr>
          <a:xfrm>
            <a:off x="2834640" y="4709160"/>
            <a:ext cx="7223760" cy="548640"/>
          </a:xfrm>
          <a:prstGeom prst="rect">
            <a:avLst/>
          </a:prstGeom>
          <a:solidFill>
            <a:srgbClr val="B8C2D3"/>
          </a:solidFill>
          <a:ln/>
        </p:spPr>
      </p:sp>
      <p:sp>
        <p:nvSpPr>
          <p:cNvPr id="39" name="Text 30"/>
          <p:cNvSpPr txBox="1"/>
          <p:nvPr/>
        </p:nvSpPr>
        <p:spPr>
          <a:xfrm>
            <a:off x="10168128" y="4663440"/>
            <a:ext cx="1371600" cy="64008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29.3 ms</a:t>
            </a:r>
            <a:endParaRPr lang="en-US" sz="1600" dirty="0"/>
          </a:p>
        </p:txBody>
      </p:sp>
      <p:sp>
        <p:nvSpPr>
          <p:cNvPr id="40" name="Text 31"/>
          <p:cNvSpPr txBox="1"/>
          <p:nvPr/>
        </p:nvSpPr>
        <p:spPr>
          <a:xfrm>
            <a:off x="640080" y="5394960"/>
            <a:ext cx="2057400" cy="640080"/>
          </a:xfrm>
          <a:prstGeom prst="rect">
            <a:avLst/>
          </a:prstGeom>
          <a:noFill/>
          <a:ln/>
        </p:spPr>
        <p:txBody>
          <a:bodyPr wrap="square" lIns="0" tIns="0" rIns="0" bIns="0" rtlCol="0" anchor="ctr"/>
          <a:lstStyle/>
          <a:p>
            <a:pPr algn="r" indent="0" marL="0">
              <a:buNone/>
            </a:pPr>
            <a:r>
              <a:rPr lang="en-US" sz="1400" b="1" dirty="0">
                <a:solidFill>
                  <a:srgbClr val="1B2433"/>
                </a:solidFill>
                <a:latin typeface="Arial" pitchFamily="34" charset="0"/>
                <a:ea typeface="Arial" pitchFamily="34" charset="-122"/>
                <a:cs typeface="Arial" pitchFamily="34" charset="-120"/>
              </a:rPr>
              <a:t>cppyy native call</a:t>
            </a:r>
            <a:endParaRPr lang="en-US" sz="1400" dirty="0"/>
          </a:p>
        </p:txBody>
      </p:sp>
      <p:sp>
        <p:nvSpPr>
          <p:cNvPr id="41" name="Shape 32"/>
          <p:cNvSpPr/>
          <p:nvPr/>
        </p:nvSpPr>
        <p:spPr>
          <a:xfrm>
            <a:off x="2834640" y="5440680"/>
            <a:ext cx="364886" cy="548640"/>
          </a:xfrm>
          <a:prstGeom prst="rect">
            <a:avLst/>
          </a:prstGeom>
          <a:solidFill>
            <a:srgbClr val="1E3A6E"/>
          </a:solidFill>
          <a:ln/>
        </p:spPr>
      </p:sp>
      <p:sp>
        <p:nvSpPr>
          <p:cNvPr id="42" name="Text 33"/>
          <p:cNvSpPr txBox="1"/>
          <p:nvPr/>
        </p:nvSpPr>
        <p:spPr>
          <a:xfrm>
            <a:off x="3309254" y="5394960"/>
            <a:ext cx="1371600" cy="64008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1.48 ms  (~20x)</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22960" y="1600200"/>
            <a:ext cx="10515600" cy="1554480"/>
          </a:xfrm>
          <a:prstGeom prst="rect">
            <a:avLst/>
          </a:prstGeom>
          <a:noFill/>
          <a:ln/>
        </p:spPr>
        <p:txBody>
          <a:bodyPr wrap="square" lIns="0" tIns="0" rIns="0" bIns="0" rtlCol="0" anchor="t"/>
          <a:lstStyle/>
          <a:p>
            <a:pPr algn="l" indent="0" marL="0">
              <a:buNone/>
            </a:pPr>
            <a:r>
              <a:rPr lang="en-US" sz="4400" b="1" dirty="0">
                <a:solidFill>
                  <a:srgbClr val="1E3A6E"/>
                </a:solidFill>
                <a:latin typeface="Arial" pitchFamily="34" charset="0"/>
                <a:ea typeface="Arial" pitchFamily="34" charset="-122"/>
                <a:cs typeface="Arial" pitchFamily="34" charset="-120"/>
              </a:rPr>
              <a:t>2. Someone gave us a humanoid bag</a:t>
            </a:r>
            <a:endParaRPr lang="en-US" sz="4400" dirty="0"/>
          </a:p>
        </p:txBody>
      </p:sp>
      <p:sp>
        <p:nvSpPr>
          <p:cNvPr id="4" name="Text 1"/>
          <p:cNvSpPr txBox="1"/>
          <p:nvPr/>
        </p:nvSpPr>
        <p:spPr>
          <a:xfrm>
            <a:off x="822960" y="1097280"/>
            <a:ext cx="10058400" cy="365760"/>
          </a:xfrm>
          <a:prstGeom prst="rect">
            <a:avLst/>
          </a:prstGeom>
          <a:noFill/>
          <a:ln/>
        </p:spPr>
        <p:txBody>
          <a:bodyPr wrap="square" lIns="0" tIns="0" rIns="0" bIns="0" rtlCol="0" anchor="t"/>
          <a:lstStyle/>
          <a:p>
            <a:pPr indent="0" marL="0">
              <a:buNone/>
            </a:pPr>
            <a:r>
              <a:rPr lang="en-US" sz="1800" b="1" dirty="0">
                <a:solidFill>
                  <a:srgbClr val="3776AB"/>
                </a:solidFill>
                <a:latin typeface="Arial" pitchFamily="34" charset="0"/>
                <a:ea typeface="Arial" pitchFamily="34" charset="-122"/>
                <a:cs typeface="Arial" pitchFamily="34" charset="-120"/>
              </a:rPr>
              <a:t>MCAP, 8 minutes</a:t>
            </a:r>
            <a:endParaRPr lang="en-US" sz="1800" dirty="0"/>
          </a:p>
        </p:txBody>
      </p:sp>
      <p:sp>
        <p:nvSpPr>
          <p:cNvPr id="5" name="Text 2"/>
          <p:cNvSpPr txBox="1"/>
          <p:nvPr/>
        </p:nvSpPr>
        <p:spPr>
          <a:xfrm>
            <a:off x="822960" y="3246120"/>
            <a:ext cx="10515600" cy="731520"/>
          </a:xfrm>
          <a:prstGeom prst="rect">
            <a:avLst/>
          </a:prstGeom>
          <a:noFill/>
          <a:ln/>
        </p:spPr>
        <p:txBody>
          <a:bodyPr wrap="square" lIns="0" tIns="0" rIns="0" bIns="0" rtlCol="0" anchor="t"/>
          <a:lstStyle/>
          <a:p>
            <a:pPr indent="0" marL="0">
              <a:buNone/>
            </a:pPr>
            <a:r>
              <a:rPr lang="en-US" sz="1800" dirty="0">
                <a:solidFill>
                  <a:srgbClr val="5B6578"/>
                </a:solidFill>
                <a:latin typeface="Arial" pitchFamily="34" charset="0"/>
                <a:ea typeface="Arial" pitchFamily="34" charset="-122"/>
                <a:cs typeface="Arial" pitchFamily="34" charset="-120"/>
              </a:rPr>
              <a:t>An open humanoid manipulation recording. Our question is still quite modest: when are the hands moving?</a:t>
            </a:r>
            <a:endParaRPr lang="en-US" sz="1800" dirty="0"/>
          </a:p>
        </p:txBody>
      </p:sp>
      <p:sp>
        <p:nvSpPr>
          <p:cNvPr id="6" name="Shape 3"/>
          <p:cNvSpPr/>
          <p:nvPr/>
        </p:nvSpPr>
        <p:spPr>
          <a:xfrm>
            <a:off x="1866748" y="4754880"/>
            <a:ext cx="960120" cy="0"/>
          </a:xfrm>
          <a:prstGeom prst="line">
            <a:avLst/>
          </a:prstGeom>
          <a:noFill/>
          <a:ln w="38100">
            <a:solidFill>
              <a:srgbClr val="1E3A6E"/>
            </a:solidFill>
            <a:prstDash val="solid"/>
          </a:ln>
        </p:spPr>
      </p:sp>
      <p:sp>
        <p:nvSpPr>
          <p:cNvPr id="7" name="Shape 4"/>
          <p:cNvSpPr/>
          <p:nvPr/>
        </p:nvSpPr>
        <p:spPr>
          <a:xfrm>
            <a:off x="3741268" y="4754880"/>
            <a:ext cx="960120" cy="0"/>
          </a:xfrm>
          <a:prstGeom prst="line">
            <a:avLst/>
          </a:prstGeom>
          <a:noFill/>
          <a:ln w="38100">
            <a:solidFill>
              <a:srgbClr val="B8C2D3"/>
            </a:solidFill>
            <a:prstDash val="solid"/>
          </a:ln>
        </p:spPr>
      </p:sp>
      <p:sp>
        <p:nvSpPr>
          <p:cNvPr id="8" name="Shape 5"/>
          <p:cNvSpPr/>
          <p:nvPr/>
        </p:nvSpPr>
        <p:spPr>
          <a:xfrm>
            <a:off x="5615788" y="4754880"/>
            <a:ext cx="960120" cy="0"/>
          </a:xfrm>
          <a:prstGeom prst="line">
            <a:avLst/>
          </a:prstGeom>
          <a:noFill/>
          <a:ln w="38100">
            <a:solidFill>
              <a:srgbClr val="B8C2D3"/>
            </a:solidFill>
            <a:prstDash val="solid"/>
          </a:ln>
        </p:spPr>
      </p:sp>
      <p:sp>
        <p:nvSpPr>
          <p:cNvPr id="9" name="Shape 6"/>
          <p:cNvSpPr/>
          <p:nvPr/>
        </p:nvSpPr>
        <p:spPr>
          <a:xfrm>
            <a:off x="7490308" y="4754880"/>
            <a:ext cx="960120" cy="0"/>
          </a:xfrm>
          <a:prstGeom prst="line">
            <a:avLst/>
          </a:prstGeom>
          <a:noFill/>
          <a:ln w="38100">
            <a:solidFill>
              <a:srgbClr val="B8C2D3"/>
            </a:solidFill>
            <a:prstDash val="solid"/>
          </a:ln>
        </p:spPr>
      </p:sp>
      <p:sp>
        <p:nvSpPr>
          <p:cNvPr id="10" name="Shape 7"/>
          <p:cNvSpPr/>
          <p:nvPr/>
        </p:nvSpPr>
        <p:spPr>
          <a:xfrm>
            <a:off x="9364828" y="4754880"/>
            <a:ext cx="960120" cy="0"/>
          </a:xfrm>
          <a:prstGeom prst="line">
            <a:avLst/>
          </a:prstGeom>
          <a:noFill/>
          <a:ln w="38100">
            <a:solidFill>
              <a:srgbClr val="B8C2D3"/>
            </a:solidFill>
            <a:prstDash val="solid"/>
          </a:ln>
        </p:spPr>
      </p:sp>
      <p:sp>
        <p:nvSpPr>
          <p:cNvPr id="11" name="Shape 8"/>
          <p:cNvSpPr/>
          <p:nvPr/>
        </p:nvSpPr>
        <p:spPr>
          <a:xfrm>
            <a:off x="952348" y="4297680"/>
            <a:ext cx="914400" cy="914400"/>
          </a:xfrm>
          <a:prstGeom prst="ellipse">
            <a:avLst/>
          </a:prstGeom>
          <a:solidFill>
            <a:srgbClr val="1E3A6E"/>
          </a:solidFill>
          <a:ln/>
        </p:spPr>
      </p:sp>
      <p:pic>
        <p:nvPicPr>
          <p:cNvPr id="12" name="Image 0" descr="preencoded.png">    </p:cNvPr>
          <p:cNvPicPr>
            <a:picLocks noChangeAspect="1"/>
          </p:cNvPicPr>
          <p:nvPr/>
        </p:nvPicPr>
        <p:blipFill>
          <a:blip r:embed="rId1"/>
          <a:stretch>
            <a:fillRect/>
          </a:stretch>
        </p:blipFill>
        <p:spPr>
          <a:xfrm>
            <a:off x="1180948" y="4526280"/>
            <a:ext cx="457200" cy="457200"/>
          </a:xfrm>
          <a:prstGeom prst="rect">
            <a:avLst/>
          </a:prstGeom>
        </p:spPr>
      </p:pic>
      <p:sp>
        <p:nvSpPr>
          <p:cNvPr id="13" name="Text 9"/>
          <p:cNvSpPr txBox="1"/>
          <p:nvPr/>
        </p:nvSpPr>
        <p:spPr>
          <a:xfrm>
            <a:off x="49514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Python</a:t>
            </a:r>
            <a:endParaRPr lang="en-US" sz="1800" dirty="0"/>
          </a:p>
        </p:txBody>
      </p:sp>
      <p:sp>
        <p:nvSpPr>
          <p:cNvPr id="14" name="Shape 10"/>
          <p:cNvSpPr/>
          <p:nvPr/>
        </p:nvSpPr>
        <p:spPr>
          <a:xfrm>
            <a:off x="2826868" y="4297680"/>
            <a:ext cx="914400" cy="914400"/>
          </a:xfrm>
          <a:prstGeom prst="ellipse">
            <a:avLst/>
          </a:prstGeom>
          <a:solidFill>
            <a:srgbClr val="F5C518"/>
          </a:solidFill>
          <a:ln w="38100">
            <a:solidFill>
              <a:srgbClr val="1E3A6E"/>
            </a:solidFill>
            <a:prstDash val="solid"/>
          </a:ln>
        </p:spPr>
      </p:sp>
      <p:pic>
        <p:nvPicPr>
          <p:cNvPr id="15" name="Image 1" descr="preencoded.png">    </p:cNvPr>
          <p:cNvPicPr>
            <a:picLocks noChangeAspect="1"/>
          </p:cNvPicPr>
          <p:nvPr/>
        </p:nvPicPr>
        <p:blipFill>
          <a:blip r:embed="rId2"/>
          <a:stretch>
            <a:fillRect/>
          </a:stretch>
        </p:blipFill>
        <p:spPr>
          <a:xfrm>
            <a:off x="3055468" y="4526280"/>
            <a:ext cx="457200" cy="457200"/>
          </a:xfrm>
          <a:prstGeom prst="rect">
            <a:avLst/>
          </a:prstGeom>
        </p:spPr>
      </p:pic>
      <p:sp>
        <p:nvSpPr>
          <p:cNvPr id="16" name="Text 11"/>
          <p:cNvSpPr txBox="1"/>
          <p:nvPr/>
        </p:nvSpPr>
        <p:spPr>
          <a:xfrm>
            <a:off x="2369668" y="5349240"/>
            <a:ext cx="1828800" cy="320040"/>
          </a:xfrm>
          <a:prstGeom prst="rect">
            <a:avLst/>
          </a:prstGeom>
          <a:noFill/>
          <a:ln/>
        </p:spPr>
        <p:txBody>
          <a:bodyPr wrap="square" lIns="0" tIns="0" rIns="0" bIns="0" rtlCol="0" anchor="t"/>
          <a:lstStyle/>
          <a:p>
            <a:pPr algn="ctr" indent="0" marL="0">
              <a:buNone/>
            </a:pPr>
            <a:r>
              <a:rPr lang="en-US" sz="1800" b="1" dirty="0">
                <a:solidFill>
                  <a:srgbClr val="1E3A6E"/>
                </a:solidFill>
                <a:latin typeface="Arial" pitchFamily="34" charset="0"/>
                <a:ea typeface="Arial" pitchFamily="34" charset="-122"/>
                <a:cs typeface="Arial" pitchFamily="34" charset="-120"/>
              </a:rPr>
              <a:t>MCAP</a:t>
            </a:r>
            <a:endParaRPr lang="en-US" sz="1800" dirty="0"/>
          </a:p>
        </p:txBody>
      </p:sp>
      <p:sp>
        <p:nvSpPr>
          <p:cNvPr id="17" name="Shape 12"/>
          <p:cNvSpPr/>
          <p:nvPr/>
        </p:nvSpPr>
        <p:spPr>
          <a:xfrm>
            <a:off x="4701388" y="4297680"/>
            <a:ext cx="914400" cy="914400"/>
          </a:xfrm>
          <a:prstGeom prst="ellipse">
            <a:avLst/>
          </a:prstGeom>
          <a:solidFill>
            <a:srgbClr val="E3E8F0"/>
          </a:solidFill>
          <a:ln/>
        </p:spPr>
      </p:sp>
      <p:pic>
        <p:nvPicPr>
          <p:cNvPr id="18" name="Image 2" descr="preencoded.png">    </p:cNvPr>
          <p:cNvPicPr>
            <a:picLocks noChangeAspect="1"/>
          </p:cNvPicPr>
          <p:nvPr/>
        </p:nvPicPr>
        <p:blipFill>
          <a:blip r:embed="rId3"/>
          <a:stretch>
            <a:fillRect/>
          </a:stretch>
        </p:blipFill>
        <p:spPr>
          <a:xfrm>
            <a:off x="4929988" y="4526280"/>
            <a:ext cx="457200" cy="457200"/>
          </a:xfrm>
          <a:prstGeom prst="rect">
            <a:avLst/>
          </a:prstGeom>
        </p:spPr>
      </p:pic>
      <p:sp>
        <p:nvSpPr>
          <p:cNvPr id="19" name="Text 13"/>
          <p:cNvSpPr txBox="1"/>
          <p:nvPr/>
        </p:nvSpPr>
        <p:spPr>
          <a:xfrm>
            <a:off x="424418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library</a:t>
            </a:r>
            <a:endParaRPr lang="en-US" sz="1800" dirty="0"/>
          </a:p>
        </p:txBody>
      </p:sp>
      <p:sp>
        <p:nvSpPr>
          <p:cNvPr id="20" name="Shape 14"/>
          <p:cNvSpPr/>
          <p:nvPr/>
        </p:nvSpPr>
        <p:spPr>
          <a:xfrm>
            <a:off x="6575908" y="4297680"/>
            <a:ext cx="914400" cy="914400"/>
          </a:xfrm>
          <a:prstGeom prst="ellipse">
            <a:avLst/>
          </a:prstGeom>
          <a:solidFill>
            <a:srgbClr val="E3E8F0"/>
          </a:solidFill>
          <a:ln/>
        </p:spPr>
      </p:sp>
      <p:pic>
        <p:nvPicPr>
          <p:cNvPr id="21" name="Image 3" descr="preencoded.png">    </p:cNvPr>
          <p:cNvPicPr>
            <a:picLocks noChangeAspect="1"/>
          </p:cNvPicPr>
          <p:nvPr/>
        </p:nvPicPr>
        <p:blipFill>
          <a:blip r:embed="rId4"/>
          <a:stretch>
            <a:fillRect/>
          </a:stretch>
        </p:blipFill>
        <p:spPr>
          <a:xfrm>
            <a:off x="6804508" y="4526280"/>
            <a:ext cx="457200" cy="457200"/>
          </a:xfrm>
          <a:prstGeom prst="rect">
            <a:avLst/>
          </a:prstGeom>
        </p:spPr>
      </p:pic>
      <p:sp>
        <p:nvSpPr>
          <p:cNvPr id="22" name="Text 15"/>
          <p:cNvSpPr txBox="1"/>
          <p:nvPr/>
        </p:nvSpPr>
        <p:spPr>
          <a:xfrm>
            <a:off x="611870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ROS</a:t>
            </a:r>
            <a:endParaRPr lang="en-US" sz="1800" dirty="0"/>
          </a:p>
        </p:txBody>
      </p:sp>
      <p:sp>
        <p:nvSpPr>
          <p:cNvPr id="23" name="Shape 16"/>
          <p:cNvSpPr/>
          <p:nvPr/>
        </p:nvSpPr>
        <p:spPr>
          <a:xfrm>
            <a:off x="8450428" y="4297680"/>
            <a:ext cx="914400" cy="914400"/>
          </a:xfrm>
          <a:prstGeom prst="ellipse">
            <a:avLst/>
          </a:prstGeom>
          <a:solidFill>
            <a:srgbClr val="E3E8F0"/>
          </a:solidFill>
          <a:ln/>
        </p:spPr>
      </p:sp>
      <p:pic>
        <p:nvPicPr>
          <p:cNvPr id="24" name="Image 4" descr="preencoded.png">    </p:cNvPr>
          <p:cNvPicPr>
            <a:picLocks noChangeAspect="1"/>
          </p:cNvPicPr>
          <p:nvPr/>
        </p:nvPicPr>
        <p:blipFill>
          <a:blip r:embed="rId5"/>
          <a:stretch>
            <a:fillRect/>
          </a:stretch>
        </p:blipFill>
        <p:spPr>
          <a:xfrm>
            <a:off x="8679028" y="4526280"/>
            <a:ext cx="457200" cy="457200"/>
          </a:xfrm>
          <a:prstGeom prst="rect">
            <a:avLst/>
          </a:prstGeom>
        </p:spPr>
      </p:pic>
      <p:sp>
        <p:nvSpPr>
          <p:cNvPr id="25" name="Text 17"/>
          <p:cNvSpPr txBox="1"/>
          <p:nvPr/>
        </p:nvSpPr>
        <p:spPr>
          <a:xfrm>
            <a:off x="799322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controller</a:t>
            </a:r>
            <a:endParaRPr lang="en-US" sz="1800" dirty="0"/>
          </a:p>
        </p:txBody>
      </p:sp>
      <p:sp>
        <p:nvSpPr>
          <p:cNvPr id="26" name="Shape 18"/>
          <p:cNvSpPr/>
          <p:nvPr/>
        </p:nvSpPr>
        <p:spPr>
          <a:xfrm>
            <a:off x="10324948" y="4297680"/>
            <a:ext cx="914400" cy="914400"/>
          </a:xfrm>
          <a:prstGeom prst="ellipse">
            <a:avLst/>
          </a:prstGeom>
          <a:solidFill>
            <a:srgbClr val="E3E8F0"/>
          </a:solidFill>
          <a:ln/>
        </p:spPr>
      </p:sp>
      <p:pic>
        <p:nvPicPr>
          <p:cNvPr id="27" name="Image 5" descr="preencoded.png">    </p:cNvPr>
          <p:cNvPicPr>
            <a:picLocks noChangeAspect="1"/>
          </p:cNvPicPr>
          <p:nvPr/>
        </p:nvPicPr>
        <p:blipFill>
          <a:blip r:embed="rId6"/>
          <a:stretch>
            <a:fillRect/>
          </a:stretch>
        </p:blipFill>
        <p:spPr>
          <a:xfrm>
            <a:off x="10553548" y="4526280"/>
            <a:ext cx="457200" cy="457200"/>
          </a:xfrm>
          <a:prstGeom prst="rect">
            <a:avLst/>
          </a:prstGeom>
        </p:spPr>
      </p:pic>
      <p:sp>
        <p:nvSpPr>
          <p:cNvPr id="28" name="Text 19"/>
          <p:cNvSpPr txBox="1"/>
          <p:nvPr/>
        </p:nvSpPr>
        <p:spPr>
          <a:xfrm>
            <a:off x="986774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webcam</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A real recording</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F5C518"/>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08760"/>
            <a:ext cx="7315200" cy="731520"/>
          </a:xfrm>
          <a:prstGeom prst="roundRect">
            <a:avLst>
              <a:gd name="adj" fmla="val 12500"/>
            </a:avLst>
          </a:prstGeom>
          <a:solidFill>
            <a:srgbClr val="F3F5F8"/>
          </a:solidFill>
          <a:ln/>
        </p:spPr>
        <p:txBody>
          <a:bodyPr wrap="square" lIns="1270" tIns="1270" rIns="1270" bIns="1270" rtlCol="0" anchor="ctr"/>
          <a:lstStyle/>
          <a:p>
            <a:pPr algn="l" indent="0" marL="0">
              <a:buNone/>
            </a:pPr>
            <a:endParaRPr lang="en-US" sz="1600" dirty="0"/>
          </a:p>
        </p:txBody>
      </p:sp>
      <p:sp>
        <p:nvSpPr>
          <p:cNvPr id="28" name="Text 19"/>
          <p:cNvSpPr txBox="1"/>
          <p:nvPr/>
        </p:nvSpPr>
        <p:spPr>
          <a:xfrm>
            <a:off x="777240" y="1572768"/>
            <a:ext cx="6949440" cy="640080"/>
          </a:xfrm>
          <a:prstGeom prst="rect">
            <a:avLst/>
          </a:prstGeom>
          <a:noFill/>
          <a:ln/>
        </p:spPr>
        <p:txBody>
          <a:bodyPr wrap="square" lIns="0" tIns="0" rIns="0" bIns="0" rtlCol="0" anchor="ctr"/>
          <a:lstStyle/>
          <a:p>
            <a:pPr indent="0" marL="0">
              <a:buNone/>
            </a:pPr>
            <a:r>
              <a:rPr lang="en-US" sz="1500" b="1" dirty="0">
                <a:solidFill>
                  <a:srgbClr val="1E3A6E"/>
                </a:solidFill>
                <a:latin typeface="Arial" pitchFamily="34" charset="0"/>
                <a:ea typeface="Arial" pitchFamily="34" charset="-122"/>
                <a:cs typeface="Arial" pitchFamily="34" charset="-120"/>
              </a:rPr>
              <a:t>HIW-500 G1 pillow episode</a:t>
            </a:r>
            <a:endParaRPr lang="en-US" sz="1500" dirty="0"/>
          </a:p>
          <a:p>
            <a:pPr indent="0" marL="0">
              <a:buNone/>
            </a:pPr>
            <a:r>
              <a:rPr lang="en-US" sz="1500" dirty="0">
                <a:solidFill>
                  <a:srgbClr val="1B2433"/>
                </a:solidFill>
                <a:latin typeface="Arial" pitchFamily="34" charset="0"/>
                <a:ea typeface="Arial" pitchFamily="34" charset="-122"/>
                <a:cs typeface="Arial" pitchFamily="34" charset="-120"/>
              </a:rPr>
              <a:t>by BitRobot, Unitree and Hugging Face</a:t>
            </a:r>
            <a:endParaRPr lang="en-US" sz="1500" dirty="0"/>
          </a:p>
        </p:txBody>
      </p:sp>
      <p:sp>
        <p:nvSpPr>
          <p:cNvPr id="29" name="Text 20"/>
          <p:cNvSpPr/>
          <p:nvPr/>
        </p:nvSpPr>
        <p:spPr>
          <a:xfrm>
            <a:off x="8138160" y="1508760"/>
            <a:ext cx="3474720" cy="731520"/>
          </a:xfrm>
          <a:prstGeom prst="roundRect">
            <a:avLst>
              <a:gd name="adj" fmla="val 12500"/>
            </a:avLst>
          </a:prstGeom>
          <a:solidFill>
            <a:srgbClr val="F5C518"/>
          </a:solidFill>
          <a:ln/>
        </p:spPr>
        <p:txBody>
          <a:bodyPr wrap="square" lIns="1270" tIns="1270" rIns="1270" bIns="1270" rtlCol="0" anchor="ctr"/>
          <a:lstStyle/>
          <a:p>
            <a:pPr algn="l" indent="0" marL="0">
              <a:buNone/>
            </a:pPr>
            <a:endParaRPr lang="en-US" sz="1600" dirty="0"/>
          </a:p>
        </p:txBody>
      </p:sp>
      <p:sp>
        <p:nvSpPr>
          <p:cNvPr id="30" name="Text 21"/>
          <p:cNvSpPr txBox="1"/>
          <p:nvPr/>
        </p:nvSpPr>
        <p:spPr>
          <a:xfrm>
            <a:off x="8321040" y="1645920"/>
            <a:ext cx="3108960" cy="365760"/>
          </a:xfrm>
          <a:prstGeom prst="rect">
            <a:avLst/>
          </a:prstGeom>
          <a:noFill/>
          <a:ln/>
        </p:spPr>
        <p:txBody>
          <a:bodyPr wrap="square" lIns="0" tIns="0" rIns="0" bIns="0" rtlCol="0" anchor="ctr"/>
          <a:lstStyle/>
          <a:p>
            <a:pPr indent="0" marL="0">
              <a:buNone/>
            </a:pPr>
            <a:endParaRPr lang="en-US" sz="4400" dirty="0"/>
          </a:p>
        </p:txBody>
      </p:sp>
      <p:sp>
        <p:nvSpPr>
          <p:cNvPr id="31" name="Text 22"/>
          <p:cNvSpPr txBox="1"/>
          <p:nvPr/>
        </p:nvSpPr>
        <p:spPr>
          <a:xfrm>
            <a:off x="8321040" y="2011680"/>
            <a:ext cx="3108960" cy="137160"/>
          </a:xfrm>
          <a:prstGeom prst="rect">
            <a:avLst/>
          </a:prstGeom>
          <a:noFill/>
          <a:ln/>
        </p:spPr>
        <p:txBody>
          <a:bodyPr wrap="square" lIns="0" tIns="0" rIns="0" bIns="0" rtlCol="0" anchor="t"/>
          <a:lstStyle/>
          <a:p>
            <a:pPr indent="0" marL="0">
              <a:buNone/>
            </a:pPr>
            <a:endParaRPr lang="en-US" sz="1400" dirty="0"/>
          </a:p>
        </p:txBody>
      </p:sp>
      <p:sp>
        <p:nvSpPr>
          <p:cNvPr id="32" name="Text 23"/>
          <p:cNvSpPr txBox="1"/>
          <p:nvPr/>
        </p:nvSpPr>
        <p:spPr>
          <a:xfrm>
            <a:off x="8321040" y="1508760"/>
            <a:ext cx="3200400" cy="731520"/>
          </a:xfrm>
          <a:prstGeom prst="rect">
            <a:avLst/>
          </a:prstGeom>
          <a:noFill/>
          <a:ln/>
        </p:spPr>
        <p:txBody>
          <a:bodyPr wrap="square" lIns="0" tIns="0" rIns="0" bIns="0" rtlCol="0" anchor="ctr"/>
          <a:lstStyle/>
          <a:p>
            <a:pPr indent="0" marL="0">
              <a:buNone/>
            </a:pPr>
            <a:r>
              <a:rPr lang="en-US" sz="2600" b="1" dirty="0">
                <a:solidFill>
                  <a:srgbClr val="1E3A6E"/>
                </a:solidFill>
                <a:latin typeface="Arial" pitchFamily="34" charset="0"/>
                <a:ea typeface="Arial" pitchFamily="34" charset="-122"/>
                <a:cs typeface="Arial" pitchFamily="34" charset="-120"/>
              </a:rPr>
              <a:t>2,735 </a:t>
            </a:r>
            <a:pPr indent="0" marL="0">
              <a:buNone/>
            </a:pPr>
            <a:r>
              <a:rPr lang="en-US" sz="1600" dirty="0">
                <a:solidFill>
                  <a:srgbClr val="1E3A6E"/>
                </a:solidFill>
                <a:latin typeface="Arial" pitchFamily="34" charset="0"/>
                <a:ea typeface="Arial" pitchFamily="34" charset="-122"/>
                <a:cs typeface="Arial" pitchFamily="34" charset="-120"/>
              </a:rPr>
              <a:t>observations</a:t>
            </a:r>
            <a:endParaRPr lang="en-US" sz="1600" dirty="0"/>
          </a:p>
        </p:txBody>
      </p:sp>
      <p:sp>
        <p:nvSpPr>
          <p:cNvPr id="33" name="Text 24"/>
          <p:cNvSpPr/>
          <p:nvPr/>
        </p:nvSpPr>
        <p:spPr>
          <a:xfrm>
            <a:off x="548640" y="2560320"/>
            <a:ext cx="1920240" cy="822960"/>
          </a:xfrm>
          <a:prstGeom prst="roundRect">
            <a:avLst>
              <a:gd name="adj" fmla="val 11111"/>
            </a:avLst>
          </a:prstGeom>
          <a:solidFill>
            <a:srgbClr val="FFFFFF"/>
          </a:solidFill>
          <a:ln w="19050">
            <a:solidFill>
              <a:srgbClr val="1E3A6E"/>
            </a:solidFill>
          </a:ln>
        </p:spPr>
        <p:txBody>
          <a:bodyPr wrap="square" lIns="1270" tIns="1270" rIns="1270" bIns="1270" rtlCol="0" anchor="ctr"/>
          <a:lstStyle/>
          <a:p>
            <a:pPr algn="ctr" indent="0" marL="0">
              <a:buNone/>
            </a:pPr>
            <a:r>
              <a:rPr lang="en-US" sz="1700" b="1" dirty="0">
                <a:solidFill>
                  <a:srgbClr val="1E3A6E"/>
                </a:solidFill>
                <a:latin typeface="Arial" pitchFamily="34" charset="0"/>
                <a:ea typeface="Arial" pitchFamily="34" charset="-122"/>
                <a:cs typeface="Arial" pitchFamily="34" charset="-120"/>
              </a:rPr>
              <a:t>MCAP</a:t>
            </a:r>
            <a:endParaRPr lang="en-US" sz="1700" dirty="0"/>
          </a:p>
        </p:txBody>
      </p:sp>
      <p:sp>
        <p:nvSpPr>
          <p:cNvPr id="34" name="Shape 25"/>
          <p:cNvSpPr/>
          <p:nvPr/>
        </p:nvSpPr>
        <p:spPr>
          <a:xfrm>
            <a:off x="2514600" y="2971800"/>
            <a:ext cx="274320" cy="0"/>
          </a:xfrm>
          <a:prstGeom prst="line">
            <a:avLst/>
          </a:prstGeom>
          <a:noFill/>
          <a:ln w="25400">
            <a:solidFill>
              <a:srgbClr val="1E3A6E"/>
            </a:solidFill>
            <a:prstDash val="solid"/>
            <a:tailEnd type="triangle"/>
          </a:ln>
        </p:spPr>
      </p:sp>
      <p:sp>
        <p:nvSpPr>
          <p:cNvPr id="35" name="Text 26"/>
          <p:cNvSpPr/>
          <p:nvPr/>
        </p:nvSpPr>
        <p:spPr>
          <a:xfrm>
            <a:off x="2834640" y="2560320"/>
            <a:ext cx="1920240" cy="822960"/>
          </a:xfrm>
          <a:prstGeom prst="roundRect">
            <a:avLst>
              <a:gd name="adj" fmla="val 11111"/>
            </a:avLst>
          </a:prstGeom>
          <a:solidFill>
            <a:srgbClr val="FFFFFF"/>
          </a:solidFill>
          <a:ln w="19050">
            <a:solidFill>
              <a:srgbClr val="1E3A6E"/>
            </a:solidFill>
          </a:ln>
        </p:spPr>
        <p:txBody>
          <a:bodyPr wrap="square" lIns="1270" tIns="1270" rIns="1270" bIns="1270" rtlCol="0" anchor="ctr"/>
          <a:lstStyle/>
          <a:p>
            <a:pPr algn="ctr" indent="0" marL="0">
              <a:buNone/>
            </a:pPr>
            <a:r>
              <a:rPr lang="en-US" sz="1700" b="1" dirty="0">
                <a:solidFill>
                  <a:srgbClr val="1E3A6E"/>
                </a:solidFill>
                <a:latin typeface="Arial" pitchFamily="34" charset="0"/>
                <a:ea typeface="Arial" pitchFamily="34" charset="-122"/>
                <a:cs typeface="Arial" pitchFamily="34" charset="-120"/>
              </a:rPr>
              <a:t>ROS String</a:t>
            </a:r>
            <a:endParaRPr lang="en-US" sz="1700" dirty="0"/>
          </a:p>
        </p:txBody>
      </p:sp>
      <p:sp>
        <p:nvSpPr>
          <p:cNvPr id="36" name="Shape 27"/>
          <p:cNvSpPr/>
          <p:nvPr/>
        </p:nvSpPr>
        <p:spPr>
          <a:xfrm>
            <a:off x="4800600" y="2971800"/>
            <a:ext cx="274320" cy="0"/>
          </a:xfrm>
          <a:prstGeom prst="line">
            <a:avLst/>
          </a:prstGeom>
          <a:noFill/>
          <a:ln w="25400">
            <a:solidFill>
              <a:srgbClr val="1E3A6E"/>
            </a:solidFill>
            <a:prstDash val="solid"/>
            <a:tailEnd type="triangle"/>
          </a:ln>
        </p:spPr>
      </p:sp>
      <p:sp>
        <p:nvSpPr>
          <p:cNvPr id="37" name="Text 28"/>
          <p:cNvSpPr/>
          <p:nvPr/>
        </p:nvSpPr>
        <p:spPr>
          <a:xfrm>
            <a:off x="5120640" y="2560320"/>
            <a:ext cx="1920240" cy="822960"/>
          </a:xfrm>
          <a:prstGeom prst="roundRect">
            <a:avLst>
              <a:gd name="adj" fmla="val 11111"/>
            </a:avLst>
          </a:prstGeom>
          <a:solidFill>
            <a:srgbClr val="FFFFFF"/>
          </a:solidFill>
          <a:ln w="19050">
            <a:solidFill>
              <a:srgbClr val="1E3A6E"/>
            </a:solidFill>
          </a:ln>
        </p:spPr>
        <p:txBody>
          <a:bodyPr wrap="square" lIns="1270" tIns="1270" rIns="1270" bIns="1270" rtlCol="0" anchor="ctr"/>
          <a:lstStyle/>
          <a:p>
            <a:pPr algn="ctr" indent="0" marL="0">
              <a:buNone/>
            </a:pPr>
            <a:r>
              <a:rPr lang="en-US" sz="1700" b="1" dirty="0">
                <a:solidFill>
                  <a:srgbClr val="1E3A6E"/>
                </a:solidFill>
                <a:latin typeface="Arial" pitchFamily="34" charset="0"/>
                <a:ea typeface="Arial" pitchFamily="34" charset="-122"/>
                <a:cs typeface="Arial" pitchFamily="34" charset="-120"/>
              </a:rPr>
              <a:t>JSON</a:t>
            </a:r>
            <a:endParaRPr lang="en-US" sz="1700" dirty="0"/>
          </a:p>
        </p:txBody>
      </p:sp>
      <p:sp>
        <p:nvSpPr>
          <p:cNvPr id="38" name="Shape 29"/>
          <p:cNvSpPr/>
          <p:nvPr/>
        </p:nvSpPr>
        <p:spPr>
          <a:xfrm>
            <a:off x="7086600" y="2971800"/>
            <a:ext cx="274320" cy="0"/>
          </a:xfrm>
          <a:prstGeom prst="line">
            <a:avLst/>
          </a:prstGeom>
          <a:noFill/>
          <a:ln w="25400">
            <a:solidFill>
              <a:srgbClr val="1E3A6E"/>
            </a:solidFill>
            <a:prstDash val="solid"/>
            <a:tailEnd type="triangle"/>
          </a:ln>
        </p:spPr>
      </p:sp>
      <p:sp>
        <p:nvSpPr>
          <p:cNvPr id="39" name="Text 30"/>
          <p:cNvSpPr/>
          <p:nvPr/>
        </p:nvSpPr>
        <p:spPr>
          <a:xfrm>
            <a:off x="7406640" y="2560320"/>
            <a:ext cx="1920240" cy="822960"/>
          </a:xfrm>
          <a:prstGeom prst="roundRect">
            <a:avLst>
              <a:gd name="adj" fmla="val 11111"/>
            </a:avLst>
          </a:prstGeom>
          <a:solidFill>
            <a:srgbClr val="FFFFFF"/>
          </a:solidFill>
          <a:ln w="19050">
            <a:solidFill>
              <a:srgbClr val="1E3A6E"/>
            </a:solidFill>
          </a:ln>
        </p:spPr>
        <p:txBody>
          <a:bodyPr wrap="square" lIns="1270" tIns="1270" rIns="1270" bIns="1270" rtlCol="0" anchor="ctr"/>
          <a:lstStyle/>
          <a:p>
            <a:pPr algn="ctr" indent="0" marL="0">
              <a:buNone/>
            </a:pPr>
            <a:r>
              <a:rPr lang="en-US" sz="1700" b="1" dirty="0">
                <a:solidFill>
                  <a:srgbClr val="1E3A6E"/>
                </a:solidFill>
                <a:latin typeface="Arial" pitchFamily="34" charset="0"/>
                <a:ea typeface="Arial" pitchFamily="34" charset="-122"/>
                <a:cs typeface="Arial" pitchFamily="34" charset="-120"/>
              </a:rPr>
              <a:t>ee_state</a:t>
            </a:r>
            <a:endParaRPr lang="en-US" sz="1700" dirty="0"/>
          </a:p>
        </p:txBody>
      </p:sp>
      <p:sp>
        <p:nvSpPr>
          <p:cNvPr id="40" name="Shape 31"/>
          <p:cNvSpPr/>
          <p:nvPr/>
        </p:nvSpPr>
        <p:spPr>
          <a:xfrm>
            <a:off x="9372600" y="2971800"/>
            <a:ext cx="274320" cy="0"/>
          </a:xfrm>
          <a:prstGeom prst="line">
            <a:avLst/>
          </a:prstGeom>
          <a:noFill/>
          <a:ln w="25400">
            <a:solidFill>
              <a:srgbClr val="1E3A6E"/>
            </a:solidFill>
            <a:prstDash val="solid"/>
            <a:tailEnd type="triangle"/>
          </a:ln>
        </p:spPr>
      </p:sp>
      <p:sp>
        <p:nvSpPr>
          <p:cNvPr id="41" name="Text 32"/>
          <p:cNvSpPr/>
          <p:nvPr/>
        </p:nvSpPr>
        <p:spPr>
          <a:xfrm>
            <a:off x="9692640" y="2560320"/>
            <a:ext cx="1920240" cy="822960"/>
          </a:xfrm>
          <a:prstGeom prst="roundRect">
            <a:avLst>
              <a:gd name="adj" fmla="val 11111"/>
            </a:avLst>
          </a:prstGeom>
          <a:solidFill>
            <a:srgbClr val="1E3A6E"/>
          </a:solidFill>
          <a:ln w="19050">
            <a:solidFill>
              <a:srgbClr val="1E3A6E"/>
            </a:solidFill>
          </a:ln>
        </p:spPr>
        <p:txBody>
          <a:bodyPr wrap="square" lIns="1270" tIns="1270" rIns="1270" bIns="127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NumPy arrays</a:t>
            </a:r>
            <a:endParaRPr lang="en-US" sz="1700" dirty="0"/>
          </a:p>
        </p:txBody>
      </p:sp>
      <p:sp>
        <p:nvSpPr>
          <p:cNvPr id="42" name="Text 33"/>
          <p:cNvSpPr/>
          <p:nvPr/>
        </p:nvSpPr>
        <p:spPr>
          <a:xfrm>
            <a:off x="548640" y="4041648"/>
            <a:ext cx="6583680" cy="1776730"/>
          </a:xfrm>
          <a:prstGeom prst="roundRect">
            <a:avLst>
              <a:gd name="adj" fmla="val 5147"/>
            </a:avLst>
          </a:prstGeom>
          <a:solidFill>
            <a:srgbClr val="F6F8FA"/>
          </a:solidFill>
          <a:ln w="12700">
            <a:solidFill>
              <a:srgbClr val="D0D7DE"/>
            </a:solidFill>
          </a:ln>
        </p:spPr>
        <p:txBody>
          <a:bodyPr wrap="square" lIns="1270" tIns="1270" rIns="1270" bIns="1270" rtlCol="0" anchor="ctr"/>
          <a:lstStyle/>
          <a:p>
            <a:pPr algn="l" indent="0" marL="0">
              <a:buNone/>
            </a:pPr>
            <a:endParaRPr lang="en-US" sz="1600" dirty="0"/>
          </a:p>
        </p:txBody>
      </p:sp>
      <p:sp>
        <p:nvSpPr>
          <p:cNvPr id="43" name="Text 34"/>
          <p:cNvSpPr/>
          <p:nvPr/>
        </p:nvSpPr>
        <p:spPr>
          <a:xfrm>
            <a:off x="731520" y="3749040"/>
            <a:ext cx="1280160" cy="310896"/>
          </a:xfrm>
          <a:prstGeom prst="roundRect">
            <a:avLst>
              <a:gd name="adj" fmla="val 29412"/>
            </a:avLst>
          </a:prstGeom>
          <a:solidFill>
            <a:srgbClr val="E6EAF0"/>
          </a:solidFill>
          <a:ln w="12700">
            <a:solidFill>
              <a:srgbClr val="D0D7DE"/>
            </a:solidFill>
          </a:ln>
        </p:spPr>
        <p:txBody>
          <a:bodyPr wrap="square" lIns="0" tIns="0" rIns="0" bIns="0" rtlCol="0" anchor="ctr"/>
          <a:lstStyle/>
          <a:p>
            <a:pPr algn="ctr" indent="0" marL="0">
              <a:buNone/>
            </a:pPr>
            <a:r>
              <a:rPr lang="en-US" sz="1200" dirty="0">
                <a:solidFill>
                  <a:srgbClr val="1B2433"/>
                </a:solidFill>
                <a:latin typeface="Courier New" pitchFamily="34" charset="0"/>
                <a:ea typeface="Courier New" pitchFamily="34" charset="-122"/>
                <a:cs typeface="Courier New" pitchFamily="34" charset="-120"/>
              </a:rPr>
              <a:t>analyze.py</a:t>
            </a:r>
            <a:endParaRPr lang="en-US" sz="1200" dirty="0"/>
          </a:p>
        </p:txBody>
      </p:sp>
      <p:sp>
        <p:nvSpPr>
          <p:cNvPr id="44" name="Text 35"/>
          <p:cNvSpPr txBox="1"/>
          <p:nvPr/>
        </p:nvSpPr>
        <p:spPr>
          <a:xfrm>
            <a:off x="731520" y="4178808"/>
            <a:ext cx="6217920" cy="1593850"/>
          </a:xfrm>
          <a:prstGeom prst="rect">
            <a:avLst/>
          </a:prstGeom>
          <a:noFill/>
          <a:ln/>
        </p:spPr>
        <p:txBody>
          <a:bodyPr wrap="square" lIns="0" tIns="0" rIns="0" bIns="0" rtlCol="0" anchor="t"/>
          <a:lstStyle/>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payload</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json</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loads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decoded</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data</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state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payload</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32F62"/>
                </a:solidFill>
                <a:latin typeface="Courier New" pitchFamily="34" charset="0"/>
                <a:ea typeface="Courier New" pitchFamily="34" charset="-122"/>
                <a:cs typeface="Courier New" pitchFamily="34" charset="-120"/>
              </a:rPr>
              <a:t>"ee_state"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timestamps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append</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message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log_time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states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append</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state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1B2433"/>
                </a:solidFill>
                <a:latin typeface="Courier New" pitchFamily="34" charset="0"/>
                <a:ea typeface="Courier New" pitchFamily="34" charset="-122"/>
                <a:cs typeface="Courier New" pitchFamily="34" charset="-120"/>
              </a:rPr>
              <a:t> </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timestamps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asarray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timestamps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dtype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int64</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timestamps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timestamps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0</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astype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float64</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1e9</a:t>
            </a:r>
            <a:endParaRPr lang="en-US" sz="1600" dirty="0"/>
          </a:p>
        </p:txBody>
      </p:sp>
      <p:sp>
        <p:nvSpPr>
          <p:cNvPr id="45" name="Text 36"/>
          <p:cNvSpPr/>
          <p:nvPr/>
        </p:nvSpPr>
        <p:spPr>
          <a:xfrm>
            <a:off x="7498080" y="4041648"/>
            <a:ext cx="4114800" cy="2103120"/>
          </a:xfrm>
          <a:prstGeom prst="roundRect">
            <a:avLst>
              <a:gd name="adj" fmla="val 4348"/>
            </a:avLst>
          </a:prstGeom>
          <a:solidFill>
            <a:srgbClr val="F3F5F8"/>
          </a:solidFill>
          <a:ln/>
        </p:spPr>
        <p:txBody>
          <a:bodyPr wrap="square" lIns="1270" tIns="1270" rIns="1270" bIns="1270" rtlCol="0" anchor="ctr"/>
          <a:lstStyle/>
          <a:p>
            <a:pPr algn="l" indent="0" marL="0">
              <a:buNone/>
            </a:pPr>
            <a:endParaRPr lang="en-US" sz="1600" dirty="0"/>
          </a:p>
        </p:txBody>
      </p:sp>
      <p:sp>
        <p:nvSpPr>
          <p:cNvPr id="46" name="Text 37"/>
          <p:cNvSpPr txBox="1"/>
          <p:nvPr/>
        </p:nvSpPr>
        <p:spPr>
          <a:xfrm>
            <a:off x="7680960" y="4160520"/>
            <a:ext cx="3749040" cy="1097280"/>
          </a:xfrm>
          <a:prstGeom prst="rect">
            <a:avLst/>
          </a:prstGeom>
          <a:noFill/>
          <a:ln/>
        </p:spPr>
        <p:txBody>
          <a:bodyPr wrap="square" lIns="0" tIns="0" rIns="0" bIns="0" rtlCol="0" anchor="t"/>
          <a:lstStyle/>
          <a:p>
            <a:pPr indent="0" marL="0">
              <a:buNone/>
            </a:pPr>
            <a:r>
              <a:rPr lang="en-US" sz="1700" b="1" dirty="0">
                <a:solidFill>
                  <a:srgbClr val="1E3A6E"/>
                </a:solidFill>
                <a:latin typeface="Arial" pitchFamily="34" charset="0"/>
                <a:ea typeface="Arial" pitchFamily="34" charset="-122"/>
                <a:cs typeface="Arial" pitchFamily="34" charset="-120"/>
              </a:rPr>
              <a:t>Subtract while the timestamps are still integers, then convert to seconds.</a:t>
            </a:r>
            <a:endParaRPr lang="en-US" sz="1700" dirty="0"/>
          </a:p>
        </p:txBody>
      </p:sp>
      <p:sp>
        <p:nvSpPr>
          <p:cNvPr id="47" name="Text 38"/>
          <p:cNvSpPr txBox="1"/>
          <p:nvPr/>
        </p:nvSpPr>
        <p:spPr>
          <a:xfrm>
            <a:off x="7680960" y="5303520"/>
            <a:ext cx="3749040" cy="73152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The detector uses the time the data was recorded.</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41 thresholds, two hands</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F5C518"/>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801368"/>
            <a:ext cx="7589520" cy="1562100"/>
          </a:xfrm>
          <a:prstGeom prst="roundRect">
            <a:avLst>
              <a:gd name="adj" fmla="val 5854"/>
            </a:avLst>
          </a:prstGeom>
          <a:solidFill>
            <a:srgbClr val="F6F8FA"/>
          </a:solidFill>
          <a:ln w="12700">
            <a:solidFill>
              <a:srgbClr val="D0D7DE"/>
            </a:solidFill>
          </a:ln>
        </p:spPr>
        <p:txBody>
          <a:bodyPr wrap="square" lIns="1270" tIns="1270" rIns="1270" bIns="1270" rtlCol="0" anchor="ctr"/>
          <a:lstStyle/>
          <a:p>
            <a:pPr algn="l" indent="0" marL="0">
              <a:buNone/>
            </a:pPr>
            <a:endParaRPr lang="en-US" sz="1600" dirty="0"/>
          </a:p>
        </p:txBody>
      </p:sp>
      <p:sp>
        <p:nvSpPr>
          <p:cNvPr id="28" name="Text 19"/>
          <p:cNvSpPr/>
          <p:nvPr/>
        </p:nvSpPr>
        <p:spPr>
          <a:xfrm>
            <a:off x="731520" y="1508760"/>
            <a:ext cx="1097280" cy="310896"/>
          </a:xfrm>
          <a:prstGeom prst="roundRect">
            <a:avLst>
              <a:gd name="adj" fmla="val 29412"/>
            </a:avLst>
          </a:prstGeom>
          <a:solidFill>
            <a:srgbClr val="E6EAF0"/>
          </a:solidFill>
          <a:ln w="12700">
            <a:solidFill>
              <a:srgbClr val="D0D7DE"/>
            </a:solidFill>
          </a:ln>
        </p:spPr>
        <p:txBody>
          <a:bodyPr wrap="square" lIns="0" tIns="0" rIns="0" bIns="0" rtlCol="0" anchor="ctr"/>
          <a:lstStyle/>
          <a:p>
            <a:pPr algn="ctr" indent="0" marL="0">
              <a:buNone/>
            </a:pPr>
            <a:r>
              <a:rPr lang="en-US" sz="1200" dirty="0">
                <a:solidFill>
                  <a:srgbClr val="1B2433"/>
                </a:solidFill>
                <a:latin typeface="Courier New" pitchFamily="34" charset="0"/>
                <a:ea typeface="Courier New" pitchFamily="34" charset="-122"/>
                <a:cs typeface="Courier New" pitchFamily="34" charset="-120"/>
              </a:rPr>
              <a:t>sweep.py</a:t>
            </a:r>
            <a:endParaRPr lang="en-US" sz="1200" dirty="0"/>
          </a:p>
        </p:txBody>
      </p:sp>
      <p:sp>
        <p:nvSpPr>
          <p:cNvPr id="29" name="Text 20"/>
          <p:cNvSpPr txBox="1"/>
          <p:nvPr/>
        </p:nvSpPr>
        <p:spPr>
          <a:xfrm>
            <a:off x="731520" y="1938528"/>
            <a:ext cx="7223760" cy="1379220"/>
          </a:xfrm>
          <a:prstGeom prst="rect">
            <a:avLst/>
          </a:prstGeom>
          <a:noFill/>
          <a:ln/>
        </p:spPr>
        <p:txBody>
          <a:bodyPr wrap="square" lIns="0" tIns="0" rIns="0" bIns="0" rtlCol="0" anchor="t"/>
          <a:lstStyle/>
          <a:p>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import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numpy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as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endParaRPr lang="en-US" sz="1600" dirty="0"/>
          </a:p>
          <a:p>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from</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solutions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mcap_native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import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load_poses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sweep</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ns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states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load_poses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32F62"/>
                </a:solidFill>
                <a:latin typeface="Courier New" pitchFamily="34" charset="0"/>
                <a:ea typeface="Courier New" pitchFamily="34" charset="-122"/>
                <a:cs typeface="Courier New" pitchFamily="34" charset="-120"/>
              </a:rPr>
              <a:t>"data/hiw_pillow_episode_0002.mcap"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thresholds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linspace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.02</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.20</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41</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counts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active_seconds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sweep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states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thresholds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hold_seconds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.02</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print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counts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0</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6A737D"/>
                </a:solidFill>
                <a:latin typeface="Courier New" pitchFamily="34" charset="0"/>
                <a:ea typeface="Courier New" pitchFamily="34" charset="-122"/>
                <a:cs typeface="Courier New" pitchFamily="34" charset="-120"/>
              </a:rPr>
              <a:t># [89, 82] at 0.02 m/s</a:t>
            </a:r>
            <a:endParaRPr lang="en-US" sz="1600" dirty="0"/>
          </a:p>
        </p:txBody>
      </p:sp>
      <p:sp>
        <p:nvSpPr>
          <p:cNvPr id="30" name="Text 21"/>
          <p:cNvSpPr txBox="1"/>
          <p:nvPr/>
        </p:nvSpPr>
        <p:spPr>
          <a:xfrm>
            <a:off x="8503920" y="1600200"/>
            <a:ext cx="3200400" cy="274320"/>
          </a:xfrm>
          <a:prstGeom prst="rect">
            <a:avLst/>
          </a:prstGeom>
          <a:noFill/>
          <a:ln/>
        </p:spPr>
        <p:txBody>
          <a:bodyPr wrap="square" lIns="0" tIns="0" rIns="0" bIns="0" rtlCol="0" anchor="t"/>
          <a:lstStyle/>
          <a:p>
            <a:pPr indent="0" marL="0">
              <a:buNone/>
            </a:pPr>
            <a:r>
              <a:rPr lang="en-US" sz="1500" b="1" dirty="0">
                <a:solidFill>
                  <a:srgbClr val="1E3A6E"/>
                </a:solidFill>
                <a:latin typeface="Arial" pitchFamily="34" charset="0"/>
                <a:ea typeface="Arial" pitchFamily="34" charset="-122"/>
                <a:cs typeface="Arial" pitchFamily="34" charset="-120"/>
              </a:rPr>
              <a:t>41 thresholds x 2 hands</a:t>
            </a:r>
            <a:endParaRPr lang="en-US" sz="1500" dirty="0"/>
          </a:p>
        </p:txBody>
      </p:sp>
      <p:sp>
        <p:nvSpPr>
          <p:cNvPr id="31" name="Text 22"/>
          <p:cNvSpPr txBox="1"/>
          <p:nvPr/>
        </p:nvSpPr>
        <p:spPr>
          <a:xfrm>
            <a:off x="8503920" y="2011680"/>
            <a:ext cx="457200" cy="274320"/>
          </a:xfrm>
          <a:prstGeom prst="rect">
            <a:avLst/>
          </a:prstGeom>
          <a:noFill/>
          <a:ln/>
        </p:spPr>
        <p:txBody>
          <a:bodyPr wrap="square" lIns="0" tIns="0" rIns="0" bIns="0" rtlCol="0" anchor="t"/>
          <a:lstStyle/>
          <a:p>
            <a:pPr indent="0" marL="0">
              <a:buNone/>
            </a:pPr>
            <a:r>
              <a:rPr lang="en-US" sz="1200" dirty="0">
                <a:solidFill>
                  <a:srgbClr val="5B6578"/>
                </a:solidFill>
                <a:latin typeface="Arial" pitchFamily="34" charset="0"/>
                <a:ea typeface="Arial" pitchFamily="34" charset="-122"/>
                <a:cs typeface="Arial" pitchFamily="34" charset="-120"/>
              </a:rPr>
              <a:t>left</a:t>
            </a:r>
            <a:endParaRPr lang="en-US" sz="1200" dirty="0"/>
          </a:p>
        </p:txBody>
      </p:sp>
      <p:sp>
        <p:nvSpPr>
          <p:cNvPr id="32" name="Shape 23"/>
          <p:cNvSpPr/>
          <p:nvPr/>
        </p:nvSpPr>
        <p:spPr>
          <a:xfrm>
            <a:off x="9006840" y="2011680"/>
            <a:ext cx="54864" cy="320040"/>
          </a:xfrm>
          <a:prstGeom prst="rect">
            <a:avLst/>
          </a:prstGeom>
          <a:solidFill>
            <a:srgbClr val="F5C518"/>
          </a:solidFill>
          <a:ln/>
        </p:spPr>
      </p:sp>
      <p:sp>
        <p:nvSpPr>
          <p:cNvPr id="33" name="Shape 24"/>
          <p:cNvSpPr/>
          <p:nvPr/>
        </p:nvSpPr>
        <p:spPr>
          <a:xfrm>
            <a:off x="9070848" y="2011680"/>
            <a:ext cx="54864" cy="320040"/>
          </a:xfrm>
          <a:prstGeom prst="rect">
            <a:avLst/>
          </a:prstGeom>
          <a:solidFill>
            <a:srgbClr val="1E3A6E"/>
          </a:solidFill>
          <a:ln/>
        </p:spPr>
      </p:sp>
      <p:sp>
        <p:nvSpPr>
          <p:cNvPr id="34" name="Shape 25"/>
          <p:cNvSpPr/>
          <p:nvPr/>
        </p:nvSpPr>
        <p:spPr>
          <a:xfrm>
            <a:off x="9134856" y="2011680"/>
            <a:ext cx="54864" cy="320040"/>
          </a:xfrm>
          <a:prstGeom prst="rect">
            <a:avLst/>
          </a:prstGeom>
          <a:solidFill>
            <a:srgbClr val="1E3A6E"/>
          </a:solidFill>
          <a:ln/>
        </p:spPr>
      </p:sp>
      <p:sp>
        <p:nvSpPr>
          <p:cNvPr id="35" name="Shape 26"/>
          <p:cNvSpPr/>
          <p:nvPr/>
        </p:nvSpPr>
        <p:spPr>
          <a:xfrm>
            <a:off x="9198864" y="2011680"/>
            <a:ext cx="54864" cy="320040"/>
          </a:xfrm>
          <a:prstGeom prst="rect">
            <a:avLst/>
          </a:prstGeom>
          <a:solidFill>
            <a:srgbClr val="1E3A6E"/>
          </a:solidFill>
          <a:ln/>
        </p:spPr>
      </p:sp>
      <p:sp>
        <p:nvSpPr>
          <p:cNvPr id="36" name="Shape 27"/>
          <p:cNvSpPr/>
          <p:nvPr/>
        </p:nvSpPr>
        <p:spPr>
          <a:xfrm>
            <a:off x="9262872" y="2011680"/>
            <a:ext cx="54864" cy="320040"/>
          </a:xfrm>
          <a:prstGeom prst="rect">
            <a:avLst/>
          </a:prstGeom>
          <a:solidFill>
            <a:srgbClr val="1E3A6E"/>
          </a:solidFill>
          <a:ln/>
        </p:spPr>
      </p:sp>
      <p:sp>
        <p:nvSpPr>
          <p:cNvPr id="37" name="Shape 28"/>
          <p:cNvSpPr/>
          <p:nvPr/>
        </p:nvSpPr>
        <p:spPr>
          <a:xfrm>
            <a:off x="9326880" y="2011680"/>
            <a:ext cx="54864" cy="320040"/>
          </a:xfrm>
          <a:prstGeom prst="rect">
            <a:avLst/>
          </a:prstGeom>
          <a:solidFill>
            <a:srgbClr val="1E3A6E"/>
          </a:solidFill>
          <a:ln/>
        </p:spPr>
      </p:sp>
      <p:sp>
        <p:nvSpPr>
          <p:cNvPr id="38" name="Shape 29"/>
          <p:cNvSpPr/>
          <p:nvPr/>
        </p:nvSpPr>
        <p:spPr>
          <a:xfrm>
            <a:off x="9390888" y="2011680"/>
            <a:ext cx="54864" cy="320040"/>
          </a:xfrm>
          <a:prstGeom prst="rect">
            <a:avLst/>
          </a:prstGeom>
          <a:solidFill>
            <a:srgbClr val="1E3A6E"/>
          </a:solidFill>
          <a:ln/>
        </p:spPr>
      </p:sp>
      <p:sp>
        <p:nvSpPr>
          <p:cNvPr id="39" name="Shape 30"/>
          <p:cNvSpPr/>
          <p:nvPr/>
        </p:nvSpPr>
        <p:spPr>
          <a:xfrm>
            <a:off x="9454896" y="2011680"/>
            <a:ext cx="54864" cy="320040"/>
          </a:xfrm>
          <a:prstGeom prst="rect">
            <a:avLst/>
          </a:prstGeom>
          <a:solidFill>
            <a:srgbClr val="1E3A6E"/>
          </a:solidFill>
          <a:ln/>
        </p:spPr>
      </p:sp>
      <p:sp>
        <p:nvSpPr>
          <p:cNvPr id="40" name="Shape 31"/>
          <p:cNvSpPr/>
          <p:nvPr/>
        </p:nvSpPr>
        <p:spPr>
          <a:xfrm>
            <a:off x="9518904" y="2011680"/>
            <a:ext cx="54864" cy="320040"/>
          </a:xfrm>
          <a:prstGeom prst="rect">
            <a:avLst/>
          </a:prstGeom>
          <a:solidFill>
            <a:srgbClr val="1E3A6E"/>
          </a:solidFill>
          <a:ln/>
        </p:spPr>
      </p:sp>
      <p:sp>
        <p:nvSpPr>
          <p:cNvPr id="41" name="Shape 32"/>
          <p:cNvSpPr/>
          <p:nvPr/>
        </p:nvSpPr>
        <p:spPr>
          <a:xfrm>
            <a:off x="9582912" y="2011680"/>
            <a:ext cx="54864" cy="320040"/>
          </a:xfrm>
          <a:prstGeom prst="rect">
            <a:avLst/>
          </a:prstGeom>
          <a:solidFill>
            <a:srgbClr val="1E3A6E"/>
          </a:solidFill>
          <a:ln/>
        </p:spPr>
      </p:sp>
      <p:sp>
        <p:nvSpPr>
          <p:cNvPr id="42" name="Shape 33"/>
          <p:cNvSpPr/>
          <p:nvPr/>
        </p:nvSpPr>
        <p:spPr>
          <a:xfrm>
            <a:off x="9646920" y="2011680"/>
            <a:ext cx="54864" cy="320040"/>
          </a:xfrm>
          <a:prstGeom prst="rect">
            <a:avLst/>
          </a:prstGeom>
          <a:solidFill>
            <a:srgbClr val="1E3A6E"/>
          </a:solidFill>
          <a:ln/>
        </p:spPr>
      </p:sp>
      <p:sp>
        <p:nvSpPr>
          <p:cNvPr id="43" name="Shape 34"/>
          <p:cNvSpPr/>
          <p:nvPr/>
        </p:nvSpPr>
        <p:spPr>
          <a:xfrm>
            <a:off x="9710928" y="2011680"/>
            <a:ext cx="54864" cy="320040"/>
          </a:xfrm>
          <a:prstGeom prst="rect">
            <a:avLst/>
          </a:prstGeom>
          <a:solidFill>
            <a:srgbClr val="1E3A6E"/>
          </a:solidFill>
          <a:ln/>
        </p:spPr>
      </p:sp>
      <p:sp>
        <p:nvSpPr>
          <p:cNvPr id="44" name="Shape 35"/>
          <p:cNvSpPr/>
          <p:nvPr/>
        </p:nvSpPr>
        <p:spPr>
          <a:xfrm>
            <a:off x="9774936" y="2011680"/>
            <a:ext cx="54864" cy="320040"/>
          </a:xfrm>
          <a:prstGeom prst="rect">
            <a:avLst/>
          </a:prstGeom>
          <a:solidFill>
            <a:srgbClr val="1E3A6E"/>
          </a:solidFill>
          <a:ln/>
        </p:spPr>
      </p:sp>
      <p:sp>
        <p:nvSpPr>
          <p:cNvPr id="45" name="Shape 36"/>
          <p:cNvSpPr/>
          <p:nvPr/>
        </p:nvSpPr>
        <p:spPr>
          <a:xfrm>
            <a:off x="9838944" y="2011680"/>
            <a:ext cx="54864" cy="320040"/>
          </a:xfrm>
          <a:prstGeom prst="rect">
            <a:avLst/>
          </a:prstGeom>
          <a:solidFill>
            <a:srgbClr val="1E3A6E"/>
          </a:solidFill>
          <a:ln/>
        </p:spPr>
      </p:sp>
      <p:sp>
        <p:nvSpPr>
          <p:cNvPr id="46" name="Shape 37"/>
          <p:cNvSpPr/>
          <p:nvPr/>
        </p:nvSpPr>
        <p:spPr>
          <a:xfrm>
            <a:off x="9902952" y="2011680"/>
            <a:ext cx="54864" cy="320040"/>
          </a:xfrm>
          <a:prstGeom prst="rect">
            <a:avLst/>
          </a:prstGeom>
          <a:solidFill>
            <a:srgbClr val="1E3A6E"/>
          </a:solidFill>
          <a:ln/>
        </p:spPr>
      </p:sp>
      <p:sp>
        <p:nvSpPr>
          <p:cNvPr id="47" name="Shape 38"/>
          <p:cNvSpPr/>
          <p:nvPr/>
        </p:nvSpPr>
        <p:spPr>
          <a:xfrm>
            <a:off x="9966960" y="2011680"/>
            <a:ext cx="54864" cy="320040"/>
          </a:xfrm>
          <a:prstGeom prst="rect">
            <a:avLst/>
          </a:prstGeom>
          <a:solidFill>
            <a:srgbClr val="1E3A6E"/>
          </a:solidFill>
          <a:ln/>
        </p:spPr>
      </p:sp>
      <p:sp>
        <p:nvSpPr>
          <p:cNvPr id="48" name="Shape 39"/>
          <p:cNvSpPr/>
          <p:nvPr/>
        </p:nvSpPr>
        <p:spPr>
          <a:xfrm>
            <a:off x="10030968" y="2011680"/>
            <a:ext cx="54864" cy="320040"/>
          </a:xfrm>
          <a:prstGeom prst="rect">
            <a:avLst/>
          </a:prstGeom>
          <a:solidFill>
            <a:srgbClr val="1E3A6E"/>
          </a:solidFill>
          <a:ln/>
        </p:spPr>
      </p:sp>
      <p:sp>
        <p:nvSpPr>
          <p:cNvPr id="49" name="Shape 40"/>
          <p:cNvSpPr/>
          <p:nvPr/>
        </p:nvSpPr>
        <p:spPr>
          <a:xfrm>
            <a:off x="10094976" y="2011680"/>
            <a:ext cx="54864" cy="320040"/>
          </a:xfrm>
          <a:prstGeom prst="rect">
            <a:avLst/>
          </a:prstGeom>
          <a:solidFill>
            <a:srgbClr val="1E3A6E"/>
          </a:solidFill>
          <a:ln/>
        </p:spPr>
      </p:sp>
      <p:sp>
        <p:nvSpPr>
          <p:cNvPr id="50" name="Shape 41"/>
          <p:cNvSpPr/>
          <p:nvPr/>
        </p:nvSpPr>
        <p:spPr>
          <a:xfrm>
            <a:off x="10158984" y="2011680"/>
            <a:ext cx="54864" cy="320040"/>
          </a:xfrm>
          <a:prstGeom prst="rect">
            <a:avLst/>
          </a:prstGeom>
          <a:solidFill>
            <a:srgbClr val="1E3A6E"/>
          </a:solidFill>
          <a:ln/>
        </p:spPr>
      </p:sp>
      <p:sp>
        <p:nvSpPr>
          <p:cNvPr id="51" name="Shape 42"/>
          <p:cNvSpPr/>
          <p:nvPr/>
        </p:nvSpPr>
        <p:spPr>
          <a:xfrm>
            <a:off x="10222992" y="2011680"/>
            <a:ext cx="54864" cy="320040"/>
          </a:xfrm>
          <a:prstGeom prst="rect">
            <a:avLst/>
          </a:prstGeom>
          <a:solidFill>
            <a:srgbClr val="1E3A6E"/>
          </a:solidFill>
          <a:ln/>
        </p:spPr>
      </p:sp>
      <p:sp>
        <p:nvSpPr>
          <p:cNvPr id="52" name="Shape 43"/>
          <p:cNvSpPr/>
          <p:nvPr/>
        </p:nvSpPr>
        <p:spPr>
          <a:xfrm>
            <a:off x="10287000" y="2011680"/>
            <a:ext cx="54864" cy="320040"/>
          </a:xfrm>
          <a:prstGeom prst="rect">
            <a:avLst/>
          </a:prstGeom>
          <a:solidFill>
            <a:srgbClr val="1E3A6E"/>
          </a:solidFill>
          <a:ln/>
        </p:spPr>
      </p:sp>
      <p:sp>
        <p:nvSpPr>
          <p:cNvPr id="53" name="Shape 44"/>
          <p:cNvSpPr/>
          <p:nvPr/>
        </p:nvSpPr>
        <p:spPr>
          <a:xfrm>
            <a:off x="10351008" y="2011680"/>
            <a:ext cx="54864" cy="320040"/>
          </a:xfrm>
          <a:prstGeom prst="rect">
            <a:avLst/>
          </a:prstGeom>
          <a:solidFill>
            <a:srgbClr val="1E3A6E"/>
          </a:solidFill>
          <a:ln/>
        </p:spPr>
      </p:sp>
      <p:sp>
        <p:nvSpPr>
          <p:cNvPr id="54" name="Shape 45"/>
          <p:cNvSpPr/>
          <p:nvPr/>
        </p:nvSpPr>
        <p:spPr>
          <a:xfrm>
            <a:off x="10415016" y="2011680"/>
            <a:ext cx="54864" cy="320040"/>
          </a:xfrm>
          <a:prstGeom prst="rect">
            <a:avLst/>
          </a:prstGeom>
          <a:solidFill>
            <a:srgbClr val="1E3A6E"/>
          </a:solidFill>
          <a:ln/>
        </p:spPr>
      </p:sp>
      <p:sp>
        <p:nvSpPr>
          <p:cNvPr id="55" name="Shape 46"/>
          <p:cNvSpPr/>
          <p:nvPr/>
        </p:nvSpPr>
        <p:spPr>
          <a:xfrm>
            <a:off x="10479024" y="2011680"/>
            <a:ext cx="54864" cy="320040"/>
          </a:xfrm>
          <a:prstGeom prst="rect">
            <a:avLst/>
          </a:prstGeom>
          <a:solidFill>
            <a:srgbClr val="1E3A6E"/>
          </a:solidFill>
          <a:ln/>
        </p:spPr>
      </p:sp>
      <p:sp>
        <p:nvSpPr>
          <p:cNvPr id="56" name="Shape 47"/>
          <p:cNvSpPr/>
          <p:nvPr/>
        </p:nvSpPr>
        <p:spPr>
          <a:xfrm>
            <a:off x="10543032" y="2011680"/>
            <a:ext cx="54864" cy="320040"/>
          </a:xfrm>
          <a:prstGeom prst="rect">
            <a:avLst/>
          </a:prstGeom>
          <a:solidFill>
            <a:srgbClr val="1E3A6E"/>
          </a:solidFill>
          <a:ln/>
        </p:spPr>
      </p:sp>
      <p:sp>
        <p:nvSpPr>
          <p:cNvPr id="57" name="Shape 48"/>
          <p:cNvSpPr/>
          <p:nvPr/>
        </p:nvSpPr>
        <p:spPr>
          <a:xfrm>
            <a:off x="10607040" y="2011680"/>
            <a:ext cx="54864" cy="320040"/>
          </a:xfrm>
          <a:prstGeom prst="rect">
            <a:avLst/>
          </a:prstGeom>
          <a:solidFill>
            <a:srgbClr val="1E3A6E"/>
          </a:solidFill>
          <a:ln/>
        </p:spPr>
      </p:sp>
      <p:sp>
        <p:nvSpPr>
          <p:cNvPr id="58" name="Shape 49"/>
          <p:cNvSpPr/>
          <p:nvPr/>
        </p:nvSpPr>
        <p:spPr>
          <a:xfrm>
            <a:off x="10671048" y="2011680"/>
            <a:ext cx="54864" cy="320040"/>
          </a:xfrm>
          <a:prstGeom prst="rect">
            <a:avLst/>
          </a:prstGeom>
          <a:solidFill>
            <a:srgbClr val="1E3A6E"/>
          </a:solidFill>
          <a:ln/>
        </p:spPr>
      </p:sp>
      <p:sp>
        <p:nvSpPr>
          <p:cNvPr id="59" name="Shape 50"/>
          <p:cNvSpPr/>
          <p:nvPr/>
        </p:nvSpPr>
        <p:spPr>
          <a:xfrm>
            <a:off x="10735056" y="2011680"/>
            <a:ext cx="54864" cy="320040"/>
          </a:xfrm>
          <a:prstGeom prst="rect">
            <a:avLst/>
          </a:prstGeom>
          <a:solidFill>
            <a:srgbClr val="1E3A6E"/>
          </a:solidFill>
          <a:ln/>
        </p:spPr>
      </p:sp>
      <p:sp>
        <p:nvSpPr>
          <p:cNvPr id="60" name="Shape 51"/>
          <p:cNvSpPr/>
          <p:nvPr/>
        </p:nvSpPr>
        <p:spPr>
          <a:xfrm>
            <a:off x="10799064" y="2011680"/>
            <a:ext cx="54864" cy="320040"/>
          </a:xfrm>
          <a:prstGeom prst="rect">
            <a:avLst/>
          </a:prstGeom>
          <a:solidFill>
            <a:srgbClr val="1E3A6E"/>
          </a:solidFill>
          <a:ln/>
        </p:spPr>
      </p:sp>
      <p:sp>
        <p:nvSpPr>
          <p:cNvPr id="61" name="Shape 52"/>
          <p:cNvSpPr/>
          <p:nvPr/>
        </p:nvSpPr>
        <p:spPr>
          <a:xfrm>
            <a:off x="10863072" y="2011680"/>
            <a:ext cx="54864" cy="320040"/>
          </a:xfrm>
          <a:prstGeom prst="rect">
            <a:avLst/>
          </a:prstGeom>
          <a:solidFill>
            <a:srgbClr val="1E3A6E"/>
          </a:solidFill>
          <a:ln/>
        </p:spPr>
      </p:sp>
      <p:sp>
        <p:nvSpPr>
          <p:cNvPr id="62" name="Shape 53"/>
          <p:cNvSpPr/>
          <p:nvPr/>
        </p:nvSpPr>
        <p:spPr>
          <a:xfrm>
            <a:off x="10927080" y="2011680"/>
            <a:ext cx="54864" cy="320040"/>
          </a:xfrm>
          <a:prstGeom prst="rect">
            <a:avLst/>
          </a:prstGeom>
          <a:solidFill>
            <a:srgbClr val="1E3A6E"/>
          </a:solidFill>
          <a:ln/>
        </p:spPr>
      </p:sp>
      <p:sp>
        <p:nvSpPr>
          <p:cNvPr id="63" name="Shape 54"/>
          <p:cNvSpPr/>
          <p:nvPr/>
        </p:nvSpPr>
        <p:spPr>
          <a:xfrm>
            <a:off x="10991088" y="2011680"/>
            <a:ext cx="54864" cy="320040"/>
          </a:xfrm>
          <a:prstGeom prst="rect">
            <a:avLst/>
          </a:prstGeom>
          <a:solidFill>
            <a:srgbClr val="1E3A6E"/>
          </a:solidFill>
          <a:ln/>
        </p:spPr>
      </p:sp>
      <p:sp>
        <p:nvSpPr>
          <p:cNvPr id="64" name="Shape 55"/>
          <p:cNvSpPr/>
          <p:nvPr/>
        </p:nvSpPr>
        <p:spPr>
          <a:xfrm>
            <a:off x="11055096" y="2011680"/>
            <a:ext cx="54864" cy="320040"/>
          </a:xfrm>
          <a:prstGeom prst="rect">
            <a:avLst/>
          </a:prstGeom>
          <a:solidFill>
            <a:srgbClr val="1E3A6E"/>
          </a:solidFill>
          <a:ln/>
        </p:spPr>
      </p:sp>
      <p:sp>
        <p:nvSpPr>
          <p:cNvPr id="65" name="Shape 56"/>
          <p:cNvSpPr/>
          <p:nvPr/>
        </p:nvSpPr>
        <p:spPr>
          <a:xfrm>
            <a:off x="11119104" y="2011680"/>
            <a:ext cx="54864" cy="320040"/>
          </a:xfrm>
          <a:prstGeom prst="rect">
            <a:avLst/>
          </a:prstGeom>
          <a:solidFill>
            <a:srgbClr val="1E3A6E"/>
          </a:solidFill>
          <a:ln/>
        </p:spPr>
      </p:sp>
      <p:sp>
        <p:nvSpPr>
          <p:cNvPr id="66" name="Shape 57"/>
          <p:cNvSpPr/>
          <p:nvPr/>
        </p:nvSpPr>
        <p:spPr>
          <a:xfrm>
            <a:off x="11183112" y="2011680"/>
            <a:ext cx="54864" cy="320040"/>
          </a:xfrm>
          <a:prstGeom prst="rect">
            <a:avLst/>
          </a:prstGeom>
          <a:solidFill>
            <a:srgbClr val="1E3A6E"/>
          </a:solidFill>
          <a:ln/>
        </p:spPr>
      </p:sp>
      <p:sp>
        <p:nvSpPr>
          <p:cNvPr id="67" name="Shape 58"/>
          <p:cNvSpPr/>
          <p:nvPr/>
        </p:nvSpPr>
        <p:spPr>
          <a:xfrm>
            <a:off x="11247120" y="2011680"/>
            <a:ext cx="54864" cy="320040"/>
          </a:xfrm>
          <a:prstGeom prst="rect">
            <a:avLst/>
          </a:prstGeom>
          <a:solidFill>
            <a:srgbClr val="1E3A6E"/>
          </a:solidFill>
          <a:ln/>
        </p:spPr>
      </p:sp>
      <p:sp>
        <p:nvSpPr>
          <p:cNvPr id="68" name="Shape 59"/>
          <p:cNvSpPr/>
          <p:nvPr/>
        </p:nvSpPr>
        <p:spPr>
          <a:xfrm>
            <a:off x="11311128" y="2011680"/>
            <a:ext cx="54864" cy="320040"/>
          </a:xfrm>
          <a:prstGeom prst="rect">
            <a:avLst/>
          </a:prstGeom>
          <a:solidFill>
            <a:srgbClr val="1E3A6E"/>
          </a:solidFill>
          <a:ln/>
        </p:spPr>
      </p:sp>
      <p:sp>
        <p:nvSpPr>
          <p:cNvPr id="69" name="Shape 60"/>
          <p:cNvSpPr/>
          <p:nvPr/>
        </p:nvSpPr>
        <p:spPr>
          <a:xfrm>
            <a:off x="11375136" y="2011680"/>
            <a:ext cx="54864" cy="320040"/>
          </a:xfrm>
          <a:prstGeom prst="rect">
            <a:avLst/>
          </a:prstGeom>
          <a:solidFill>
            <a:srgbClr val="1E3A6E"/>
          </a:solidFill>
          <a:ln/>
        </p:spPr>
      </p:sp>
      <p:sp>
        <p:nvSpPr>
          <p:cNvPr id="70" name="Shape 61"/>
          <p:cNvSpPr/>
          <p:nvPr/>
        </p:nvSpPr>
        <p:spPr>
          <a:xfrm>
            <a:off x="11439144" y="2011680"/>
            <a:ext cx="54864" cy="320040"/>
          </a:xfrm>
          <a:prstGeom prst="rect">
            <a:avLst/>
          </a:prstGeom>
          <a:solidFill>
            <a:srgbClr val="1E3A6E"/>
          </a:solidFill>
          <a:ln/>
        </p:spPr>
      </p:sp>
      <p:sp>
        <p:nvSpPr>
          <p:cNvPr id="71" name="Shape 62"/>
          <p:cNvSpPr/>
          <p:nvPr/>
        </p:nvSpPr>
        <p:spPr>
          <a:xfrm>
            <a:off x="11503152" y="2011680"/>
            <a:ext cx="54864" cy="320040"/>
          </a:xfrm>
          <a:prstGeom prst="rect">
            <a:avLst/>
          </a:prstGeom>
          <a:solidFill>
            <a:srgbClr val="1E3A6E"/>
          </a:solidFill>
          <a:ln/>
        </p:spPr>
      </p:sp>
      <p:sp>
        <p:nvSpPr>
          <p:cNvPr id="72" name="Shape 63"/>
          <p:cNvSpPr/>
          <p:nvPr/>
        </p:nvSpPr>
        <p:spPr>
          <a:xfrm>
            <a:off x="11567160" y="2011680"/>
            <a:ext cx="54864" cy="320040"/>
          </a:xfrm>
          <a:prstGeom prst="rect">
            <a:avLst/>
          </a:prstGeom>
          <a:solidFill>
            <a:srgbClr val="1E3A6E"/>
          </a:solidFill>
          <a:ln/>
        </p:spPr>
      </p:sp>
      <p:sp>
        <p:nvSpPr>
          <p:cNvPr id="73" name="Text 64"/>
          <p:cNvSpPr txBox="1"/>
          <p:nvPr/>
        </p:nvSpPr>
        <p:spPr>
          <a:xfrm>
            <a:off x="8503920" y="2423160"/>
            <a:ext cx="457200" cy="274320"/>
          </a:xfrm>
          <a:prstGeom prst="rect">
            <a:avLst/>
          </a:prstGeom>
          <a:noFill/>
          <a:ln/>
        </p:spPr>
        <p:txBody>
          <a:bodyPr wrap="square" lIns="0" tIns="0" rIns="0" bIns="0" rtlCol="0" anchor="t"/>
          <a:lstStyle/>
          <a:p>
            <a:pPr indent="0" marL="0">
              <a:buNone/>
            </a:pPr>
            <a:r>
              <a:rPr lang="en-US" sz="1200" dirty="0">
                <a:solidFill>
                  <a:srgbClr val="5B6578"/>
                </a:solidFill>
                <a:latin typeface="Arial" pitchFamily="34" charset="0"/>
                <a:ea typeface="Arial" pitchFamily="34" charset="-122"/>
                <a:cs typeface="Arial" pitchFamily="34" charset="-120"/>
              </a:rPr>
              <a:t>right</a:t>
            </a:r>
            <a:endParaRPr lang="en-US" sz="1200" dirty="0"/>
          </a:p>
        </p:txBody>
      </p:sp>
      <p:sp>
        <p:nvSpPr>
          <p:cNvPr id="74" name="Shape 65"/>
          <p:cNvSpPr/>
          <p:nvPr/>
        </p:nvSpPr>
        <p:spPr>
          <a:xfrm>
            <a:off x="9006840" y="2423160"/>
            <a:ext cx="54864" cy="320040"/>
          </a:xfrm>
          <a:prstGeom prst="rect">
            <a:avLst/>
          </a:prstGeom>
          <a:solidFill>
            <a:srgbClr val="F5C518"/>
          </a:solidFill>
          <a:ln/>
        </p:spPr>
      </p:sp>
      <p:sp>
        <p:nvSpPr>
          <p:cNvPr id="75" name="Shape 66"/>
          <p:cNvSpPr/>
          <p:nvPr/>
        </p:nvSpPr>
        <p:spPr>
          <a:xfrm>
            <a:off x="9070848" y="2423160"/>
            <a:ext cx="54864" cy="320040"/>
          </a:xfrm>
          <a:prstGeom prst="rect">
            <a:avLst/>
          </a:prstGeom>
          <a:solidFill>
            <a:srgbClr val="3776AB"/>
          </a:solidFill>
          <a:ln/>
        </p:spPr>
      </p:sp>
      <p:sp>
        <p:nvSpPr>
          <p:cNvPr id="76" name="Shape 67"/>
          <p:cNvSpPr/>
          <p:nvPr/>
        </p:nvSpPr>
        <p:spPr>
          <a:xfrm>
            <a:off x="9134856" y="2423160"/>
            <a:ext cx="54864" cy="320040"/>
          </a:xfrm>
          <a:prstGeom prst="rect">
            <a:avLst/>
          </a:prstGeom>
          <a:solidFill>
            <a:srgbClr val="3776AB"/>
          </a:solidFill>
          <a:ln/>
        </p:spPr>
      </p:sp>
      <p:sp>
        <p:nvSpPr>
          <p:cNvPr id="77" name="Shape 68"/>
          <p:cNvSpPr/>
          <p:nvPr/>
        </p:nvSpPr>
        <p:spPr>
          <a:xfrm>
            <a:off x="9198864" y="2423160"/>
            <a:ext cx="54864" cy="320040"/>
          </a:xfrm>
          <a:prstGeom prst="rect">
            <a:avLst/>
          </a:prstGeom>
          <a:solidFill>
            <a:srgbClr val="3776AB"/>
          </a:solidFill>
          <a:ln/>
        </p:spPr>
      </p:sp>
      <p:sp>
        <p:nvSpPr>
          <p:cNvPr id="78" name="Shape 69"/>
          <p:cNvSpPr/>
          <p:nvPr/>
        </p:nvSpPr>
        <p:spPr>
          <a:xfrm>
            <a:off x="9262872" y="2423160"/>
            <a:ext cx="54864" cy="320040"/>
          </a:xfrm>
          <a:prstGeom prst="rect">
            <a:avLst/>
          </a:prstGeom>
          <a:solidFill>
            <a:srgbClr val="3776AB"/>
          </a:solidFill>
          <a:ln/>
        </p:spPr>
      </p:sp>
      <p:sp>
        <p:nvSpPr>
          <p:cNvPr id="79" name="Shape 70"/>
          <p:cNvSpPr/>
          <p:nvPr/>
        </p:nvSpPr>
        <p:spPr>
          <a:xfrm>
            <a:off x="9326880" y="2423160"/>
            <a:ext cx="54864" cy="320040"/>
          </a:xfrm>
          <a:prstGeom prst="rect">
            <a:avLst/>
          </a:prstGeom>
          <a:solidFill>
            <a:srgbClr val="3776AB"/>
          </a:solidFill>
          <a:ln/>
        </p:spPr>
      </p:sp>
      <p:sp>
        <p:nvSpPr>
          <p:cNvPr id="80" name="Shape 71"/>
          <p:cNvSpPr/>
          <p:nvPr/>
        </p:nvSpPr>
        <p:spPr>
          <a:xfrm>
            <a:off x="9390888" y="2423160"/>
            <a:ext cx="54864" cy="320040"/>
          </a:xfrm>
          <a:prstGeom prst="rect">
            <a:avLst/>
          </a:prstGeom>
          <a:solidFill>
            <a:srgbClr val="3776AB"/>
          </a:solidFill>
          <a:ln/>
        </p:spPr>
      </p:sp>
      <p:sp>
        <p:nvSpPr>
          <p:cNvPr id="81" name="Shape 72"/>
          <p:cNvSpPr/>
          <p:nvPr/>
        </p:nvSpPr>
        <p:spPr>
          <a:xfrm>
            <a:off x="9454896" y="2423160"/>
            <a:ext cx="54864" cy="320040"/>
          </a:xfrm>
          <a:prstGeom prst="rect">
            <a:avLst/>
          </a:prstGeom>
          <a:solidFill>
            <a:srgbClr val="3776AB"/>
          </a:solidFill>
          <a:ln/>
        </p:spPr>
      </p:sp>
      <p:sp>
        <p:nvSpPr>
          <p:cNvPr id="82" name="Shape 73"/>
          <p:cNvSpPr/>
          <p:nvPr/>
        </p:nvSpPr>
        <p:spPr>
          <a:xfrm>
            <a:off x="9518904" y="2423160"/>
            <a:ext cx="54864" cy="320040"/>
          </a:xfrm>
          <a:prstGeom prst="rect">
            <a:avLst/>
          </a:prstGeom>
          <a:solidFill>
            <a:srgbClr val="3776AB"/>
          </a:solidFill>
          <a:ln/>
        </p:spPr>
      </p:sp>
      <p:sp>
        <p:nvSpPr>
          <p:cNvPr id="83" name="Shape 74"/>
          <p:cNvSpPr/>
          <p:nvPr/>
        </p:nvSpPr>
        <p:spPr>
          <a:xfrm>
            <a:off x="9582912" y="2423160"/>
            <a:ext cx="54864" cy="320040"/>
          </a:xfrm>
          <a:prstGeom prst="rect">
            <a:avLst/>
          </a:prstGeom>
          <a:solidFill>
            <a:srgbClr val="3776AB"/>
          </a:solidFill>
          <a:ln/>
        </p:spPr>
      </p:sp>
      <p:sp>
        <p:nvSpPr>
          <p:cNvPr id="84" name="Shape 75"/>
          <p:cNvSpPr/>
          <p:nvPr/>
        </p:nvSpPr>
        <p:spPr>
          <a:xfrm>
            <a:off x="9646920" y="2423160"/>
            <a:ext cx="54864" cy="320040"/>
          </a:xfrm>
          <a:prstGeom prst="rect">
            <a:avLst/>
          </a:prstGeom>
          <a:solidFill>
            <a:srgbClr val="3776AB"/>
          </a:solidFill>
          <a:ln/>
        </p:spPr>
      </p:sp>
      <p:sp>
        <p:nvSpPr>
          <p:cNvPr id="85" name="Shape 76"/>
          <p:cNvSpPr/>
          <p:nvPr/>
        </p:nvSpPr>
        <p:spPr>
          <a:xfrm>
            <a:off x="9710928" y="2423160"/>
            <a:ext cx="54864" cy="320040"/>
          </a:xfrm>
          <a:prstGeom prst="rect">
            <a:avLst/>
          </a:prstGeom>
          <a:solidFill>
            <a:srgbClr val="3776AB"/>
          </a:solidFill>
          <a:ln/>
        </p:spPr>
      </p:sp>
      <p:sp>
        <p:nvSpPr>
          <p:cNvPr id="86" name="Shape 77"/>
          <p:cNvSpPr/>
          <p:nvPr/>
        </p:nvSpPr>
        <p:spPr>
          <a:xfrm>
            <a:off x="9774936" y="2423160"/>
            <a:ext cx="54864" cy="320040"/>
          </a:xfrm>
          <a:prstGeom prst="rect">
            <a:avLst/>
          </a:prstGeom>
          <a:solidFill>
            <a:srgbClr val="3776AB"/>
          </a:solidFill>
          <a:ln/>
        </p:spPr>
      </p:sp>
      <p:sp>
        <p:nvSpPr>
          <p:cNvPr id="87" name="Shape 78"/>
          <p:cNvSpPr/>
          <p:nvPr/>
        </p:nvSpPr>
        <p:spPr>
          <a:xfrm>
            <a:off x="9838944" y="2423160"/>
            <a:ext cx="54864" cy="320040"/>
          </a:xfrm>
          <a:prstGeom prst="rect">
            <a:avLst/>
          </a:prstGeom>
          <a:solidFill>
            <a:srgbClr val="3776AB"/>
          </a:solidFill>
          <a:ln/>
        </p:spPr>
      </p:sp>
      <p:sp>
        <p:nvSpPr>
          <p:cNvPr id="88" name="Shape 79"/>
          <p:cNvSpPr/>
          <p:nvPr/>
        </p:nvSpPr>
        <p:spPr>
          <a:xfrm>
            <a:off x="9902952" y="2423160"/>
            <a:ext cx="54864" cy="320040"/>
          </a:xfrm>
          <a:prstGeom prst="rect">
            <a:avLst/>
          </a:prstGeom>
          <a:solidFill>
            <a:srgbClr val="3776AB"/>
          </a:solidFill>
          <a:ln/>
        </p:spPr>
      </p:sp>
      <p:sp>
        <p:nvSpPr>
          <p:cNvPr id="89" name="Shape 80"/>
          <p:cNvSpPr/>
          <p:nvPr/>
        </p:nvSpPr>
        <p:spPr>
          <a:xfrm>
            <a:off x="9966960" y="2423160"/>
            <a:ext cx="54864" cy="320040"/>
          </a:xfrm>
          <a:prstGeom prst="rect">
            <a:avLst/>
          </a:prstGeom>
          <a:solidFill>
            <a:srgbClr val="3776AB"/>
          </a:solidFill>
          <a:ln/>
        </p:spPr>
      </p:sp>
      <p:sp>
        <p:nvSpPr>
          <p:cNvPr id="90" name="Shape 81"/>
          <p:cNvSpPr/>
          <p:nvPr/>
        </p:nvSpPr>
        <p:spPr>
          <a:xfrm>
            <a:off x="10030968" y="2423160"/>
            <a:ext cx="54864" cy="320040"/>
          </a:xfrm>
          <a:prstGeom prst="rect">
            <a:avLst/>
          </a:prstGeom>
          <a:solidFill>
            <a:srgbClr val="3776AB"/>
          </a:solidFill>
          <a:ln/>
        </p:spPr>
      </p:sp>
      <p:sp>
        <p:nvSpPr>
          <p:cNvPr id="91" name="Shape 82"/>
          <p:cNvSpPr/>
          <p:nvPr/>
        </p:nvSpPr>
        <p:spPr>
          <a:xfrm>
            <a:off x="10094976" y="2423160"/>
            <a:ext cx="54864" cy="320040"/>
          </a:xfrm>
          <a:prstGeom prst="rect">
            <a:avLst/>
          </a:prstGeom>
          <a:solidFill>
            <a:srgbClr val="3776AB"/>
          </a:solidFill>
          <a:ln/>
        </p:spPr>
      </p:sp>
      <p:sp>
        <p:nvSpPr>
          <p:cNvPr id="92" name="Shape 83"/>
          <p:cNvSpPr/>
          <p:nvPr/>
        </p:nvSpPr>
        <p:spPr>
          <a:xfrm>
            <a:off x="10158984" y="2423160"/>
            <a:ext cx="54864" cy="320040"/>
          </a:xfrm>
          <a:prstGeom prst="rect">
            <a:avLst/>
          </a:prstGeom>
          <a:solidFill>
            <a:srgbClr val="3776AB"/>
          </a:solidFill>
          <a:ln/>
        </p:spPr>
      </p:sp>
      <p:sp>
        <p:nvSpPr>
          <p:cNvPr id="93" name="Shape 84"/>
          <p:cNvSpPr/>
          <p:nvPr/>
        </p:nvSpPr>
        <p:spPr>
          <a:xfrm>
            <a:off x="10222992" y="2423160"/>
            <a:ext cx="54864" cy="320040"/>
          </a:xfrm>
          <a:prstGeom prst="rect">
            <a:avLst/>
          </a:prstGeom>
          <a:solidFill>
            <a:srgbClr val="3776AB"/>
          </a:solidFill>
          <a:ln/>
        </p:spPr>
      </p:sp>
      <p:sp>
        <p:nvSpPr>
          <p:cNvPr id="94" name="Shape 85"/>
          <p:cNvSpPr/>
          <p:nvPr/>
        </p:nvSpPr>
        <p:spPr>
          <a:xfrm>
            <a:off x="10287000" y="2423160"/>
            <a:ext cx="54864" cy="320040"/>
          </a:xfrm>
          <a:prstGeom prst="rect">
            <a:avLst/>
          </a:prstGeom>
          <a:solidFill>
            <a:srgbClr val="3776AB"/>
          </a:solidFill>
          <a:ln/>
        </p:spPr>
      </p:sp>
      <p:sp>
        <p:nvSpPr>
          <p:cNvPr id="95" name="Shape 86"/>
          <p:cNvSpPr/>
          <p:nvPr/>
        </p:nvSpPr>
        <p:spPr>
          <a:xfrm>
            <a:off x="10351008" y="2423160"/>
            <a:ext cx="54864" cy="320040"/>
          </a:xfrm>
          <a:prstGeom prst="rect">
            <a:avLst/>
          </a:prstGeom>
          <a:solidFill>
            <a:srgbClr val="3776AB"/>
          </a:solidFill>
          <a:ln/>
        </p:spPr>
      </p:sp>
      <p:sp>
        <p:nvSpPr>
          <p:cNvPr id="96" name="Shape 87"/>
          <p:cNvSpPr/>
          <p:nvPr/>
        </p:nvSpPr>
        <p:spPr>
          <a:xfrm>
            <a:off x="10415016" y="2423160"/>
            <a:ext cx="54864" cy="320040"/>
          </a:xfrm>
          <a:prstGeom prst="rect">
            <a:avLst/>
          </a:prstGeom>
          <a:solidFill>
            <a:srgbClr val="3776AB"/>
          </a:solidFill>
          <a:ln/>
        </p:spPr>
      </p:sp>
      <p:sp>
        <p:nvSpPr>
          <p:cNvPr id="97" name="Shape 88"/>
          <p:cNvSpPr/>
          <p:nvPr/>
        </p:nvSpPr>
        <p:spPr>
          <a:xfrm>
            <a:off x="10479024" y="2423160"/>
            <a:ext cx="54864" cy="320040"/>
          </a:xfrm>
          <a:prstGeom prst="rect">
            <a:avLst/>
          </a:prstGeom>
          <a:solidFill>
            <a:srgbClr val="3776AB"/>
          </a:solidFill>
          <a:ln/>
        </p:spPr>
      </p:sp>
      <p:sp>
        <p:nvSpPr>
          <p:cNvPr id="98" name="Shape 89"/>
          <p:cNvSpPr/>
          <p:nvPr/>
        </p:nvSpPr>
        <p:spPr>
          <a:xfrm>
            <a:off x="10543032" y="2423160"/>
            <a:ext cx="54864" cy="320040"/>
          </a:xfrm>
          <a:prstGeom prst="rect">
            <a:avLst/>
          </a:prstGeom>
          <a:solidFill>
            <a:srgbClr val="3776AB"/>
          </a:solidFill>
          <a:ln/>
        </p:spPr>
      </p:sp>
      <p:sp>
        <p:nvSpPr>
          <p:cNvPr id="99" name="Shape 90"/>
          <p:cNvSpPr/>
          <p:nvPr/>
        </p:nvSpPr>
        <p:spPr>
          <a:xfrm>
            <a:off x="10607040" y="2423160"/>
            <a:ext cx="54864" cy="320040"/>
          </a:xfrm>
          <a:prstGeom prst="rect">
            <a:avLst/>
          </a:prstGeom>
          <a:solidFill>
            <a:srgbClr val="3776AB"/>
          </a:solidFill>
          <a:ln/>
        </p:spPr>
      </p:sp>
      <p:sp>
        <p:nvSpPr>
          <p:cNvPr id="100" name="Shape 91"/>
          <p:cNvSpPr/>
          <p:nvPr/>
        </p:nvSpPr>
        <p:spPr>
          <a:xfrm>
            <a:off x="10671048" y="2423160"/>
            <a:ext cx="54864" cy="320040"/>
          </a:xfrm>
          <a:prstGeom prst="rect">
            <a:avLst/>
          </a:prstGeom>
          <a:solidFill>
            <a:srgbClr val="3776AB"/>
          </a:solidFill>
          <a:ln/>
        </p:spPr>
      </p:sp>
      <p:sp>
        <p:nvSpPr>
          <p:cNvPr id="101" name="Shape 92"/>
          <p:cNvSpPr/>
          <p:nvPr/>
        </p:nvSpPr>
        <p:spPr>
          <a:xfrm>
            <a:off x="10735056" y="2423160"/>
            <a:ext cx="54864" cy="320040"/>
          </a:xfrm>
          <a:prstGeom prst="rect">
            <a:avLst/>
          </a:prstGeom>
          <a:solidFill>
            <a:srgbClr val="3776AB"/>
          </a:solidFill>
          <a:ln/>
        </p:spPr>
      </p:sp>
      <p:sp>
        <p:nvSpPr>
          <p:cNvPr id="102" name="Shape 93"/>
          <p:cNvSpPr/>
          <p:nvPr/>
        </p:nvSpPr>
        <p:spPr>
          <a:xfrm>
            <a:off x="10799064" y="2423160"/>
            <a:ext cx="54864" cy="320040"/>
          </a:xfrm>
          <a:prstGeom prst="rect">
            <a:avLst/>
          </a:prstGeom>
          <a:solidFill>
            <a:srgbClr val="3776AB"/>
          </a:solidFill>
          <a:ln/>
        </p:spPr>
      </p:sp>
      <p:sp>
        <p:nvSpPr>
          <p:cNvPr id="103" name="Shape 94"/>
          <p:cNvSpPr/>
          <p:nvPr/>
        </p:nvSpPr>
        <p:spPr>
          <a:xfrm>
            <a:off x="10863072" y="2423160"/>
            <a:ext cx="54864" cy="320040"/>
          </a:xfrm>
          <a:prstGeom prst="rect">
            <a:avLst/>
          </a:prstGeom>
          <a:solidFill>
            <a:srgbClr val="3776AB"/>
          </a:solidFill>
          <a:ln/>
        </p:spPr>
      </p:sp>
      <p:sp>
        <p:nvSpPr>
          <p:cNvPr id="104" name="Shape 95"/>
          <p:cNvSpPr/>
          <p:nvPr/>
        </p:nvSpPr>
        <p:spPr>
          <a:xfrm>
            <a:off x="10927080" y="2423160"/>
            <a:ext cx="54864" cy="320040"/>
          </a:xfrm>
          <a:prstGeom prst="rect">
            <a:avLst/>
          </a:prstGeom>
          <a:solidFill>
            <a:srgbClr val="3776AB"/>
          </a:solidFill>
          <a:ln/>
        </p:spPr>
      </p:sp>
      <p:sp>
        <p:nvSpPr>
          <p:cNvPr id="105" name="Shape 96"/>
          <p:cNvSpPr/>
          <p:nvPr/>
        </p:nvSpPr>
        <p:spPr>
          <a:xfrm>
            <a:off x="10991088" y="2423160"/>
            <a:ext cx="54864" cy="320040"/>
          </a:xfrm>
          <a:prstGeom prst="rect">
            <a:avLst/>
          </a:prstGeom>
          <a:solidFill>
            <a:srgbClr val="3776AB"/>
          </a:solidFill>
          <a:ln/>
        </p:spPr>
      </p:sp>
      <p:sp>
        <p:nvSpPr>
          <p:cNvPr id="106" name="Shape 97"/>
          <p:cNvSpPr/>
          <p:nvPr/>
        </p:nvSpPr>
        <p:spPr>
          <a:xfrm>
            <a:off x="11055096" y="2423160"/>
            <a:ext cx="54864" cy="320040"/>
          </a:xfrm>
          <a:prstGeom prst="rect">
            <a:avLst/>
          </a:prstGeom>
          <a:solidFill>
            <a:srgbClr val="3776AB"/>
          </a:solidFill>
          <a:ln/>
        </p:spPr>
      </p:sp>
      <p:sp>
        <p:nvSpPr>
          <p:cNvPr id="107" name="Shape 98"/>
          <p:cNvSpPr/>
          <p:nvPr/>
        </p:nvSpPr>
        <p:spPr>
          <a:xfrm>
            <a:off x="11119104" y="2423160"/>
            <a:ext cx="54864" cy="320040"/>
          </a:xfrm>
          <a:prstGeom prst="rect">
            <a:avLst/>
          </a:prstGeom>
          <a:solidFill>
            <a:srgbClr val="3776AB"/>
          </a:solidFill>
          <a:ln/>
        </p:spPr>
      </p:sp>
      <p:sp>
        <p:nvSpPr>
          <p:cNvPr id="108" name="Shape 99"/>
          <p:cNvSpPr/>
          <p:nvPr/>
        </p:nvSpPr>
        <p:spPr>
          <a:xfrm>
            <a:off x="11183112" y="2423160"/>
            <a:ext cx="54864" cy="320040"/>
          </a:xfrm>
          <a:prstGeom prst="rect">
            <a:avLst/>
          </a:prstGeom>
          <a:solidFill>
            <a:srgbClr val="3776AB"/>
          </a:solidFill>
          <a:ln/>
        </p:spPr>
      </p:sp>
      <p:sp>
        <p:nvSpPr>
          <p:cNvPr id="109" name="Shape 100"/>
          <p:cNvSpPr/>
          <p:nvPr/>
        </p:nvSpPr>
        <p:spPr>
          <a:xfrm>
            <a:off x="11247120" y="2423160"/>
            <a:ext cx="54864" cy="320040"/>
          </a:xfrm>
          <a:prstGeom prst="rect">
            <a:avLst/>
          </a:prstGeom>
          <a:solidFill>
            <a:srgbClr val="3776AB"/>
          </a:solidFill>
          <a:ln/>
        </p:spPr>
      </p:sp>
      <p:sp>
        <p:nvSpPr>
          <p:cNvPr id="110" name="Shape 101"/>
          <p:cNvSpPr/>
          <p:nvPr/>
        </p:nvSpPr>
        <p:spPr>
          <a:xfrm>
            <a:off x="11311128" y="2423160"/>
            <a:ext cx="54864" cy="320040"/>
          </a:xfrm>
          <a:prstGeom prst="rect">
            <a:avLst/>
          </a:prstGeom>
          <a:solidFill>
            <a:srgbClr val="3776AB"/>
          </a:solidFill>
          <a:ln/>
        </p:spPr>
      </p:sp>
      <p:sp>
        <p:nvSpPr>
          <p:cNvPr id="111" name="Shape 102"/>
          <p:cNvSpPr/>
          <p:nvPr/>
        </p:nvSpPr>
        <p:spPr>
          <a:xfrm>
            <a:off x="11375136" y="2423160"/>
            <a:ext cx="54864" cy="320040"/>
          </a:xfrm>
          <a:prstGeom prst="rect">
            <a:avLst/>
          </a:prstGeom>
          <a:solidFill>
            <a:srgbClr val="3776AB"/>
          </a:solidFill>
          <a:ln/>
        </p:spPr>
      </p:sp>
      <p:sp>
        <p:nvSpPr>
          <p:cNvPr id="112" name="Shape 103"/>
          <p:cNvSpPr/>
          <p:nvPr/>
        </p:nvSpPr>
        <p:spPr>
          <a:xfrm>
            <a:off x="11439144" y="2423160"/>
            <a:ext cx="54864" cy="320040"/>
          </a:xfrm>
          <a:prstGeom prst="rect">
            <a:avLst/>
          </a:prstGeom>
          <a:solidFill>
            <a:srgbClr val="3776AB"/>
          </a:solidFill>
          <a:ln/>
        </p:spPr>
      </p:sp>
      <p:sp>
        <p:nvSpPr>
          <p:cNvPr id="113" name="Shape 104"/>
          <p:cNvSpPr/>
          <p:nvPr/>
        </p:nvSpPr>
        <p:spPr>
          <a:xfrm>
            <a:off x="11503152" y="2423160"/>
            <a:ext cx="54864" cy="320040"/>
          </a:xfrm>
          <a:prstGeom prst="rect">
            <a:avLst/>
          </a:prstGeom>
          <a:solidFill>
            <a:srgbClr val="3776AB"/>
          </a:solidFill>
          <a:ln/>
        </p:spPr>
      </p:sp>
      <p:sp>
        <p:nvSpPr>
          <p:cNvPr id="114" name="Shape 105"/>
          <p:cNvSpPr/>
          <p:nvPr/>
        </p:nvSpPr>
        <p:spPr>
          <a:xfrm>
            <a:off x="11567160" y="2423160"/>
            <a:ext cx="54864" cy="320040"/>
          </a:xfrm>
          <a:prstGeom prst="rect">
            <a:avLst/>
          </a:prstGeom>
          <a:solidFill>
            <a:srgbClr val="3776AB"/>
          </a:solidFill>
          <a:ln/>
        </p:spPr>
      </p:sp>
      <p:sp>
        <p:nvSpPr>
          <p:cNvPr id="115" name="Text 106"/>
          <p:cNvSpPr txBox="1"/>
          <p:nvPr/>
        </p:nvSpPr>
        <p:spPr>
          <a:xfrm>
            <a:off x="9006840" y="2880360"/>
            <a:ext cx="2743200" cy="274320"/>
          </a:xfrm>
          <a:prstGeom prst="rect">
            <a:avLst/>
          </a:prstGeom>
          <a:noFill/>
          <a:ln/>
        </p:spPr>
        <p:txBody>
          <a:bodyPr wrap="square" lIns="0" tIns="0" rIns="0" bIns="0" rtlCol="0" anchor="t"/>
          <a:lstStyle/>
          <a:p>
            <a:pPr indent="0" marL="0">
              <a:buNone/>
            </a:pPr>
            <a:r>
              <a:rPr lang="en-US" sz="1200" dirty="0">
                <a:solidFill>
                  <a:srgbClr val="5B6578"/>
                </a:solidFill>
                <a:latin typeface="Arial" pitchFamily="34" charset="0"/>
                <a:ea typeface="Arial" pitchFamily="34" charset="-122"/>
                <a:cs typeface="Arial" pitchFamily="34" charset="-120"/>
              </a:rPr>
              <a:t>0.02 to 0.20 m/s</a:t>
            </a:r>
            <a:endParaRPr lang="en-US" sz="1200" dirty="0"/>
          </a:p>
        </p:txBody>
      </p:sp>
      <p:sp>
        <p:nvSpPr>
          <p:cNvPr id="116" name="Text 107"/>
          <p:cNvSpPr/>
          <p:nvPr/>
        </p:nvSpPr>
        <p:spPr>
          <a:xfrm>
            <a:off x="548640" y="4160520"/>
            <a:ext cx="5120640" cy="2011680"/>
          </a:xfrm>
          <a:prstGeom prst="roundRect">
            <a:avLst>
              <a:gd name="adj" fmla="val 4545"/>
            </a:avLst>
          </a:prstGeom>
          <a:solidFill>
            <a:srgbClr val="F3F5F8"/>
          </a:solidFill>
          <a:ln/>
        </p:spPr>
        <p:txBody>
          <a:bodyPr wrap="square" lIns="1270" tIns="1270" rIns="1270" bIns="1270" rtlCol="0" anchor="ctr"/>
          <a:lstStyle/>
          <a:p>
            <a:pPr algn="l" indent="0" marL="0">
              <a:buNone/>
            </a:pPr>
            <a:endParaRPr lang="en-US" sz="1600" dirty="0"/>
          </a:p>
        </p:txBody>
      </p:sp>
      <p:sp>
        <p:nvSpPr>
          <p:cNvPr id="117" name="Text 108"/>
          <p:cNvSpPr txBox="1"/>
          <p:nvPr/>
        </p:nvSpPr>
        <p:spPr>
          <a:xfrm>
            <a:off x="731520" y="4297680"/>
            <a:ext cx="4754880" cy="1005840"/>
          </a:xfrm>
          <a:prstGeom prst="rect">
            <a:avLst/>
          </a:prstGeom>
          <a:noFill/>
          <a:ln/>
        </p:spPr>
        <p:txBody>
          <a:bodyPr wrap="square" lIns="0" tIns="0" rIns="0" bIns="0" rtlCol="0" anchor="ctr"/>
          <a:lstStyle/>
          <a:p>
            <a:pPr indent="0" marL="0">
              <a:buNone/>
            </a:pPr>
            <a:r>
              <a:rPr lang="en-US" sz="4400" b="1" dirty="0">
                <a:solidFill>
                  <a:srgbClr val="1E3A6E"/>
                </a:solidFill>
                <a:latin typeface="Arial" pitchFamily="34" charset="0"/>
                <a:ea typeface="Arial" pitchFamily="34" charset="-122"/>
                <a:cs typeface="Arial" pitchFamily="34" charset="-120"/>
              </a:rPr>
              <a:t>0 events</a:t>
            </a:r>
            <a:endParaRPr lang="en-US" sz="4400" dirty="0"/>
          </a:p>
        </p:txBody>
      </p:sp>
      <p:sp>
        <p:nvSpPr>
          <p:cNvPr id="118" name="Text 109"/>
          <p:cNvSpPr txBox="1"/>
          <p:nvPr/>
        </p:nvSpPr>
        <p:spPr>
          <a:xfrm>
            <a:off x="731520" y="5303520"/>
            <a:ext cx="4754880" cy="77724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with the original 120 ms hold time</a:t>
            </a:r>
            <a:endParaRPr lang="en-US" sz="1400" dirty="0"/>
          </a:p>
        </p:txBody>
      </p:sp>
      <p:sp>
        <p:nvSpPr>
          <p:cNvPr id="119" name="Shape 110"/>
          <p:cNvSpPr/>
          <p:nvPr/>
        </p:nvSpPr>
        <p:spPr>
          <a:xfrm>
            <a:off x="5760720" y="5166360"/>
            <a:ext cx="548640" cy="0"/>
          </a:xfrm>
          <a:prstGeom prst="line">
            <a:avLst/>
          </a:prstGeom>
          <a:noFill/>
          <a:ln w="38100">
            <a:solidFill>
              <a:srgbClr val="1E3A6E"/>
            </a:solidFill>
            <a:prstDash val="solid"/>
            <a:tailEnd type="triangle"/>
          </a:ln>
        </p:spPr>
      </p:sp>
      <p:sp>
        <p:nvSpPr>
          <p:cNvPr id="120" name="Text 111"/>
          <p:cNvSpPr/>
          <p:nvPr/>
        </p:nvSpPr>
        <p:spPr>
          <a:xfrm>
            <a:off x="6400800" y="4160520"/>
            <a:ext cx="5212080" cy="2011680"/>
          </a:xfrm>
          <a:prstGeom prst="roundRect">
            <a:avLst>
              <a:gd name="adj" fmla="val 4545"/>
            </a:avLst>
          </a:prstGeom>
          <a:solidFill>
            <a:srgbClr val="F5C518"/>
          </a:solidFill>
          <a:ln/>
        </p:spPr>
        <p:txBody>
          <a:bodyPr wrap="square" lIns="1270" tIns="1270" rIns="1270" bIns="1270" rtlCol="0" anchor="ctr"/>
          <a:lstStyle/>
          <a:p>
            <a:pPr algn="l" indent="0" marL="0">
              <a:buNone/>
            </a:pPr>
            <a:endParaRPr lang="en-US" sz="1600" dirty="0"/>
          </a:p>
        </p:txBody>
      </p:sp>
      <p:sp>
        <p:nvSpPr>
          <p:cNvPr id="121" name="Text 112"/>
          <p:cNvSpPr txBox="1"/>
          <p:nvPr/>
        </p:nvSpPr>
        <p:spPr>
          <a:xfrm>
            <a:off x="6583680" y="4297680"/>
            <a:ext cx="4846320" cy="1005840"/>
          </a:xfrm>
          <a:prstGeom prst="rect">
            <a:avLst/>
          </a:prstGeom>
          <a:noFill/>
          <a:ln/>
        </p:spPr>
        <p:txBody>
          <a:bodyPr wrap="square" lIns="0" tIns="0" rIns="0" bIns="0" rtlCol="0" anchor="ctr"/>
          <a:lstStyle/>
          <a:p>
            <a:pPr indent="0" marL="0">
              <a:buNone/>
            </a:pPr>
            <a:r>
              <a:rPr lang="en-US" sz="3600" b="1" dirty="0">
                <a:solidFill>
                  <a:srgbClr val="1E3A6E"/>
                </a:solidFill>
                <a:latin typeface="Arial" pitchFamily="34" charset="0"/>
                <a:ea typeface="Arial" pitchFamily="34" charset="-122"/>
                <a:cs typeface="Arial" pitchFamily="34" charset="-120"/>
              </a:rPr>
              <a:t>89 left / 82 right</a:t>
            </a:r>
            <a:endParaRPr lang="en-US" sz="3600" dirty="0"/>
          </a:p>
        </p:txBody>
      </p:sp>
      <p:sp>
        <p:nvSpPr>
          <p:cNvPr id="122" name="Text 113"/>
          <p:cNvSpPr txBox="1"/>
          <p:nvPr/>
        </p:nvSpPr>
        <p:spPr>
          <a:xfrm>
            <a:off x="6583680" y="5303520"/>
            <a:ext cx="4846320" cy="77724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with a 20 ms hold, lowest speed threshold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Have we discovered 171 successful grasps?</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F5C518"/>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08760"/>
            <a:ext cx="6309360" cy="3200400"/>
          </a:xfrm>
          <a:prstGeom prst="roundRect">
            <a:avLst>
              <a:gd name="adj" fmla="val 2857"/>
            </a:avLst>
          </a:prstGeom>
          <a:solidFill>
            <a:srgbClr val="F3F5F8"/>
          </a:solidFill>
          <a:ln/>
        </p:spPr>
        <p:txBody>
          <a:bodyPr wrap="square" lIns="1270" tIns="1270" rIns="1270" bIns="1270" rtlCol="0" anchor="ctr"/>
          <a:lstStyle/>
          <a:p>
            <a:pPr algn="l" indent="0" marL="0">
              <a:buNone/>
            </a:pPr>
            <a:endParaRPr lang="en-US" sz="1600" dirty="0"/>
          </a:p>
        </p:txBody>
      </p:sp>
      <p:sp>
        <p:nvSpPr>
          <p:cNvPr id="28" name="Shape 19"/>
          <p:cNvSpPr/>
          <p:nvPr/>
        </p:nvSpPr>
        <p:spPr>
          <a:xfrm>
            <a:off x="822960" y="1783080"/>
            <a:ext cx="201168" cy="201168"/>
          </a:xfrm>
          <a:prstGeom prst="ellipse">
            <a:avLst/>
          </a:prstGeom>
          <a:solidFill>
            <a:srgbClr val="1E3A6E"/>
          </a:solidFill>
          <a:ln/>
        </p:spPr>
      </p:sp>
      <p:sp>
        <p:nvSpPr>
          <p:cNvPr id="29" name="Shape 20"/>
          <p:cNvSpPr/>
          <p:nvPr/>
        </p:nvSpPr>
        <p:spPr>
          <a:xfrm>
            <a:off x="1115568" y="1783080"/>
            <a:ext cx="201168" cy="201168"/>
          </a:xfrm>
          <a:prstGeom prst="ellipse">
            <a:avLst/>
          </a:prstGeom>
          <a:solidFill>
            <a:srgbClr val="1E3A6E"/>
          </a:solidFill>
          <a:ln/>
        </p:spPr>
      </p:sp>
      <p:sp>
        <p:nvSpPr>
          <p:cNvPr id="30" name="Shape 21"/>
          <p:cNvSpPr/>
          <p:nvPr/>
        </p:nvSpPr>
        <p:spPr>
          <a:xfrm>
            <a:off x="1408176" y="1783080"/>
            <a:ext cx="201168" cy="201168"/>
          </a:xfrm>
          <a:prstGeom prst="ellipse">
            <a:avLst/>
          </a:prstGeom>
          <a:solidFill>
            <a:srgbClr val="1E3A6E"/>
          </a:solidFill>
          <a:ln/>
        </p:spPr>
      </p:sp>
      <p:sp>
        <p:nvSpPr>
          <p:cNvPr id="31" name="Shape 22"/>
          <p:cNvSpPr/>
          <p:nvPr/>
        </p:nvSpPr>
        <p:spPr>
          <a:xfrm>
            <a:off x="1700784" y="1783080"/>
            <a:ext cx="201168" cy="201168"/>
          </a:xfrm>
          <a:prstGeom prst="ellipse">
            <a:avLst/>
          </a:prstGeom>
          <a:solidFill>
            <a:srgbClr val="1E3A6E"/>
          </a:solidFill>
          <a:ln/>
        </p:spPr>
      </p:sp>
      <p:sp>
        <p:nvSpPr>
          <p:cNvPr id="32" name="Shape 23"/>
          <p:cNvSpPr/>
          <p:nvPr/>
        </p:nvSpPr>
        <p:spPr>
          <a:xfrm>
            <a:off x="1993392" y="1783080"/>
            <a:ext cx="201168" cy="201168"/>
          </a:xfrm>
          <a:prstGeom prst="ellipse">
            <a:avLst/>
          </a:prstGeom>
          <a:solidFill>
            <a:srgbClr val="1E3A6E"/>
          </a:solidFill>
          <a:ln/>
        </p:spPr>
      </p:sp>
      <p:sp>
        <p:nvSpPr>
          <p:cNvPr id="33" name="Shape 24"/>
          <p:cNvSpPr/>
          <p:nvPr/>
        </p:nvSpPr>
        <p:spPr>
          <a:xfrm>
            <a:off x="2286000" y="1783080"/>
            <a:ext cx="201168" cy="201168"/>
          </a:xfrm>
          <a:prstGeom prst="ellipse">
            <a:avLst/>
          </a:prstGeom>
          <a:solidFill>
            <a:srgbClr val="1E3A6E"/>
          </a:solidFill>
          <a:ln/>
        </p:spPr>
      </p:sp>
      <p:sp>
        <p:nvSpPr>
          <p:cNvPr id="34" name="Shape 25"/>
          <p:cNvSpPr/>
          <p:nvPr/>
        </p:nvSpPr>
        <p:spPr>
          <a:xfrm>
            <a:off x="2578608" y="1783080"/>
            <a:ext cx="201168" cy="201168"/>
          </a:xfrm>
          <a:prstGeom prst="ellipse">
            <a:avLst/>
          </a:prstGeom>
          <a:solidFill>
            <a:srgbClr val="1E3A6E"/>
          </a:solidFill>
          <a:ln/>
        </p:spPr>
      </p:sp>
      <p:sp>
        <p:nvSpPr>
          <p:cNvPr id="35" name="Shape 26"/>
          <p:cNvSpPr/>
          <p:nvPr/>
        </p:nvSpPr>
        <p:spPr>
          <a:xfrm>
            <a:off x="2871216" y="1783080"/>
            <a:ext cx="201168" cy="201168"/>
          </a:xfrm>
          <a:prstGeom prst="ellipse">
            <a:avLst/>
          </a:prstGeom>
          <a:solidFill>
            <a:srgbClr val="1E3A6E"/>
          </a:solidFill>
          <a:ln/>
        </p:spPr>
      </p:sp>
      <p:sp>
        <p:nvSpPr>
          <p:cNvPr id="36" name="Shape 27"/>
          <p:cNvSpPr/>
          <p:nvPr/>
        </p:nvSpPr>
        <p:spPr>
          <a:xfrm>
            <a:off x="3163824" y="1783080"/>
            <a:ext cx="201168" cy="201168"/>
          </a:xfrm>
          <a:prstGeom prst="ellipse">
            <a:avLst/>
          </a:prstGeom>
          <a:solidFill>
            <a:srgbClr val="1E3A6E"/>
          </a:solidFill>
          <a:ln/>
        </p:spPr>
      </p:sp>
      <p:sp>
        <p:nvSpPr>
          <p:cNvPr id="37" name="Shape 28"/>
          <p:cNvSpPr/>
          <p:nvPr/>
        </p:nvSpPr>
        <p:spPr>
          <a:xfrm>
            <a:off x="3456432" y="1783080"/>
            <a:ext cx="201168" cy="201168"/>
          </a:xfrm>
          <a:prstGeom prst="ellipse">
            <a:avLst/>
          </a:prstGeom>
          <a:solidFill>
            <a:srgbClr val="1E3A6E"/>
          </a:solidFill>
          <a:ln/>
        </p:spPr>
      </p:sp>
      <p:sp>
        <p:nvSpPr>
          <p:cNvPr id="38" name="Shape 29"/>
          <p:cNvSpPr/>
          <p:nvPr/>
        </p:nvSpPr>
        <p:spPr>
          <a:xfrm>
            <a:off x="3749040" y="1783080"/>
            <a:ext cx="201168" cy="201168"/>
          </a:xfrm>
          <a:prstGeom prst="ellipse">
            <a:avLst/>
          </a:prstGeom>
          <a:solidFill>
            <a:srgbClr val="1E3A6E"/>
          </a:solidFill>
          <a:ln/>
        </p:spPr>
      </p:sp>
      <p:sp>
        <p:nvSpPr>
          <p:cNvPr id="39" name="Shape 30"/>
          <p:cNvSpPr/>
          <p:nvPr/>
        </p:nvSpPr>
        <p:spPr>
          <a:xfrm>
            <a:off x="4041648" y="1783080"/>
            <a:ext cx="201168" cy="201168"/>
          </a:xfrm>
          <a:prstGeom prst="ellipse">
            <a:avLst/>
          </a:prstGeom>
          <a:solidFill>
            <a:srgbClr val="1E3A6E"/>
          </a:solidFill>
          <a:ln/>
        </p:spPr>
      </p:sp>
      <p:sp>
        <p:nvSpPr>
          <p:cNvPr id="40" name="Shape 31"/>
          <p:cNvSpPr/>
          <p:nvPr/>
        </p:nvSpPr>
        <p:spPr>
          <a:xfrm>
            <a:off x="4334256" y="1783080"/>
            <a:ext cx="201168" cy="201168"/>
          </a:xfrm>
          <a:prstGeom prst="ellipse">
            <a:avLst/>
          </a:prstGeom>
          <a:solidFill>
            <a:srgbClr val="1E3A6E"/>
          </a:solidFill>
          <a:ln/>
        </p:spPr>
      </p:sp>
      <p:sp>
        <p:nvSpPr>
          <p:cNvPr id="41" name="Shape 32"/>
          <p:cNvSpPr/>
          <p:nvPr/>
        </p:nvSpPr>
        <p:spPr>
          <a:xfrm>
            <a:off x="4626864" y="1783080"/>
            <a:ext cx="201168" cy="201168"/>
          </a:xfrm>
          <a:prstGeom prst="ellipse">
            <a:avLst/>
          </a:prstGeom>
          <a:solidFill>
            <a:srgbClr val="1E3A6E"/>
          </a:solidFill>
          <a:ln/>
        </p:spPr>
      </p:sp>
      <p:sp>
        <p:nvSpPr>
          <p:cNvPr id="42" name="Shape 33"/>
          <p:cNvSpPr/>
          <p:nvPr/>
        </p:nvSpPr>
        <p:spPr>
          <a:xfrm>
            <a:off x="4919472" y="1783080"/>
            <a:ext cx="201168" cy="201168"/>
          </a:xfrm>
          <a:prstGeom prst="ellipse">
            <a:avLst/>
          </a:prstGeom>
          <a:solidFill>
            <a:srgbClr val="1E3A6E"/>
          </a:solidFill>
          <a:ln/>
        </p:spPr>
      </p:sp>
      <p:sp>
        <p:nvSpPr>
          <p:cNvPr id="43" name="Shape 34"/>
          <p:cNvSpPr/>
          <p:nvPr/>
        </p:nvSpPr>
        <p:spPr>
          <a:xfrm>
            <a:off x="5212080" y="1783080"/>
            <a:ext cx="201168" cy="201168"/>
          </a:xfrm>
          <a:prstGeom prst="ellipse">
            <a:avLst/>
          </a:prstGeom>
          <a:solidFill>
            <a:srgbClr val="1E3A6E"/>
          </a:solidFill>
          <a:ln/>
        </p:spPr>
      </p:sp>
      <p:sp>
        <p:nvSpPr>
          <p:cNvPr id="44" name="Shape 35"/>
          <p:cNvSpPr/>
          <p:nvPr/>
        </p:nvSpPr>
        <p:spPr>
          <a:xfrm>
            <a:off x="5504688" y="1783080"/>
            <a:ext cx="201168" cy="201168"/>
          </a:xfrm>
          <a:prstGeom prst="ellipse">
            <a:avLst/>
          </a:prstGeom>
          <a:solidFill>
            <a:srgbClr val="1E3A6E"/>
          </a:solidFill>
          <a:ln/>
        </p:spPr>
      </p:sp>
      <p:sp>
        <p:nvSpPr>
          <p:cNvPr id="45" name="Shape 36"/>
          <p:cNvSpPr/>
          <p:nvPr/>
        </p:nvSpPr>
        <p:spPr>
          <a:xfrm>
            <a:off x="5797296" y="1783080"/>
            <a:ext cx="201168" cy="201168"/>
          </a:xfrm>
          <a:prstGeom prst="ellipse">
            <a:avLst/>
          </a:prstGeom>
          <a:solidFill>
            <a:srgbClr val="1E3A6E"/>
          </a:solidFill>
          <a:ln/>
        </p:spPr>
      </p:sp>
      <p:sp>
        <p:nvSpPr>
          <p:cNvPr id="46" name="Shape 37"/>
          <p:cNvSpPr/>
          <p:nvPr/>
        </p:nvSpPr>
        <p:spPr>
          <a:xfrm>
            <a:off x="6089904" y="1783080"/>
            <a:ext cx="201168" cy="201168"/>
          </a:xfrm>
          <a:prstGeom prst="ellipse">
            <a:avLst/>
          </a:prstGeom>
          <a:solidFill>
            <a:srgbClr val="1E3A6E"/>
          </a:solidFill>
          <a:ln/>
        </p:spPr>
      </p:sp>
      <p:sp>
        <p:nvSpPr>
          <p:cNvPr id="47" name="Shape 38"/>
          <p:cNvSpPr/>
          <p:nvPr/>
        </p:nvSpPr>
        <p:spPr>
          <a:xfrm>
            <a:off x="822960" y="2075688"/>
            <a:ext cx="201168" cy="201168"/>
          </a:xfrm>
          <a:prstGeom prst="ellipse">
            <a:avLst/>
          </a:prstGeom>
          <a:solidFill>
            <a:srgbClr val="1E3A6E"/>
          </a:solidFill>
          <a:ln/>
        </p:spPr>
      </p:sp>
      <p:sp>
        <p:nvSpPr>
          <p:cNvPr id="48" name="Shape 39"/>
          <p:cNvSpPr/>
          <p:nvPr/>
        </p:nvSpPr>
        <p:spPr>
          <a:xfrm>
            <a:off x="1115568" y="2075688"/>
            <a:ext cx="201168" cy="201168"/>
          </a:xfrm>
          <a:prstGeom prst="ellipse">
            <a:avLst/>
          </a:prstGeom>
          <a:solidFill>
            <a:srgbClr val="1E3A6E"/>
          </a:solidFill>
          <a:ln/>
        </p:spPr>
      </p:sp>
      <p:sp>
        <p:nvSpPr>
          <p:cNvPr id="49" name="Shape 40"/>
          <p:cNvSpPr/>
          <p:nvPr/>
        </p:nvSpPr>
        <p:spPr>
          <a:xfrm>
            <a:off x="1408176" y="2075688"/>
            <a:ext cx="201168" cy="201168"/>
          </a:xfrm>
          <a:prstGeom prst="ellipse">
            <a:avLst/>
          </a:prstGeom>
          <a:solidFill>
            <a:srgbClr val="1E3A6E"/>
          </a:solidFill>
          <a:ln/>
        </p:spPr>
      </p:sp>
      <p:sp>
        <p:nvSpPr>
          <p:cNvPr id="50" name="Shape 41"/>
          <p:cNvSpPr/>
          <p:nvPr/>
        </p:nvSpPr>
        <p:spPr>
          <a:xfrm>
            <a:off x="1700784" y="2075688"/>
            <a:ext cx="201168" cy="201168"/>
          </a:xfrm>
          <a:prstGeom prst="ellipse">
            <a:avLst/>
          </a:prstGeom>
          <a:solidFill>
            <a:srgbClr val="1E3A6E"/>
          </a:solidFill>
          <a:ln/>
        </p:spPr>
      </p:sp>
      <p:sp>
        <p:nvSpPr>
          <p:cNvPr id="51" name="Shape 42"/>
          <p:cNvSpPr/>
          <p:nvPr/>
        </p:nvSpPr>
        <p:spPr>
          <a:xfrm>
            <a:off x="1993392" y="2075688"/>
            <a:ext cx="201168" cy="201168"/>
          </a:xfrm>
          <a:prstGeom prst="ellipse">
            <a:avLst/>
          </a:prstGeom>
          <a:solidFill>
            <a:srgbClr val="1E3A6E"/>
          </a:solidFill>
          <a:ln/>
        </p:spPr>
      </p:sp>
      <p:sp>
        <p:nvSpPr>
          <p:cNvPr id="52" name="Shape 43"/>
          <p:cNvSpPr/>
          <p:nvPr/>
        </p:nvSpPr>
        <p:spPr>
          <a:xfrm>
            <a:off x="2286000" y="2075688"/>
            <a:ext cx="201168" cy="201168"/>
          </a:xfrm>
          <a:prstGeom prst="ellipse">
            <a:avLst/>
          </a:prstGeom>
          <a:solidFill>
            <a:srgbClr val="1E3A6E"/>
          </a:solidFill>
          <a:ln/>
        </p:spPr>
      </p:sp>
      <p:sp>
        <p:nvSpPr>
          <p:cNvPr id="53" name="Shape 44"/>
          <p:cNvSpPr/>
          <p:nvPr/>
        </p:nvSpPr>
        <p:spPr>
          <a:xfrm>
            <a:off x="2578608" y="2075688"/>
            <a:ext cx="201168" cy="201168"/>
          </a:xfrm>
          <a:prstGeom prst="ellipse">
            <a:avLst/>
          </a:prstGeom>
          <a:solidFill>
            <a:srgbClr val="1E3A6E"/>
          </a:solidFill>
          <a:ln/>
        </p:spPr>
      </p:sp>
      <p:sp>
        <p:nvSpPr>
          <p:cNvPr id="54" name="Shape 45"/>
          <p:cNvSpPr/>
          <p:nvPr/>
        </p:nvSpPr>
        <p:spPr>
          <a:xfrm>
            <a:off x="2871216" y="2075688"/>
            <a:ext cx="201168" cy="201168"/>
          </a:xfrm>
          <a:prstGeom prst="ellipse">
            <a:avLst/>
          </a:prstGeom>
          <a:solidFill>
            <a:srgbClr val="1E3A6E"/>
          </a:solidFill>
          <a:ln/>
        </p:spPr>
      </p:sp>
      <p:sp>
        <p:nvSpPr>
          <p:cNvPr id="55" name="Shape 46"/>
          <p:cNvSpPr/>
          <p:nvPr/>
        </p:nvSpPr>
        <p:spPr>
          <a:xfrm>
            <a:off x="3163824" y="2075688"/>
            <a:ext cx="201168" cy="201168"/>
          </a:xfrm>
          <a:prstGeom prst="ellipse">
            <a:avLst/>
          </a:prstGeom>
          <a:solidFill>
            <a:srgbClr val="1E3A6E"/>
          </a:solidFill>
          <a:ln/>
        </p:spPr>
      </p:sp>
      <p:sp>
        <p:nvSpPr>
          <p:cNvPr id="56" name="Shape 47"/>
          <p:cNvSpPr/>
          <p:nvPr/>
        </p:nvSpPr>
        <p:spPr>
          <a:xfrm>
            <a:off x="3456432" y="2075688"/>
            <a:ext cx="201168" cy="201168"/>
          </a:xfrm>
          <a:prstGeom prst="ellipse">
            <a:avLst/>
          </a:prstGeom>
          <a:solidFill>
            <a:srgbClr val="1E3A6E"/>
          </a:solidFill>
          <a:ln/>
        </p:spPr>
      </p:sp>
      <p:sp>
        <p:nvSpPr>
          <p:cNvPr id="57" name="Shape 48"/>
          <p:cNvSpPr/>
          <p:nvPr/>
        </p:nvSpPr>
        <p:spPr>
          <a:xfrm>
            <a:off x="3749040" y="2075688"/>
            <a:ext cx="201168" cy="201168"/>
          </a:xfrm>
          <a:prstGeom prst="ellipse">
            <a:avLst/>
          </a:prstGeom>
          <a:solidFill>
            <a:srgbClr val="1E3A6E"/>
          </a:solidFill>
          <a:ln/>
        </p:spPr>
      </p:sp>
      <p:sp>
        <p:nvSpPr>
          <p:cNvPr id="58" name="Shape 49"/>
          <p:cNvSpPr/>
          <p:nvPr/>
        </p:nvSpPr>
        <p:spPr>
          <a:xfrm>
            <a:off x="4041648" y="2075688"/>
            <a:ext cx="201168" cy="201168"/>
          </a:xfrm>
          <a:prstGeom prst="ellipse">
            <a:avLst/>
          </a:prstGeom>
          <a:solidFill>
            <a:srgbClr val="1E3A6E"/>
          </a:solidFill>
          <a:ln/>
        </p:spPr>
      </p:sp>
      <p:sp>
        <p:nvSpPr>
          <p:cNvPr id="59" name="Shape 50"/>
          <p:cNvSpPr/>
          <p:nvPr/>
        </p:nvSpPr>
        <p:spPr>
          <a:xfrm>
            <a:off x="4334256" y="2075688"/>
            <a:ext cx="201168" cy="201168"/>
          </a:xfrm>
          <a:prstGeom prst="ellipse">
            <a:avLst/>
          </a:prstGeom>
          <a:solidFill>
            <a:srgbClr val="1E3A6E"/>
          </a:solidFill>
          <a:ln/>
        </p:spPr>
      </p:sp>
      <p:sp>
        <p:nvSpPr>
          <p:cNvPr id="60" name="Shape 51"/>
          <p:cNvSpPr/>
          <p:nvPr/>
        </p:nvSpPr>
        <p:spPr>
          <a:xfrm>
            <a:off x="4626864" y="2075688"/>
            <a:ext cx="201168" cy="201168"/>
          </a:xfrm>
          <a:prstGeom prst="ellipse">
            <a:avLst/>
          </a:prstGeom>
          <a:solidFill>
            <a:srgbClr val="1E3A6E"/>
          </a:solidFill>
          <a:ln/>
        </p:spPr>
      </p:sp>
      <p:sp>
        <p:nvSpPr>
          <p:cNvPr id="61" name="Shape 52"/>
          <p:cNvSpPr/>
          <p:nvPr/>
        </p:nvSpPr>
        <p:spPr>
          <a:xfrm>
            <a:off x="4919472" y="2075688"/>
            <a:ext cx="201168" cy="201168"/>
          </a:xfrm>
          <a:prstGeom prst="ellipse">
            <a:avLst/>
          </a:prstGeom>
          <a:solidFill>
            <a:srgbClr val="1E3A6E"/>
          </a:solidFill>
          <a:ln/>
        </p:spPr>
      </p:sp>
      <p:sp>
        <p:nvSpPr>
          <p:cNvPr id="62" name="Shape 53"/>
          <p:cNvSpPr/>
          <p:nvPr/>
        </p:nvSpPr>
        <p:spPr>
          <a:xfrm>
            <a:off x="5212080" y="2075688"/>
            <a:ext cx="201168" cy="201168"/>
          </a:xfrm>
          <a:prstGeom prst="ellipse">
            <a:avLst/>
          </a:prstGeom>
          <a:solidFill>
            <a:srgbClr val="1E3A6E"/>
          </a:solidFill>
          <a:ln/>
        </p:spPr>
      </p:sp>
      <p:sp>
        <p:nvSpPr>
          <p:cNvPr id="63" name="Shape 54"/>
          <p:cNvSpPr/>
          <p:nvPr/>
        </p:nvSpPr>
        <p:spPr>
          <a:xfrm>
            <a:off x="5504688" y="2075688"/>
            <a:ext cx="201168" cy="201168"/>
          </a:xfrm>
          <a:prstGeom prst="ellipse">
            <a:avLst/>
          </a:prstGeom>
          <a:solidFill>
            <a:srgbClr val="1E3A6E"/>
          </a:solidFill>
          <a:ln/>
        </p:spPr>
      </p:sp>
      <p:sp>
        <p:nvSpPr>
          <p:cNvPr id="64" name="Shape 55"/>
          <p:cNvSpPr/>
          <p:nvPr/>
        </p:nvSpPr>
        <p:spPr>
          <a:xfrm>
            <a:off x="5797296" y="2075688"/>
            <a:ext cx="201168" cy="201168"/>
          </a:xfrm>
          <a:prstGeom prst="ellipse">
            <a:avLst/>
          </a:prstGeom>
          <a:solidFill>
            <a:srgbClr val="1E3A6E"/>
          </a:solidFill>
          <a:ln/>
        </p:spPr>
      </p:sp>
      <p:sp>
        <p:nvSpPr>
          <p:cNvPr id="65" name="Shape 56"/>
          <p:cNvSpPr/>
          <p:nvPr/>
        </p:nvSpPr>
        <p:spPr>
          <a:xfrm>
            <a:off x="6089904" y="2075688"/>
            <a:ext cx="201168" cy="201168"/>
          </a:xfrm>
          <a:prstGeom prst="ellipse">
            <a:avLst/>
          </a:prstGeom>
          <a:solidFill>
            <a:srgbClr val="1E3A6E"/>
          </a:solidFill>
          <a:ln/>
        </p:spPr>
      </p:sp>
      <p:sp>
        <p:nvSpPr>
          <p:cNvPr id="66" name="Shape 57"/>
          <p:cNvSpPr/>
          <p:nvPr/>
        </p:nvSpPr>
        <p:spPr>
          <a:xfrm>
            <a:off x="822960" y="2368296"/>
            <a:ext cx="201168" cy="201168"/>
          </a:xfrm>
          <a:prstGeom prst="ellipse">
            <a:avLst/>
          </a:prstGeom>
          <a:solidFill>
            <a:srgbClr val="1E3A6E"/>
          </a:solidFill>
          <a:ln/>
        </p:spPr>
      </p:sp>
      <p:sp>
        <p:nvSpPr>
          <p:cNvPr id="67" name="Shape 58"/>
          <p:cNvSpPr/>
          <p:nvPr/>
        </p:nvSpPr>
        <p:spPr>
          <a:xfrm>
            <a:off x="1115568" y="2368296"/>
            <a:ext cx="201168" cy="201168"/>
          </a:xfrm>
          <a:prstGeom prst="ellipse">
            <a:avLst/>
          </a:prstGeom>
          <a:solidFill>
            <a:srgbClr val="1E3A6E"/>
          </a:solidFill>
          <a:ln/>
        </p:spPr>
      </p:sp>
      <p:sp>
        <p:nvSpPr>
          <p:cNvPr id="68" name="Shape 59"/>
          <p:cNvSpPr/>
          <p:nvPr/>
        </p:nvSpPr>
        <p:spPr>
          <a:xfrm>
            <a:off x="1408176" y="2368296"/>
            <a:ext cx="201168" cy="201168"/>
          </a:xfrm>
          <a:prstGeom prst="ellipse">
            <a:avLst/>
          </a:prstGeom>
          <a:solidFill>
            <a:srgbClr val="1E3A6E"/>
          </a:solidFill>
          <a:ln/>
        </p:spPr>
      </p:sp>
      <p:sp>
        <p:nvSpPr>
          <p:cNvPr id="69" name="Shape 60"/>
          <p:cNvSpPr/>
          <p:nvPr/>
        </p:nvSpPr>
        <p:spPr>
          <a:xfrm>
            <a:off x="1700784" y="2368296"/>
            <a:ext cx="201168" cy="201168"/>
          </a:xfrm>
          <a:prstGeom prst="ellipse">
            <a:avLst/>
          </a:prstGeom>
          <a:solidFill>
            <a:srgbClr val="1E3A6E"/>
          </a:solidFill>
          <a:ln/>
        </p:spPr>
      </p:sp>
      <p:sp>
        <p:nvSpPr>
          <p:cNvPr id="70" name="Shape 61"/>
          <p:cNvSpPr/>
          <p:nvPr/>
        </p:nvSpPr>
        <p:spPr>
          <a:xfrm>
            <a:off x="1993392" y="2368296"/>
            <a:ext cx="201168" cy="201168"/>
          </a:xfrm>
          <a:prstGeom prst="ellipse">
            <a:avLst/>
          </a:prstGeom>
          <a:solidFill>
            <a:srgbClr val="1E3A6E"/>
          </a:solidFill>
          <a:ln/>
        </p:spPr>
      </p:sp>
      <p:sp>
        <p:nvSpPr>
          <p:cNvPr id="71" name="Shape 62"/>
          <p:cNvSpPr/>
          <p:nvPr/>
        </p:nvSpPr>
        <p:spPr>
          <a:xfrm>
            <a:off x="2286000" y="2368296"/>
            <a:ext cx="201168" cy="201168"/>
          </a:xfrm>
          <a:prstGeom prst="ellipse">
            <a:avLst/>
          </a:prstGeom>
          <a:solidFill>
            <a:srgbClr val="1E3A6E"/>
          </a:solidFill>
          <a:ln/>
        </p:spPr>
      </p:sp>
      <p:sp>
        <p:nvSpPr>
          <p:cNvPr id="72" name="Shape 63"/>
          <p:cNvSpPr/>
          <p:nvPr/>
        </p:nvSpPr>
        <p:spPr>
          <a:xfrm>
            <a:off x="2578608" y="2368296"/>
            <a:ext cx="201168" cy="201168"/>
          </a:xfrm>
          <a:prstGeom prst="ellipse">
            <a:avLst/>
          </a:prstGeom>
          <a:solidFill>
            <a:srgbClr val="1E3A6E"/>
          </a:solidFill>
          <a:ln/>
        </p:spPr>
      </p:sp>
      <p:sp>
        <p:nvSpPr>
          <p:cNvPr id="73" name="Shape 64"/>
          <p:cNvSpPr/>
          <p:nvPr/>
        </p:nvSpPr>
        <p:spPr>
          <a:xfrm>
            <a:off x="2871216" y="2368296"/>
            <a:ext cx="201168" cy="201168"/>
          </a:xfrm>
          <a:prstGeom prst="ellipse">
            <a:avLst/>
          </a:prstGeom>
          <a:solidFill>
            <a:srgbClr val="1E3A6E"/>
          </a:solidFill>
          <a:ln/>
        </p:spPr>
      </p:sp>
      <p:sp>
        <p:nvSpPr>
          <p:cNvPr id="74" name="Shape 65"/>
          <p:cNvSpPr/>
          <p:nvPr/>
        </p:nvSpPr>
        <p:spPr>
          <a:xfrm>
            <a:off x="3163824" y="2368296"/>
            <a:ext cx="201168" cy="201168"/>
          </a:xfrm>
          <a:prstGeom prst="ellipse">
            <a:avLst/>
          </a:prstGeom>
          <a:solidFill>
            <a:srgbClr val="1E3A6E"/>
          </a:solidFill>
          <a:ln/>
        </p:spPr>
      </p:sp>
      <p:sp>
        <p:nvSpPr>
          <p:cNvPr id="75" name="Shape 66"/>
          <p:cNvSpPr/>
          <p:nvPr/>
        </p:nvSpPr>
        <p:spPr>
          <a:xfrm>
            <a:off x="3456432" y="2368296"/>
            <a:ext cx="201168" cy="201168"/>
          </a:xfrm>
          <a:prstGeom prst="ellipse">
            <a:avLst/>
          </a:prstGeom>
          <a:solidFill>
            <a:srgbClr val="1E3A6E"/>
          </a:solidFill>
          <a:ln/>
        </p:spPr>
      </p:sp>
      <p:sp>
        <p:nvSpPr>
          <p:cNvPr id="76" name="Shape 67"/>
          <p:cNvSpPr/>
          <p:nvPr/>
        </p:nvSpPr>
        <p:spPr>
          <a:xfrm>
            <a:off x="3749040" y="2368296"/>
            <a:ext cx="201168" cy="201168"/>
          </a:xfrm>
          <a:prstGeom prst="ellipse">
            <a:avLst/>
          </a:prstGeom>
          <a:solidFill>
            <a:srgbClr val="1E3A6E"/>
          </a:solidFill>
          <a:ln/>
        </p:spPr>
      </p:sp>
      <p:sp>
        <p:nvSpPr>
          <p:cNvPr id="77" name="Shape 68"/>
          <p:cNvSpPr/>
          <p:nvPr/>
        </p:nvSpPr>
        <p:spPr>
          <a:xfrm>
            <a:off x="4041648" y="2368296"/>
            <a:ext cx="201168" cy="201168"/>
          </a:xfrm>
          <a:prstGeom prst="ellipse">
            <a:avLst/>
          </a:prstGeom>
          <a:solidFill>
            <a:srgbClr val="1E3A6E"/>
          </a:solidFill>
          <a:ln/>
        </p:spPr>
      </p:sp>
      <p:sp>
        <p:nvSpPr>
          <p:cNvPr id="78" name="Shape 69"/>
          <p:cNvSpPr/>
          <p:nvPr/>
        </p:nvSpPr>
        <p:spPr>
          <a:xfrm>
            <a:off x="4334256" y="2368296"/>
            <a:ext cx="201168" cy="201168"/>
          </a:xfrm>
          <a:prstGeom prst="ellipse">
            <a:avLst/>
          </a:prstGeom>
          <a:solidFill>
            <a:srgbClr val="1E3A6E"/>
          </a:solidFill>
          <a:ln/>
        </p:spPr>
      </p:sp>
      <p:sp>
        <p:nvSpPr>
          <p:cNvPr id="79" name="Shape 70"/>
          <p:cNvSpPr/>
          <p:nvPr/>
        </p:nvSpPr>
        <p:spPr>
          <a:xfrm>
            <a:off x="4626864" y="2368296"/>
            <a:ext cx="201168" cy="201168"/>
          </a:xfrm>
          <a:prstGeom prst="ellipse">
            <a:avLst/>
          </a:prstGeom>
          <a:solidFill>
            <a:srgbClr val="1E3A6E"/>
          </a:solidFill>
          <a:ln/>
        </p:spPr>
      </p:sp>
      <p:sp>
        <p:nvSpPr>
          <p:cNvPr id="80" name="Shape 71"/>
          <p:cNvSpPr/>
          <p:nvPr/>
        </p:nvSpPr>
        <p:spPr>
          <a:xfrm>
            <a:off x="4919472" y="2368296"/>
            <a:ext cx="201168" cy="201168"/>
          </a:xfrm>
          <a:prstGeom prst="ellipse">
            <a:avLst/>
          </a:prstGeom>
          <a:solidFill>
            <a:srgbClr val="1E3A6E"/>
          </a:solidFill>
          <a:ln/>
        </p:spPr>
      </p:sp>
      <p:sp>
        <p:nvSpPr>
          <p:cNvPr id="81" name="Shape 72"/>
          <p:cNvSpPr/>
          <p:nvPr/>
        </p:nvSpPr>
        <p:spPr>
          <a:xfrm>
            <a:off x="5212080" y="2368296"/>
            <a:ext cx="201168" cy="201168"/>
          </a:xfrm>
          <a:prstGeom prst="ellipse">
            <a:avLst/>
          </a:prstGeom>
          <a:solidFill>
            <a:srgbClr val="1E3A6E"/>
          </a:solidFill>
          <a:ln/>
        </p:spPr>
      </p:sp>
      <p:sp>
        <p:nvSpPr>
          <p:cNvPr id="82" name="Shape 73"/>
          <p:cNvSpPr/>
          <p:nvPr/>
        </p:nvSpPr>
        <p:spPr>
          <a:xfrm>
            <a:off x="5504688" y="2368296"/>
            <a:ext cx="201168" cy="201168"/>
          </a:xfrm>
          <a:prstGeom prst="ellipse">
            <a:avLst/>
          </a:prstGeom>
          <a:solidFill>
            <a:srgbClr val="1E3A6E"/>
          </a:solidFill>
          <a:ln/>
        </p:spPr>
      </p:sp>
      <p:sp>
        <p:nvSpPr>
          <p:cNvPr id="83" name="Shape 74"/>
          <p:cNvSpPr/>
          <p:nvPr/>
        </p:nvSpPr>
        <p:spPr>
          <a:xfrm>
            <a:off x="5797296" y="2368296"/>
            <a:ext cx="201168" cy="201168"/>
          </a:xfrm>
          <a:prstGeom prst="ellipse">
            <a:avLst/>
          </a:prstGeom>
          <a:solidFill>
            <a:srgbClr val="1E3A6E"/>
          </a:solidFill>
          <a:ln/>
        </p:spPr>
      </p:sp>
      <p:sp>
        <p:nvSpPr>
          <p:cNvPr id="84" name="Shape 75"/>
          <p:cNvSpPr/>
          <p:nvPr/>
        </p:nvSpPr>
        <p:spPr>
          <a:xfrm>
            <a:off x="6089904" y="2368296"/>
            <a:ext cx="201168" cy="201168"/>
          </a:xfrm>
          <a:prstGeom prst="ellipse">
            <a:avLst/>
          </a:prstGeom>
          <a:solidFill>
            <a:srgbClr val="1E3A6E"/>
          </a:solidFill>
          <a:ln/>
        </p:spPr>
      </p:sp>
      <p:sp>
        <p:nvSpPr>
          <p:cNvPr id="85" name="Shape 76"/>
          <p:cNvSpPr/>
          <p:nvPr/>
        </p:nvSpPr>
        <p:spPr>
          <a:xfrm>
            <a:off x="822960" y="2660904"/>
            <a:ext cx="201168" cy="201168"/>
          </a:xfrm>
          <a:prstGeom prst="ellipse">
            <a:avLst/>
          </a:prstGeom>
          <a:solidFill>
            <a:srgbClr val="1E3A6E"/>
          </a:solidFill>
          <a:ln/>
        </p:spPr>
      </p:sp>
      <p:sp>
        <p:nvSpPr>
          <p:cNvPr id="86" name="Shape 77"/>
          <p:cNvSpPr/>
          <p:nvPr/>
        </p:nvSpPr>
        <p:spPr>
          <a:xfrm>
            <a:off x="1115568" y="2660904"/>
            <a:ext cx="201168" cy="201168"/>
          </a:xfrm>
          <a:prstGeom prst="ellipse">
            <a:avLst/>
          </a:prstGeom>
          <a:solidFill>
            <a:srgbClr val="1E3A6E"/>
          </a:solidFill>
          <a:ln/>
        </p:spPr>
      </p:sp>
      <p:sp>
        <p:nvSpPr>
          <p:cNvPr id="87" name="Shape 78"/>
          <p:cNvSpPr/>
          <p:nvPr/>
        </p:nvSpPr>
        <p:spPr>
          <a:xfrm>
            <a:off x="1408176" y="2660904"/>
            <a:ext cx="201168" cy="201168"/>
          </a:xfrm>
          <a:prstGeom prst="ellipse">
            <a:avLst/>
          </a:prstGeom>
          <a:solidFill>
            <a:srgbClr val="1E3A6E"/>
          </a:solidFill>
          <a:ln/>
        </p:spPr>
      </p:sp>
      <p:sp>
        <p:nvSpPr>
          <p:cNvPr id="88" name="Shape 79"/>
          <p:cNvSpPr/>
          <p:nvPr/>
        </p:nvSpPr>
        <p:spPr>
          <a:xfrm>
            <a:off x="1700784" y="2660904"/>
            <a:ext cx="201168" cy="201168"/>
          </a:xfrm>
          <a:prstGeom prst="ellipse">
            <a:avLst/>
          </a:prstGeom>
          <a:solidFill>
            <a:srgbClr val="1E3A6E"/>
          </a:solidFill>
          <a:ln/>
        </p:spPr>
      </p:sp>
      <p:sp>
        <p:nvSpPr>
          <p:cNvPr id="89" name="Shape 80"/>
          <p:cNvSpPr/>
          <p:nvPr/>
        </p:nvSpPr>
        <p:spPr>
          <a:xfrm>
            <a:off x="1993392" y="2660904"/>
            <a:ext cx="201168" cy="201168"/>
          </a:xfrm>
          <a:prstGeom prst="ellipse">
            <a:avLst/>
          </a:prstGeom>
          <a:solidFill>
            <a:srgbClr val="1E3A6E"/>
          </a:solidFill>
          <a:ln/>
        </p:spPr>
      </p:sp>
      <p:sp>
        <p:nvSpPr>
          <p:cNvPr id="90" name="Shape 81"/>
          <p:cNvSpPr/>
          <p:nvPr/>
        </p:nvSpPr>
        <p:spPr>
          <a:xfrm>
            <a:off x="2286000" y="2660904"/>
            <a:ext cx="201168" cy="201168"/>
          </a:xfrm>
          <a:prstGeom prst="ellipse">
            <a:avLst/>
          </a:prstGeom>
          <a:solidFill>
            <a:srgbClr val="1E3A6E"/>
          </a:solidFill>
          <a:ln/>
        </p:spPr>
      </p:sp>
      <p:sp>
        <p:nvSpPr>
          <p:cNvPr id="91" name="Shape 82"/>
          <p:cNvSpPr/>
          <p:nvPr/>
        </p:nvSpPr>
        <p:spPr>
          <a:xfrm>
            <a:off x="2578608" y="2660904"/>
            <a:ext cx="201168" cy="201168"/>
          </a:xfrm>
          <a:prstGeom prst="ellipse">
            <a:avLst/>
          </a:prstGeom>
          <a:solidFill>
            <a:srgbClr val="1E3A6E"/>
          </a:solidFill>
          <a:ln/>
        </p:spPr>
      </p:sp>
      <p:sp>
        <p:nvSpPr>
          <p:cNvPr id="92" name="Shape 83"/>
          <p:cNvSpPr/>
          <p:nvPr/>
        </p:nvSpPr>
        <p:spPr>
          <a:xfrm>
            <a:off x="2871216" y="2660904"/>
            <a:ext cx="201168" cy="201168"/>
          </a:xfrm>
          <a:prstGeom prst="ellipse">
            <a:avLst/>
          </a:prstGeom>
          <a:solidFill>
            <a:srgbClr val="1E3A6E"/>
          </a:solidFill>
          <a:ln/>
        </p:spPr>
      </p:sp>
      <p:sp>
        <p:nvSpPr>
          <p:cNvPr id="93" name="Shape 84"/>
          <p:cNvSpPr/>
          <p:nvPr/>
        </p:nvSpPr>
        <p:spPr>
          <a:xfrm>
            <a:off x="3163824" y="2660904"/>
            <a:ext cx="201168" cy="201168"/>
          </a:xfrm>
          <a:prstGeom prst="ellipse">
            <a:avLst/>
          </a:prstGeom>
          <a:solidFill>
            <a:srgbClr val="1E3A6E"/>
          </a:solidFill>
          <a:ln/>
        </p:spPr>
      </p:sp>
      <p:sp>
        <p:nvSpPr>
          <p:cNvPr id="94" name="Shape 85"/>
          <p:cNvSpPr/>
          <p:nvPr/>
        </p:nvSpPr>
        <p:spPr>
          <a:xfrm>
            <a:off x="3456432" y="2660904"/>
            <a:ext cx="201168" cy="201168"/>
          </a:xfrm>
          <a:prstGeom prst="ellipse">
            <a:avLst/>
          </a:prstGeom>
          <a:solidFill>
            <a:srgbClr val="1E3A6E"/>
          </a:solidFill>
          <a:ln/>
        </p:spPr>
      </p:sp>
      <p:sp>
        <p:nvSpPr>
          <p:cNvPr id="95" name="Shape 86"/>
          <p:cNvSpPr/>
          <p:nvPr/>
        </p:nvSpPr>
        <p:spPr>
          <a:xfrm>
            <a:off x="3749040" y="2660904"/>
            <a:ext cx="201168" cy="201168"/>
          </a:xfrm>
          <a:prstGeom prst="ellipse">
            <a:avLst/>
          </a:prstGeom>
          <a:solidFill>
            <a:srgbClr val="1E3A6E"/>
          </a:solidFill>
          <a:ln/>
        </p:spPr>
      </p:sp>
      <p:sp>
        <p:nvSpPr>
          <p:cNvPr id="96" name="Shape 87"/>
          <p:cNvSpPr/>
          <p:nvPr/>
        </p:nvSpPr>
        <p:spPr>
          <a:xfrm>
            <a:off x="4041648" y="2660904"/>
            <a:ext cx="201168" cy="201168"/>
          </a:xfrm>
          <a:prstGeom prst="ellipse">
            <a:avLst/>
          </a:prstGeom>
          <a:solidFill>
            <a:srgbClr val="1E3A6E"/>
          </a:solidFill>
          <a:ln/>
        </p:spPr>
      </p:sp>
      <p:sp>
        <p:nvSpPr>
          <p:cNvPr id="97" name="Shape 88"/>
          <p:cNvSpPr/>
          <p:nvPr/>
        </p:nvSpPr>
        <p:spPr>
          <a:xfrm>
            <a:off x="4334256" y="2660904"/>
            <a:ext cx="201168" cy="201168"/>
          </a:xfrm>
          <a:prstGeom prst="ellipse">
            <a:avLst/>
          </a:prstGeom>
          <a:solidFill>
            <a:srgbClr val="1E3A6E"/>
          </a:solidFill>
          <a:ln/>
        </p:spPr>
      </p:sp>
      <p:sp>
        <p:nvSpPr>
          <p:cNvPr id="98" name="Shape 89"/>
          <p:cNvSpPr/>
          <p:nvPr/>
        </p:nvSpPr>
        <p:spPr>
          <a:xfrm>
            <a:off x="4626864" y="2660904"/>
            <a:ext cx="201168" cy="201168"/>
          </a:xfrm>
          <a:prstGeom prst="ellipse">
            <a:avLst/>
          </a:prstGeom>
          <a:solidFill>
            <a:srgbClr val="1E3A6E"/>
          </a:solidFill>
          <a:ln/>
        </p:spPr>
      </p:sp>
      <p:sp>
        <p:nvSpPr>
          <p:cNvPr id="99" name="Shape 90"/>
          <p:cNvSpPr/>
          <p:nvPr/>
        </p:nvSpPr>
        <p:spPr>
          <a:xfrm>
            <a:off x="4919472" y="2660904"/>
            <a:ext cx="201168" cy="201168"/>
          </a:xfrm>
          <a:prstGeom prst="ellipse">
            <a:avLst/>
          </a:prstGeom>
          <a:solidFill>
            <a:srgbClr val="1E3A6E"/>
          </a:solidFill>
          <a:ln/>
        </p:spPr>
      </p:sp>
      <p:sp>
        <p:nvSpPr>
          <p:cNvPr id="100" name="Shape 91"/>
          <p:cNvSpPr/>
          <p:nvPr/>
        </p:nvSpPr>
        <p:spPr>
          <a:xfrm>
            <a:off x="5212080" y="2660904"/>
            <a:ext cx="201168" cy="201168"/>
          </a:xfrm>
          <a:prstGeom prst="ellipse">
            <a:avLst/>
          </a:prstGeom>
          <a:solidFill>
            <a:srgbClr val="1E3A6E"/>
          </a:solidFill>
          <a:ln/>
        </p:spPr>
      </p:sp>
      <p:sp>
        <p:nvSpPr>
          <p:cNvPr id="101" name="Shape 92"/>
          <p:cNvSpPr/>
          <p:nvPr/>
        </p:nvSpPr>
        <p:spPr>
          <a:xfrm>
            <a:off x="5504688" y="2660904"/>
            <a:ext cx="201168" cy="201168"/>
          </a:xfrm>
          <a:prstGeom prst="ellipse">
            <a:avLst/>
          </a:prstGeom>
          <a:solidFill>
            <a:srgbClr val="1E3A6E"/>
          </a:solidFill>
          <a:ln/>
        </p:spPr>
      </p:sp>
      <p:sp>
        <p:nvSpPr>
          <p:cNvPr id="102" name="Shape 93"/>
          <p:cNvSpPr/>
          <p:nvPr/>
        </p:nvSpPr>
        <p:spPr>
          <a:xfrm>
            <a:off x="5797296" y="2660904"/>
            <a:ext cx="201168" cy="201168"/>
          </a:xfrm>
          <a:prstGeom prst="ellipse">
            <a:avLst/>
          </a:prstGeom>
          <a:solidFill>
            <a:srgbClr val="1E3A6E"/>
          </a:solidFill>
          <a:ln/>
        </p:spPr>
      </p:sp>
      <p:sp>
        <p:nvSpPr>
          <p:cNvPr id="103" name="Shape 94"/>
          <p:cNvSpPr/>
          <p:nvPr/>
        </p:nvSpPr>
        <p:spPr>
          <a:xfrm>
            <a:off x="6089904" y="2660904"/>
            <a:ext cx="201168" cy="201168"/>
          </a:xfrm>
          <a:prstGeom prst="ellipse">
            <a:avLst/>
          </a:prstGeom>
          <a:solidFill>
            <a:srgbClr val="1E3A6E"/>
          </a:solidFill>
          <a:ln/>
        </p:spPr>
      </p:sp>
      <p:sp>
        <p:nvSpPr>
          <p:cNvPr id="104" name="Shape 95"/>
          <p:cNvSpPr/>
          <p:nvPr/>
        </p:nvSpPr>
        <p:spPr>
          <a:xfrm>
            <a:off x="822960" y="2953512"/>
            <a:ext cx="201168" cy="201168"/>
          </a:xfrm>
          <a:prstGeom prst="ellipse">
            <a:avLst/>
          </a:prstGeom>
          <a:solidFill>
            <a:srgbClr val="1E3A6E"/>
          </a:solidFill>
          <a:ln/>
        </p:spPr>
      </p:sp>
      <p:sp>
        <p:nvSpPr>
          <p:cNvPr id="105" name="Shape 96"/>
          <p:cNvSpPr/>
          <p:nvPr/>
        </p:nvSpPr>
        <p:spPr>
          <a:xfrm>
            <a:off x="1115568" y="2953512"/>
            <a:ext cx="201168" cy="201168"/>
          </a:xfrm>
          <a:prstGeom prst="ellipse">
            <a:avLst/>
          </a:prstGeom>
          <a:solidFill>
            <a:srgbClr val="1E3A6E"/>
          </a:solidFill>
          <a:ln/>
        </p:spPr>
      </p:sp>
      <p:sp>
        <p:nvSpPr>
          <p:cNvPr id="106" name="Shape 97"/>
          <p:cNvSpPr/>
          <p:nvPr/>
        </p:nvSpPr>
        <p:spPr>
          <a:xfrm>
            <a:off x="1408176" y="2953512"/>
            <a:ext cx="201168" cy="201168"/>
          </a:xfrm>
          <a:prstGeom prst="ellipse">
            <a:avLst/>
          </a:prstGeom>
          <a:solidFill>
            <a:srgbClr val="1E3A6E"/>
          </a:solidFill>
          <a:ln/>
        </p:spPr>
      </p:sp>
      <p:sp>
        <p:nvSpPr>
          <p:cNvPr id="107" name="Shape 98"/>
          <p:cNvSpPr/>
          <p:nvPr/>
        </p:nvSpPr>
        <p:spPr>
          <a:xfrm>
            <a:off x="1700784" y="2953512"/>
            <a:ext cx="201168" cy="201168"/>
          </a:xfrm>
          <a:prstGeom prst="ellipse">
            <a:avLst/>
          </a:prstGeom>
          <a:solidFill>
            <a:srgbClr val="1E3A6E"/>
          </a:solidFill>
          <a:ln/>
        </p:spPr>
      </p:sp>
      <p:sp>
        <p:nvSpPr>
          <p:cNvPr id="108" name="Shape 99"/>
          <p:cNvSpPr/>
          <p:nvPr/>
        </p:nvSpPr>
        <p:spPr>
          <a:xfrm>
            <a:off x="1993392" y="2953512"/>
            <a:ext cx="201168" cy="201168"/>
          </a:xfrm>
          <a:prstGeom prst="ellipse">
            <a:avLst/>
          </a:prstGeom>
          <a:solidFill>
            <a:srgbClr val="1E3A6E"/>
          </a:solidFill>
          <a:ln/>
        </p:spPr>
      </p:sp>
      <p:sp>
        <p:nvSpPr>
          <p:cNvPr id="109" name="Shape 100"/>
          <p:cNvSpPr/>
          <p:nvPr/>
        </p:nvSpPr>
        <p:spPr>
          <a:xfrm>
            <a:off x="2286000" y="2953512"/>
            <a:ext cx="201168" cy="201168"/>
          </a:xfrm>
          <a:prstGeom prst="ellipse">
            <a:avLst/>
          </a:prstGeom>
          <a:solidFill>
            <a:srgbClr val="1E3A6E"/>
          </a:solidFill>
          <a:ln/>
        </p:spPr>
      </p:sp>
      <p:sp>
        <p:nvSpPr>
          <p:cNvPr id="110" name="Shape 101"/>
          <p:cNvSpPr/>
          <p:nvPr/>
        </p:nvSpPr>
        <p:spPr>
          <a:xfrm>
            <a:off x="2578608" y="2953512"/>
            <a:ext cx="201168" cy="201168"/>
          </a:xfrm>
          <a:prstGeom prst="ellipse">
            <a:avLst/>
          </a:prstGeom>
          <a:solidFill>
            <a:srgbClr val="1E3A6E"/>
          </a:solidFill>
          <a:ln/>
        </p:spPr>
      </p:sp>
      <p:sp>
        <p:nvSpPr>
          <p:cNvPr id="111" name="Shape 102"/>
          <p:cNvSpPr/>
          <p:nvPr/>
        </p:nvSpPr>
        <p:spPr>
          <a:xfrm>
            <a:off x="2871216" y="2953512"/>
            <a:ext cx="201168" cy="201168"/>
          </a:xfrm>
          <a:prstGeom prst="ellipse">
            <a:avLst/>
          </a:prstGeom>
          <a:solidFill>
            <a:srgbClr val="1E3A6E"/>
          </a:solidFill>
          <a:ln/>
        </p:spPr>
      </p:sp>
      <p:sp>
        <p:nvSpPr>
          <p:cNvPr id="112" name="Shape 103"/>
          <p:cNvSpPr/>
          <p:nvPr/>
        </p:nvSpPr>
        <p:spPr>
          <a:xfrm>
            <a:off x="3163824" y="2953512"/>
            <a:ext cx="201168" cy="201168"/>
          </a:xfrm>
          <a:prstGeom prst="ellipse">
            <a:avLst/>
          </a:prstGeom>
          <a:solidFill>
            <a:srgbClr val="1E3A6E"/>
          </a:solidFill>
          <a:ln/>
        </p:spPr>
      </p:sp>
      <p:sp>
        <p:nvSpPr>
          <p:cNvPr id="113" name="Shape 104"/>
          <p:cNvSpPr/>
          <p:nvPr/>
        </p:nvSpPr>
        <p:spPr>
          <a:xfrm>
            <a:off x="3456432" y="2953512"/>
            <a:ext cx="201168" cy="201168"/>
          </a:xfrm>
          <a:prstGeom prst="ellipse">
            <a:avLst/>
          </a:prstGeom>
          <a:solidFill>
            <a:srgbClr val="1E3A6E"/>
          </a:solidFill>
          <a:ln/>
        </p:spPr>
      </p:sp>
      <p:sp>
        <p:nvSpPr>
          <p:cNvPr id="114" name="Shape 105"/>
          <p:cNvSpPr/>
          <p:nvPr/>
        </p:nvSpPr>
        <p:spPr>
          <a:xfrm>
            <a:off x="3749040" y="2953512"/>
            <a:ext cx="201168" cy="201168"/>
          </a:xfrm>
          <a:prstGeom prst="ellipse">
            <a:avLst/>
          </a:prstGeom>
          <a:solidFill>
            <a:srgbClr val="1E3A6E"/>
          </a:solidFill>
          <a:ln/>
        </p:spPr>
      </p:sp>
      <p:sp>
        <p:nvSpPr>
          <p:cNvPr id="115" name="Shape 106"/>
          <p:cNvSpPr/>
          <p:nvPr/>
        </p:nvSpPr>
        <p:spPr>
          <a:xfrm>
            <a:off x="4041648" y="2953512"/>
            <a:ext cx="201168" cy="201168"/>
          </a:xfrm>
          <a:prstGeom prst="ellipse">
            <a:avLst/>
          </a:prstGeom>
          <a:solidFill>
            <a:srgbClr val="1E3A6E"/>
          </a:solidFill>
          <a:ln/>
        </p:spPr>
      </p:sp>
      <p:sp>
        <p:nvSpPr>
          <p:cNvPr id="116" name="Shape 107"/>
          <p:cNvSpPr/>
          <p:nvPr/>
        </p:nvSpPr>
        <p:spPr>
          <a:xfrm>
            <a:off x="4334256" y="2953512"/>
            <a:ext cx="201168" cy="201168"/>
          </a:xfrm>
          <a:prstGeom prst="ellipse">
            <a:avLst/>
          </a:prstGeom>
          <a:solidFill>
            <a:srgbClr val="1E3A6E"/>
          </a:solidFill>
          <a:ln/>
        </p:spPr>
      </p:sp>
      <p:sp>
        <p:nvSpPr>
          <p:cNvPr id="117" name="Shape 108"/>
          <p:cNvSpPr/>
          <p:nvPr/>
        </p:nvSpPr>
        <p:spPr>
          <a:xfrm>
            <a:off x="4626864" y="2953512"/>
            <a:ext cx="201168" cy="201168"/>
          </a:xfrm>
          <a:prstGeom prst="ellipse">
            <a:avLst/>
          </a:prstGeom>
          <a:solidFill>
            <a:srgbClr val="3776AB"/>
          </a:solidFill>
          <a:ln/>
        </p:spPr>
      </p:sp>
      <p:sp>
        <p:nvSpPr>
          <p:cNvPr id="118" name="Shape 109"/>
          <p:cNvSpPr/>
          <p:nvPr/>
        </p:nvSpPr>
        <p:spPr>
          <a:xfrm>
            <a:off x="4919472" y="2953512"/>
            <a:ext cx="201168" cy="201168"/>
          </a:xfrm>
          <a:prstGeom prst="ellipse">
            <a:avLst/>
          </a:prstGeom>
          <a:solidFill>
            <a:srgbClr val="3776AB"/>
          </a:solidFill>
          <a:ln/>
        </p:spPr>
      </p:sp>
      <p:sp>
        <p:nvSpPr>
          <p:cNvPr id="119" name="Shape 110"/>
          <p:cNvSpPr/>
          <p:nvPr/>
        </p:nvSpPr>
        <p:spPr>
          <a:xfrm>
            <a:off x="5212080" y="2953512"/>
            <a:ext cx="201168" cy="201168"/>
          </a:xfrm>
          <a:prstGeom prst="ellipse">
            <a:avLst/>
          </a:prstGeom>
          <a:solidFill>
            <a:srgbClr val="3776AB"/>
          </a:solidFill>
          <a:ln/>
        </p:spPr>
      </p:sp>
      <p:sp>
        <p:nvSpPr>
          <p:cNvPr id="120" name="Shape 111"/>
          <p:cNvSpPr/>
          <p:nvPr/>
        </p:nvSpPr>
        <p:spPr>
          <a:xfrm>
            <a:off x="5504688" y="2953512"/>
            <a:ext cx="201168" cy="201168"/>
          </a:xfrm>
          <a:prstGeom prst="ellipse">
            <a:avLst/>
          </a:prstGeom>
          <a:solidFill>
            <a:srgbClr val="3776AB"/>
          </a:solidFill>
          <a:ln/>
        </p:spPr>
      </p:sp>
      <p:sp>
        <p:nvSpPr>
          <p:cNvPr id="121" name="Shape 112"/>
          <p:cNvSpPr/>
          <p:nvPr/>
        </p:nvSpPr>
        <p:spPr>
          <a:xfrm>
            <a:off x="5797296" y="2953512"/>
            <a:ext cx="201168" cy="201168"/>
          </a:xfrm>
          <a:prstGeom prst="ellipse">
            <a:avLst/>
          </a:prstGeom>
          <a:solidFill>
            <a:srgbClr val="3776AB"/>
          </a:solidFill>
          <a:ln/>
        </p:spPr>
      </p:sp>
      <p:sp>
        <p:nvSpPr>
          <p:cNvPr id="122" name="Shape 113"/>
          <p:cNvSpPr/>
          <p:nvPr/>
        </p:nvSpPr>
        <p:spPr>
          <a:xfrm>
            <a:off x="6089904" y="2953512"/>
            <a:ext cx="201168" cy="201168"/>
          </a:xfrm>
          <a:prstGeom prst="ellipse">
            <a:avLst/>
          </a:prstGeom>
          <a:solidFill>
            <a:srgbClr val="3776AB"/>
          </a:solidFill>
          <a:ln/>
        </p:spPr>
      </p:sp>
      <p:sp>
        <p:nvSpPr>
          <p:cNvPr id="123" name="Shape 114"/>
          <p:cNvSpPr/>
          <p:nvPr/>
        </p:nvSpPr>
        <p:spPr>
          <a:xfrm>
            <a:off x="822960" y="3246120"/>
            <a:ext cx="201168" cy="201168"/>
          </a:xfrm>
          <a:prstGeom prst="ellipse">
            <a:avLst/>
          </a:prstGeom>
          <a:solidFill>
            <a:srgbClr val="3776AB"/>
          </a:solidFill>
          <a:ln/>
        </p:spPr>
      </p:sp>
      <p:sp>
        <p:nvSpPr>
          <p:cNvPr id="124" name="Shape 115"/>
          <p:cNvSpPr/>
          <p:nvPr/>
        </p:nvSpPr>
        <p:spPr>
          <a:xfrm>
            <a:off x="1115568" y="3246120"/>
            <a:ext cx="201168" cy="201168"/>
          </a:xfrm>
          <a:prstGeom prst="ellipse">
            <a:avLst/>
          </a:prstGeom>
          <a:solidFill>
            <a:srgbClr val="3776AB"/>
          </a:solidFill>
          <a:ln/>
        </p:spPr>
      </p:sp>
      <p:sp>
        <p:nvSpPr>
          <p:cNvPr id="125" name="Shape 116"/>
          <p:cNvSpPr/>
          <p:nvPr/>
        </p:nvSpPr>
        <p:spPr>
          <a:xfrm>
            <a:off x="1408176" y="3246120"/>
            <a:ext cx="201168" cy="201168"/>
          </a:xfrm>
          <a:prstGeom prst="ellipse">
            <a:avLst/>
          </a:prstGeom>
          <a:solidFill>
            <a:srgbClr val="3776AB"/>
          </a:solidFill>
          <a:ln/>
        </p:spPr>
      </p:sp>
      <p:sp>
        <p:nvSpPr>
          <p:cNvPr id="126" name="Shape 117"/>
          <p:cNvSpPr/>
          <p:nvPr/>
        </p:nvSpPr>
        <p:spPr>
          <a:xfrm>
            <a:off x="1700784" y="3246120"/>
            <a:ext cx="201168" cy="201168"/>
          </a:xfrm>
          <a:prstGeom prst="ellipse">
            <a:avLst/>
          </a:prstGeom>
          <a:solidFill>
            <a:srgbClr val="3776AB"/>
          </a:solidFill>
          <a:ln/>
        </p:spPr>
      </p:sp>
      <p:sp>
        <p:nvSpPr>
          <p:cNvPr id="127" name="Shape 118"/>
          <p:cNvSpPr/>
          <p:nvPr/>
        </p:nvSpPr>
        <p:spPr>
          <a:xfrm>
            <a:off x="1993392" y="3246120"/>
            <a:ext cx="201168" cy="201168"/>
          </a:xfrm>
          <a:prstGeom prst="ellipse">
            <a:avLst/>
          </a:prstGeom>
          <a:solidFill>
            <a:srgbClr val="3776AB"/>
          </a:solidFill>
          <a:ln/>
        </p:spPr>
      </p:sp>
      <p:sp>
        <p:nvSpPr>
          <p:cNvPr id="128" name="Shape 119"/>
          <p:cNvSpPr/>
          <p:nvPr/>
        </p:nvSpPr>
        <p:spPr>
          <a:xfrm>
            <a:off x="2286000" y="3246120"/>
            <a:ext cx="201168" cy="201168"/>
          </a:xfrm>
          <a:prstGeom prst="ellipse">
            <a:avLst/>
          </a:prstGeom>
          <a:solidFill>
            <a:srgbClr val="3776AB"/>
          </a:solidFill>
          <a:ln/>
        </p:spPr>
      </p:sp>
      <p:sp>
        <p:nvSpPr>
          <p:cNvPr id="129" name="Shape 120"/>
          <p:cNvSpPr/>
          <p:nvPr/>
        </p:nvSpPr>
        <p:spPr>
          <a:xfrm>
            <a:off x="2578608" y="3246120"/>
            <a:ext cx="201168" cy="201168"/>
          </a:xfrm>
          <a:prstGeom prst="ellipse">
            <a:avLst/>
          </a:prstGeom>
          <a:solidFill>
            <a:srgbClr val="3776AB"/>
          </a:solidFill>
          <a:ln/>
        </p:spPr>
      </p:sp>
      <p:sp>
        <p:nvSpPr>
          <p:cNvPr id="130" name="Shape 121"/>
          <p:cNvSpPr/>
          <p:nvPr/>
        </p:nvSpPr>
        <p:spPr>
          <a:xfrm>
            <a:off x="2871216" y="3246120"/>
            <a:ext cx="201168" cy="201168"/>
          </a:xfrm>
          <a:prstGeom prst="ellipse">
            <a:avLst/>
          </a:prstGeom>
          <a:solidFill>
            <a:srgbClr val="3776AB"/>
          </a:solidFill>
          <a:ln/>
        </p:spPr>
      </p:sp>
      <p:sp>
        <p:nvSpPr>
          <p:cNvPr id="131" name="Shape 122"/>
          <p:cNvSpPr/>
          <p:nvPr/>
        </p:nvSpPr>
        <p:spPr>
          <a:xfrm>
            <a:off x="3163824" y="3246120"/>
            <a:ext cx="201168" cy="201168"/>
          </a:xfrm>
          <a:prstGeom prst="ellipse">
            <a:avLst/>
          </a:prstGeom>
          <a:solidFill>
            <a:srgbClr val="3776AB"/>
          </a:solidFill>
          <a:ln/>
        </p:spPr>
      </p:sp>
      <p:sp>
        <p:nvSpPr>
          <p:cNvPr id="132" name="Shape 123"/>
          <p:cNvSpPr/>
          <p:nvPr/>
        </p:nvSpPr>
        <p:spPr>
          <a:xfrm>
            <a:off x="3456432" y="3246120"/>
            <a:ext cx="201168" cy="201168"/>
          </a:xfrm>
          <a:prstGeom prst="ellipse">
            <a:avLst/>
          </a:prstGeom>
          <a:solidFill>
            <a:srgbClr val="3776AB"/>
          </a:solidFill>
          <a:ln/>
        </p:spPr>
      </p:sp>
      <p:sp>
        <p:nvSpPr>
          <p:cNvPr id="133" name="Shape 124"/>
          <p:cNvSpPr/>
          <p:nvPr/>
        </p:nvSpPr>
        <p:spPr>
          <a:xfrm>
            <a:off x="3749040" y="3246120"/>
            <a:ext cx="201168" cy="201168"/>
          </a:xfrm>
          <a:prstGeom prst="ellipse">
            <a:avLst/>
          </a:prstGeom>
          <a:solidFill>
            <a:srgbClr val="3776AB"/>
          </a:solidFill>
          <a:ln/>
        </p:spPr>
      </p:sp>
      <p:sp>
        <p:nvSpPr>
          <p:cNvPr id="134" name="Shape 125"/>
          <p:cNvSpPr/>
          <p:nvPr/>
        </p:nvSpPr>
        <p:spPr>
          <a:xfrm>
            <a:off x="4041648" y="3246120"/>
            <a:ext cx="201168" cy="201168"/>
          </a:xfrm>
          <a:prstGeom prst="ellipse">
            <a:avLst/>
          </a:prstGeom>
          <a:solidFill>
            <a:srgbClr val="3776AB"/>
          </a:solidFill>
          <a:ln/>
        </p:spPr>
      </p:sp>
      <p:sp>
        <p:nvSpPr>
          <p:cNvPr id="135" name="Shape 126"/>
          <p:cNvSpPr/>
          <p:nvPr/>
        </p:nvSpPr>
        <p:spPr>
          <a:xfrm>
            <a:off x="4334256" y="3246120"/>
            <a:ext cx="201168" cy="201168"/>
          </a:xfrm>
          <a:prstGeom prst="ellipse">
            <a:avLst/>
          </a:prstGeom>
          <a:solidFill>
            <a:srgbClr val="3776AB"/>
          </a:solidFill>
          <a:ln/>
        </p:spPr>
      </p:sp>
      <p:sp>
        <p:nvSpPr>
          <p:cNvPr id="136" name="Shape 127"/>
          <p:cNvSpPr/>
          <p:nvPr/>
        </p:nvSpPr>
        <p:spPr>
          <a:xfrm>
            <a:off x="4626864" y="3246120"/>
            <a:ext cx="201168" cy="201168"/>
          </a:xfrm>
          <a:prstGeom prst="ellipse">
            <a:avLst/>
          </a:prstGeom>
          <a:solidFill>
            <a:srgbClr val="3776AB"/>
          </a:solidFill>
          <a:ln/>
        </p:spPr>
      </p:sp>
      <p:sp>
        <p:nvSpPr>
          <p:cNvPr id="137" name="Shape 128"/>
          <p:cNvSpPr/>
          <p:nvPr/>
        </p:nvSpPr>
        <p:spPr>
          <a:xfrm>
            <a:off x="4919472" y="3246120"/>
            <a:ext cx="201168" cy="201168"/>
          </a:xfrm>
          <a:prstGeom prst="ellipse">
            <a:avLst/>
          </a:prstGeom>
          <a:solidFill>
            <a:srgbClr val="3776AB"/>
          </a:solidFill>
          <a:ln/>
        </p:spPr>
      </p:sp>
      <p:sp>
        <p:nvSpPr>
          <p:cNvPr id="138" name="Shape 129"/>
          <p:cNvSpPr/>
          <p:nvPr/>
        </p:nvSpPr>
        <p:spPr>
          <a:xfrm>
            <a:off x="5212080" y="3246120"/>
            <a:ext cx="201168" cy="201168"/>
          </a:xfrm>
          <a:prstGeom prst="ellipse">
            <a:avLst/>
          </a:prstGeom>
          <a:solidFill>
            <a:srgbClr val="3776AB"/>
          </a:solidFill>
          <a:ln/>
        </p:spPr>
      </p:sp>
      <p:sp>
        <p:nvSpPr>
          <p:cNvPr id="139" name="Shape 130"/>
          <p:cNvSpPr/>
          <p:nvPr/>
        </p:nvSpPr>
        <p:spPr>
          <a:xfrm>
            <a:off x="5504688" y="3246120"/>
            <a:ext cx="201168" cy="201168"/>
          </a:xfrm>
          <a:prstGeom prst="ellipse">
            <a:avLst/>
          </a:prstGeom>
          <a:solidFill>
            <a:srgbClr val="3776AB"/>
          </a:solidFill>
          <a:ln/>
        </p:spPr>
      </p:sp>
      <p:sp>
        <p:nvSpPr>
          <p:cNvPr id="140" name="Shape 131"/>
          <p:cNvSpPr/>
          <p:nvPr/>
        </p:nvSpPr>
        <p:spPr>
          <a:xfrm>
            <a:off x="5797296" y="3246120"/>
            <a:ext cx="201168" cy="201168"/>
          </a:xfrm>
          <a:prstGeom prst="ellipse">
            <a:avLst/>
          </a:prstGeom>
          <a:solidFill>
            <a:srgbClr val="3776AB"/>
          </a:solidFill>
          <a:ln/>
        </p:spPr>
      </p:sp>
      <p:sp>
        <p:nvSpPr>
          <p:cNvPr id="141" name="Shape 132"/>
          <p:cNvSpPr/>
          <p:nvPr/>
        </p:nvSpPr>
        <p:spPr>
          <a:xfrm>
            <a:off x="6089904" y="3246120"/>
            <a:ext cx="201168" cy="201168"/>
          </a:xfrm>
          <a:prstGeom prst="ellipse">
            <a:avLst/>
          </a:prstGeom>
          <a:solidFill>
            <a:srgbClr val="3776AB"/>
          </a:solidFill>
          <a:ln/>
        </p:spPr>
      </p:sp>
      <p:sp>
        <p:nvSpPr>
          <p:cNvPr id="142" name="Shape 133"/>
          <p:cNvSpPr/>
          <p:nvPr/>
        </p:nvSpPr>
        <p:spPr>
          <a:xfrm>
            <a:off x="822960" y="3538728"/>
            <a:ext cx="201168" cy="201168"/>
          </a:xfrm>
          <a:prstGeom prst="ellipse">
            <a:avLst/>
          </a:prstGeom>
          <a:solidFill>
            <a:srgbClr val="3776AB"/>
          </a:solidFill>
          <a:ln/>
        </p:spPr>
      </p:sp>
      <p:sp>
        <p:nvSpPr>
          <p:cNvPr id="143" name="Shape 134"/>
          <p:cNvSpPr/>
          <p:nvPr/>
        </p:nvSpPr>
        <p:spPr>
          <a:xfrm>
            <a:off x="1115568" y="3538728"/>
            <a:ext cx="201168" cy="201168"/>
          </a:xfrm>
          <a:prstGeom prst="ellipse">
            <a:avLst/>
          </a:prstGeom>
          <a:solidFill>
            <a:srgbClr val="3776AB"/>
          </a:solidFill>
          <a:ln/>
        </p:spPr>
      </p:sp>
      <p:sp>
        <p:nvSpPr>
          <p:cNvPr id="144" name="Shape 135"/>
          <p:cNvSpPr/>
          <p:nvPr/>
        </p:nvSpPr>
        <p:spPr>
          <a:xfrm>
            <a:off x="1408176" y="3538728"/>
            <a:ext cx="201168" cy="201168"/>
          </a:xfrm>
          <a:prstGeom prst="ellipse">
            <a:avLst/>
          </a:prstGeom>
          <a:solidFill>
            <a:srgbClr val="3776AB"/>
          </a:solidFill>
          <a:ln/>
        </p:spPr>
      </p:sp>
      <p:sp>
        <p:nvSpPr>
          <p:cNvPr id="145" name="Shape 136"/>
          <p:cNvSpPr/>
          <p:nvPr/>
        </p:nvSpPr>
        <p:spPr>
          <a:xfrm>
            <a:off x="1700784" y="3538728"/>
            <a:ext cx="201168" cy="201168"/>
          </a:xfrm>
          <a:prstGeom prst="ellipse">
            <a:avLst/>
          </a:prstGeom>
          <a:solidFill>
            <a:srgbClr val="3776AB"/>
          </a:solidFill>
          <a:ln/>
        </p:spPr>
      </p:sp>
      <p:sp>
        <p:nvSpPr>
          <p:cNvPr id="146" name="Shape 137"/>
          <p:cNvSpPr/>
          <p:nvPr/>
        </p:nvSpPr>
        <p:spPr>
          <a:xfrm>
            <a:off x="1993392" y="3538728"/>
            <a:ext cx="201168" cy="201168"/>
          </a:xfrm>
          <a:prstGeom prst="ellipse">
            <a:avLst/>
          </a:prstGeom>
          <a:solidFill>
            <a:srgbClr val="3776AB"/>
          </a:solidFill>
          <a:ln/>
        </p:spPr>
      </p:sp>
      <p:sp>
        <p:nvSpPr>
          <p:cNvPr id="147" name="Shape 138"/>
          <p:cNvSpPr/>
          <p:nvPr/>
        </p:nvSpPr>
        <p:spPr>
          <a:xfrm>
            <a:off x="2286000" y="3538728"/>
            <a:ext cx="201168" cy="201168"/>
          </a:xfrm>
          <a:prstGeom prst="ellipse">
            <a:avLst/>
          </a:prstGeom>
          <a:solidFill>
            <a:srgbClr val="3776AB"/>
          </a:solidFill>
          <a:ln/>
        </p:spPr>
      </p:sp>
      <p:sp>
        <p:nvSpPr>
          <p:cNvPr id="148" name="Shape 139"/>
          <p:cNvSpPr/>
          <p:nvPr/>
        </p:nvSpPr>
        <p:spPr>
          <a:xfrm>
            <a:off x="2578608" y="3538728"/>
            <a:ext cx="201168" cy="201168"/>
          </a:xfrm>
          <a:prstGeom prst="ellipse">
            <a:avLst/>
          </a:prstGeom>
          <a:solidFill>
            <a:srgbClr val="3776AB"/>
          </a:solidFill>
          <a:ln/>
        </p:spPr>
      </p:sp>
      <p:sp>
        <p:nvSpPr>
          <p:cNvPr id="149" name="Shape 140"/>
          <p:cNvSpPr/>
          <p:nvPr/>
        </p:nvSpPr>
        <p:spPr>
          <a:xfrm>
            <a:off x="2871216" y="3538728"/>
            <a:ext cx="201168" cy="201168"/>
          </a:xfrm>
          <a:prstGeom prst="ellipse">
            <a:avLst/>
          </a:prstGeom>
          <a:solidFill>
            <a:srgbClr val="3776AB"/>
          </a:solidFill>
          <a:ln/>
        </p:spPr>
      </p:sp>
      <p:sp>
        <p:nvSpPr>
          <p:cNvPr id="150" name="Shape 141"/>
          <p:cNvSpPr/>
          <p:nvPr/>
        </p:nvSpPr>
        <p:spPr>
          <a:xfrm>
            <a:off x="3163824" y="3538728"/>
            <a:ext cx="201168" cy="201168"/>
          </a:xfrm>
          <a:prstGeom prst="ellipse">
            <a:avLst/>
          </a:prstGeom>
          <a:solidFill>
            <a:srgbClr val="3776AB"/>
          </a:solidFill>
          <a:ln/>
        </p:spPr>
      </p:sp>
      <p:sp>
        <p:nvSpPr>
          <p:cNvPr id="151" name="Shape 142"/>
          <p:cNvSpPr/>
          <p:nvPr/>
        </p:nvSpPr>
        <p:spPr>
          <a:xfrm>
            <a:off x="3456432" y="3538728"/>
            <a:ext cx="201168" cy="201168"/>
          </a:xfrm>
          <a:prstGeom prst="ellipse">
            <a:avLst/>
          </a:prstGeom>
          <a:solidFill>
            <a:srgbClr val="3776AB"/>
          </a:solidFill>
          <a:ln/>
        </p:spPr>
      </p:sp>
      <p:sp>
        <p:nvSpPr>
          <p:cNvPr id="152" name="Shape 143"/>
          <p:cNvSpPr/>
          <p:nvPr/>
        </p:nvSpPr>
        <p:spPr>
          <a:xfrm>
            <a:off x="3749040" y="3538728"/>
            <a:ext cx="201168" cy="201168"/>
          </a:xfrm>
          <a:prstGeom prst="ellipse">
            <a:avLst/>
          </a:prstGeom>
          <a:solidFill>
            <a:srgbClr val="3776AB"/>
          </a:solidFill>
          <a:ln/>
        </p:spPr>
      </p:sp>
      <p:sp>
        <p:nvSpPr>
          <p:cNvPr id="153" name="Shape 144"/>
          <p:cNvSpPr/>
          <p:nvPr/>
        </p:nvSpPr>
        <p:spPr>
          <a:xfrm>
            <a:off x="4041648" y="3538728"/>
            <a:ext cx="201168" cy="201168"/>
          </a:xfrm>
          <a:prstGeom prst="ellipse">
            <a:avLst/>
          </a:prstGeom>
          <a:solidFill>
            <a:srgbClr val="3776AB"/>
          </a:solidFill>
          <a:ln/>
        </p:spPr>
      </p:sp>
      <p:sp>
        <p:nvSpPr>
          <p:cNvPr id="154" name="Shape 145"/>
          <p:cNvSpPr/>
          <p:nvPr/>
        </p:nvSpPr>
        <p:spPr>
          <a:xfrm>
            <a:off x="4334256" y="3538728"/>
            <a:ext cx="201168" cy="201168"/>
          </a:xfrm>
          <a:prstGeom prst="ellipse">
            <a:avLst/>
          </a:prstGeom>
          <a:solidFill>
            <a:srgbClr val="3776AB"/>
          </a:solidFill>
          <a:ln/>
        </p:spPr>
      </p:sp>
      <p:sp>
        <p:nvSpPr>
          <p:cNvPr id="155" name="Shape 146"/>
          <p:cNvSpPr/>
          <p:nvPr/>
        </p:nvSpPr>
        <p:spPr>
          <a:xfrm>
            <a:off x="4626864" y="3538728"/>
            <a:ext cx="201168" cy="201168"/>
          </a:xfrm>
          <a:prstGeom prst="ellipse">
            <a:avLst/>
          </a:prstGeom>
          <a:solidFill>
            <a:srgbClr val="3776AB"/>
          </a:solidFill>
          <a:ln/>
        </p:spPr>
      </p:sp>
      <p:sp>
        <p:nvSpPr>
          <p:cNvPr id="156" name="Shape 147"/>
          <p:cNvSpPr/>
          <p:nvPr/>
        </p:nvSpPr>
        <p:spPr>
          <a:xfrm>
            <a:off x="4919472" y="3538728"/>
            <a:ext cx="201168" cy="201168"/>
          </a:xfrm>
          <a:prstGeom prst="ellipse">
            <a:avLst/>
          </a:prstGeom>
          <a:solidFill>
            <a:srgbClr val="3776AB"/>
          </a:solidFill>
          <a:ln/>
        </p:spPr>
      </p:sp>
      <p:sp>
        <p:nvSpPr>
          <p:cNvPr id="157" name="Shape 148"/>
          <p:cNvSpPr/>
          <p:nvPr/>
        </p:nvSpPr>
        <p:spPr>
          <a:xfrm>
            <a:off x="5212080" y="3538728"/>
            <a:ext cx="201168" cy="201168"/>
          </a:xfrm>
          <a:prstGeom prst="ellipse">
            <a:avLst/>
          </a:prstGeom>
          <a:solidFill>
            <a:srgbClr val="3776AB"/>
          </a:solidFill>
          <a:ln/>
        </p:spPr>
      </p:sp>
      <p:sp>
        <p:nvSpPr>
          <p:cNvPr id="158" name="Shape 149"/>
          <p:cNvSpPr/>
          <p:nvPr/>
        </p:nvSpPr>
        <p:spPr>
          <a:xfrm>
            <a:off x="5504688" y="3538728"/>
            <a:ext cx="201168" cy="201168"/>
          </a:xfrm>
          <a:prstGeom prst="ellipse">
            <a:avLst/>
          </a:prstGeom>
          <a:solidFill>
            <a:srgbClr val="3776AB"/>
          </a:solidFill>
          <a:ln/>
        </p:spPr>
      </p:sp>
      <p:sp>
        <p:nvSpPr>
          <p:cNvPr id="159" name="Shape 150"/>
          <p:cNvSpPr/>
          <p:nvPr/>
        </p:nvSpPr>
        <p:spPr>
          <a:xfrm>
            <a:off x="5797296" y="3538728"/>
            <a:ext cx="201168" cy="201168"/>
          </a:xfrm>
          <a:prstGeom prst="ellipse">
            <a:avLst/>
          </a:prstGeom>
          <a:solidFill>
            <a:srgbClr val="3776AB"/>
          </a:solidFill>
          <a:ln/>
        </p:spPr>
      </p:sp>
      <p:sp>
        <p:nvSpPr>
          <p:cNvPr id="160" name="Shape 151"/>
          <p:cNvSpPr/>
          <p:nvPr/>
        </p:nvSpPr>
        <p:spPr>
          <a:xfrm>
            <a:off x="6089904" y="3538728"/>
            <a:ext cx="201168" cy="201168"/>
          </a:xfrm>
          <a:prstGeom prst="ellipse">
            <a:avLst/>
          </a:prstGeom>
          <a:solidFill>
            <a:srgbClr val="3776AB"/>
          </a:solidFill>
          <a:ln/>
        </p:spPr>
      </p:sp>
      <p:sp>
        <p:nvSpPr>
          <p:cNvPr id="161" name="Shape 152"/>
          <p:cNvSpPr/>
          <p:nvPr/>
        </p:nvSpPr>
        <p:spPr>
          <a:xfrm>
            <a:off x="822960" y="3831336"/>
            <a:ext cx="201168" cy="201168"/>
          </a:xfrm>
          <a:prstGeom prst="ellipse">
            <a:avLst/>
          </a:prstGeom>
          <a:solidFill>
            <a:srgbClr val="3776AB"/>
          </a:solidFill>
          <a:ln/>
        </p:spPr>
      </p:sp>
      <p:sp>
        <p:nvSpPr>
          <p:cNvPr id="162" name="Shape 153"/>
          <p:cNvSpPr/>
          <p:nvPr/>
        </p:nvSpPr>
        <p:spPr>
          <a:xfrm>
            <a:off x="1115568" y="3831336"/>
            <a:ext cx="201168" cy="201168"/>
          </a:xfrm>
          <a:prstGeom prst="ellipse">
            <a:avLst/>
          </a:prstGeom>
          <a:solidFill>
            <a:srgbClr val="3776AB"/>
          </a:solidFill>
          <a:ln/>
        </p:spPr>
      </p:sp>
      <p:sp>
        <p:nvSpPr>
          <p:cNvPr id="163" name="Shape 154"/>
          <p:cNvSpPr/>
          <p:nvPr/>
        </p:nvSpPr>
        <p:spPr>
          <a:xfrm>
            <a:off x="1408176" y="3831336"/>
            <a:ext cx="201168" cy="201168"/>
          </a:xfrm>
          <a:prstGeom prst="ellipse">
            <a:avLst/>
          </a:prstGeom>
          <a:solidFill>
            <a:srgbClr val="3776AB"/>
          </a:solidFill>
          <a:ln/>
        </p:spPr>
      </p:sp>
      <p:sp>
        <p:nvSpPr>
          <p:cNvPr id="164" name="Shape 155"/>
          <p:cNvSpPr/>
          <p:nvPr/>
        </p:nvSpPr>
        <p:spPr>
          <a:xfrm>
            <a:off x="1700784" y="3831336"/>
            <a:ext cx="201168" cy="201168"/>
          </a:xfrm>
          <a:prstGeom prst="ellipse">
            <a:avLst/>
          </a:prstGeom>
          <a:solidFill>
            <a:srgbClr val="3776AB"/>
          </a:solidFill>
          <a:ln/>
        </p:spPr>
      </p:sp>
      <p:sp>
        <p:nvSpPr>
          <p:cNvPr id="165" name="Shape 156"/>
          <p:cNvSpPr/>
          <p:nvPr/>
        </p:nvSpPr>
        <p:spPr>
          <a:xfrm>
            <a:off x="1993392" y="3831336"/>
            <a:ext cx="201168" cy="201168"/>
          </a:xfrm>
          <a:prstGeom prst="ellipse">
            <a:avLst/>
          </a:prstGeom>
          <a:solidFill>
            <a:srgbClr val="3776AB"/>
          </a:solidFill>
          <a:ln/>
        </p:spPr>
      </p:sp>
      <p:sp>
        <p:nvSpPr>
          <p:cNvPr id="166" name="Shape 157"/>
          <p:cNvSpPr/>
          <p:nvPr/>
        </p:nvSpPr>
        <p:spPr>
          <a:xfrm>
            <a:off x="2286000" y="3831336"/>
            <a:ext cx="201168" cy="201168"/>
          </a:xfrm>
          <a:prstGeom prst="ellipse">
            <a:avLst/>
          </a:prstGeom>
          <a:solidFill>
            <a:srgbClr val="3776AB"/>
          </a:solidFill>
          <a:ln/>
        </p:spPr>
      </p:sp>
      <p:sp>
        <p:nvSpPr>
          <p:cNvPr id="167" name="Shape 158"/>
          <p:cNvSpPr/>
          <p:nvPr/>
        </p:nvSpPr>
        <p:spPr>
          <a:xfrm>
            <a:off x="2578608" y="3831336"/>
            <a:ext cx="201168" cy="201168"/>
          </a:xfrm>
          <a:prstGeom prst="ellipse">
            <a:avLst/>
          </a:prstGeom>
          <a:solidFill>
            <a:srgbClr val="3776AB"/>
          </a:solidFill>
          <a:ln/>
        </p:spPr>
      </p:sp>
      <p:sp>
        <p:nvSpPr>
          <p:cNvPr id="168" name="Shape 159"/>
          <p:cNvSpPr/>
          <p:nvPr/>
        </p:nvSpPr>
        <p:spPr>
          <a:xfrm>
            <a:off x="2871216" y="3831336"/>
            <a:ext cx="201168" cy="201168"/>
          </a:xfrm>
          <a:prstGeom prst="ellipse">
            <a:avLst/>
          </a:prstGeom>
          <a:solidFill>
            <a:srgbClr val="3776AB"/>
          </a:solidFill>
          <a:ln/>
        </p:spPr>
      </p:sp>
      <p:sp>
        <p:nvSpPr>
          <p:cNvPr id="169" name="Shape 160"/>
          <p:cNvSpPr/>
          <p:nvPr/>
        </p:nvSpPr>
        <p:spPr>
          <a:xfrm>
            <a:off x="3163824" y="3831336"/>
            <a:ext cx="201168" cy="201168"/>
          </a:xfrm>
          <a:prstGeom prst="ellipse">
            <a:avLst/>
          </a:prstGeom>
          <a:solidFill>
            <a:srgbClr val="3776AB"/>
          </a:solidFill>
          <a:ln/>
        </p:spPr>
      </p:sp>
      <p:sp>
        <p:nvSpPr>
          <p:cNvPr id="170" name="Shape 161"/>
          <p:cNvSpPr/>
          <p:nvPr/>
        </p:nvSpPr>
        <p:spPr>
          <a:xfrm>
            <a:off x="3456432" y="3831336"/>
            <a:ext cx="201168" cy="201168"/>
          </a:xfrm>
          <a:prstGeom prst="ellipse">
            <a:avLst/>
          </a:prstGeom>
          <a:solidFill>
            <a:srgbClr val="3776AB"/>
          </a:solidFill>
          <a:ln/>
        </p:spPr>
      </p:sp>
      <p:sp>
        <p:nvSpPr>
          <p:cNvPr id="171" name="Shape 162"/>
          <p:cNvSpPr/>
          <p:nvPr/>
        </p:nvSpPr>
        <p:spPr>
          <a:xfrm>
            <a:off x="3749040" y="3831336"/>
            <a:ext cx="201168" cy="201168"/>
          </a:xfrm>
          <a:prstGeom prst="ellipse">
            <a:avLst/>
          </a:prstGeom>
          <a:solidFill>
            <a:srgbClr val="3776AB"/>
          </a:solidFill>
          <a:ln/>
        </p:spPr>
      </p:sp>
      <p:sp>
        <p:nvSpPr>
          <p:cNvPr id="172" name="Shape 163"/>
          <p:cNvSpPr/>
          <p:nvPr/>
        </p:nvSpPr>
        <p:spPr>
          <a:xfrm>
            <a:off x="4041648" y="3831336"/>
            <a:ext cx="201168" cy="201168"/>
          </a:xfrm>
          <a:prstGeom prst="ellipse">
            <a:avLst/>
          </a:prstGeom>
          <a:solidFill>
            <a:srgbClr val="3776AB"/>
          </a:solidFill>
          <a:ln/>
        </p:spPr>
      </p:sp>
      <p:sp>
        <p:nvSpPr>
          <p:cNvPr id="173" name="Shape 164"/>
          <p:cNvSpPr/>
          <p:nvPr/>
        </p:nvSpPr>
        <p:spPr>
          <a:xfrm>
            <a:off x="4334256" y="3831336"/>
            <a:ext cx="201168" cy="201168"/>
          </a:xfrm>
          <a:prstGeom prst="ellipse">
            <a:avLst/>
          </a:prstGeom>
          <a:solidFill>
            <a:srgbClr val="3776AB"/>
          </a:solidFill>
          <a:ln/>
        </p:spPr>
      </p:sp>
      <p:sp>
        <p:nvSpPr>
          <p:cNvPr id="174" name="Shape 165"/>
          <p:cNvSpPr/>
          <p:nvPr/>
        </p:nvSpPr>
        <p:spPr>
          <a:xfrm>
            <a:off x="4626864" y="3831336"/>
            <a:ext cx="201168" cy="201168"/>
          </a:xfrm>
          <a:prstGeom prst="ellipse">
            <a:avLst/>
          </a:prstGeom>
          <a:solidFill>
            <a:srgbClr val="3776AB"/>
          </a:solidFill>
          <a:ln/>
        </p:spPr>
      </p:sp>
      <p:sp>
        <p:nvSpPr>
          <p:cNvPr id="175" name="Shape 166"/>
          <p:cNvSpPr/>
          <p:nvPr/>
        </p:nvSpPr>
        <p:spPr>
          <a:xfrm>
            <a:off x="4919472" y="3831336"/>
            <a:ext cx="201168" cy="201168"/>
          </a:xfrm>
          <a:prstGeom prst="ellipse">
            <a:avLst/>
          </a:prstGeom>
          <a:solidFill>
            <a:srgbClr val="3776AB"/>
          </a:solidFill>
          <a:ln/>
        </p:spPr>
      </p:sp>
      <p:sp>
        <p:nvSpPr>
          <p:cNvPr id="176" name="Shape 167"/>
          <p:cNvSpPr/>
          <p:nvPr/>
        </p:nvSpPr>
        <p:spPr>
          <a:xfrm>
            <a:off x="5212080" y="3831336"/>
            <a:ext cx="201168" cy="201168"/>
          </a:xfrm>
          <a:prstGeom prst="ellipse">
            <a:avLst/>
          </a:prstGeom>
          <a:solidFill>
            <a:srgbClr val="3776AB"/>
          </a:solidFill>
          <a:ln/>
        </p:spPr>
      </p:sp>
      <p:sp>
        <p:nvSpPr>
          <p:cNvPr id="177" name="Shape 168"/>
          <p:cNvSpPr/>
          <p:nvPr/>
        </p:nvSpPr>
        <p:spPr>
          <a:xfrm>
            <a:off x="5504688" y="3831336"/>
            <a:ext cx="201168" cy="201168"/>
          </a:xfrm>
          <a:prstGeom prst="ellipse">
            <a:avLst/>
          </a:prstGeom>
          <a:solidFill>
            <a:srgbClr val="3776AB"/>
          </a:solidFill>
          <a:ln/>
        </p:spPr>
      </p:sp>
      <p:sp>
        <p:nvSpPr>
          <p:cNvPr id="178" name="Shape 169"/>
          <p:cNvSpPr/>
          <p:nvPr/>
        </p:nvSpPr>
        <p:spPr>
          <a:xfrm>
            <a:off x="5797296" y="3831336"/>
            <a:ext cx="201168" cy="201168"/>
          </a:xfrm>
          <a:prstGeom prst="ellipse">
            <a:avLst/>
          </a:prstGeom>
          <a:solidFill>
            <a:srgbClr val="3776AB"/>
          </a:solidFill>
          <a:ln/>
        </p:spPr>
      </p:sp>
      <p:sp>
        <p:nvSpPr>
          <p:cNvPr id="179" name="Shape 170"/>
          <p:cNvSpPr/>
          <p:nvPr/>
        </p:nvSpPr>
        <p:spPr>
          <a:xfrm>
            <a:off x="6089904" y="3831336"/>
            <a:ext cx="201168" cy="201168"/>
          </a:xfrm>
          <a:prstGeom prst="ellipse">
            <a:avLst/>
          </a:prstGeom>
          <a:solidFill>
            <a:srgbClr val="3776AB"/>
          </a:solidFill>
          <a:ln/>
        </p:spPr>
      </p:sp>
      <p:sp>
        <p:nvSpPr>
          <p:cNvPr id="180" name="Shape 171"/>
          <p:cNvSpPr/>
          <p:nvPr/>
        </p:nvSpPr>
        <p:spPr>
          <a:xfrm>
            <a:off x="822960" y="4123944"/>
            <a:ext cx="201168" cy="201168"/>
          </a:xfrm>
          <a:prstGeom prst="ellipse">
            <a:avLst/>
          </a:prstGeom>
          <a:solidFill>
            <a:srgbClr val="3776AB"/>
          </a:solidFill>
          <a:ln/>
        </p:spPr>
      </p:sp>
      <p:sp>
        <p:nvSpPr>
          <p:cNvPr id="181" name="Shape 172"/>
          <p:cNvSpPr/>
          <p:nvPr/>
        </p:nvSpPr>
        <p:spPr>
          <a:xfrm>
            <a:off x="1115568" y="4123944"/>
            <a:ext cx="201168" cy="201168"/>
          </a:xfrm>
          <a:prstGeom prst="ellipse">
            <a:avLst/>
          </a:prstGeom>
          <a:solidFill>
            <a:srgbClr val="3776AB"/>
          </a:solidFill>
          <a:ln/>
        </p:spPr>
      </p:sp>
      <p:sp>
        <p:nvSpPr>
          <p:cNvPr id="182" name="Shape 173"/>
          <p:cNvSpPr/>
          <p:nvPr/>
        </p:nvSpPr>
        <p:spPr>
          <a:xfrm>
            <a:off x="1408176" y="4123944"/>
            <a:ext cx="201168" cy="201168"/>
          </a:xfrm>
          <a:prstGeom prst="ellipse">
            <a:avLst/>
          </a:prstGeom>
          <a:solidFill>
            <a:srgbClr val="3776AB"/>
          </a:solidFill>
          <a:ln/>
        </p:spPr>
      </p:sp>
      <p:sp>
        <p:nvSpPr>
          <p:cNvPr id="183" name="Shape 174"/>
          <p:cNvSpPr/>
          <p:nvPr/>
        </p:nvSpPr>
        <p:spPr>
          <a:xfrm>
            <a:off x="1700784" y="4123944"/>
            <a:ext cx="201168" cy="201168"/>
          </a:xfrm>
          <a:prstGeom prst="ellipse">
            <a:avLst/>
          </a:prstGeom>
          <a:solidFill>
            <a:srgbClr val="3776AB"/>
          </a:solidFill>
          <a:ln/>
        </p:spPr>
      </p:sp>
      <p:sp>
        <p:nvSpPr>
          <p:cNvPr id="184" name="Shape 175"/>
          <p:cNvSpPr/>
          <p:nvPr/>
        </p:nvSpPr>
        <p:spPr>
          <a:xfrm>
            <a:off x="1993392" y="4123944"/>
            <a:ext cx="201168" cy="201168"/>
          </a:xfrm>
          <a:prstGeom prst="ellipse">
            <a:avLst/>
          </a:prstGeom>
          <a:solidFill>
            <a:srgbClr val="3776AB"/>
          </a:solidFill>
          <a:ln/>
        </p:spPr>
      </p:sp>
      <p:sp>
        <p:nvSpPr>
          <p:cNvPr id="185" name="Shape 176"/>
          <p:cNvSpPr/>
          <p:nvPr/>
        </p:nvSpPr>
        <p:spPr>
          <a:xfrm>
            <a:off x="2286000" y="4123944"/>
            <a:ext cx="201168" cy="201168"/>
          </a:xfrm>
          <a:prstGeom prst="ellipse">
            <a:avLst/>
          </a:prstGeom>
          <a:solidFill>
            <a:srgbClr val="3776AB"/>
          </a:solidFill>
          <a:ln/>
        </p:spPr>
      </p:sp>
      <p:sp>
        <p:nvSpPr>
          <p:cNvPr id="186" name="Shape 177"/>
          <p:cNvSpPr/>
          <p:nvPr/>
        </p:nvSpPr>
        <p:spPr>
          <a:xfrm>
            <a:off x="2578608" y="4123944"/>
            <a:ext cx="201168" cy="201168"/>
          </a:xfrm>
          <a:prstGeom prst="ellipse">
            <a:avLst/>
          </a:prstGeom>
          <a:solidFill>
            <a:srgbClr val="3776AB"/>
          </a:solidFill>
          <a:ln/>
        </p:spPr>
      </p:sp>
      <p:sp>
        <p:nvSpPr>
          <p:cNvPr id="187" name="Shape 178"/>
          <p:cNvSpPr/>
          <p:nvPr/>
        </p:nvSpPr>
        <p:spPr>
          <a:xfrm>
            <a:off x="2871216" y="4123944"/>
            <a:ext cx="201168" cy="201168"/>
          </a:xfrm>
          <a:prstGeom prst="ellipse">
            <a:avLst/>
          </a:prstGeom>
          <a:solidFill>
            <a:srgbClr val="3776AB"/>
          </a:solidFill>
          <a:ln/>
        </p:spPr>
      </p:sp>
      <p:sp>
        <p:nvSpPr>
          <p:cNvPr id="188" name="Shape 179"/>
          <p:cNvSpPr/>
          <p:nvPr/>
        </p:nvSpPr>
        <p:spPr>
          <a:xfrm>
            <a:off x="3163824" y="4123944"/>
            <a:ext cx="201168" cy="201168"/>
          </a:xfrm>
          <a:prstGeom prst="ellipse">
            <a:avLst/>
          </a:prstGeom>
          <a:solidFill>
            <a:srgbClr val="3776AB"/>
          </a:solidFill>
          <a:ln/>
        </p:spPr>
      </p:sp>
      <p:sp>
        <p:nvSpPr>
          <p:cNvPr id="189" name="Shape 180"/>
          <p:cNvSpPr/>
          <p:nvPr/>
        </p:nvSpPr>
        <p:spPr>
          <a:xfrm>
            <a:off x="3456432" y="4123944"/>
            <a:ext cx="201168" cy="201168"/>
          </a:xfrm>
          <a:prstGeom prst="ellipse">
            <a:avLst/>
          </a:prstGeom>
          <a:solidFill>
            <a:srgbClr val="3776AB"/>
          </a:solidFill>
          <a:ln/>
        </p:spPr>
      </p:sp>
      <p:sp>
        <p:nvSpPr>
          <p:cNvPr id="190" name="Shape 181"/>
          <p:cNvSpPr/>
          <p:nvPr/>
        </p:nvSpPr>
        <p:spPr>
          <a:xfrm>
            <a:off x="3749040" y="4123944"/>
            <a:ext cx="201168" cy="201168"/>
          </a:xfrm>
          <a:prstGeom prst="ellipse">
            <a:avLst/>
          </a:prstGeom>
          <a:solidFill>
            <a:srgbClr val="3776AB"/>
          </a:solidFill>
          <a:ln/>
        </p:spPr>
      </p:sp>
      <p:sp>
        <p:nvSpPr>
          <p:cNvPr id="191" name="Shape 182"/>
          <p:cNvSpPr/>
          <p:nvPr/>
        </p:nvSpPr>
        <p:spPr>
          <a:xfrm>
            <a:off x="4041648" y="4123944"/>
            <a:ext cx="201168" cy="201168"/>
          </a:xfrm>
          <a:prstGeom prst="ellipse">
            <a:avLst/>
          </a:prstGeom>
          <a:solidFill>
            <a:srgbClr val="3776AB"/>
          </a:solidFill>
          <a:ln/>
        </p:spPr>
      </p:sp>
      <p:sp>
        <p:nvSpPr>
          <p:cNvPr id="192" name="Shape 183"/>
          <p:cNvSpPr/>
          <p:nvPr/>
        </p:nvSpPr>
        <p:spPr>
          <a:xfrm>
            <a:off x="4334256" y="4123944"/>
            <a:ext cx="201168" cy="201168"/>
          </a:xfrm>
          <a:prstGeom prst="ellipse">
            <a:avLst/>
          </a:prstGeom>
          <a:solidFill>
            <a:srgbClr val="3776AB"/>
          </a:solidFill>
          <a:ln/>
        </p:spPr>
      </p:sp>
      <p:sp>
        <p:nvSpPr>
          <p:cNvPr id="193" name="Shape 184"/>
          <p:cNvSpPr/>
          <p:nvPr/>
        </p:nvSpPr>
        <p:spPr>
          <a:xfrm>
            <a:off x="4626864" y="4123944"/>
            <a:ext cx="201168" cy="201168"/>
          </a:xfrm>
          <a:prstGeom prst="ellipse">
            <a:avLst/>
          </a:prstGeom>
          <a:solidFill>
            <a:srgbClr val="3776AB"/>
          </a:solidFill>
          <a:ln/>
        </p:spPr>
      </p:sp>
      <p:sp>
        <p:nvSpPr>
          <p:cNvPr id="194" name="Shape 185"/>
          <p:cNvSpPr/>
          <p:nvPr/>
        </p:nvSpPr>
        <p:spPr>
          <a:xfrm>
            <a:off x="4919472" y="4123944"/>
            <a:ext cx="201168" cy="201168"/>
          </a:xfrm>
          <a:prstGeom prst="ellipse">
            <a:avLst/>
          </a:prstGeom>
          <a:solidFill>
            <a:srgbClr val="3776AB"/>
          </a:solidFill>
          <a:ln/>
        </p:spPr>
      </p:sp>
      <p:sp>
        <p:nvSpPr>
          <p:cNvPr id="195" name="Shape 186"/>
          <p:cNvSpPr/>
          <p:nvPr/>
        </p:nvSpPr>
        <p:spPr>
          <a:xfrm>
            <a:off x="5212080" y="4123944"/>
            <a:ext cx="201168" cy="201168"/>
          </a:xfrm>
          <a:prstGeom prst="ellipse">
            <a:avLst/>
          </a:prstGeom>
          <a:solidFill>
            <a:srgbClr val="3776AB"/>
          </a:solidFill>
          <a:ln/>
        </p:spPr>
      </p:sp>
      <p:sp>
        <p:nvSpPr>
          <p:cNvPr id="196" name="Shape 187"/>
          <p:cNvSpPr/>
          <p:nvPr/>
        </p:nvSpPr>
        <p:spPr>
          <a:xfrm>
            <a:off x="5504688" y="4123944"/>
            <a:ext cx="201168" cy="201168"/>
          </a:xfrm>
          <a:prstGeom prst="ellipse">
            <a:avLst/>
          </a:prstGeom>
          <a:solidFill>
            <a:srgbClr val="3776AB"/>
          </a:solidFill>
          <a:ln/>
        </p:spPr>
      </p:sp>
      <p:sp>
        <p:nvSpPr>
          <p:cNvPr id="197" name="Shape 188"/>
          <p:cNvSpPr/>
          <p:nvPr/>
        </p:nvSpPr>
        <p:spPr>
          <a:xfrm>
            <a:off x="5797296" y="4123944"/>
            <a:ext cx="201168" cy="201168"/>
          </a:xfrm>
          <a:prstGeom prst="ellipse">
            <a:avLst/>
          </a:prstGeom>
          <a:solidFill>
            <a:srgbClr val="3776AB"/>
          </a:solidFill>
          <a:ln/>
        </p:spPr>
      </p:sp>
      <p:sp>
        <p:nvSpPr>
          <p:cNvPr id="198" name="Shape 189"/>
          <p:cNvSpPr/>
          <p:nvPr/>
        </p:nvSpPr>
        <p:spPr>
          <a:xfrm>
            <a:off x="6089904" y="4123944"/>
            <a:ext cx="201168" cy="201168"/>
          </a:xfrm>
          <a:prstGeom prst="ellipse">
            <a:avLst/>
          </a:prstGeom>
          <a:solidFill>
            <a:srgbClr val="3776AB"/>
          </a:solidFill>
          <a:ln/>
        </p:spPr>
      </p:sp>
      <p:sp>
        <p:nvSpPr>
          <p:cNvPr id="199" name="Text 190"/>
          <p:cNvSpPr txBox="1"/>
          <p:nvPr/>
        </p:nvSpPr>
        <p:spPr>
          <a:xfrm>
            <a:off x="822960" y="4434840"/>
            <a:ext cx="5852160" cy="274320"/>
          </a:xfrm>
          <a:prstGeom prst="rect">
            <a:avLst/>
          </a:prstGeom>
          <a:noFill/>
          <a:ln/>
        </p:spPr>
        <p:txBody>
          <a:bodyPr wrap="square" lIns="0" tIns="0" rIns="0" bIns="0" rtlCol="0" anchor="t"/>
          <a:lstStyle/>
          <a:p>
            <a:pPr indent="0" marL="0">
              <a:buNone/>
            </a:pPr>
            <a:r>
              <a:rPr lang="en-US" sz="1400" b="1" dirty="0">
                <a:solidFill>
                  <a:srgbClr val="1E3A6E"/>
                </a:solidFill>
                <a:latin typeface="Arial" pitchFamily="34" charset="0"/>
                <a:ea typeface="Arial" pitchFamily="34" charset="-122"/>
                <a:cs typeface="Arial" pitchFamily="34" charset="-120"/>
              </a:rPr>
              <a:t>89 left hand + 82 right hand = 171 events</a:t>
            </a:r>
            <a:endParaRPr lang="en-US" sz="1400" dirty="0"/>
          </a:p>
        </p:txBody>
      </p:sp>
      <p:sp>
        <p:nvSpPr>
          <p:cNvPr id="200" name="Text 191"/>
          <p:cNvSpPr/>
          <p:nvPr/>
        </p:nvSpPr>
        <p:spPr>
          <a:xfrm>
            <a:off x="548640" y="4937760"/>
            <a:ext cx="3108960" cy="1280160"/>
          </a:xfrm>
          <a:prstGeom prst="roundRect">
            <a:avLst>
              <a:gd name="adj" fmla="val 7143"/>
            </a:avLst>
          </a:prstGeom>
          <a:solidFill>
            <a:srgbClr val="FFFFFF"/>
          </a:solidFill>
          <a:ln w="19050">
            <a:solidFill>
              <a:srgbClr val="1E3A6E"/>
            </a:solidFill>
          </a:ln>
        </p:spPr>
        <p:txBody>
          <a:bodyPr wrap="square" lIns="1905" tIns="1905" rIns="1905" bIns="1905" rtlCol="0" anchor="ctr"/>
          <a:lstStyle/>
          <a:p>
            <a:pPr algn="l" indent="0" marL="0">
              <a:buNone/>
            </a:pPr>
            <a:r>
              <a:rPr lang="en-US" sz="1600" b="1" dirty="0">
                <a:solidFill>
                  <a:srgbClr val="1E3A6E"/>
                </a:solidFill>
                <a:latin typeface="Arial" pitchFamily="34" charset="0"/>
                <a:ea typeface="Arial" pitchFamily="34" charset="-122"/>
                <a:cs typeface="Arial" pitchFamily="34" charset="-120"/>
              </a:rPr>
              <a:t>Have we discovered 171 successful grasps?</a:t>
            </a:r>
            <a:endParaRPr lang="en-US" sz="1600" dirty="0"/>
          </a:p>
        </p:txBody>
      </p:sp>
      <p:sp>
        <p:nvSpPr>
          <p:cNvPr id="201" name="Text 192"/>
          <p:cNvSpPr/>
          <p:nvPr/>
        </p:nvSpPr>
        <p:spPr>
          <a:xfrm>
            <a:off x="3749040" y="4937760"/>
            <a:ext cx="3108960" cy="1280160"/>
          </a:xfrm>
          <a:prstGeom prst="roundRect">
            <a:avLst>
              <a:gd name="adj" fmla="val 7143"/>
            </a:avLst>
          </a:prstGeom>
          <a:solidFill>
            <a:srgbClr val="F5C518"/>
          </a:solidFill>
          <a:ln/>
        </p:spPr>
        <p:txBody>
          <a:bodyPr wrap="square" lIns="1905" tIns="1905" rIns="1905" bIns="1905" rtlCol="0" anchor="ctr"/>
          <a:lstStyle/>
          <a:p>
            <a:pPr algn="l" indent="0" marL="0">
              <a:buNone/>
            </a:pPr>
            <a:r>
              <a:rPr lang="en-US" sz="1600" b="1" dirty="0">
                <a:solidFill>
                  <a:srgbClr val="1E3A6E"/>
                </a:solidFill>
                <a:latin typeface="Arial" pitchFamily="34" charset="0"/>
                <a:ea typeface="Arial" pitchFamily="34" charset="-122"/>
                <a:cs typeface="Arial" pitchFamily="34" charset="-120"/>
              </a:rPr>
              <a:t>We have discovered 171 things our motion rule calls events.</a:t>
            </a:r>
            <a:endParaRPr lang="en-US" sz="1600" dirty="0"/>
          </a:p>
        </p:txBody>
      </p:sp>
      <p:sp>
        <p:nvSpPr>
          <p:cNvPr id="202" name="Text 193"/>
          <p:cNvSpPr/>
          <p:nvPr/>
        </p:nvSpPr>
        <p:spPr>
          <a:xfrm>
            <a:off x="7223760" y="1508760"/>
            <a:ext cx="4389120" cy="4709160"/>
          </a:xfrm>
          <a:prstGeom prst="roundRect">
            <a:avLst>
              <a:gd name="adj" fmla="val 2083"/>
            </a:avLst>
          </a:prstGeom>
          <a:solidFill>
            <a:srgbClr val="FFFFFF"/>
          </a:solidFill>
          <a:ln w="12700">
            <a:solidFill>
              <a:srgbClr val="D0D7DE"/>
            </a:solidFill>
          </a:ln>
        </p:spPr>
        <p:txBody>
          <a:bodyPr wrap="square" lIns="1270" tIns="1270" rIns="1270" bIns="1270" rtlCol="0" anchor="ctr"/>
          <a:lstStyle/>
          <a:p>
            <a:pPr algn="l" indent="0" marL="0">
              <a:buNone/>
            </a:pPr>
            <a:endParaRPr lang="en-US" sz="1600" dirty="0"/>
          </a:p>
        </p:txBody>
      </p:sp>
      <p:sp>
        <p:nvSpPr>
          <p:cNvPr id="203" name="Text 194"/>
          <p:cNvSpPr txBox="1"/>
          <p:nvPr/>
        </p:nvSpPr>
        <p:spPr>
          <a:xfrm>
            <a:off x="7452360" y="1645920"/>
            <a:ext cx="3931920" cy="365760"/>
          </a:xfrm>
          <a:prstGeom prst="rect">
            <a:avLst/>
          </a:prstGeom>
          <a:noFill/>
          <a:ln/>
        </p:spPr>
        <p:txBody>
          <a:bodyPr wrap="square" lIns="0" tIns="0" rIns="0" bIns="0" rtlCol="0" anchor="t"/>
          <a:lstStyle/>
          <a:p>
            <a:pPr indent="0" marL="0">
              <a:buNone/>
            </a:pPr>
            <a:r>
              <a:rPr lang="en-US" sz="1900" b="1" dirty="0">
                <a:solidFill>
                  <a:srgbClr val="1E3A6E"/>
                </a:solidFill>
                <a:latin typeface="Arial" pitchFamily="34" charset="0"/>
                <a:ea typeface="Arial" pitchFamily="34" charset="-122"/>
                <a:cs typeface="Arial" pitchFamily="34" charset="-120"/>
              </a:rPr>
              <a:t>Even the labels disagree</a:t>
            </a:r>
            <a:endParaRPr lang="en-US" sz="1900" dirty="0"/>
          </a:p>
        </p:txBody>
      </p:sp>
      <p:sp>
        <p:nvSpPr>
          <p:cNvPr id="204" name="Text 195"/>
          <p:cNvSpPr txBox="1"/>
          <p:nvPr/>
        </p:nvSpPr>
        <p:spPr>
          <a:xfrm>
            <a:off x="7452360" y="2194560"/>
            <a:ext cx="3931920" cy="274320"/>
          </a:xfrm>
          <a:prstGeom prst="rect">
            <a:avLst/>
          </a:prstGeom>
          <a:noFill/>
          <a:ln/>
        </p:spPr>
        <p:txBody>
          <a:bodyPr wrap="square" lIns="0" tIns="0" rIns="0" bIns="0" rtlCol="0" anchor="t"/>
          <a:lstStyle/>
          <a:p>
            <a:pPr indent="0" marL="0">
              <a:buNone/>
            </a:pPr>
            <a:r>
              <a:rPr lang="en-US" sz="1400" dirty="0">
                <a:solidFill>
                  <a:srgbClr val="5B6578"/>
                </a:solidFill>
                <a:latin typeface="Arial" pitchFamily="34" charset="0"/>
                <a:ea typeface="Arial" pitchFamily="34" charset="-122"/>
                <a:cs typeface="Arial" pitchFamily="34" charset="-120"/>
              </a:rPr>
              <a:t>Episode name</a:t>
            </a:r>
            <a:endParaRPr lang="en-US" sz="1400" dirty="0"/>
          </a:p>
        </p:txBody>
      </p:sp>
      <p:sp>
        <p:nvSpPr>
          <p:cNvPr id="205" name="Text 196"/>
          <p:cNvSpPr/>
          <p:nvPr/>
        </p:nvSpPr>
        <p:spPr>
          <a:xfrm>
            <a:off x="7452360" y="2514600"/>
            <a:ext cx="1874520" cy="548640"/>
          </a:xfrm>
          <a:prstGeom prst="roundRect">
            <a:avLst>
              <a:gd name="adj" fmla="val 16667"/>
            </a:avLst>
          </a:prstGeom>
          <a:solidFill>
            <a:srgbClr val="F3F5F8"/>
          </a:solidFill>
          <a:ln w="12700">
            <a:solidFill>
              <a:srgbClr val="D0D7DE"/>
            </a:solidFill>
          </a:ln>
        </p:spPr>
        <p:txBody>
          <a:bodyPr wrap="square" lIns="1270" tIns="1270" rIns="1270" bIns="1270" rtlCol="0" anchor="ctr"/>
          <a:lstStyle/>
          <a:p>
            <a:pPr algn="ctr" indent="0" marL="0">
              <a:buNone/>
            </a:pPr>
            <a:r>
              <a:rPr lang="en-US" sz="1500" b="1" dirty="0">
                <a:solidFill>
                  <a:srgbClr val="1E3A6E"/>
                </a:solidFill>
                <a:latin typeface="Arial" pitchFamily="34" charset="0"/>
                <a:ea typeface="Arial" pitchFamily="34" charset="-122"/>
                <a:cs typeface="Arial" pitchFamily="34" charset="-120"/>
              </a:rPr>
              <a:t>sofa</a:t>
            </a:r>
            <a:endParaRPr lang="en-US" sz="1500" dirty="0"/>
          </a:p>
        </p:txBody>
      </p:sp>
      <p:sp>
        <p:nvSpPr>
          <p:cNvPr id="206" name="Text 197"/>
          <p:cNvSpPr/>
          <p:nvPr/>
        </p:nvSpPr>
        <p:spPr>
          <a:xfrm>
            <a:off x="9509760" y="2514600"/>
            <a:ext cx="1874520" cy="548640"/>
          </a:xfrm>
          <a:prstGeom prst="roundRect">
            <a:avLst>
              <a:gd name="adj" fmla="val 16667"/>
            </a:avLst>
          </a:prstGeom>
          <a:solidFill>
            <a:srgbClr val="F3F5F8"/>
          </a:solidFill>
          <a:ln w="12700">
            <a:solidFill>
              <a:srgbClr val="D0D7DE"/>
            </a:solidFill>
          </a:ln>
        </p:spPr>
        <p:txBody>
          <a:bodyPr wrap="square" lIns="1270" tIns="1270" rIns="1270" bIns="1270" rtlCol="0" anchor="ctr"/>
          <a:lstStyle/>
          <a:p>
            <a:pPr algn="ctr" indent="0" marL="0">
              <a:buNone/>
            </a:pPr>
            <a:r>
              <a:rPr lang="en-US" sz="1500" b="1" dirty="0">
                <a:solidFill>
                  <a:srgbClr val="1E3A6E"/>
                </a:solidFill>
                <a:latin typeface="Arial" pitchFamily="34" charset="0"/>
                <a:ea typeface="Arial" pitchFamily="34" charset="-122"/>
                <a:cs typeface="Arial" pitchFamily="34" charset="-120"/>
              </a:rPr>
              <a:t>floor</a:t>
            </a:r>
            <a:endParaRPr lang="en-US" sz="1500" dirty="0"/>
          </a:p>
        </p:txBody>
      </p:sp>
      <p:sp>
        <p:nvSpPr>
          <p:cNvPr id="207" name="Text 198"/>
          <p:cNvSpPr txBox="1"/>
          <p:nvPr/>
        </p:nvSpPr>
        <p:spPr>
          <a:xfrm>
            <a:off x="7452360" y="3200400"/>
            <a:ext cx="3931920" cy="365760"/>
          </a:xfrm>
          <a:prstGeom prst="rect">
            <a:avLst/>
          </a:prstGeom>
          <a:noFill/>
          <a:ln/>
        </p:spPr>
        <p:txBody>
          <a:bodyPr wrap="square" lIns="0" tIns="0" rIns="0" bIns="0" rtlCol="0" anchor="t"/>
          <a:lstStyle/>
          <a:p>
            <a:pPr algn="ctr" indent="0" marL="0">
              <a:buNone/>
            </a:pPr>
            <a:r>
              <a:rPr lang="en-US" sz="2000" b="1" dirty="0">
                <a:solidFill>
                  <a:srgbClr val="C0392B"/>
                </a:solidFill>
                <a:latin typeface="Arial" pitchFamily="34" charset="0"/>
                <a:ea typeface="Arial" pitchFamily="34" charset="-122"/>
                <a:cs typeface="Arial" pitchFamily="34" charset="-120"/>
              </a:rPr>
              <a:t>not equal</a:t>
            </a:r>
            <a:endParaRPr lang="en-US" sz="2000" dirty="0"/>
          </a:p>
        </p:txBody>
      </p:sp>
      <p:sp>
        <p:nvSpPr>
          <p:cNvPr id="208" name="Text 199"/>
          <p:cNvSpPr txBox="1"/>
          <p:nvPr/>
        </p:nvSpPr>
        <p:spPr>
          <a:xfrm>
            <a:off x="7452360" y="3657600"/>
            <a:ext cx="3931920" cy="274320"/>
          </a:xfrm>
          <a:prstGeom prst="rect">
            <a:avLst/>
          </a:prstGeom>
          <a:noFill/>
          <a:ln/>
        </p:spPr>
        <p:txBody>
          <a:bodyPr wrap="square" lIns="0" tIns="0" rIns="0" bIns="0" rtlCol="0" anchor="t"/>
          <a:lstStyle/>
          <a:p>
            <a:pPr indent="0" marL="0">
              <a:buNone/>
            </a:pPr>
            <a:r>
              <a:rPr lang="en-US" sz="1400" dirty="0">
                <a:solidFill>
                  <a:srgbClr val="5B6578"/>
                </a:solidFill>
                <a:latin typeface="Arial" pitchFamily="34" charset="0"/>
                <a:ea typeface="Arial" pitchFamily="34" charset="-122"/>
                <a:cs typeface="Arial" pitchFamily="34" charset="-120"/>
              </a:rPr>
              <a:t>Subtask labels</a:t>
            </a:r>
            <a:endParaRPr lang="en-US" sz="1400" dirty="0"/>
          </a:p>
        </p:txBody>
      </p:sp>
      <p:sp>
        <p:nvSpPr>
          <p:cNvPr id="209" name="Text 200"/>
          <p:cNvSpPr/>
          <p:nvPr/>
        </p:nvSpPr>
        <p:spPr>
          <a:xfrm>
            <a:off x="7452360" y="3977640"/>
            <a:ext cx="1874520" cy="548640"/>
          </a:xfrm>
          <a:prstGeom prst="roundRect">
            <a:avLst>
              <a:gd name="adj" fmla="val 16667"/>
            </a:avLst>
          </a:prstGeom>
          <a:solidFill>
            <a:srgbClr val="F3F5F8"/>
          </a:solidFill>
          <a:ln w="12700">
            <a:solidFill>
              <a:srgbClr val="D0D7DE"/>
            </a:solidFill>
          </a:ln>
        </p:spPr>
        <p:txBody>
          <a:bodyPr wrap="square" lIns="1270" tIns="1270" rIns="1270" bIns="1270" rtlCol="0" anchor="ctr"/>
          <a:lstStyle/>
          <a:p>
            <a:pPr algn="ctr" indent="0" marL="0">
              <a:buNone/>
            </a:pPr>
            <a:r>
              <a:rPr lang="en-US" sz="1500" b="1" dirty="0">
                <a:solidFill>
                  <a:srgbClr val="1E3A6E"/>
                </a:solidFill>
                <a:latin typeface="Arial" pitchFamily="34" charset="0"/>
                <a:ea typeface="Arial" pitchFamily="34" charset="-122"/>
                <a:cs typeface="Arial" pitchFamily="34" charset="-120"/>
              </a:rPr>
              <a:t>bed</a:t>
            </a:r>
            <a:endParaRPr lang="en-US" sz="1500" dirty="0"/>
          </a:p>
        </p:txBody>
      </p:sp>
      <p:sp>
        <p:nvSpPr>
          <p:cNvPr id="210" name="Text 201"/>
          <p:cNvSpPr/>
          <p:nvPr/>
        </p:nvSpPr>
        <p:spPr>
          <a:xfrm>
            <a:off x="9509760" y="3977640"/>
            <a:ext cx="1874520" cy="548640"/>
          </a:xfrm>
          <a:prstGeom prst="roundRect">
            <a:avLst>
              <a:gd name="adj" fmla="val 16667"/>
            </a:avLst>
          </a:prstGeom>
          <a:solidFill>
            <a:srgbClr val="F3F5F8"/>
          </a:solidFill>
          <a:ln w="12700">
            <a:solidFill>
              <a:srgbClr val="D0D7DE"/>
            </a:solidFill>
          </a:ln>
        </p:spPr>
        <p:txBody>
          <a:bodyPr wrap="square" lIns="1270" tIns="1270" rIns="1270" bIns="1270" rtlCol="0" anchor="ctr"/>
          <a:lstStyle/>
          <a:p>
            <a:pPr algn="ctr" indent="0" marL="0">
              <a:buNone/>
            </a:pPr>
            <a:r>
              <a:rPr lang="en-US" sz="1500" b="1" dirty="0">
                <a:solidFill>
                  <a:srgbClr val="1E3A6E"/>
                </a:solidFill>
                <a:latin typeface="Arial" pitchFamily="34" charset="0"/>
                <a:ea typeface="Arial" pitchFamily="34" charset="-122"/>
                <a:cs typeface="Arial" pitchFamily="34" charset="-120"/>
              </a:rPr>
              <a:t>chair</a:t>
            </a:r>
            <a:endParaRPr lang="en-US" sz="1500" dirty="0"/>
          </a:p>
        </p:txBody>
      </p:sp>
      <p:sp>
        <p:nvSpPr>
          <p:cNvPr id="211" name="Text 202"/>
          <p:cNvSpPr txBox="1"/>
          <p:nvPr/>
        </p:nvSpPr>
        <p:spPr>
          <a:xfrm>
            <a:off x="7452360" y="4754880"/>
            <a:ext cx="3931920" cy="128016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Welcome to working with somebody else's data. We keep the source labels visible and inspect the recording.</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Query is fast, decoding dominates</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B8C2D3"/>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F5C518"/>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E3E8F0"/>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54480"/>
            <a:ext cx="11064240" cy="2651760"/>
          </a:xfrm>
          <a:prstGeom prst="roundRect">
            <a:avLst>
              <a:gd name="adj" fmla="val 3448"/>
            </a:avLst>
          </a:prstGeom>
          <a:solidFill>
            <a:srgbClr val="F3F5F8"/>
          </a:solidFill>
          <a:ln/>
        </p:spPr>
        <p:txBody>
          <a:bodyPr wrap="square" lIns="1270" tIns="1270" rIns="1270" bIns="1270" rtlCol="0" anchor="ctr"/>
          <a:lstStyle/>
          <a:p>
            <a:pPr algn="l" indent="0" marL="0">
              <a:buNone/>
            </a:pPr>
            <a:endParaRPr lang="en-US" sz="1600" dirty="0"/>
          </a:p>
        </p:txBody>
      </p:sp>
      <p:sp>
        <p:nvSpPr>
          <p:cNvPr id="28" name="Text 19"/>
          <p:cNvSpPr txBox="1"/>
          <p:nvPr/>
        </p:nvSpPr>
        <p:spPr>
          <a:xfrm>
            <a:off x="640080" y="1737360"/>
            <a:ext cx="2057400" cy="685800"/>
          </a:xfrm>
          <a:prstGeom prst="rect">
            <a:avLst/>
          </a:prstGeom>
          <a:noFill/>
          <a:ln/>
        </p:spPr>
        <p:txBody>
          <a:bodyPr wrap="square" lIns="0" tIns="0" rIns="0" bIns="0" rtlCol="0" anchor="ctr"/>
          <a:lstStyle/>
          <a:p>
            <a:pPr algn="r" indent="0" marL="0">
              <a:buNone/>
            </a:pPr>
            <a:r>
              <a:rPr lang="en-US" sz="1400" dirty="0">
                <a:solidFill>
                  <a:srgbClr val="1B2433"/>
                </a:solidFill>
                <a:latin typeface="Arial" pitchFamily="34" charset="0"/>
                <a:ea typeface="Arial" pitchFamily="34" charset="-122"/>
                <a:cs typeface="Arial" pitchFamily="34" charset="-120"/>
              </a:rPr>
              <a:t>Load + decode bag</a:t>
            </a:r>
            <a:endParaRPr lang="en-US" sz="1400" dirty="0"/>
          </a:p>
        </p:txBody>
      </p:sp>
      <p:sp>
        <p:nvSpPr>
          <p:cNvPr id="29" name="Shape 20"/>
          <p:cNvSpPr/>
          <p:nvPr/>
        </p:nvSpPr>
        <p:spPr>
          <a:xfrm>
            <a:off x="2834640" y="1783080"/>
            <a:ext cx="7223760" cy="594360"/>
          </a:xfrm>
          <a:prstGeom prst="rect">
            <a:avLst/>
          </a:prstGeom>
          <a:solidFill>
            <a:srgbClr val="B8C2D3"/>
          </a:solidFill>
          <a:ln/>
        </p:spPr>
      </p:sp>
      <p:sp>
        <p:nvSpPr>
          <p:cNvPr id="30" name="Text 21"/>
          <p:cNvSpPr txBox="1"/>
          <p:nvPr/>
        </p:nvSpPr>
        <p:spPr>
          <a:xfrm>
            <a:off x="10168128" y="1737360"/>
            <a:ext cx="1371600" cy="68580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191 ms</a:t>
            </a:r>
            <a:endParaRPr lang="en-US" sz="1600" dirty="0"/>
          </a:p>
        </p:txBody>
      </p:sp>
      <p:sp>
        <p:nvSpPr>
          <p:cNvPr id="31" name="Text 22"/>
          <p:cNvSpPr txBox="1"/>
          <p:nvPr/>
        </p:nvSpPr>
        <p:spPr>
          <a:xfrm>
            <a:off x="640080" y="2514600"/>
            <a:ext cx="2057400" cy="685800"/>
          </a:xfrm>
          <a:prstGeom prst="rect">
            <a:avLst/>
          </a:prstGeom>
          <a:noFill/>
          <a:ln/>
        </p:spPr>
        <p:txBody>
          <a:bodyPr wrap="square" lIns="0" tIns="0" rIns="0" bIns="0" rtlCol="0" anchor="ctr"/>
          <a:lstStyle/>
          <a:p>
            <a:pPr algn="r" indent="0" marL="0">
              <a:buNone/>
            </a:pPr>
            <a:r>
              <a:rPr lang="en-US" sz="1400" dirty="0">
                <a:solidFill>
                  <a:srgbClr val="1B2433"/>
                </a:solidFill>
                <a:latin typeface="Arial" pitchFamily="34" charset="0"/>
                <a:ea typeface="Arial" pitchFamily="34" charset="-122"/>
                <a:cs typeface="Arial" pitchFamily="34" charset="-120"/>
              </a:rPr>
              <a:t>Query in Python</a:t>
            </a:r>
            <a:endParaRPr lang="en-US" sz="1400" dirty="0"/>
          </a:p>
        </p:txBody>
      </p:sp>
      <p:sp>
        <p:nvSpPr>
          <p:cNvPr id="32" name="Shape 23"/>
          <p:cNvSpPr/>
          <p:nvPr/>
        </p:nvSpPr>
        <p:spPr>
          <a:xfrm>
            <a:off x="2834640" y="2560320"/>
            <a:ext cx="937954" cy="594360"/>
          </a:xfrm>
          <a:prstGeom prst="rect">
            <a:avLst/>
          </a:prstGeom>
          <a:solidFill>
            <a:srgbClr val="3776AB"/>
          </a:solidFill>
          <a:ln/>
        </p:spPr>
      </p:sp>
      <p:sp>
        <p:nvSpPr>
          <p:cNvPr id="33" name="Text 24"/>
          <p:cNvSpPr txBox="1"/>
          <p:nvPr/>
        </p:nvSpPr>
        <p:spPr>
          <a:xfrm>
            <a:off x="3882322" y="2514600"/>
            <a:ext cx="1371600" cy="68580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24.8 ms</a:t>
            </a:r>
            <a:endParaRPr lang="en-US" sz="1600" dirty="0"/>
          </a:p>
        </p:txBody>
      </p:sp>
      <p:sp>
        <p:nvSpPr>
          <p:cNvPr id="34" name="Text 25"/>
          <p:cNvSpPr txBox="1"/>
          <p:nvPr/>
        </p:nvSpPr>
        <p:spPr>
          <a:xfrm>
            <a:off x="640080" y="3291840"/>
            <a:ext cx="2057400" cy="685800"/>
          </a:xfrm>
          <a:prstGeom prst="rect">
            <a:avLst/>
          </a:prstGeom>
          <a:noFill/>
          <a:ln/>
        </p:spPr>
        <p:txBody>
          <a:bodyPr wrap="square" lIns="0" tIns="0" rIns="0" bIns="0" rtlCol="0" anchor="ctr"/>
          <a:lstStyle/>
          <a:p>
            <a:pPr algn="r" indent="0" marL="0">
              <a:buNone/>
            </a:pPr>
            <a:r>
              <a:rPr lang="en-US" sz="1400" b="1" dirty="0">
                <a:solidFill>
                  <a:srgbClr val="1B2433"/>
                </a:solidFill>
                <a:latin typeface="Arial" pitchFamily="34" charset="0"/>
                <a:ea typeface="Arial" pitchFamily="34" charset="-122"/>
                <a:cs typeface="Arial" pitchFamily="34" charset="-120"/>
              </a:rPr>
              <a:t>Query in C++</a:t>
            </a:r>
            <a:endParaRPr lang="en-US" sz="1400" dirty="0"/>
          </a:p>
        </p:txBody>
      </p:sp>
      <p:sp>
        <p:nvSpPr>
          <p:cNvPr id="35" name="Shape 26"/>
          <p:cNvSpPr/>
          <p:nvPr/>
        </p:nvSpPr>
        <p:spPr>
          <a:xfrm>
            <a:off x="2834640" y="3337560"/>
            <a:ext cx="45720" cy="594360"/>
          </a:xfrm>
          <a:prstGeom prst="rect">
            <a:avLst/>
          </a:prstGeom>
          <a:solidFill>
            <a:srgbClr val="1E3A6E"/>
          </a:solidFill>
          <a:ln/>
        </p:spPr>
      </p:sp>
      <p:sp>
        <p:nvSpPr>
          <p:cNvPr id="36" name="Text 27"/>
          <p:cNvSpPr txBox="1"/>
          <p:nvPr/>
        </p:nvSpPr>
        <p:spPr>
          <a:xfrm>
            <a:off x="2990088" y="3291840"/>
            <a:ext cx="1371600" cy="68580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1.14 ms  (~22x)</a:t>
            </a:r>
            <a:endParaRPr lang="en-US" sz="1600" dirty="0"/>
          </a:p>
        </p:txBody>
      </p:sp>
      <p:sp>
        <p:nvSpPr>
          <p:cNvPr id="37" name="Text 28"/>
          <p:cNvSpPr/>
          <p:nvPr/>
        </p:nvSpPr>
        <p:spPr>
          <a:xfrm>
            <a:off x="548640" y="4480560"/>
            <a:ext cx="5394960" cy="1645920"/>
          </a:xfrm>
          <a:prstGeom prst="roundRect">
            <a:avLst>
              <a:gd name="adj" fmla="val 5556"/>
            </a:avLst>
          </a:prstGeom>
          <a:solidFill>
            <a:srgbClr val="FFFFFF"/>
          </a:solidFill>
          <a:ln w="12700">
            <a:solidFill>
              <a:srgbClr val="D0D7DE"/>
            </a:solidFill>
          </a:ln>
        </p:spPr>
        <p:txBody>
          <a:bodyPr wrap="square" lIns="3175" tIns="3175" rIns="3175" bIns="3175" rtlCol="0" anchor="ctr"/>
          <a:lstStyle/>
          <a:p>
            <a:pPr algn="l" indent="0" marL="0">
              <a:buNone/>
            </a:pPr>
            <a:r>
              <a:rPr lang="en-US" sz="1800" b="1" dirty="0">
                <a:solidFill>
                  <a:srgbClr val="1E3A6E"/>
                </a:solidFill>
                <a:latin typeface="Arial" pitchFamily="34" charset="0"/>
                <a:ea typeface="Arial" pitchFamily="34" charset="-122"/>
                <a:cs typeface="Arial" pitchFamily="34" charset="-120"/>
              </a:rPr>
              <a:t>Reload the whole file every time: decoding still dominates.</a:t>
            </a:r>
            <a:endParaRPr lang="en-US" sz="1800" dirty="0"/>
          </a:p>
        </p:txBody>
      </p:sp>
      <p:sp>
        <p:nvSpPr>
          <p:cNvPr id="38" name="Text 29"/>
          <p:cNvSpPr/>
          <p:nvPr/>
        </p:nvSpPr>
        <p:spPr>
          <a:xfrm>
            <a:off x="6217920" y="4480560"/>
            <a:ext cx="5394960" cy="1645920"/>
          </a:xfrm>
          <a:prstGeom prst="roundRect">
            <a:avLst>
              <a:gd name="adj" fmla="val 5556"/>
            </a:avLst>
          </a:prstGeom>
          <a:solidFill>
            <a:srgbClr val="F5C518"/>
          </a:solidFill>
          <a:ln/>
        </p:spPr>
        <p:txBody>
          <a:bodyPr wrap="square" lIns="3175" tIns="3175" rIns="3175" bIns="3175" rtlCol="0" anchor="ctr"/>
          <a:lstStyle/>
          <a:p>
            <a:pPr algn="l" indent="0" marL="0">
              <a:buNone/>
            </a:pPr>
            <a:r>
              <a:rPr lang="en-US" sz="1800" b="1" dirty="0">
                <a:solidFill>
                  <a:srgbClr val="1E3A6E"/>
                </a:solidFill>
                <a:latin typeface="Arial" pitchFamily="34" charset="0"/>
                <a:ea typeface="Arial" pitchFamily="34" charset="-122"/>
                <a:cs typeface="Arial" pitchFamily="34" charset="-120"/>
              </a:rPr>
              <a:t>Arrays already loaded, tuning the rule: the faster query helps straight away.</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1600200"/>
            <a:ext cx="10515600" cy="1554480"/>
          </a:xfrm>
          <a:prstGeom prst="rect">
            <a:avLst/>
          </a:prstGeom>
          <a:noFill/>
          <a:ln/>
        </p:spPr>
        <p:txBody>
          <a:bodyPr wrap="square" lIns="0" tIns="0" rIns="0" bIns="0" rtlCol="0" anchor="t"/>
          <a:lstStyle/>
          <a:p>
            <a:pPr algn="l" indent="0" marL="0">
              <a:buNone/>
            </a:pPr>
            <a:r>
              <a:rPr lang="en-US" sz="4400" b="1" dirty="0">
                <a:solidFill>
                  <a:srgbClr val="1E3A6E"/>
                </a:solidFill>
                <a:latin typeface="Arial" pitchFamily="34" charset="0"/>
                <a:ea typeface="Arial" pitchFamily="34" charset="-122"/>
                <a:cs typeface="Arial" pitchFamily="34" charset="-120"/>
              </a:rPr>
              <a:t>3. Could we add a library we have not wrapped?</a:t>
            </a:r>
            <a:endParaRPr lang="en-US" sz="4400" dirty="0"/>
          </a:p>
        </p:txBody>
      </p:sp>
      <p:sp>
        <p:nvSpPr>
          <p:cNvPr id="4" name="Text 1"/>
          <p:cNvSpPr txBox="1"/>
          <p:nvPr/>
        </p:nvSpPr>
        <p:spPr>
          <a:xfrm>
            <a:off x="822960" y="1097280"/>
            <a:ext cx="10058400" cy="365760"/>
          </a:xfrm>
          <a:prstGeom prst="rect">
            <a:avLst/>
          </a:prstGeom>
          <a:noFill/>
          <a:ln/>
        </p:spPr>
        <p:txBody>
          <a:bodyPr wrap="square" lIns="0" tIns="0" rIns="0" bIns="0" rtlCol="0" anchor="t"/>
          <a:lstStyle/>
          <a:p>
            <a:pPr indent="0" marL="0">
              <a:buNone/>
            </a:pPr>
            <a:r>
              <a:rPr lang="en-US" sz="1800" b="1" dirty="0">
                <a:solidFill>
                  <a:srgbClr val="3776AB"/>
                </a:solidFill>
                <a:latin typeface="Arial" pitchFamily="34" charset="0"/>
                <a:ea typeface="Arial" pitchFamily="34" charset="-122"/>
                <a:cs typeface="Arial" pitchFamily="34" charset="-120"/>
              </a:rPr>
              <a:t>Native library, 4 minutes</a:t>
            </a:r>
            <a:endParaRPr lang="en-US" sz="1800" dirty="0"/>
          </a:p>
        </p:txBody>
      </p:sp>
      <p:sp>
        <p:nvSpPr>
          <p:cNvPr id="5" name="Text 2"/>
          <p:cNvSpPr txBox="1"/>
          <p:nvPr/>
        </p:nvSpPr>
        <p:spPr>
          <a:xfrm>
            <a:off x="822960" y="3246120"/>
            <a:ext cx="10515600" cy="731520"/>
          </a:xfrm>
          <a:prstGeom prst="rect">
            <a:avLst/>
          </a:prstGeom>
          <a:noFill/>
          <a:ln/>
        </p:spPr>
        <p:txBody>
          <a:bodyPr wrap="square" lIns="0" tIns="0" rIns="0" bIns="0" rtlCol="0" anchor="t"/>
          <a:lstStyle/>
          <a:p>
            <a:pPr indent="0" marL="0">
              <a:buNone/>
            </a:pPr>
            <a:r>
              <a:rPr lang="en-US" sz="1800" dirty="0">
                <a:solidFill>
                  <a:srgbClr val="5B6578"/>
                </a:solidFill>
                <a:latin typeface="Arial" pitchFamily="34" charset="0"/>
                <a:ea typeface="Arial" pitchFamily="34" charset="-122"/>
                <a:cs typeface="Arial" pitchFamily="34" charset="-120"/>
              </a:rPr>
              <a:t>Nearby observations with enough confidence and enough separation in recorded frames, plus their centroid.</a:t>
            </a:r>
            <a:endParaRPr lang="en-US" sz="1800" dirty="0"/>
          </a:p>
        </p:txBody>
      </p:sp>
      <p:sp>
        <p:nvSpPr>
          <p:cNvPr id="6" name="Shape 3"/>
          <p:cNvSpPr/>
          <p:nvPr/>
        </p:nvSpPr>
        <p:spPr>
          <a:xfrm>
            <a:off x="1866748" y="4754880"/>
            <a:ext cx="960120" cy="0"/>
          </a:xfrm>
          <a:prstGeom prst="line">
            <a:avLst/>
          </a:prstGeom>
          <a:noFill/>
          <a:ln w="38100">
            <a:solidFill>
              <a:srgbClr val="1E3A6E"/>
            </a:solidFill>
            <a:prstDash val="solid"/>
          </a:ln>
        </p:spPr>
      </p:sp>
      <p:sp>
        <p:nvSpPr>
          <p:cNvPr id="7" name="Shape 4"/>
          <p:cNvSpPr/>
          <p:nvPr/>
        </p:nvSpPr>
        <p:spPr>
          <a:xfrm>
            <a:off x="3741268" y="4754880"/>
            <a:ext cx="960120" cy="0"/>
          </a:xfrm>
          <a:prstGeom prst="line">
            <a:avLst/>
          </a:prstGeom>
          <a:noFill/>
          <a:ln w="38100">
            <a:solidFill>
              <a:srgbClr val="1E3A6E"/>
            </a:solidFill>
            <a:prstDash val="solid"/>
          </a:ln>
        </p:spPr>
      </p:sp>
      <p:sp>
        <p:nvSpPr>
          <p:cNvPr id="8" name="Shape 5"/>
          <p:cNvSpPr/>
          <p:nvPr/>
        </p:nvSpPr>
        <p:spPr>
          <a:xfrm>
            <a:off x="5615788" y="4754880"/>
            <a:ext cx="960120" cy="0"/>
          </a:xfrm>
          <a:prstGeom prst="line">
            <a:avLst/>
          </a:prstGeom>
          <a:noFill/>
          <a:ln w="38100">
            <a:solidFill>
              <a:srgbClr val="B8C2D3"/>
            </a:solidFill>
            <a:prstDash val="solid"/>
          </a:ln>
        </p:spPr>
      </p:sp>
      <p:sp>
        <p:nvSpPr>
          <p:cNvPr id="9" name="Shape 6"/>
          <p:cNvSpPr/>
          <p:nvPr/>
        </p:nvSpPr>
        <p:spPr>
          <a:xfrm>
            <a:off x="7490308" y="4754880"/>
            <a:ext cx="960120" cy="0"/>
          </a:xfrm>
          <a:prstGeom prst="line">
            <a:avLst/>
          </a:prstGeom>
          <a:noFill/>
          <a:ln w="38100">
            <a:solidFill>
              <a:srgbClr val="B8C2D3"/>
            </a:solidFill>
            <a:prstDash val="solid"/>
          </a:ln>
        </p:spPr>
      </p:sp>
      <p:sp>
        <p:nvSpPr>
          <p:cNvPr id="10" name="Shape 7"/>
          <p:cNvSpPr/>
          <p:nvPr/>
        </p:nvSpPr>
        <p:spPr>
          <a:xfrm>
            <a:off x="9364828" y="4754880"/>
            <a:ext cx="960120" cy="0"/>
          </a:xfrm>
          <a:prstGeom prst="line">
            <a:avLst/>
          </a:prstGeom>
          <a:noFill/>
          <a:ln w="38100">
            <a:solidFill>
              <a:srgbClr val="B8C2D3"/>
            </a:solidFill>
            <a:prstDash val="solid"/>
          </a:ln>
        </p:spPr>
      </p:sp>
      <p:sp>
        <p:nvSpPr>
          <p:cNvPr id="11" name="Shape 8"/>
          <p:cNvSpPr/>
          <p:nvPr/>
        </p:nvSpPr>
        <p:spPr>
          <a:xfrm>
            <a:off x="952348" y="4297680"/>
            <a:ext cx="914400" cy="914400"/>
          </a:xfrm>
          <a:prstGeom prst="ellipse">
            <a:avLst/>
          </a:prstGeom>
          <a:solidFill>
            <a:srgbClr val="1E3A6E"/>
          </a:solidFill>
          <a:ln/>
        </p:spPr>
      </p:sp>
      <p:pic>
        <p:nvPicPr>
          <p:cNvPr id="12" name="Image 0" descr="preencoded.png">    </p:cNvPr>
          <p:cNvPicPr>
            <a:picLocks noChangeAspect="1"/>
          </p:cNvPicPr>
          <p:nvPr/>
        </p:nvPicPr>
        <p:blipFill>
          <a:blip r:embed="rId1"/>
          <a:stretch>
            <a:fillRect/>
          </a:stretch>
        </p:blipFill>
        <p:spPr>
          <a:xfrm>
            <a:off x="1180948" y="4526280"/>
            <a:ext cx="457200" cy="457200"/>
          </a:xfrm>
          <a:prstGeom prst="rect">
            <a:avLst/>
          </a:prstGeom>
        </p:spPr>
      </p:pic>
      <p:sp>
        <p:nvSpPr>
          <p:cNvPr id="13" name="Text 9"/>
          <p:cNvSpPr txBox="1"/>
          <p:nvPr/>
        </p:nvSpPr>
        <p:spPr>
          <a:xfrm>
            <a:off x="49514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Python</a:t>
            </a:r>
            <a:endParaRPr lang="en-US" sz="1800" dirty="0"/>
          </a:p>
        </p:txBody>
      </p:sp>
      <p:sp>
        <p:nvSpPr>
          <p:cNvPr id="14" name="Shape 10"/>
          <p:cNvSpPr/>
          <p:nvPr/>
        </p:nvSpPr>
        <p:spPr>
          <a:xfrm>
            <a:off x="2826868" y="4297680"/>
            <a:ext cx="914400" cy="914400"/>
          </a:xfrm>
          <a:prstGeom prst="ellipse">
            <a:avLst/>
          </a:prstGeom>
          <a:solidFill>
            <a:srgbClr val="1E3A6E"/>
          </a:solidFill>
          <a:ln/>
        </p:spPr>
      </p:sp>
      <p:pic>
        <p:nvPicPr>
          <p:cNvPr id="15" name="Image 1" descr="preencoded.png">    </p:cNvPr>
          <p:cNvPicPr>
            <a:picLocks noChangeAspect="1"/>
          </p:cNvPicPr>
          <p:nvPr/>
        </p:nvPicPr>
        <p:blipFill>
          <a:blip r:embed="rId2"/>
          <a:stretch>
            <a:fillRect/>
          </a:stretch>
        </p:blipFill>
        <p:spPr>
          <a:xfrm>
            <a:off x="3055468" y="4526280"/>
            <a:ext cx="457200" cy="457200"/>
          </a:xfrm>
          <a:prstGeom prst="rect">
            <a:avLst/>
          </a:prstGeom>
        </p:spPr>
      </p:pic>
      <p:sp>
        <p:nvSpPr>
          <p:cNvPr id="16" name="Text 11"/>
          <p:cNvSpPr txBox="1"/>
          <p:nvPr/>
        </p:nvSpPr>
        <p:spPr>
          <a:xfrm>
            <a:off x="236966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MCAP</a:t>
            </a:r>
            <a:endParaRPr lang="en-US" sz="1800" dirty="0"/>
          </a:p>
        </p:txBody>
      </p:sp>
      <p:sp>
        <p:nvSpPr>
          <p:cNvPr id="17" name="Shape 12"/>
          <p:cNvSpPr/>
          <p:nvPr/>
        </p:nvSpPr>
        <p:spPr>
          <a:xfrm>
            <a:off x="4701388" y="4297680"/>
            <a:ext cx="914400" cy="914400"/>
          </a:xfrm>
          <a:prstGeom prst="ellipse">
            <a:avLst/>
          </a:prstGeom>
          <a:solidFill>
            <a:srgbClr val="F5C518"/>
          </a:solidFill>
          <a:ln w="38100">
            <a:solidFill>
              <a:srgbClr val="1E3A6E"/>
            </a:solidFill>
            <a:prstDash val="solid"/>
          </a:ln>
        </p:spPr>
      </p:sp>
      <p:pic>
        <p:nvPicPr>
          <p:cNvPr id="18" name="Image 2" descr="preencoded.png">    </p:cNvPr>
          <p:cNvPicPr>
            <a:picLocks noChangeAspect="1"/>
          </p:cNvPicPr>
          <p:nvPr/>
        </p:nvPicPr>
        <p:blipFill>
          <a:blip r:embed="rId3"/>
          <a:stretch>
            <a:fillRect/>
          </a:stretch>
        </p:blipFill>
        <p:spPr>
          <a:xfrm>
            <a:off x="4929988" y="4526280"/>
            <a:ext cx="457200" cy="457200"/>
          </a:xfrm>
          <a:prstGeom prst="rect">
            <a:avLst/>
          </a:prstGeom>
        </p:spPr>
      </p:pic>
      <p:sp>
        <p:nvSpPr>
          <p:cNvPr id="19" name="Text 13"/>
          <p:cNvSpPr txBox="1"/>
          <p:nvPr/>
        </p:nvSpPr>
        <p:spPr>
          <a:xfrm>
            <a:off x="4244188" y="5349240"/>
            <a:ext cx="1828800" cy="320040"/>
          </a:xfrm>
          <a:prstGeom prst="rect">
            <a:avLst/>
          </a:prstGeom>
          <a:noFill/>
          <a:ln/>
        </p:spPr>
        <p:txBody>
          <a:bodyPr wrap="square" lIns="0" tIns="0" rIns="0" bIns="0" rtlCol="0" anchor="t"/>
          <a:lstStyle/>
          <a:p>
            <a:pPr algn="ctr" indent="0" marL="0">
              <a:buNone/>
            </a:pPr>
            <a:r>
              <a:rPr lang="en-US" sz="1800" b="1" dirty="0">
                <a:solidFill>
                  <a:srgbClr val="1E3A6E"/>
                </a:solidFill>
                <a:latin typeface="Arial" pitchFamily="34" charset="0"/>
                <a:ea typeface="Arial" pitchFamily="34" charset="-122"/>
                <a:cs typeface="Arial" pitchFamily="34" charset="-120"/>
              </a:rPr>
              <a:t>library</a:t>
            </a:r>
            <a:endParaRPr lang="en-US" sz="1800" dirty="0"/>
          </a:p>
        </p:txBody>
      </p:sp>
      <p:sp>
        <p:nvSpPr>
          <p:cNvPr id="20" name="Shape 14"/>
          <p:cNvSpPr/>
          <p:nvPr/>
        </p:nvSpPr>
        <p:spPr>
          <a:xfrm>
            <a:off x="6575908" y="4297680"/>
            <a:ext cx="914400" cy="914400"/>
          </a:xfrm>
          <a:prstGeom prst="ellipse">
            <a:avLst/>
          </a:prstGeom>
          <a:solidFill>
            <a:srgbClr val="E3E8F0"/>
          </a:solidFill>
          <a:ln/>
        </p:spPr>
      </p:sp>
      <p:pic>
        <p:nvPicPr>
          <p:cNvPr id="21" name="Image 3" descr="preencoded.png">    </p:cNvPr>
          <p:cNvPicPr>
            <a:picLocks noChangeAspect="1"/>
          </p:cNvPicPr>
          <p:nvPr/>
        </p:nvPicPr>
        <p:blipFill>
          <a:blip r:embed="rId4"/>
          <a:stretch>
            <a:fillRect/>
          </a:stretch>
        </p:blipFill>
        <p:spPr>
          <a:xfrm>
            <a:off x="6804508" y="4526280"/>
            <a:ext cx="457200" cy="457200"/>
          </a:xfrm>
          <a:prstGeom prst="rect">
            <a:avLst/>
          </a:prstGeom>
        </p:spPr>
      </p:pic>
      <p:sp>
        <p:nvSpPr>
          <p:cNvPr id="22" name="Text 15"/>
          <p:cNvSpPr txBox="1"/>
          <p:nvPr/>
        </p:nvSpPr>
        <p:spPr>
          <a:xfrm>
            <a:off x="611870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ROS</a:t>
            </a:r>
            <a:endParaRPr lang="en-US" sz="1800" dirty="0"/>
          </a:p>
        </p:txBody>
      </p:sp>
      <p:sp>
        <p:nvSpPr>
          <p:cNvPr id="23" name="Shape 16"/>
          <p:cNvSpPr/>
          <p:nvPr/>
        </p:nvSpPr>
        <p:spPr>
          <a:xfrm>
            <a:off x="8450428" y="4297680"/>
            <a:ext cx="914400" cy="914400"/>
          </a:xfrm>
          <a:prstGeom prst="ellipse">
            <a:avLst/>
          </a:prstGeom>
          <a:solidFill>
            <a:srgbClr val="E3E8F0"/>
          </a:solidFill>
          <a:ln/>
        </p:spPr>
      </p:sp>
      <p:pic>
        <p:nvPicPr>
          <p:cNvPr id="24" name="Image 4" descr="preencoded.png">    </p:cNvPr>
          <p:cNvPicPr>
            <a:picLocks noChangeAspect="1"/>
          </p:cNvPicPr>
          <p:nvPr/>
        </p:nvPicPr>
        <p:blipFill>
          <a:blip r:embed="rId5"/>
          <a:stretch>
            <a:fillRect/>
          </a:stretch>
        </p:blipFill>
        <p:spPr>
          <a:xfrm>
            <a:off x="8679028" y="4526280"/>
            <a:ext cx="457200" cy="457200"/>
          </a:xfrm>
          <a:prstGeom prst="rect">
            <a:avLst/>
          </a:prstGeom>
        </p:spPr>
      </p:pic>
      <p:sp>
        <p:nvSpPr>
          <p:cNvPr id="25" name="Text 17"/>
          <p:cNvSpPr txBox="1"/>
          <p:nvPr/>
        </p:nvSpPr>
        <p:spPr>
          <a:xfrm>
            <a:off x="799322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controller</a:t>
            </a:r>
            <a:endParaRPr lang="en-US" sz="1800" dirty="0"/>
          </a:p>
        </p:txBody>
      </p:sp>
      <p:sp>
        <p:nvSpPr>
          <p:cNvPr id="26" name="Shape 18"/>
          <p:cNvSpPr/>
          <p:nvPr/>
        </p:nvSpPr>
        <p:spPr>
          <a:xfrm>
            <a:off x="10324948" y="4297680"/>
            <a:ext cx="914400" cy="914400"/>
          </a:xfrm>
          <a:prstGeom prst="ellipse">
            <a:avLst/>
          </a:prstGeom>
          <a:solidFill>
            <a:srgbClr val="E3E8F0"/>
          </a:solidFill>
          <a:ln/>
        </p:spPr>
      </p:sp>
      <p:pic>
        <p:nvPicPr>
          <p:cNvPr id="27" name="Image 5" descr="preencoded.png">    </p:cNvPr>
          <p:cNvPicPr>
            <a:picLocks noChangeAspect="1"/>
          </p:cNvPicPr>
          <p:nvPr/>
        </p:nvPicPr>
        <p:blipFill>
          <a:blip r:embed="rId6"/>
          <a:stretch>
            <a:fillRect/>
          </a:stretch>
        </p:blipFill>
        <p:spPr>
          <a:xfrm>
            <a:off x="10553548" y="4526280"/>
            <a:ext cx="457200" cy="457200"/>
          </a:xfrm>
          <a:prstGeom prst="rect">
            <a:avLst/>
          </a:prstGeom>
        </p:spPr>
      </p:pic>
      <p:sp>
        <p:nvSpPr>
          <p:cNvPr id="28" name="Text 19"/>
          <p:cNvSpPr txBox="1"/>
          <p:nvPr/>
        </p:nvSpPr>
        <p:spPr>
          <a:xfrm>
            <a:off x="986774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webcam</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A library without a new kit</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F5C518"/>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08760"/>
            <a:ext cx="3017520" cy="2011680"/>
          </a:xfrm>
          <a:prstGeom prst="roundRect">
            <a:avLst>
              <a:gd name="adj" fmla="val 4545"/>
            </a:avLst>
          </a:prstGeom>
          <a:solidFill>
            <a:srgbClr val="F3F5F8"/>
          </a:solidFill>
          <a:ln/>
        </p:spPr>
        <p:txBody>
          <a:bodyPr wrap="square" lIns="1270" tIns="1270" rIns="1270" bIns="1270" rtlCol="0" anchor="ctr"/>
          <a:lstStyle/>
          <a:p>
            <a:pPr algn="l" indent="0" marL="0">
              <a:buNone/>
            </a:pPr>
            <a:endParaRPr lang="en-US" sz="1600" dirty="0"/>
          </a:p>
        </p:txBody>
      </p:sp>
      <p:sp>
        <p:nvSpPr>
          <p:cNvPr id="28" name="Text 19"/>
          <p:cNvSpPr txBox="1"/>
          <p:nvPr/>
        </p:nvSpPr>
        <p:spPr>
          <a:xfrm>
            <a:off x="731520" y="1600200"/>
            <a:ext cx="2743200" cy="320040"/>
          </a:xfrm>
          <a:prstGeom prst="rect">
            <a:avLst/>
          </a:prstGeom>
          <a:noFill/>
          <a:ln/>
        </p:spPr>
        <p:txBody>
          <a:bodyPr wrap="square" lIns="0" tIns="0" rIns="0" bIns="0" rtlCol="0" anchor="t"/>
          <a:lstStyle/>
          <a:p>
            <a:pPr indent="0" marL="0">
              <a:buNone/>
            </a:pPr>
            <a:r>
              <a:rPr lang="en-US" sz="1800" b="1" dirty="0">
                <a:solidFill>
                  <a:srgbClr val="3776AB"/>
                </a:solidFill>
                <a:latin typeface="Arial" pitchFamily="34" charset="0"/>
                <a:ea typeface="Arial" pitchFamily="34" charset="-122"/>
                <a:cs typeface="Arial" pitchFamily="34" charset="-120"/>
              </a:rPr>
              <a:t>Python side</a:t>
            </a:r>
            <a:endParaRPr lang="en-US" sz="1800" dirty="0"/>
          </a:p>
        </p:txBody>
      </p:sp>
      <p:sp>
        <p:nvSpPr>
          <p:cNvPr id="29" name="Text 20"/>
          <p:cNvSpPr txBox="1"/>
          <p:nvPr/>
        </p:nvSpPr>
        <p:spPr>
          <a:xfrm>
            <a:off x="731520" y="2011680"/>
            <a:ext cx="2743200" cy="1280160"/>
          </a:xfrm>
          <a:prstGeom prst="rect">
            <a:avLst/>
          </a:prstGeom>
          <a:noFill/>
          <a:ln/>
        </p:spPr>
        <p:txBody>
          <a:bodyPr wrap="square" lIns="0" tIns="0" rIns="0" bIns="0" rtlCol="0" anchor="t"/>
          <a:lstStyle/>
          <a:p>
            <a:pPr indent="0" marL="0">
              <a:buNone/>
            </a:pPr>
            <a:r>
              <a:rPr lang="en-US" sz="1600" dirty="0">
                <a:solidFill>
                  <a:srgbClr val="1B2433"/>
                </a:solidFill>
                <a:latin typeface="Arial" pitchFamily="34" charset="0"/>
                <a:ea typeface="Arial" pitchFamily="34" charset="-122"/>
                <a:cs typeface="Arial" pitchFamily="34" charset="-120"/>
              </a:rPr>
              <a:t>validate arrays</a:t>
            </a:r>
            <a:endParaRPr lang="en-US" sz="1600" dirty="0"/>
          </a:p>
          <a:p>
            <a:pPr indent="0" marL="0">
              <a:buNone/>
            </a:pPr>
            <a:r>
              <a:rPr lang="en-US" sz="1600" dirty="0">
                <a:solidFill>
                  <a:srgbClr val="1B2433"/>
                </a:solidFill>
                <a:latin typeface="Arial" pitchFamily="34" charset="0"/>
                <a:ea typeface="Arial" pitchFamily="34" charset="-122"/>
                <a:cs typeface="Arial" pitchFamily="34" charset="-120"/>
              </a:rPr>
              <a:t>allocate outputs</a:t>
            </a:r>
            <a:endParaRPr lang="en-US" sz="1600" dirty="0"/>
          </a:p>
          <a:p>
            <a:pPr indent="0" marL="0">
              <a:buNone/>
            </a:pPr>
            <a:r>
              <a:rPr lang="en-US" sz="1600" dirty="0">
                <a:solidFill>
                  <a:srgbClr val="1B2433"/>
                </a:solidFill>
                <a:latin typeface="Arial" pitchFamily="34" charset="0"/>
                <a:ea typeface="Arial" pitchFamily="34" charset="-122"/>
                <a:cs typeface="Arial" pitchFamily="34" charset="-120"/>
              </a:rPr>
              <a:t>run the experiment</a:t>
            </a:r>
            <a:endParaRPr lang="en-US" sz="1600" dirty="0"/>
          </a:p>
        </p:txBody>
      </p:sp>
      <p:sp>
        <p:nvSpPr>
          <p:cNvPr id="30" name="Text 21"/>
          <p:cNvSpPr/>
          <p:nvPr/>
        </p:nvSpPr>
        <p:spPr>
          <a:xfrm>
            <a:off x="4114800" y="1508760"/>
            <a:ext cx="4206240" cy="2011680"/>
          </a:xfrm>
          <a:prstGeom prst="roundRect">
            <a:avLst>
              <a:gd name="adj" fmla="val 4545"/>
            </a:avLst>
          </a:prstGeom>
          <a:solidFill>
            <a:srgbClr val="FFFFFF"/>
          </a:solidFill>
          <a:ln w="25400">
            <a:solidFill>
              <a:srgbClr val="1E3A6E"/>
            </a:solidFill>
          </a:ln>
        </p:spPr>
        <p:txBody>
          <a:bodyPr wrap="square" lIns="1270" tIns="1270" rIns="1270" bIns="1270" rtlCol="0" anchor="ctr"/>
          <a:lstStyle/>
          <a:p>
            <a:pPr algn="l" indent="0" marL="0">
              <a:buNone/>
            </a:pPr>
            <a:endParaRPr lang="en-US" sz="1600" dirty="0"/>
          </a:p>
        </p:txBody>
      </p:sp>
      <p:sp>
        <p:nvSpPr>
          <p:cNvPr id="31" name="Text 22"/>
          <p:cNvSpPr txBox="1"/>
          <p:nvPr/>
        </p:nvSpPr>
        <p:spPr>
          <a:xfrm>
            <a:off x="4297680" y="1600200"/>
            <a:ext cx="3840480" cy="320040"/>
          </a:xfrm>
          <a:prstGeom prst="rect">
            <a:avLst/>
          </a:prstGeom>
          <a:noFill/>
          <a:ln/>
        </p:spPr>
        <p:txBody>
          <a:bodyPr wrap="square" lIns="0" tIns="0" rIns="0" bIns="0" rtlCol="0" anchor="t"/>
          <a:lstStyle/>
          <a:p>
            <a:pPr indent="0" marL="0">
              <a:buNone/>
            </a:pPr>
            <a:r>
              <a:rPr lang="en-US" sz="1800" b="1" dirty="0">
                <a:solidFill>
                  <a:srgbClr val="1E3A6E"/>
                </a:solidFill>
                <a:latin typeface="Arial" pitchFamily="34" charset="0"/>
                <a:ea typeface="Arial" pitchFamily="34" charset="-122"/>
                <a:cs typeface="Arial" pitchFamily="34" charset="-120"/>
              </a:rPr>
              <a:t>Native adapter</a:t>
            </a:r>
            <a:endParaRPr lang="en-US" sz="1800" dirty="0"/>
          </a:p>
        </p:txBody>
      </p:sp>
      <p:sp>
        <p:nvSpPr>
          <p:cNvPr id="32" name="Text 23"/>
          <p:cNvSpPr txBox="1"/>
          <p:nvPr/>
        </p:nvSpPr>
        <p:spPr>
          <a:xfrm>
            <a:off x="4297680" y="2011680"/>
            <a:ext cx="3931920" cy="137160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pinned nanoflann header</a:t>
            </a:r>
            <a:endParaRPr lang="en-US" sz="1500" dirty="0"/>
          </a:p>
          <a:p>
            <a:pPr indent="0" marL="0">
              <a:buNone/>
            </a:pPr>
            <a:r>
              <a:rPr lang="en-US" sz="1500" dirty="0">
                <a:solidFill>
                  <a:srgbClr val="1B2433"/>
                </a:solidFill>
                <a:latin typeface="Arial" pitchFamily="34" charset="0"/>
                <a:ea typeface="Arial" pitchFamily="34" charset="-122"/>
                <a:cs typeface="Arial" pitchFamily="34" charset="-120"/>
              </a:rPr>
              <a:t>retained index, owned copy of points</a:t>
            </a:r>
            <a:endParaRPr lang="en-US" sz="1500" dirty="0"/>
          </a:p>
          <a:p>
            <a:pPr indent="0" marL="0">
              <a:buNone/>
            </a:pPr>
            <a:r>
              <a:rPr lang="en-US" sz="1500" dirty="0">
                <a:solidFill>
                  <a:srgbClr val="1B2433"/>
                </a:solidFill>
                <a:latin typeface="Arial" pitchFamily="34" charset="0"/>
                <a:ea typeface="Arial" pitchFamily="34" charset="-122"/>
                <a:cs typeface="Arial" pitchFamily="34" charset="-120"/>
              </a:rPr>
              <a:t>traversal + filter + centroid</a:t>
            </a:r>
            <a:endParaRPr lang="en-US" sz="1500" dirty="0"/>
          </a:p>
        </p:txBody>
      </p:sp>
      <p:sp>
        <p:nvSpPr>
          <p:cNvPr id="33" name="Text 24"/>
          <p:cNvSpPr/>
          <p:nvPr/>
        </p:nvSpPr>
        <p:spPr>
          <a:xfrm>
            <a:off x="8869680" y="1508760"/>
            <a:ext cx="2743200" cy="2011680"/>
          </a:xfrm>
          <a:prstGeom prst="roundRect">
            <a:avLst>
              <a:gd name="adj" fmla="val 4545"/>
            </a:avLst>
          </a:prstGeom>
          <a:solidFill>
            <a:srgbClr val="F3F5F8"/>
          </a:solidFill>
          <a:ln/>
        </p:spPr>
        <p:txBody>
          <a:bodyPr wrap="square" lIns="1270" tIns="1270" rIns="1270" bIns="1270" rtlCol="0" anchor="ctr"/>
          <a:lstStyle/>
          <a:p>
            <a:pPr algn="l" indent="0" marL="0">
              <a:buNone/>
            </a:pPr>
            <a:endParaRPr lang="en-US" sz="1600" dirty="0"/>
          </a:p>
        </p:txBody>
      </p:sp>
      <p:sp>
        <p:nvSpPr>
          <p:cNvPr id="34" name="Text 25"/>
          <p:cNvSpPr txBox="1"/>
          <p:nvPr/>
        </p:nvSpPr>
        <p:spPr>
          <a:xfrm>
            <a:off x="9052560" y="1600200"/>
            <a:ext cx="2468880" cy="320040"/>
          </a:xfrm>
          <a:prstGeom prst="rect">
            <a:avLst/>
          </a:prstGeom>
          <a:noFill/>
          <a:ln/>
        </p:spPr>
        <p:txBody>
          <a:bodyPr wrap="square" lIns="0" tIns="0" rIns="0" bIns="0" rtlCol="0" anchor="t"/>
          <a:lstStyle/>
          <a:p>
            <a:pPr indent="0" marL="0">
              <a:buNone/>
            </a:pPr>
            <a:r>
              <a:rPr lang="en-US" sz="1800" b="1" dirty="0">
                <a:solidFill>
                  <a:srgbClr val="3776AB"/>
                </a:solidFill>
                <a:latin typeface="Arial" pitchFamily="34" charset="0"/>
                <a:ea typeface="Arial" pitchFamily="34" charset="-122"/>
                <a:cs typeface="Arial" pitchFamily="34" charset="-120"/>
              </a:rPr>
              <a:t>Output arrays</a:t>
            </a:r>
            <a:endParaRPr lang="en-US" sz="1800" dirty="0"/>
          </a:p>
        </p:txBody>
      </p:sp>
      <p:sp>
        <p:nvSpPr>
          <p:cNvPr id="35" name="Text 26"/>
          <p:cNvSpPr txBox="1"/>
          <p:nvPr/>
        </p:nvSpPr>
        <p:spPr>
          <a:xfrm>
            <a:off x="9052560" y="2011680"/>
            <a:ext cx="2468880" cy="1280160"/>
          </a:xfrm>
          <a:prstGeom prst="rect">
            <a:avLst/>
          </a:prstGeom>
          <a:noFill/>
          <a:ln/>
        </p:spPr>
        <p:txBody>
          <a:bodyPr wrap="square" lIns="0" tIns="0" rIns="0" bIns="0" rtlCol="0" anchor="t"/>
          <a:lstStyle/>
          <a:p>
            <a:pPr indent="0" marL="0">
              <a:buNone/>
            </a:pPr>
            <a:r>
              <a:rPr lang="en-US" sz="1500" dirty="0">
                <a:solidFill>
                  <a:srgbClr val="1B2433"/>
                </a:solidFill>
                <a:latin typeface="Arial" pitchFamily="34" charset="0"/>
                <a:ea typeface="Arial" pitchFamily="34" charset="-122"/>
                <a:cs typeface="Arial" pitchFamily="34" charset="-120"/>
              </a:rPr>
              <a:t>neighbors</a:t>
            </a:r>
            <a:endParaRPr lang="en-US" sz="1500" dirty="0"/>
          </a:p>
          <a:p>
            <a:pPr indent="0" marL="0">
              <a:buNone/>
            </a:pPr>
            <a:r>
              <a:rPr lang="en-US" sz="1500" dirty="0">
                <a:solidFill>
                  <a:srgbClr val="1B2433"/>
                </a:solidFill>
                <a:latin typeface="Arial" pitchFamily="34" charset="0"/>
                <a:ea typeface="Arial" pitchFamily="34" charset="-122"/>
                <a:cs typeface="Arial" pitchFamily="34" charset="-120"/>
              </a:rPr>
              <a:t>squared distances</a:t>
            </a:r>
            <a:endParaRPr lang="en-US" sz="1500" dirty="0"/>
          </a:p>
          <a:p>
            <a:pPr indent="0" marL="0">
              <a:buNone/>
            </a:pPr>
            <a:r>
              <a:rPr lang="en-US" sz="1500" dirty="0">
                <a:solidFill>
                  <a:srgbClr val="1B2433"/>
                </a:solidFill>
                <a:latin typeface="Arial" pitchFamily="34" charset="0"/>
                <a:ea typeface="Arial" pitchFamily="34" charset="-122"/>
                <a:cs typeface="Arial" pitchFamily="34" charset="-120"/>
              </a:rPr>
              <a:t>counts, centroids</a:t>
            </a:r>
            <a:endParaRPr lang="en-US" sz="1500" dirty="0"/>
          </a:p>
        </p:txBody>
      </p:sp>
      <p:sp>
        <p:nvSpPr>
          <p:cNvPr id="36" name="Shape 27"/>
          <p:cNvSpPr/>
          <p:nvPr/>
        </p:nvSpPr>
        <p:spPr>
          <a:xfrm>
            <a:off x="3611880" y="2514600"/>
            <a:ext cx="457200" cy="0"/>
          </a:xfrm>
          <a:prstGeom prst="line">
            <a:avLst/>
          </a:prstGeom>
          <a:noFill/>
          <a:ln w="25400">
            <a:solidFill>
              <a:srgbClr val="1E3A6E"/>
            </a:solidFill>
            <a:prstDash val="solid"/>
            <a:tailEnd type="triangle"/>
          </a:ln>
        </p:spPr>
      </p:sp>
      <p:sp>
        <p:nvSpPr>
          <p:cNvPr id="37" name="Shape 28"/>
          <p:cNvSpPr/>
          <p:nvPr/>
        </p:nvSpPr>
        <p:spPr>
          <a:xfrm>
            <a:off x="8366760" y="2514600"/>
            <a:ext cx="457200" cy="0"/>
          </a:xfrm>
          <a:prstGeom prst="line">
            <a:avLst/>
          </a:prstGeom>
          <a:noFill/>
          <a:ln w="25400">
            <a:solidFill>
              <a:srgbClr val="1E3A6E"/>
            </a:solidFill>
            <a:prstDash val="solid"/>
            <a:tailEnd type="triangle"/>
          </a:ln>
        </p:spPr>
      </p:sp>
      <p:sp>
        <p:nvSpPr>
          <p:cNvPr id="38" name="Text 29"/>
          <p:cNvSpPr/>
          <p:nvPr/>
        </p:nvSpPr>
        <p:spPr>
          <a:xfrm>
            <a:off x="548640" y="3749040"/>
            <a:ext cx="2651760" cy="685800"/>
          </a:xfrm>
          <a:prstGeom prst="roundRect">
            <a:avLst>
              <a:gd name="adj" fmla="val 13333"/>
            </a:avLst>
          </a:prstGeom>
          <a:solidFill>
            <a:srgbClr val="F3F5F8"/>
          </a:solidFill>
          <a:ln/>
        </p:spPr>
        <p:txBody>
          <a:bodyPr wrap="square" lIns="1270" tIns="1270" rIns="1270" bIns="1270" rtlCol="0" anchor="ctr"/>
          <a:lstStyle/>
          <a:p>
            <a:pPr algn="l" indent="0" marL="0">
              <a:buNone/>
            </a:pPr>
            <a:endParaRPr lang="en-US" sz="1600" dirty="0"/>
          </a:p>
        </p:txBody>
      </p:sp>
      <p:sp>
        <p:nvSpPr>
          <p:cNvPr id="39" name="Text 30"/>
          <p:cNvSpPr/>
          <p:nvPr/>
        </p:nvSpPr>
        <p:spPr>
          <a:xfrm>
            <a:off x="658368" y="3950208"/>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1</a:t>
            </a:r>
            <a:endParaRPr lang="en-US" sz="1300" dirty="0"/>
          </a:p>
        </p:txBody>
      </p:sp>
      <p:sp>
        <p:nvSpPr>
          <p:cNvPr id="40" name="Text 31"/>
          <p:cNvSpPr txBox="1"/>
          <p:nvPr/>
        </p:nvSpPr>
        <p:spPr>
          <a:xfrm>
            <a:off x="1024128" y="3749040"/>
            <a:ext cx="2103120" cy="685800"/>
          </a:xfrm>
          <a:prstGeom prst="rect">
            <a:avLst/>
          </a:prstGeom>
          <a:noFill/>
          <a:ln/>
        </p:spPr>
        <p:txBody>
          <a:bodyPr wrap="square" lIns="0" tIns="0" rIns="0" bIns="0" rtlCol="0" anchor="ctr"/>
          <a:lstStyle/>
          <a:p>
            <a:pPr indent="0" marL="0">
              <a:buNone/>
            </a:pPr>
            <a:r>
              <a:rPr lang="en-US" sz="1400" dirty="0">
                <a:solidFill>
                  <a:srgbClr val="1B2433"/>
                </a:solidFill>
                <a:latin typeface="Arial" pitchFamily="34" charset="0"/>
                <a:ea typeface="Arial" pitchFamily="34" charset="-122"/>
                <a:cs typeface="Arial" pitchFamily="34" charset="-120"/>
              </a:rPr>
              <a:t>Pin and check the header</a:t>
            </a:r>
            <a:endParaRPr lang="en-US" sz="1400" dirty="0"/>
          </a:p>
        </p:txBody>
      </p:sp>
      <p:sp>
        <p:nvSpPr>
          <p:cNvPr id="41" name="Text 32"/>
          <p:cNvSpPr/>
          <p:nvPr/>
        </p:nvSpPr>
        <p:spPr>
          <a:xfrm>
            <a:off x="3337560" y="3749040"/>
            <a:ext cx="2651760" cy="685800"/>
          </a:xfrm>
          <a:prstGeom prst="roundRect">
            <a:avLst>
              <a:gd name="adj" fmla="val 13333"/>
            </a:avLst>
          </a:prstGeom>
          <a:solidFill>
            <a:srgbClr val="F3F5F8"/>
          </a:solidFill>
          <a:ln/>
        </p:spPr>
        <p:txBody>
          <a:bodyPr wrap="square" lIns="1270" tIns="1270" rIns="1270" bIns="1270" rtlCol="0" anchor="ctr"/>
          <a:lstStyle/>
          <a:p>
            <a:pPr algn="l" indent="0" marL="0">
              <a:buNone/>
            </a:pPr>
            <a:endParaRPr lang="en-US" sz="1600" dirty="0"/>
          </a:p>
        </p:txBody>
      </p:sp>
      <p:sp>
        <p:nvSpPr>
          <p:cNvPr id="42" name="Text 33"/>
          <p:cNvSpPr/>
          <p:nvPr/>
        </p:nvSpPr>
        <p:spPr>
          <a:xfrm>
            <a:off x="3447288" y="3950208"/>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2</a:t>
            </a:r>
            <a:endParaRPr lang="en-US" sz="1300" dirty="0"/>
          </a:p>
        </p:txBody>
      </p:sp>
      <p:sp>
        <p:nvSpPr>
          <p:cNvPr id="43" name="Text 34"/>
          <p:cNvSpPr txBox="1"/>
          <p:nvPr/>
        </p:nvSpPr>
        <p:spPr>
          <a:xfrm>
            <a:off x="3813048" y="3749040"/>
            <a:ext cx="2103120" cy="685800"/>
          </a:xfrm>
          <a:prstGeom prst="rect">
            <a:avLst/>
          </a:prstGeom>
          <a:noFill/>
          <a:ln/>
        </p:spPr>
        <p:txBody>
          <a:bodyPr wrap="square" lIns="0" tIns="0" rIns="0" bIns="0" rtlCol="0" anchor="ctr"/>
          <a:lstStyle/>
          <a:p>
            <a:pPr indent="0" marL="0">
              <a:buNone/>
            </a:pPr>
            <a:r>
              <a:rPr lang="en-US" sz="1400" dirty="0">
                <a:solidFill>
                  <a:srgbClr val="1B2433"/>
                </a:solidFill>
                <a:latin typeface="Arial" pitchFamily="34" charset="0"/>
                <a:ea typeface="Arial" pitchFamily="34" charset="-122"/>
                <a:cs typeface="Arial" pitchFamily="34" charset="-120"/>
              </a:rPr>
              <a:t>Build a small native adapter</a:t>
            </a:r>
            <a:endParaRPr lang="en-US" sz="1400" dirty="0"/>
          </a:p>
        </p:txBody>
      </p:sp>
      <p:sp>
        <p:nvSpPr>
          <p:cNvPr id="44" name="Text 35"/>
          <p:cNvSpPr/>
          <p:nvPr/>
        </p:nvSpPr>
        <p:spPr>
          <a:xfrm>
            <a:off x="6126480" y="3749040"/>
            <a:ext cx="2651760" cy="685800"/>
          </a:xfrm>
          <a:prstGeom prst="roundRect">
            <a:avLst>
              <a:gd name="adj" fmla="val 13333"/>
            </a:avLst>
          </a:prstGeom>
          <a:solidFill>
            <a:srgbClr val="F3F5F8"/>
          </a:solidFill>
          <a:ln/>
        </p:spPr>
        <p:txBody>
          <a:bodyPr wrap="square" lIns="1270" tIns="1270" rIns="1270" bIns="1270" rtlCol="0" anchor="ctr"/>
          <a:lstStyle/>
          <a:p>
            <a:pPr algn="l" indent="0" marL="0">
              <a:buNone/>
            </a:pPr>
            <a:endParaRPr lang="en-US" sz="1600" dirty="0"/>
          </a:p>
        </p:txBody>
      </p:sp>
      <p:sp>
        <p:nvSpPr>
          <p:cNvPr id="45" name="Text 36"/>
          <p:cNvSpPr/>
          <p:nvPr/>
        </p:nvSpPr>
        <p:spPr>
          <a:xfrm>
            <a:off x="6236208" y="3950208"/>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3</a:t>
            </a:r>
            <a:endParaRPr lang="en-US" sz="1300" dirty="0"/>
          </a:p>
        </p:txBody>
      </p:sp>
      <p:sp>
        <p:nvSpPr>
          <p:cNvPr id="46" name="Text 37"/>
          <p:cNvSpPr txBox="1"/>
          <p:nvPr/>
        </p:nvSpPr>
        <p:spPr>
          <a:xfrm>
            <a:off x="6601968" y="3749040"/>
            <a:ext cx="2103120" cy="685800"/>
          </a:xfrm>
          <a:prstGeom prst="rect">
            <a:avLst/>
          </a:prstGeom>
          <a:noFill/>
          <a:ln/>
        </p:spPr>
        <p:txBody>
          <a:bodyPr wrap="square" lIns="0" tIns="0" rIns="0" bIns="0" rtlCol="0" anchor="ctr"/>
          <a:lstStyle/>
          <a:p>
            <a:pPr indent="0" marL="0">
              <a:buNone/>
            </a:pPr>
            <a:r>
              <a:rPr lang="en-US" sz="1400" dirty="0">
                <a:solidFill>
                  <a:srgbClr val="1B2433"/>
                </a:solidFill>
                <a:latin typeface="Arial" pitchFamily="34" charset="0"/>
                <a:ea typeface="Arial" pitchFamily="34" charset="-122"/>
                <a:cs typeface="Arial" pitchFamily="34" charset="-120"/>
              </a:rPr>
              <a:t>Load its declarations</a:t>
            </a:r>
            <a:endParaRPr lang="en-US" sz="1400" dirty="0"/>
          </a:p>
        </p:txBody>
      </p:sp>
      <p:sp>
        <p:nvSpPr>
          <p:cNvPr id="47" name="Text 38"/>
          <p:cNvSpPr/>
          <p:nvPr/>
        </p:nvSpPr>
        <p:spPr>
          <a:xfrm>
            <a:off x="8915400" y="3749040"/>
            <a:ext cx="2651760" cy="685800"/>
          </a:xfrm>
          <a:prstGeom prst="roundRect">
            <a:avLst>
              <a:gd name="adj" fmla="val 13333"/>
            </a:avLst>
          </a:prstGeom>
          <a:solidFill>
            <a:srgbClr val="F3F5F8"/>
          </a:solidFill>
          <a:ln/>
        </p:spPr>
        <p:txBody>
          <a:bodyPr wrap="square" lIns="1270" tIns="1270" rIns="1270" bIns="1270" rtlCol="0" anchor="ctr"/>
          <a:lstStyle/>
          <a:p>
            <a:pPr algn="l" indent="0" marL="0">
              <a:buNone/>
            </a:pPr>
            <a:endParaRPr lang="en-US" sz="1600" dirty="0"/>
          </a:p>
        </p:txBody>
      </p:sp>
      <p:sp>
        <p:nvSpPr>
          <p:cNvPr id="48" name="Text 39"/>
          <p:cNvSpPr/>
          <p:nvPr/>
        </p:nvSpPr>
        <p:spPr>
          <a:xfrm>
            <a:off x="9025128" y="3950208"/>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4</a:t>
            </a:r>
            <a:endParaRPr lang="en-US" sz="1300" dirty="0"/>
          </a:p>
        </p:txBody>
      </p:sp>
      <p:sp>
        <p:nvSpPr>
          <p:cNvPr id="49" name="Text 40"/>
          <p:cNvSpPr txBox="1"/>
          <p:nvPr/>
        </p:nvSpPr>
        <p:spPr>
          <a:xfrm>
            <a:off x="9390888" y="3749040"/>
            <a:ext cx="2103120" cy="685800"/>
          </a:xfrm>
          <a:prstGeom prst="rect">
            <a:avLst/>
          </a:prstGeom>
          <a:noFill/>
          <a:ln/>
        </p:spPr>
        <p:txBody>
          <a:bodyPr wrap="square" lIns="0" tIns="0" rIns="0" bIns="0" rtlCol="0" anchor="ctr"/>
          <a:lstStyle/>
          <a:p>
            <a:pPr indent="0" marL="0">
              <a:buNone/>
            </a:pPr>
            <a:r>
              <a:rPr lang="en-US" sz="1400" dirty="0">
                <a:solidFill>
                  <a:srgbClr val="1B2433"/>
                </a:solidFill>
                <a:latin typeface="Arial" pitchFamily="34" charset="0"/>
                <a:ea typeface="Arial" pitchFamily="34" charset="-122"/>
                <a:cs typeface="Arial" pitchFamily="34" charset="-120"/>
              </a:rPr>
              <a:t>Retain the index between queries</a:t>
            </a:r>
            <a:endParaRPr lang="en-US" sz="1400" dirty="0"/>
          </a:p>
        </p:txBody>
      </p:sp>
      <p:sp>
        <p:nvSpPr>
          <p:cNvPr id="50" name="Text 41"/>
          <p:cNvSpPr/>
          <p:nvPr/>
        </p:nvSpPr>
        <p:spPr>
          <a:xfrm>
            <a:off x="548640" y="4864608"/>
            <a:ext cx="7680960" cy="1463040"/>
          </a:xfrm>
          <a:prstGeom prst="roundRect">
            <a:avLst>
              <a:gd name="adj" fmla="val 6250"/>
            </a:avLst>
          </a:prstGeom>
          <a:solidFill>
            <a:srgbClr val="F6F8FA"/>
          </a:solidFill>
          <a:ln w="12700">
            <a:solidFill>
              <a:srgbClr val="D0D7DE"/>
            </a:solidFill>
          </a:ln>
        </p:spPr>
        <p:txBody>
          <a:bodyPr wrap="square" lIns="1270" tIns="1270" rIns="1270" bIns="1270" rtlCol="0" anchor="ctr"/>
          <a:lstStyle/>
          <a:p>
            <a:pPr algn="l" indent="0" marL="0">
              <a:buNone/>
            </a:pPr>
            <a:endParaRPr lang="en-US" sz="1600" dirty="0"/>
          </a:p>
        </p:txBody>
      </p:sp>
      <p:sp>
        <p:nvSpPr>
          <p:cNvPr id="51" name="Text 42"/>
          <p:cNvSpPr/>
          <p:nvPr/>
        </p:nvSpPr>
        <p:spPr>
          <a:xfrm>
            <a:off x="731520" y="4572000"/>
            <a:ext cx="1005840" cy="310896"/>
          </a:xfrm>
          <a:prstGeom prst="roundRect">
            <a:avLst>
              <a:gd name="adj" fmla="val 29412"/>
            </a:avLst>
          </a:prstGeom>
          <a:solidFill>
            <a:srgbClr val="E6EAF0"/>
          </a:solidFill>
          <a:ln w="12700">
            <a:solidFill>
              <a:srgbClr val="D0D7DE"/>
            </a:solidFill>
          </a:ln>
        </p:spPr>
        <p:txBody>
          <a:bodyPr wrap="square" lIns="0" tIns="0" rIns="0" bIns="0" rtlCol="0" anchor="ctr"/>
          <a:lstStyle/>
          <a:p>
            <a:pPr algn="ctr" indent="0" marL="0">
              <a:buNone/>
            </a:pPr>
            <a:r>
              <a:rPr lang="en-US" sz="1200" dirty="0">
                <a:solidFill>
                  <a:srgbClr val="1B2433"/>
                </a:solidFill>
                <a:latin typeface="Courier New" pitchFamily="34" charset="0"/>
                <a:ea typeface="Courier New" pitchFamily="34" charset="-122"/>
                <a:cs typeface="Courier New" pitchFamily="34" charset="-120"/>
              </a:rPr>
              <a:t>demo.py</a:t>
            </a:r>
            <a:endParaRPr lang="en-US" sz="1200" dirty="0"/>
          </a:p>
        </p:txBody>
      </p:sp>
      <p:sp>
        <p:nvSpPr>
          <p:cNvPr id="52" name="Text 43"/>
          <p:cNvSpPr txBox="1"/>
          <p:nvPr/>
        </p:nvSpPr>
        <p:spPr>
          <a:xfrm>
            <a:off x="731520" y="5001768"/>
            <a:ext cx="7315200" cy="1280160"/>
          </a:xfrm>
          <a:prstGeom prst="rect">
            <a:avLst/>
          </a:prstGeom>
          <a:noFill/>
          <a:ln/>
        </p:spPr>
        <p:txBody>
          <a:bodyPr wrap="square" lIns="0" tIns="0" rIns="0" bIns="0" rtlCol="0" anchor="t"/>
          <a:lstStyle/>
          <a:p>
            <a:pPr indent="0" marL="0">
              <a:lnSpc>
                <a:spcPts val="1560"/>
              </a:lnSpc>
              <a:buNone/>
            </a:pPr>
            <a:r>
              <a:rPr lang="en-US" sz="1200" dirty="0">
                <a:solidFill>
                  <a:srgbClr val="D73A49"/>
                </a:solidFill>
                <a:latin typeface="Courier New" pitchFamily="34" charset="0"/>
                <a:ea typeface="Courier New" pitchFamily="34" charset="-122"/>
                <a:cs typeface="Courier New" pitchFamily="34" charset="-120"/>
              </a:rPr>
              <a:t>from</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index</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D73A49"/>
                </a:solidFill>
                <a:latin typeface="Courier New" pitchFamily="34" charset="0"/>
                <a:ea typeface="Courier New" pitchFamily="34" charset="-122"/>
                <a:cs typeface="Courier New" pitchFamily="34" charset="-120"/>
              </a:rPr>
              <a:t>import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Index</a:t>
            </a:r>
            <a:endParaRPr lang="en-US" sz="1600" dirty="0"/>
          </a:p>
          <a:p>
            <a:pPr indent="0" marL="0">
              <a:lnSpc>
                <a:spcPts val="1560"/>
              </a:lnSpc>
              <a:buNone/>
            </a:pPr>
            <a:r>
              <a:rPr lang="en-US" sz="1200" dirty="0">
                <a:solidFill>
                  <a:srgbClr val="1B2433"/>
                </a:solidFill>
                <a:latin typeface="Courier New" pitchFamily="34" charset="0"/>
                <a:ea typeface="Courier New" pitchFamily="34" charset="-122"/>
                <a:cs typeface="Courier New" pitchFamily="34" charset="-120"/>
              </a:rPr>
              <a:t> </a:t>
            </a:r>
            <a:endParaRPr lang="en-US" sz="1600" dirty="0"/>
          </a:p>
          <a:p>
            <a:pPr indent="0" marL="0">
              <a:lnSpc>
                <a:spcPts val="1560"/>
              </a:lnSpc>
              <a:buNone/>
            </a:pPr>
            <a:r>
              <a:rPr lang="en-US" sz="1200" dirty="0">
                <a:solidFill>
                  <a:srgbClr val="D73A49"/>
                </a:solidFill>
                <a:latin typeface="Courier New" pitchFamily="34" charset="0"/>
                <a:ea typeface="Courier New" pitchFamily="34" charset="-122"/>
                <a:cs typeface="Courier New" pitchFamily="34" charset="-120"/>
              </a:rPr>
              <a:t>with</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Index</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points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frame_ids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confidence</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D73A49"/>
                </a:solidFill>
                <a:latin typeface="Courier New" pitchFamily="34" charset="0"/>
                <a:ea typeface="Courier New" pitchFamily="34" charset="-122"/>
                <a:cs typeface="Courier New" pitchFamily="34" charset="-120"/>
              </a:rPr>
              <a:t>as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index</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result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index</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query</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query_points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query_frames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k</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005CC5"/>
                </a:solidFill>
                <a:latin typeface="Courier New" pitchFamily="34" charset="0"/>
                <a:ea typeface="Courier New" pitchFamily="34" charset="-122"/>
                <a:cs typeface="Courier New" pitchFamily="34" charset="-120"/>
              </a:rPr>
              <a:t>8</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frame_gap</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005CC5"/>
                </a:solidFill>
                <a:latin typeface="Courier New" pitchFamily="34" charset="0"/>
                <a:ea typeface="Courier New" pitchFamily="34" charset="-122"/>
                <a:cs typeface="Courier New" pitchFamily="34" charset="-120"/>
              </a:rPr>
              <a:t>128</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min_confidence</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005CC5"/>
                </a:solidFill>
                <a:latin typeface="Courier New" pitchFamily="34" charset="0"/>
                <a:ea typeface="Courier New" pitchFamily="34" charset="-122"/>
                <a:cs typeface="Courier New" pitchFamily="34" charset="-120"/>
              </a:rPr>
              <a:t>.6</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max_distance</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005CC5"/>
                </a:solidFill>
                <a:latin typeface="Courier New" pitchFamily="34" charset="0"/>
                <a:ea typeface="Courier New" pitchFamily="34" charset="-122"/>
                <a:cs typeface="Courier New" pitchFamily="34" charset="-120"/>
              </a:rPr>
              <a:t>.25</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005CC5"/>
                </a:solidFill>
                <a:latin typeface="Courier New" pitchFamily="34" charset="0"/>
                <a:ea typeface="Courier New" pitchFamily="34" charset="-122"/>
                <a:cs typeface="Courier New" pitchFamily="34" charset="-120"/>
              </a:rPr>
              <a:t>print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result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032F62"/>
                </a:solidFill>
                <a:latin typeface="Courier New" pitchFamily="34" charset="0"/>
                <a:ea typeface="Courier New" pitchFamily="34" charset="-122"/>
                <a:cs typeface="Courier New" pitchFamily="34" charset="-120"/>
              </a:rPr>
              <a:t>"centroids"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p:txBody>
      </p:sp>
      <p:sp>
        <p:nvSpPr>
          <p:cNvPr id="53" name="Text 44"/>
          <p:cNvSpPr txBox="1"/>
          <p:nvPr/>
        </p:nvSpPr>
        <p:spPr>
          <a:xfrm>
            <a:off x="8503920" y="4937760"/>
            <a:ext cx="3108960" cy="1097280"/>
          </a:xfrm>
          <a:prstGeom prst="rect">
            <a:avLst/>
          </a:prstGeom>
          <a:noFill/>
          <a:ln/>
        </p:spPr>
        <p:txBody>
          <a:bodyPr wrap="square" lIns="0" tIns="0" rIns="0" bIns="0" rtlCol="0" anchor="t"/>
          <a:lstStyle/>
          <a:p>
            <a:pPr indent="0" marL="0">
              <a:buNone/>
            </a:pPr>
            <a:r>
              <a:rPr lang="en-US" sz="1500" b="1" dirty="0">
                <a:solidFill>
                  <a:srgbClr val="1E3A6E"/>
                </a:solidFill>
                <a:latin typeface="Arial" pitchFamily="34" charset="0"/>
                <a:ea typeface="Arial" pitchFamily="34" charset="-122"/>
                <a:cs typeface="Arial" pitchFamily="34" charset="-120"/>
              </a:rPr>
              <a:t>Python controls the experiment. C++ keeps the index and does the traversal.</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Custom rule plus traversal</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B8C2D3"/>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F5C518"/>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E3E8F0"/>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54480"/>
            <a:ext cx="7498080" cy="4572000"/>
          </a:xfrm>
          <a:prstGeom prst="roundRect">
            <a:avLst>
              <a:gd name="adj" fmla="val 2000"/>
            </a:avLst>
          </a:prstGeom>
          <a:solidFill>
            <a:srgbClr val="F3F5F8"/>
          </a:solidFill>
          <a:ln/>
        </p:spPr>
        <p:txBody>
          <a:bodyPr wrap="square" lIns="1270" tIns="1270" rIns="1270" bIns="1270" rtlCol="0" anchor="ctr"/>
          <a:lstStyle/>
          <a:p>
            <a:pPr algn="l" indent="0" marL="0">
              <a:buNone/>
            </a:pPr>
            <a:endParaRPr lang="en-US" sz="1600" dirty="0"/>
          </a:p>
        </p:txBody>
      </p:sp>
      <p:sp>
        <p:nvSpPr>
          <p:cNvPr id="28" name="Text 19"/>
          <p:cNvSpPr txBox="1"/>
          <p:nvPr/>
        </p:nvSpPr>
        <p:spPr>
          <a:xfrm>
            <a:off x="731520" y="1691640"/>
            <a:ext cx="6400800" cy="320040"/>
          </a:xfrm>
          <a:prstGeom prst="rect">
            <a:avLst/>
          </a:prstGeom>
          <a:noFill/>
          <a:ln/>
        </p:spPr>
        <p:txBody>
          <a:bodyPr wrap="square" lIns="0" tIns="0" rIns="0" bIns="0" rtlCol="0" anchor="t"/>
          <a:lstStyle/>
          <a:p>
            <a:pPr indent="0" marL="0">
              <a:buNone/>
            </a:pPr>
            <a:r>
              <a:rPr lang="en-US" sz="1600" b="1" dirty="0">
                <a:solidFill>
                  <a:srgbClr val="1E3A6E"/>
                </a:solidFill>
                <a:latin typeface="Arial" pitchFamily="34" charset="0"/>
                <a:ea typeface="Arial" pitchFamily="34" charset="-122"/>
                <a:cs typeface="Arial" pitchFamily="34" charset="-120"/>
              </a:rPr>
              <a:t>Composed query with selection rule</a:t>
            </a:r>
            <a:endParaRPr lang="en-US" sz="1600" dirty="0"/>
          </a:p>
        </p:txBody>
      </p:sp>
      <p:sp>
        <p:nvSpPr>
          <p:cNvPr id="29" name="Text 20"/>
          <p:cNvSpPr txBox="1"/>
          <p:nvPr/>
        </p:nvSpPr>
        <p:spPr>
          <a:xfrm>
            <a:off x="640080" y="2103120"/>
            <a:ext cx="1965960" cy="640080"/>
          </a:xfrm>
          <a:prstGeom prst="rect">
            <a:avLst/>
          </a:prstGeom>
          <a:noFill/>
          <a:ln/>
        </p:spPr>
        <p:txBody>
          <a:bodyPr wrap="square" lIns="0" tIns="0" rIns="0" bIns="0" rtlCol="0" anchor="ctr"/>
          <a:lstStyle/>
          <a:p>
            <a:pPr algn="r" indent="0" marL="0">
              <a:buNone/>
            </a:pPr>
            <a:r>
              <a:rPr lang="en-US" sz="1400" dirty="0">
                <a:solidFill>
                  <a:srgbClr val="1B2433"/>
                </a:solidFill>
                <a:latin typeface="Arial" pitchFamily="34" charset="0"/>
                <a:ea typeface="Arial" pitchFamily="34" charset="-122"/>
                <a:cs typeface="Arial" pitchFamily="34" charset="-120"/>
              </a:rPr>
              <a:t>SciPy + Python selection</a:t>
            </a:r>
            <a:endParaRPr lang="en-US" sz="1400" dirty="0"/>
          </a:p>
        </p:txBody>
      </p:sp>
      <p:sp>
        <p:nvSpPr>
          <p:cNvPr id="30" name="Shape 21"/>
          <p:cNvSpPr/>
          <p:nvPr/>
        </p:nvSpPr>
        <p:spPr>
          <a:xfrm>
            <a:off x="2743200" y="2148840"/>
            <a:ext cx="3749040" cy="548640"/>
          </a:xfrm>
          <a:prstGeom prst="rect">
            <a:avLst/>
          </a:prstGeom>
          <a:solidFill>
            <a:srgbClr val="B8C2D3"/>
          </a:solidFill>
          <a:ln/>
        </p:spPr>
      </p:sp>
      <p:sp>
        <p:nvSpPr>
          <p:cNvPr id="31" name="Text 22"/>
          <p:cNvSpPr txBox="1"/>
          <p:nvPr/>
        </p:nvSpPr>
        <p:spPr>
          <a:xfrm>
            <a:off x="6601968" y="2103120"/>
            <a:ext cx="1371600" cy="64008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31.49 ms</a:t>
            </a:r>
            <a:endParaRPr lang="en-US" sz="1600" dirty="0"/>
          </a:p>
        </p:txBody>
      </p:sp>
      <p:sp>
        <p:nvSpPr>
          <p:cNvPr id="32" name="Text 23"/>
          <p:cNvSpPr txBox="1"/>
          <p:nvPr/>
        </p:nvSpPr>
        <p:spPr>
          <a:xfrm>
            <a:off x="640080" y="2834640"/>
            <a:ext cx="1965960" cy="640080"/>
          </a:xfrm>
          <a:prstGeom prst="rect">
            <a:avLst/>
          </a:prstGeom>
          <a:noFill/>
          <a:ln/>
        </p:spPr>
        <p:txBody>
          <a:bodyPr wrap="square" lIns="0" tIns="0" rIns="0" bIns="0" rtlCol="0" anchor="ctr"/>
          <a:lstStyle/>
          <a:p>
            <a:pPr algn="r" indent="0" marL="0">
              <a:buNone/>
            </a:pPr>
            <a:r>
              <a:rPr lang="en-US" sz="1400" b="1" dirty="0">
                <a:solidFill>
                  <a:srgbClr val="1B2433"/>
                </a:solidFill>
                <a:latin typeface="Arial" pitchFamily="34" charset="0"/>
                <a:ea typeface="Arial" pitchFamily="34" charset="-122"/>
                <a:cs typeface="Arial" pitchFamily="34" charset="-120"/>
              </a:rPr>
              <a:t>Native composed call</a:t>
            </a:r>
            <a:endParaRPr lang="en-US" sz="1400" dirty="0"/>
          </a:p>
        </p:txBody>
      </p:sp>
      <p:sp>
        <p:nvSpPr>
          <p:cNvPr id="33" name="Shape 24"/>
          <p:cNvSpPr/>
          <p:nvPr/>
        </p:nvSpPr>
        <p:spPr>
          <a:xfrm>
            <a:off x="2743200" y="2880360"/>
            <a:ext cx="379785" cy="548640"/>
          </a:xfrm>
          <a:prstGeom prst="rect">
            <a:avLst/>
          </a:prstGeom>
          <a:solidFill>
            <a:srgbClr val="1E3A6E"/>
          </a:solidFill>
          <a:ln/>
        </p:spPr>
      </p:sp>
      <p:sp>
        <p:nvSpPr>
          <p:cNvPr id="34" name="Text 25"/>
          <p:cNvSpPr txBox="1"/>
          <p:nvPr/>
        </p:nvSpPr>
        <p:spPr>
          <a:xfrm>
            <a:off x="3232713" y="2834640"/>
            <a:ext cx="1371600" cy="64008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3.19 ms</a:t>
            </a:r>
            <a:endParaRPr lang="en-US" sz="1600" dirty="0"/>
          </a:p>
        </p:txBody>
      </p:sp>
      <p:sp>
        <p:nvSpPr>
          <p:cNvPr id="35" name="Text 26"/>
          <p:cNvSpPr txBox="1"/>
          <p:nvPr/>
        </p:nvSpPr>
        <p:spPr>
          <a:xfrm>
            <a:off x="731520" y="3931920"/>
            <a:ext cx="6400800" cy="320040"/>
          </a:xfrm>
          <a:prstGeom prst="rect">
            <a:avLst/>
          </a:prstGeom>
          <a:noFill/>
          <a:ln/>
        </p:spPr>
        <p:txBody>
          <a:bodyPr wrap="square" lIns="0" tIns="0" rIns="0" bIns="0" rtlCol="0" anchor="t"/>
          <a:lstStyle/>
          <a:p>
            <a:pPr indent="0" marL="0">
              <a:buNone/>
            </a:pPr>
            <a:r>
              <a:rPr lang="en-US" sz="1600" b="1" dirty="0">
                <a:solidFill>
                  <a:srgbClr val="1E3A6E"/>
                </a:solidFill>
                <a:latin typeface="Arial" pitchFamily="34" charset="0"/>
                <a:ea typeface="Arial" pitchFamily="34" charset="-122"/>
                <a:cs typeface="Arial" pitchFamily="34" charset="-120"/>
              </a:rPr>
              <a:t>Direct searches</a:t>
            </a:r>
            <a:endParaRPr lang="en-US" sz="1600" dirty="0"/>
          </a:p>
        </p:txBody>
      </p:sp>
      <p:sp>
        <p:nvSpPr>
          <p:cNvPr id="36" name="Text 27"/>
          <p:cNvSpPr txBox="1"/>
          <p:nvPr/>
        </p:nvSpPr>
        <p:spPr>
          <a:xfrm>
            <a:off x="640080" y="4343400"/>
            <a:ext cx="1965960" cy="640080"/>
          </a:xfrm>
          <a:prstGeom prst="rect">
            <a:avLst/>
          </a:prstGeom>
          <a:noFill/>
          <a:ln/>
        </p:spPr>
        <p:txBody>
          <a:bodyPr wrap="square" lIns="0" tIns="0" rIns="0" bIns="0" rtlCol="0" anchor="ctr"/>
          <a:lstStyle/>
          <a:p>
            <a:pPr algn="r" indent="0" marL="0">
              <a:buNone/>
            </a:pPr>
            <a:r>
              <a:rPr lang="en-US" sz="1400" dirty="0">
                <a:solidFill>
                  <a:srgbClr val="1B2433"/>
                </a:solidFill>
                <a:latin typeface="Arial" pitchFamily="34" charset="0"/>
                <a:ea typeface="Arial" pitchFamily="34" charset="-122"/>
                <a:cs typeface="Arial" pitchFamily="34" charset="-120"/>
              </a:rPr>
              <a:t>SciPy</a:t>
            </a:r>
            <a:endParaRPr lang="en-US" sz="1400" dirty="0"/>
          </a:p>
        </p:txBody>
      </p:sp>
      <p:sp>
        <p:nvSpPr>
          <p:cNvPr id="37" name="Shape 28"/>
          <p:cNvSpPr/>
          <p:nvPr/>
        </p:nvSpPr>
        <p:spPr>
          <a:xfrm>
            <a:off x="2743200" y="4389120"/>
            <a:ext cx="276207" cy="548640"/>
          </a:xfrm>
          <a:prstGeom prst="rect">
            <a:avLst/>
          </a:prstGeom>
          <a:solidFill>
            <a:srgbClr val="B8C2D3"/>
          </a:solidFill>
          <a:ln/>
        </p:spPr>
      </p:sp>
      <p:sp>
        <p:nvSpPr>
          <p:cNvPr id="38" name="Text 29"/>
          <p:cNvSpPr txBox="1"/>
          <p:nvPr/>
        </p:nvSpPr>
        <p:spPr>
          <a:xfrm>
            <a:off x="3129135" y="4343400"/>
            <a:ext cx="1371600" cy="64008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2.32 ms</a:t>
            </a:r>
            <a:endParaRPr lang="en-US" sz="1600" dirty="0"/>
          </a:p>
        </p:txBody>
      </p:sp>
      <p:sp>
        <p:nvSpPr>
          <p:cNvPr id="39" name="Text 30"/>
          <p:cNvSpPr txBox="1"/>
          <p:nvPr/>
        </p:nvSpPr>
        <p:spPr>
          <a:xfrm>
            <a:off x="640080" y="5074920"/>
            <a:ext cx="1965960" cy="640080"/>
          </a:xfrm>
          <a:prstGeom prst="rect">
            <a:avLst/>
          </a:prstGeom>
          <a:noFill/>
          <a:ln/>
        </p:spPr>
        <p:txBody>
          <a:bodyPr wrap="square" lIns="0" tIns="0" rIns="0" bIns="0" rtlCol="0" anchor="ctr"/>
          <a:lstStyle/>
          <a:p>
            <a:pPr algn="r" indent="0" marL="0">
              <a:buNone/>
            </a:pPr>
            <a:r>
              <a:rPr lang="en-US" sz="1400" b="1" dirty="0">
                <a:solidFill>
                  <a:srgbClr val="1B2433"/>
                </a:solidFill>
                <a:latin typeface="Arial" pitchFamily="34" charset="0"/>
                <a:ea typeface="Arial" pitchFamily="34" charset="-122"/>
                <a:cs typeface="Arial" pitchFamily="34" charset="-120"/>
              </a:rPr>
              <a:t>Native, incl. centroid</a:t>
            </a:r>
            <a:endParaRPr lang="en-US" sz="1400" dirty="0"/>
          </a:p>
        </p:txBody>
      </p:sp>
      <p:sp>
        <p:nvSpPr>
          <p:cNvPr id="40" name="Shape 31"/>
          <p:cNvSpPr/>
          <p:nvPr/>
        </p:nvSpPr>
        <p:spPr>
          <a:xfrm>
            <a:off x="2743200" y="5120640"/>
            <a:ext cx="232157" cy="548640"/>
          </a:xfrm>
          <a:prstGeom prst="rect">
            <a:avLst/>
          </a:prstGeom>
          <a:solidFill>
            <a:srgbClr val="1E3A6E"/>
          </a:solidFill>
          <a:ln/>
        </p:spPr>
      </p:sp>
      <p:sp>
        <p:nvSpPr>
          <p:cNvPr id="41" name="Text 32"/>
          <p:cNvSpPr txBox="1"/>
          <p:nvPr/>
        </p:nvSpPr>
        <p:spPr>
          <a:xfrm>
            <a:off x="3085085" y="5074920"/>
            <a:ext cx="1371600" cy="64008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1.95 ms</a:t>
            </a:r>
            <a:endParaRPr lang="en-US" sz="1600" dirty="0"/>
          </a:p>
        </p:txBody>
      </p:sp>
      <p:sp>
        <p:nvSpPr>
          <p:cNvPr id="42" name="Text 33"/>
          <p:cNvSpPr/>
          <p:nvPr/>
        </p:nvSpPr>
        <p:spPr>
          <a:xfrm>
            <a:off x="8321040" y="1554480"/>
            <a:ext cx="3291840" cy="1371600"/>
          </a:xfrm>
          <a:prstGeom prst="roundRect">
            <a:avLst>
              <a:gd name="adj" fmla="val 6667"/>
            </a:avLst>
          </a:prstGeom>
          <a:solidFill>
            <a:srgbClr val="F3F5F8"/>
          </a:solidFill>
          <a:ln/>
        </p:spPr>
        <p:txBody>
          <a:bodyPr wrap="square" lIns="1270" tIns="1270" rIns="1270" bIns="1270" rtlCol="0" anchor="ctr"/>
          <a:lstStyle/>
          <a:p>
            <a:pPr algn="l" indent="0" marL="0">
              <a:buNone/>
            </a:pPr>
            <a:endParaRPr lang="en-US" sz="1600" dirty="0"/>
          </a:p>
        </p:txBody>
      </p:sp>
      <p:sp>
        <p:nvSpPr>
          <p:cNvPr id="43" name="Text 34"/>
          <p:cNvSpPr txBox="1"/>
          <p:nvPr/>
        </p:nvSpPr>
        <p:spPr>
          <a:xfrm>
            <a:off x="8503920" y="1691640"/>
            <a:ext cx="2926080" cy="685800"/>
          </a:xfrm>
          <a:prstGeom prst="rect">
            <a:avLst/>
          </a:prstGeom>
          <a:noFill/>
          <a:ln/>
        </p:spPr>
        <p:txBody>
          <a:bodyPr wrap="square" lIns="0" tIns="0" rIns="0" bIns="0" rtlCol="0" anchor="ctr"/>
          <a:lstStyle/>
          <a:p>
            <a:pPr indent="0" marL="0">
              <a:buNone/>
            </a:pPr>
            <a:r>
              <a:rPr lang="en-US" sz="3200" b="1" dirty="0">
                <a:solidFill>
                  <a:srgbClr val="1E3A6E"/>
                </a:solidFill>
                <a:latin typeface="Arial" pitchFamily="34" charset="0"/>
                <a:ea typeface="Arial" pitchFamily="34" charset="-122"/>
                <a:cs typeface="Arial" pitchFamily="34" charset="-120"/>
              </a:rPr>
              <a:t>50,000</a:t>
            </a:r>
            <a:endParaRPr lang="en-US" sz="3200" dirty="0"/>
          </a:p>
        </p:txBody>
      </p:sp>
      <p:sp>
        <p:nvSpPr>
          <p:cNvPr id="44" name="Text 35"/>
          <p:cNvSpPr txBox="1"/>
          <p:nvPr/>
        </p:nvSpPr>
        <p:spPr>
          <a:xfrm>
            <a:off x="8503920" y="2377440"/>
            <a:ext cx="2926080" cy="45720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synthetic positions, 2,000 queries</a:t>
            </a:r>
            <a:endParaRPr lang="en-US" sz="1400" dirty="0"/>
          </a:p>
        </p:txBody>
      </p:sp>
      <p:sp>
        <p:nvSpPr>
          <p:cNvPr id="45" name="Text 36"/>
          <p:cNvSpPr/>
          <p:nvPr/>
        </p:nvSpPr>
        <p:spPr>
          <a:xfrm>
            <a:off x="8321040" y="3108960"/>
            <a:ext cx="3291840" cy="1371600"/>
          </a:xfrm>
          <a:prstGeom prst="roundRect">
            <a:avLst>
              <a:gd name="adj" fmla="val 6667"/>
            </a:avLst>
          </a:prstGeom>
          <a:solidFill>
            <a:srgbClr val="F5C518"/>
          </a:solidFill>
          <a:ln/>
        </p:spPr>
        <p:txBody>
          <a:bodyPr wrap="square" lIns="1270" tIns="1270" rIns="1270" bIns="1270" rtlCol="0" anchor="ctr"/>
          <a:lstStyle/>
          <a:p>
            <a:pPr algn="l" indent="0" marL="0">
              <a:buNone/>
            </a:pPr>
            <a:endParaRPr lang="en-US" sz="1600" dirty="0"/>
          </a:p>
        </p:txBody>
      </p:sp>
      <p:sp>
        <p:nvSpPr>
          <p:cNvPr id="46" name="Text 37"/>
          <p:cNvSpPr txBox="1"/>
          <p:nvPr/>
        </p:nvSpPr>
        <p:spPr>
          <a:xfrm>
            <a:off x="8503920" y="3246120"/>
            <a:ext cx="2926080" cy="685800"/>
          </a:xfrm>
          <a:prstGeom prst="rect">
            <a:avLst/>
          </a:prstGeom>
          <a:noFill/>
          <a:ln/>
        </p:spPr>
        <p:txBody>
          <a:bodyPr wrap="square" lIns="0" tIns="0" rIns="0" bIns="0" rtlCol="0" anchor="ctr"/>
          <a:lstStyle/>
          <a:p>
            <a:pPr indent="0" marL="0">
              <a:buNone/>
            </a:pPr>
            <a:r>
              <a:rPr lang="en-US" sz="3200" b="1" dirty="0">
                <a:solidFill>
                  <a:srgbClr val="1E3A6E"/>
                </a:solidFill>
                <a:latin typeface="Arial" pitchFamily="34" charset="0"/>
                <a:ea typeface="Arial" pitchFamily="34" charset="-122"/>
                <a:cs typeface="Arial" pitchFamily="34" charset="-120"/>
              </a:rPr>
              <a:t>3.19 ms</a:t>
            </a:r>
            <a:endParaRPr lang="en-US" sz="3200" dirty="0"/>
          </a:p>
        </p:txBody>
      </p:sp>
      <p:sp>
        <p:nvSpPr>
          <p:cNvPr id="47" name="Text 38"/>
          <p:cNvSpPr txBox="1"/>
          <p:nvPr/>
        </p:nvSpPr>
        <p:spPr>
          <a:xfrm>
            <a:off x="8503920" y="3931920"/>
            <a:ext cx="2926080" cy="45720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warmed composed native call</a:t>
            </a:r>
            <a:endParaRPr lang="en-US" sz="1400" dirty="0"/>
          </a:p>
        </p:txBody>
      </p:sp>
      <p:sp>
        <p:nvSpPr>
          <p:cNvPr id="48" name="Text 39"/>
          <p:cNvSpPr/>
          <p:nvPr/>
        </p:nvSpPr>
        <p:spPr>
          <a:xfrm>
            <a:off x="8321040" y="4663440"/>
            <a:ext cx="3291840" cy="1463040"/>
          </a:xfrm>
          <a:prstGeom prst="roundRect">
            <a:avLst>
              <a:gd name="adj" fmla="val 6250"/>
            </a:avLst>
          </a:prstGeom>
          <a:solidFill>
            <a:srgbClr val="F3F5F8"/>
          </a:solidFill>
          <a:ln/>
        </p:spPr>
        <p:txBody>
          <a:bodyPr wrap="square" lIns="1270" tIns="1270" rIns="1270" bIns="1270" rtlCol="0" anchor="ctr"/>
          <a:lstStyle/>
          <a:p>
            <a:pPr algn="l" indent="0" marL="0">
              <a:buNone/>
            </a:pPr>
            <a:endParaRPr lang="en-US" sz="1600" dirty="0"/>
          </a:p>
        </p:txBody>
      </p:sp>
      <p:sp>
        <p:nvSpPr>
          <p:cNvPr id="49" name="Text 40"/>
          <p:cNvSpPr txBox="1"/>
          <p:nvPr/>
        </p:nvSpPr>
        <p:spPr>
          <a:xfrm>
            <a:off x="8503920" y="4800600"/>
            <a:ext cx="2926080" cy="731520"/>
          </a:xfrm>
          <a:prstGeom prst="rect">
            <a:avLst/>
          </a:prstGeom>
          <a:noFill/>
          <a:ln/>
        </p:spPr>
        <p:txBody>
          <a:bodyPr wrap="square" lIns="0" tIns="0" rIns="0" bIns="0" rtlCol="0" anchor="ctr"/>
          <a:lstStyle/>
          <a:p>
            <a:pPr indent="0" marL="0">
              <a:buNone/>
            </a:pPr>
            <a:r>
              <a:rPr lang="en-US" sz="3200" b="1" dirty="0">
                <a:solidFill>
                  <a:srgbClr val="1E3A6E"/>
                </a:solidFill>
                <a:latin typeface="Arial" pitchFamily="34" charset="0"/>
                <a:ea typeface="Arial" pitchFamily="34" charset="-122"/>
                <a:cs typeface="Arial" pitchFamily="34" charset="-120"/>
              </a:rPr>
              <a:t>513 s</a:t>
            </a:r>
            <a:endParaRPr lang="en-US" sz="3200" dirty="0"/>
          </a:p>
        </p:txBody>
      </p:sp>
      <p:sp>
        <p:nvSpPr>
          <p:cNvPr id="50" name="Text 41"/>
          <p:cNvSpPr txBox="1"/>
          <p:nvPr/>
        </p:nvSpPr>
        <p:spPr>
          <a:xfrm>
            <a:off x="8503920" y="5532120"/>
            <a:ext cx="2926080" cy="50292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one complete agent run</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822960" y="1600200"/>
            <a:ext cx="10515600" cy="1554480"/>
          </a:xfrm>
          <a:prstGeom prst="rect">
            <a:avLst/>
          </a:prstGeom>
          <a:noFill/>
          <a:ln/>
        </p:spPr>
        <p:txBody>
          <a:bodyPr wrap="square" lIns="0" tIns="0" rIns="0" bIns="0" rtlCol="0" anchor="t"/>
          <a:lstStyle/>
          <a:p>
            <a:pPr algn="l" indent="0" marL="0">
              <a:buNone/>
            </a:pPr>
            <a:r>
              <a:rPr lang="en-US" sz="4400" b="1" dirty="0">
                <a:solidFill>
                  <a:srgbClr val="1E3A6E"/>
                </a:solidFill>
                <a:latin typeface="Arial" pitchFamily="34" charset="0"/>
                <a:ea typeface="Arial" pitchFamily="34" charset="-122"/>
                <a:cs typeface="Arial" pitchFamily="34" charset="-120"/>
              </a:rPr>
              <a:t>4. Could we just put it in ROS?</a:t>
            </a:r>
            <a:endParaRPr lang="en-US" sz="4400" dirty="0"/>
          </a:p>
        </p:txBody>
      </p:sp>
      <p:sp>
        <p:nvSpPr>
          <p:cNvPr id="4" name="Text 1"/>
          <p:cNvSpPr txBox="1"/>
          <p:nvPr/>
        </p:nvSpPr>
        <p:spPr>
          <a:xfrm>
            <a:off x="822960" y="1097280"/>
            <a:ext cx="10058400" cy="365760"/>
          </a:xfrm>
          <a:prstGeom prst="rect">
            <a:avLst/>
          </a:prstGeom>
          <a:noFill/>
          <a:ln/>
        </p:spPr>
        <p:txBody>
          <a:bodyPr wrap="square" lIns="0" tIns="0" rIns="0" bIns="0" rtlCol="0" anchor="t"/>
          <a:lstStyle/>
          <a:p>
            <a:pPr indent="0" marL="0">
              <a:buNone/>
            </a:pPr>
            <a:r>
              <a:rPr lang="en-US" sz="1800" b="1" dirty="0">
                <a:solidFill>
                  <a:srgbClr val="3776AB"/>
                </a:solidFill>
                <a:latin typeface="Arial" pitchFamily="34" charset="0"/>
                <a:ea typeface="Arial" pitchFamily="34" charset="-122"/>
                <a:cs typeface="Arial" pitchFamily="34" charset="-120"/>
              </a:rPr>
              <a:t>ROS, 6 minutes</a:t>
            </a:r>
            <a:endParaRPr lang="en-US" sz="1800" dirty="0"/>
          </a:p>
        </p:txBody>
      </p:sp>
      <p:sp>
        <p:nvSpPr>
          <p:cNvPr id="5" name="Text 2"/>
          <p:cNvSpPr txBox="1"/>
          <p:nvPr/>
        </p:nvSpPr>
        <p:spPr>
          <a:xfrm>
            <a:off x="822960" y="3246120"/>
            <a:ext cx="10515600" cy="731520"/>
          </a:xfrm>
          <a:prstGeom prst="rect">
            <a:avLst/>
          </a:prstGeom>
          <a:noFill/>
          <a:ln/>
        </p:spPr>
        <p:txBody>
          <a:bodyPr wrap="square" lIns="0" tIns="0" rIns="0" bIns="0" rtlCol="0" anchor="t"/>
          <a:lstStyle/>
          <a:p>
            <a:pPr indent="0" marL="0">
              <a:buNone/>
            </a:pPr>
            <a:r>
              <a:rPr lang="en-US" sz="1800" dirty="0">
                <a:solidFill>
                  <a:srgbClr val="5B6578"/>
                </a:solidFill>
                <a:latin typeface="Arial" pitchFamily="34" charset="0"/>
                <a:ea typeface="Arial" pitchFamily="34" charset="-122"/>
                <a:cs typeface="Arial" pitchFamily="34" charset="-120"/>
              </a:rPr>
              <a:t>A subscriber that keeps the latest 256 observations and runs the same query on that window.</a:t>
            </a:r>
            <a:endParaRPr lang="en-US" sz="1800" dirty="0"/>
          </a:p>
        </p:txBody>
      </p:sp>
      <p:sp>
        <p:nvSpPr>
          <p:cNvPr id="6" name="Shape 3"/>
          <p:cNvSpPr/>
          <p:nvPr/>
        </p:nvSpPr>
        <p:spPr>
          <a:xfrm>
            <a:off x="1866748" y="4754880"/>
            <a:ext cx="960120" cy="0"/>
          </a:xfrm>
          <a:prstGeom prst="line">
            <a:avLst/>
          </a:prstGeom>
          <a:noFill/>
          <a:ln w="38100">
            <a:solidFill>
              <a:srgbClr val="1E3A6E"/>
            </a:solidFill>
            <a:prstDash val="solid"/>
          </a:ln>
        </p:spPr>
      </p:sp>
      <p:sp>
        <p:nvSpPr>
          <p:cNvPr id="7" name="Shape 4"/>
          <p:cNvSpPr/>
          <p:nvPr/>
        </p:nvSpPr>
        <p:spPr>
          <a:xfrm>
            <a:off x="3741268" y="4754880"/>
            <a:ext cx="960120" cy="0"/>
          </a:xfrm>
          <a:prstGeom prst="line">
            <a:avLst/>
          </a:prstGeom>
          <a:noFill/>
          <a:ln w="38100">
            <a:solidFill>
              <a:srgbClr val="1E3A6E"/>
            </a:solidFill>
            <a:prstDash val="solid"/>
          </a:ln>
        </p:spPr>
      </p:sp>
      <p:sp>
        <p:nvSpPr>
          <p:cNvPr id="8" name="Shape 5"/>
          <p:cNvSpPr/>
          <p:nvPr/>
        </p:nvSpPr>
        <p:spPr>
          <a:xfrm>
            <a:off x="5615788" y="4754880"/>
            <a:ext cx="960120" cy="0"/>
          </a:xfrm>
          <a:prstGeom prst="line">
            <a:avLst/>
          </a:prstGeom>
          <a:noFill/>
          <a:ln w="38100">
            <a:solidFill>
              <a:srgbClr val="1E3A6E"/>
            </a:solidFill>
            <a:prstDash val="solid"/>
          </a:ln>
        </p:spPr>
      </p:sp>
      <p:sp>
        <p:nvSpPr>
          <p:cNvPr id="9" name="Shape 6"/>
          <p:cNvSpPr/>
          <p:nvPr/>
        </p:nvSpPr>
        <p:spPr>
          <a:xfrm>
            <a:off x="7490308" y="4754880"/>
            <a:ext cx="960120" cy="0"/>
          </a:xfrm>
          <a:prstGeom prst="line">
            <a:avLst/>
          </a:prstGeom>
          <a:noFill/>
          <a:ln w="38100">
            <a:solidFill>
              <a:srgbClr val="B8C2D3"/>
            </a:solidFill>
            <a:prstDash val="solid"/>
          </a:ln>
        </p:spPr>
      </p:sp>
      <p:sp>
        <p:nvSpPr>
          <p:cNvPr id="10" name="Shape 7"/>
          <p:cNvSpPr/>
          <p:nvPr/>
        </p:nvSpPr>
        <p:spPr>
          <a:xfrm>
            <a:off x="9364828" y="4754880"/>
            <a:ext cx="960120" cy="0"/>
          </a:xfrm>
          <a:prstGeom prst="line">
            <a:avLst/>
          </a:prstGeom>
          <a:noFill/>
          <a:ln w="38100">
            <a:solidFill>
              <a:srgbClr val="B8C2D3"/>
            </a:solidFill>
            <a:prstDash val="solid"/>
          </a:ln>
        </p:spPr>
      </p:sp>
      <p:sp>
        <p:nvSpPr>
          <p:cNvPr id="11" name="Shape 8"/>
          <p:cNvSpPr/>
          <p:nvPr/>
        </p:nvSpPr>
        <p:spPr>
          <a:xfrm>
            <a:off x="952348" y="4297680"/>
            <a:ext cx="914400" cy="914400"/>
          </a:xfrm>
          <a:prstGeom prst="ellipse">
            <a:avLst/>
          </a:prstGeom>
          <a:solidFill>
            <a:srgbClr val="1E3A6E"/>
          </a:solidFill>
          <a:ln/>
        </p:spPr>
      </p:sp>
      <p:pic>
        <p:nvPicPr>
          <p:cNvPr id="12" name="Image 0" descr="preencoded.png">    </p:cNvPr>
          <p:cNvPicPr>
            <a:picLocks noChangeAspect="1"/>
          </p:cNvPicPr>
          <p:nvPr/>
        </p:nvPicPr>
        <p:blipFill>
          <a:blip r:embed="rId1"/>
          <a:stretch>
            <a:fillRect/>
          </a:stretch>
        </p:blipFill>
        <p:spPr>
          <a:xfrm>
            <a:off x="1180948" y="4526280"/>
            <a:ext cx="457200" cy="457200"/>
          </a:xfrm>
          <a:prstGeom prst="rect">
            <a:avLst/>
          </a:prstGeom>
        </p:spPr>
      </p:pic>
      <p:sp>
        <p:nvSpPr>
          <p:cNvPr id="13" name="Text 9"/>
          <p:cNvSpPr txBox="1"/>
          <p:nvPr/>
        </p:nvSpPr>
        <p:spPr>
          <a:xfrm>
            <a:off x="49514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Python</a:t>
            </a:r>
            <a:endParaRPr lang="en-US" sz="1800" dirty="0"/>
          </a:p>
        </p:txBody>
      </p:sp>
      <p:sp>
        <p:nvSpPr>
          <p:cNvPr id="14" name="Shape 10"/>
          <p:cNvSpPr/>
          <p:nvPr/>
        </p:nvSpPr>
        <p:spPr>
          <a:xfrm>
            <a:off x="2826868" y="4297680"/>
            <a:ext cx="914400" cy="914400"/>
          </a:xfrm>
          <a:prstGeom prst="ellipse">
            <a:avLst/>
          </a:prstGeom>
          <a:solidFill>
            <a:srgbClr val="1E3A6E"/>
          </a:solidFill>
          <a:ln/>
        </p:spPr>
      </p:sp>
      <p:pic>
        <p:nvPicPr>
          <p:cNvPr id="15" name="Image 1" descr="preencoded.png">    </p:cNvPr>
          <p:cNvPicPr>
            <a:picLocks noChangeAspect="1"/>
          </p:cNvPicPr>
          <p:nvPr/>
        </p:nvPicPr>
        <p:blipFill>
          <a:blip r:embed="rId2"/>
          <a:stretch>
            <a:fillRect/>
          </a:stretch>
        </p:blipFill>
        <p:spPr>
          <a:xfrm>
            <a:off x="3055468" y="4526280"/>
            <a:ext cx="457200" cy="457200"/>
          </a:xfrm>
          <a:prstGeom prst="rect">
            <a:avLst/>
          </a:prstGeom>
        </p:spPr>
      </p:pic>
      <p:sp>
        <p:nvSpPr>
          <p:cNvPr id="16" name="Text 11"/>
          <p:cNvSpPr txBox="1"/>
          <p:nvPr/>
        </p:nvSpPr>
        <p:spPr>
          <a:xfrm>
            <a:off x="236966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MCAP</a:t>
            </a:r>
            <a:endParaRPr lang="en-US" sz="1800" dirty="0"/>
          </a:p>
        </p:txBody>
      </p:sp>
      <p:sp>
        <p:nvSpPr>
          <p:cNvPr id="17" name="Shape 12"/>
          <p:cNvSpPr/>
          <p:nvPr/>
        </p:nvSpPr>
        <p:spPr>
          <a:xfrm>
            <a:off x="4701388" y="4297680"/>
            <a:ext cx="914400" cy="914400"/>
          </a:xfrm>
          <a:prstGeom prst="ellipse">
            <a:avLst/>
          </a:prstGeom>
          <a:solidFill>
            <a:srgbClr val="1E3A6E"/>
          </a:solidFill>
          <a:ln/>
        </p:spPr>
      </p:sp>
      <p:pic>
        <p:nvPicPr>
          <p:cNvPr id="18" name="Image 2" descr="preencoded.png">    </p:cNvPr>
          <p:cNvPicPr>
            <a:picLocks noChangeAspect="1"/>
          </p:cNvPicPr>
          <p:nvPr/>
        </p:nvPicPr>
        <p:blipFill>
          <a:blip r:embed="rId3"/>
          <a:stretch>
            <a:fillRect/>
          </a:stretch>
        </p:blipFill>
        <p:spPr>
          <a:xfrm>
            <a:off x="4929988" y="4526280"/>
            <a:ext cx="457200" cy="457200"/>
          </a:xfrm>
          <a:prstGeom prst="rect">
            <a:avLst/>
          </a:prstGeom>
        </p:spPr>
      </p:pic>
      <p:sp>
        <p:nvSpPr>
          <p:cNvPr id="19" name="Text 13"/>
          <p:cNvSpPr txBox="1"/>
          <p:nvPr/>
        </p:nvSpPr>
        <p:spPr>
          <a:xfrm>
            <a:off x="424418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library</a:t>
            </a:r>
            <a:endParaRPr lang="en-US" sz="1800" dirty="0"/>
          </a:p>
        </p:txBody>
      </p:sp>
      <p:sp>
        <p:nvSpPr>
          <p:cNvPr id="20" name="Shape 14"/>
          <p:cNvSpPr/>
          <p:nvPr/>
        </p:nvSpPr>
        <p:spPr>
          <a:xfrm>
            <a:off x="6575908" y="4297680"/>
            <a:ext cx="914400" cy="914400"/>
          </a:xfrm>
          <a:prstGeom prst="ellipse">
            <a:avLst/>
          </a:prstGeom>
          <a:solidFill>
            <a:srgbClr val="F5C518"/>
          </a:solidFill>
          <a:ln w="38100">
            <a:solidFill>
              <a:srgbClr val="1E3A6E"/>
            </a:solidFill>
            <a:prstDash val="solid"/>
          </a:ln>
        </p:spPr>
      </p:sp>
      <p:pic>
        <p:nvPicPr>
          <p:cNvPr id="21" name="Image 3" descr="preencoded.png">    </p:cNvPr>
          <p:cNvPicPr>
            <a:picLocks noChangeAspect="1"/>
          </p:cNvPicPr>
          <p:nvPr/>
        </p:nvPicPr>
        <p:blipFill>
          <a:blip r:embed="rId4"/>
          <a:stretch>
            <a:fillRect/>
          </a:stretch>
        </p:blipFill>
        <p:spPr>
          <a:xfrm>
            <a:off x="6804508" y="4526280"/>
            <a:ext cx="457200" cy="457200"/>
          </a:xfrm>
          <a:prstGeom prst="rect">
            <a:avLst/>
          </a:prstGeom>
        </p:spPr>
      </p:pic>
      <p:sp>
        <p:nvSpPr>
          <p:cNvPr id="22" name="Text 15"/>
          <p:cNvSpPr txBox="1"/>
          <p:nvPr/>
        </p:nvSpPr>
        <p:spPr>
          <a:xfrm>
            <a:off x="6118708" y="5349240"/>
            <a:ext cx="1828800" cy="320040"/>
          </a:xfrm>
          <a:prstGeom prst="rect">
            <a:avLst/>
          </a:prstGeom>
          <a:noFill/>
          <a:ln/>
        </p:spPr>
        <p:txBody>
          <a:bodyPr wrap="square" lIns="0" tIns="0" rIns="0" bIns="0" rtlCol="0" anchor="t"/>
          <a:lstStyle/>
          <a:p>
            <a:pPr algn="ctr" indent="0" marL="0">
              <a:buNone/>
            </a:pPr>
            <a:r>
              <a:rPr lang="en-US" sz="1800" b="1" dirty="0">
                <a:solidFill>
                  <a:srgbClr val="1E3A6E"/>
                </a:solidFill>
                <a:latin typeface="Arial" pitchFamily="34" charset="0"/>
                <a:ea typeface="Arial" pitchFamily="34" charset="-122"/>
                <a:cs typeface="Arial" pitchFamily="34" charset="-120"/>
              </a:rPr>
              <a:t>ROS</a:t>
            </a:r>
            <a:endParaRPr lang="en-US" sz="1800" dirty="0"/>
          </a:p>
        </p:txBody>
      </p:sp>
      <p:sp>
        <p:nvSpPr>
          <p:cNvPr id="23" name="Shape 16"/>
          <p:cNvSpPr/>
          <p:nvPr/>
        </p:nvSpPr>
        <p:spPr>
          <a:xfrm>
            <a:off x="8450428" y="4297680"/>
            <a:ext cx="914400" cy="914400"/>
          </a:xfrm>
          <a:prstGeom prst="ellipse">
            <a:avLst/>
          </a:prstGeom>
          <a:solidFill>
            <a:srgbClr val="E3E8F0"/>
          </a:solidFill>
          <a:ln/>
        </p:spPr>
      </p:sp>
      <p:pic>
        <p:nvPicPr>
          <p:cNvPr id="24" name="Image 4" descr="preencoded.png">    </p:cNvPr>
          <p:cNvPicPr>
            <a:picLocks noChangeAspect="1"/>
          </p:cNvPicPr>
          <p:nvPr/>
        </p:nvPicPr>
        <p:blipFill>
          <a:blip r:embed="rId5"/>
          <a:stretch>
            <a:fillRect/>
          </a:stretch>
        </p:blipFill>
        <p:spPr>
          <a:xfrm>
            <a:off x="8679028" y="4526280"/>
            <a:ext cx="457200" cy="457200"/>
          </a:xfrm>
          <a:prstGeom prst="rect">
            <a:avLst/>
          </a:prstGeom>
        </p:spPr>
      </p:pic>
      <p:sp>
        <p:nvSpPr>
          <p:cNvPr id="25" name="Text 17"/>
          <p:cNvSpPr txBox="1"/>
          <p:nvPr/>
        </p:nvSpPr>
        <p:spPr>
          <a:xfrm>
            <a:off x="799322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controller</a:t>
            </a:r>
            <a:endParaRPr lang="en-US" sz="1800" dirty="0"/>
          </a:p>
        </p:txBody>
      </p:sp>
      <p:sp>
        <p:nvSpPr>
          <p:cNvPr id="26" name="Shape 18"/>
          <p:cNvSpPr/>
          <p:nvPr/>
        </p:nvSpPr>
        <p:spPr>
          <a:xfrm>
            <a:off x="10324948" y="4297680"/>
            <a:ext cx="914400" cy="914400"/>
          </a:xfrm>
          <a:prstGeom prst="ellipse">
            <a:avLst/>
          </a:prstGeom>
          <a:solidFill>
            <a:srgbClr val="E3E8F0"/>
          </a:solidFill>
          <a:ln/>
        </p:spPr>
      </p:sp>
      <p:pic>
        <p:nvPicPr>
          <p:cNvPr id="27" name="Image 5" descr="preencoded.png">    </p:cNvPr>
          <p:cNvPicPr>
            <a:picLocks noChangeAspect="1"/>
          </p:cNvPicPr>
          <p:nvPr/>
        </p:nvPicPr>
        <p:blipFill>
          <a:blip r:embed="rId6"/>
          <a:stretch>
            <a:fillRect/>
          </a:stretch>
        </p:blipFill>
        <p:spPr>
          <a:xfrm>
            <a:off x="10553548" y="4526280"/>
            <a:ext cx="457200" cy="457200"/>
          </a:xfrm>
          <a:prstGeom prst="rect">
            <a:avLst/>
          </a:prstGeom>
        </p:spPr>
      </p:pic>
      <p:sp>
        <p:nvSpPr>
          <p:cNvPr id="28" name="Text 19"/>
          <p:cNvSpPr txBox="1"/>
          <p:nvPr/>
        </p:nvSpPr>
        <p:spPr>
          <a:xfrm>
            <a:off x="986774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webcam</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The same query in a ROS node</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1E3A6E"/>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1E3A6E"/>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F5C518"/>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54480"/>
            <a:ext cx="2377440" cy="1463040"/>
          </a:xfrm>
          <a:prstGeom prst="roundRect">
            <a:avLst>
              <a:gd name="adj" fmla="val 6250"/>
            </a:avLst>
          </a:prstGeom>
          <a:solidFill>
            <a:srgbClr val="F3F5F8"/>
          </a:solidFill>
          <a:ln/>
        </p:spPr>
        <p:txBody>
          <a:bodyPr wrap="square" lIns="1270" tIns="1270" rIns="1270" bIns="1270" rtlCol="0" anchor="ctr"/>
          <a:lstStyle/>
          <a:p>
            <a:pPr algn="l" indent="0" marL="0">
              <a:buNone/>
            </a:pPr>
            <a:endParaRPr lang="en-US" sz="1600" dirty="0"/>
          </a:p>
        </p:txBody>
      </p:sp>
      <p:pic>
        <p:nvPicPr>
          <p:cNvPr id="28" name="Image 6" descr="preencoded.png">    </p:cNvPr>
          <p:cNvPicPr>
            <a:picLocks noChangeAspect="1"/>
          </p:cNvPicPr>
          <p:nvPr/>
        </p:nvPicPr>
        <p:blipFill>
          <a:blip r:embed="rId7"/>
          <a:stretch>
            <a:fillRect/>
          </a:stretch>
        </p:blipFill>
        <p:spPr>
          <a:xfrm>
            <a:off x="731520" y="1691640"/>
            <a:ext cx="365760" cy="365760"/>
          </a:xfrm>
          <a:prstGeom prst="rect">
            <a:avLst/>
          </a:prstGeom>
        </p:spPr>
      </p:pic>
      <p:sp>
        <p:nvSpPr>
          <p:cNvPr id="29" name="Text 19"/>
          <p:cNvSpPr txBox="1"/>
          <p:nvPr/>
        </p:nvSpPr>
        <p:spPr>
          <a:xfrm>
            <a:off x="1188720" y="1719072"/>
            <a:ext cx="1737360" cy="320040"/>
          </a:xfrm>
          <a:prstGeom prst="rect">
            <a:avLst/>
          </a:prstGeom>
          <a:noFill/>
          <a:ln/>
        </p:spPr>
        <p:txBody>
          <a:bodyPr wrap="square" lIns="0" tIns="0" rIns="0" bIns="0" rtlCol="0" anchor="t"/>
          <a:lstStyle/>
          <a:p>
            <a:pPr indent="0" marL="0">
              <a:buNone/>
            </a:pPr>
            <a:r>
              <a:rPr lang="en-US" sz="1500" b="1" dirty="0">
                <a:solidFill>
                  <a:srgbClr val="1E3A6E"/>
                </a:solidFill>
                <a:latin typeface="Arial" pitchFamily="34" charset="0"/>
                <a:ea typeface="Arial" pitchFamily="34" charset="-122"/>
                <a:cs typeface="Arial" pitchFamily="34" charset="-120"/>
              </a:rPr>
              <a:t>ros2 bag play</a:t>
            </a:r>
            <a:endParaRPr lang="en-US" sz="1500" dirty="0"/>
          </a:p>
        </p:txBody>
      </p:sp>
      <p:sp>
        <p:nvSpPr>
          <p:cNvPr id="30" name="Text 20"/>
          <p:cNvSpPr txBox="1"/>
          <p:nvPr/>
        </p:nvSpPr>
        <p:spPr>
          <a:xfrm>
            <a:off x="731520" y="2286000"/>
            <a:ext cx="2011680" cy="36576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at 4x speed</a:t>
            </a:r>
            <a:endParaRPr lang="en-US" sz="1400" dirty="0"/>
          </a:p>
        </p:txBody>
      </p:sp>
      <p:sp>
        <p:nvSpPr>
          <p:cNvPr id="31" name="Shape 21"/>
          <p:cNvSpPr/>
          <p:nvPr/>
        </p:nvSpPr>
        <p:spPr>
          <a:xfrm>
            <a:off x="2971800" y="2286000"/>
            <a:ext cx="731520" cy="0"/>
          </a:xfrm>
          <a:prstGeom prst="line">
            <a:avLst/>
          </a:prstGeom>
          <a:noFill/>
          <a:ln w="25400">
            <a:solidFill>
              <a:srgbClr val="1E3A6E"/>
            </a:solidFill>
            <a:prstDash val="solid"/>
            <a:tailEnd type="triangle"/>
          </a:ln>
        </p:spPr>
      </p:sp>
      <p:sp>
        <p:nvSpPr>
          <p:cNvPr id="32" name="Text 22"/>
          <p:cNvSpPr txBox="1"/>
          <p:nvPr/>
        </p:nvSpPr>
        <p:spPr>
          <a:xfrm>
            <a:off x="2834640" y="1828800"/>
            <a:ext cx="1280160" cy="274320"/>
          </a:xfrm>
          <a:prstGeom prst="rect">
            <a:avLst/>
          </a:prstGeom>
          <a:noFill/>
          <a:ln/>
        </p:spPr>
        <p:txBody>
          <a:bodyPr wrap="square" lIns="0" tIns="0" rIns="0" bIns="0" rtlCol="0" anchor="t"/>
          <a:lstStyle/>
          <a:p>
            <a:pPr indent="0" marL="0">
              <a:buNone/>
            </a:pPr>
            <a:r>
              <a:rPr lang="en-US" sz="1200" b="1" dirty="0">
                <a:solidFill>
                  <a:srgbClr val="3776AB"/>
                </a:solidFill>
                <a:latin typeface="Arial" pitchFamily="34" charset="0"/>
                <a:ea typeface="Arial" pitchFamily="34" charset="-122"/>
                <a:cs typeface="Arial" pitchFamily="34" charset="-120"/>
              </a:rPr>
              <a:t>/roscon/poses</a:t>
            </a:r>
            <a:endParaRPr lang="en-US" sz="1200" dirty="0"/>
          </a:p>
        </p:txBody>
      </p:sp>
      <p:sp>
        <p:nvSpPr>
          <p:cNvPr id="33" name="Text 23"/>
          <p:cNvSpPr/>
          <p:nvPr/>
        </p:nvSpPr>
        <p:spPr>
          <a:xfrm>
            <a:off x="3749040" y="1554480"/>
            <a:ext cx="5669280" cy="1463040"/>
          </a:xfrm>
          <a:prstGeom prst="roundRect">
            <a:avLst>
              <a:gd name="adj" fmla="val 6250"/>
            </a:avLst>
          </a:prstGeom>
          <a:solidFill>
            <a:srgbClr val="FFFFFF"/>
          </a:solidFill>
          <a:ln w="25400">
            <a:solidFill>
              <a:srgbClr val="1E3A6E"/>
            </a:solidFill>
          </a:ln>
        </p:spPr>
        <p:txBody>
          <a:bodyPr wrap="square" lIns="1270" tIns="1270" rIns="1270" bIns="1270" rtlCol="0" anchor="ctr"/>
          <a:lstStyle/>
          <a:p>
            <a:pPr algn="l" indent="0" marL="0">
              <a:buNone/>
            </a:pPr>
            <a:endParaRPr lang="en-US" sz="1600" dirty="0"/>
          </a:p>
        </p:txBody>
      </p:sp>
      <p:sp>
        <p:nvSpPr>
          <p:cNvPr id="34" name="Text 24"/>
          <p:cNvSpPr txBox="1"/>
          <p:nvPr/>
        </p:nvSpPr>
        <p:spPr>
          <a:xfrm>
            <a:off x="3931920" y="1600200"/>
            <a:ext cx="2743200" cy="274320"/>
          </a:xfrm>
          <a:prstGeom prst="rect">
            <a:avLst/>
          </a:prstGeom>
          <a:noFill/>
          <a:ln/>
        </p:spPr>
        <p:txBody>
          <a:bodyPr wrap="square" lIns="0" tIns="0" rIns="0" bIns="0" rtlCol="0" anchor="t"/>
          <a:lstStyle/>
          <a:p>
            <a:pPr indent="0" marL="0">
              <a:buNone/>
            </a:pPr>
            <a:r>
              <a:rPr lang="en-US" sz="1400" b="1" dirty="0">
                <a:solidFill>
                  <a:srgbClr val="1E3A6E"/>
                </a:solidFill>
                <a:latin typeface="Arial" pitchFamily="34" charset="0"/>
                <a:ea typeface="Arial" pitchFamily="34" charset="-122"/>
                <a:cs typeface="Arial" pitchFamily="34" charset="-120"/>
              </a:rPr>
              <a:t>callback</a:t>
            </a:r>
            <a:endParaRPr lang="en-US" sz="1400" dirty="0"/>
          </a:p>
        </p:txBody>
      </p:sp>
      <p:sp>
        <p:nvSpPr>
          <p:cNvPr id="35" name="Text 25"/>
          <p:cNvSpPr/>
          <p:nvPr/>
        </p:nvSpPr>
        <p:spPr>
          <a:xfrm>
            <a:off x="3931920" y="2011680"/>
            <a:ext cx="1645920" cy="822960"/>
          </a:xfrm>
          <a:prstGeom prst="roundRect">
            <a:avLst>
              <a:gd name="adj" fmla="val 11111"/>
            </a:avLst>
          </a:prstGeom>
          <a:solidFill>
            <a:srgbClr val="F3F5F8"/>
          </a:solidFill>
          <a:ln/>
        </p:spPr>
        <p:txBody>
          <a:bodyPr wrap="square" lIns="635" tIns="635" rIns="635" bIns="635"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JSON decode</a:t>
            </a:r>
            <a:endParaRPr lang="en-US" sz="1300" dirty="0"/>
          </a:p>
        </p:txBody>
      </p:sp>
      <p:sp>
        <p:nvSpPr>
          <p:cNvPr id="36" name="Shape 26"/>
          <p:cNvSpPr/>
          <p:nvPr/>
        </p:nvSpPr>
        <p:spPr>
          <a:xfrm>
            <a:off x="5577840" y="2423160"/>
            <a:ext cx="137160" cy="0"/>
          </a:xfrm>
          <a:prstGeom prst="line">
            <a:avLst/>
          </a:prstGeom>
          <a:noFill/>
          <a:ln w="19050">
            <a:solidFill>
              <a:srgbClr val="1E3A6E"/>
            </a:solidFill>
            <a:prstDash val="solid"/>
            <a:tailEnd type="triangle"/>
          </a:ln>
        </p:spPr>
      </p:sp>
      <p:sp>
        <p:nvSpPr>
          <p:cNvPr id="37" name="Text 27"/>
          <p:cNvSpPr/>
          <p:nvPr/>
        </p:nvSpPr>
        <p:spPr>
          <a:xfrm>
            <a:off x="5715000" y="2011680"/>
            <a:ext cx="1645920" cy="822960"/>
          </a:xfrm>
          <a:prstGeom prst="roundRect">
            <a:avLst>
              <a:gd name="adj" fmla="val 11111"/>
            </a:avLst>
          </a:prstGeom>
          <a:solidFill>
            <a:srgbClr val="F3F5F8"/>
          </a:solidFill>
          <a:ln/>
        </p:spPr>
        <p:txBody>
          <a:bodyPr wrap="square" lIns="635" tIns="635" rIns="635" bIns="635"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window of 256</a:t>
            </a:r>
            <a:endParaRPr lang="en-US" sz="1300" dirty="0"/>
          </a:p>
        </p:txBody>
      </p:sp>
      <p:sp>
        <p:nvSpPr>
          <p:cNvPr id="38" name="Shape 28"/>
          <p:cNvSpPr/>
          <p:nvPr/>
        </p:nvSpPr>
        <p:spPr>
          <a:xfrm>
            <a:off x="7360920" y="2423160"/>
            <a:ext cx="137160" cy="0"/>
          </a:xfrm>
          <a:prstGeom prst="line">
            <a:avLst/>
          </a:prstGeom>
          <a:noFill/>
          <a:ln w="19050">
            <a:solidFill>
              <a:srgbClr val="1E3A6E"/>
            </a:solidFill>
            <a:prstDash val="solid"/>
            <a:tailEnd type="triangle"/>
          </a:ln>
        </p:spPr>
      </p:sp>
      <p:sp>
        <p:nvSpPr>
          <p:cNvPr id="39" name="Text 29"/>
          <p:cNvSpPr/>
          <p:nvPr/>
        </p:nvSpPr>
        <p:spPr>
          <a:xfrm>
            <a:off x="7498080" y="2011680"/>
            <a:ext cx="1645920" cy="822960"/>
          </a:xfrm>
          <a:prstGeom prst="roundRect">
            <a:avLst>
              <a:gd name="adj" fmla="val 11111"/>
            </a:avLst>
          </a:prstGeom>
          <a:solidFill>
            <a:srgbClr val="F5C518"/>
          </a:solidFill>
          <a:ln/>
        </p:spPr>
        <p:txBody>
          <a:bodyPr wrap="square" lIns="635" tIns="635" rIns="635" bIns="635"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rolling_query (native)</a:t>
            </a:r>
            <a:endParaRPr lang="en-US" sz="1300" dirty="0"/>
          </a:p>
        </p:txBody>
      </p:sp>
      <p:sp>
        <p:nvSpPr>
          <p:cNvPr id="40" name="Shape 30"/>
          <p:cNvSpPr/>
          <p:nvPr/>
        </p:nvSpPr>
        <p:spPr>
          <a:xfrm>
            <a:off x="9464040" y="2286000"/>
            <a:ext cx="594360" cy="0"/>
          </a:xfrm>
          <a:prstGeom prst="line">
            <a:avLst/>
          </a:prstGeom>
          <a:noFill/>
          <a:ln w="25400">
            <a:solidFill>
              <a:srgbClr val="1E3A6E"/>
            </a:solidFill>
            <a:prstDash val="solid"/>
            <a:tailEnd type="triangle"/>
          </a:ln>
        </p:spPr>
      </p:sp>
      <p:sp>
        <p:nvSpPr>
          <p:cNvPr id="41" name="Text 31"/>
          <p:cNvSpPr/>
          <p:nvPr/>
        </p:nvSpPr>
        <p:spPr>
          <a:xfrm>
            <a:off x="10104120" y="1554480"/>
            <a:ext cx="1508760" cy="1463040"/>
          </a:xfrm>
          <a:prstGeom prst="roundRect">
            <a:avLst>
              <a:gd name="adj" fmla="val 6250"/>
            </a:avLst>
          </a:prstGeom>
          <a:solidFill>
            <a:srgbClr val="1E3A6E"/>
          </a:solidFill>
          <a:ln/>
        </p:spPr>
        <p:txBody>
          <a:bodyPr wrap="square" lIns="1270" tIns="1270" rIns="1270" bIns="127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counts per window</a:t>
            </a:r>
            <a:endParaRPr lang="en-US" sz="1500" dirty="0"/>
          </a:p>
        </p:txBody>
      </p:sp>
      <p:sp>
        <p:nvSpPr>
          <p:cNvPr id="42" name="Text 32"/>
          <p:cNvSpPr/>
          <p:nvPr/>
        </p:nvSpPr>
        <p:spPr>
          <a:xfrm>
            <a:off x="548640" y="3675888"/>
            <a:ext cx="6858000" cy="1132840"/>
          </a:xfrm>
          <a:prstGeom prst="roundRect">
            <a:avLst>
              <a:gd name="adj" fmla="val 8072"/>
            </a:avLst>
          </a:prstGeom>
          <a:solidFill>
            <a:srgbClr val="F6F8FA"/>
          </a:solidFill>
          <a:ln w="12700">
            <a:solidFill>
              <a:srgbClr val="D0D7DE"/>
            </a:solidFill>
          </a:ln>
        </p:spPr>
        <p:txBody>
          <a:bodyPr wrap="square" lIns="1270" tIns="1270" rIns="1270" bIns="1270" rtlCol="0" anchor="ctr"/>
          <a:lstStyle/>
          <a:p>
            <a:pPr algn="l" indent="0" marL="0">
              <a:buNone/>
            </a:pPr>
            <a:endParaRPr lang="en-US" sz="1600" dirty="0"/>
          </a:p>
        </p:txBody>
      </p:sp>
      <p:sp>
        <p:nvSpPr>
          <p:cNvPr id="43" name="Text 33"/>
          <p:cNvSpPr/>
          <p:nvPr/>
        </p:nvSpPr>
        <p:spPr>
          <a:xfrm>
            <a:off x="731520" y="3383280"/>
            <a:ext cx="1005840" cy="310896"/>
          </a:xfrm>
          <a:prstGeom prst="roundRect">
            <a:avLst>
              <a:gd name="adj" fmla="val 29412"/>
            </a:avLst>
          </a:prstGeom>
          <a:solidFill>
            <a:srgbClr val="E6EAF0"/>
          </a:solidFill>
          <a:ln w="12700">
            <a:solidFill>
              <a:srgbClr val="D0D7DE"/>
            </a:solidFill>
          </a:ln>
        </p:spPr>
        <p:txBody>
          <a:bodyPr wrap="square" lIns="0" tIns="0" rIns="0" bIns="0" rtlCol="0" anchor="ctr"/>
          <a:lstStyle/>
          <a:p>
            <a:pPr algn="ctr" indent="0" marL="0">
              <a:buNone/>
            </a:pPr>
            <a:r>
              <a:rPr lang="en-US" sz="1200" dirty="0">
                <a:solidFill>
                  <a:srgbClr val="1B2433"/>
                </a:solidFill>
                <a:latin typeface="Courier New" pitchFamily="34" charset="0"/>
                <a:ea typeface="Courier New" pitchFamily="34" charset="-122"/>
                <a:cs typeface="Courier New" pitchFamily="34" charset="-120"/>
              </a:rPr>
              <a:t>node.py</a:t>
            </a:r>
            <a:endParaRPr lang="en-US" sz="1200" dirty="0"/>
          </a:p>
        </p:txBody>
      </p:sp>
      <p:sp>
        <p:nvSpPr>
          <p:cNvPr id="44" name="Text 34"/>
          <p:cNvSpPr txBox="1"/>
          <p:nvPr/>
        </p:nvSpPr>
        <p:spPr>
          <a:xfrm>
            <a:off x="731520" y="3813048"/>
            <a:ext cx="6492240" cy="949960"/>
          </a:xfrm>
          <a:prstGeom prst="rect">
            <a:avLst/>
          </a:prstGeom>
          <a:noFill/>
          <a:ln/>
        </p:spPr>
        <p:txBody>
          <a:bodyPr wrap="square" lIns="0" tIns="0" rIns="0" bIns="0" rtlCol="0" anchor="t"/>
          <a:lstStyle/>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history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append</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state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times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ascontiguousarray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item</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0</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for</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item</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in</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history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states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np</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ascontiguousarray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item</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005CC5"/>
                </a:solidFill>
                <a:latin typeface="Courier New" pitchFamily="34" charset="0"/>
                <a:ea typeface="Courier New" pitchFamily="34" charset="-122"/>
                <a:cs typeface="Courier New" pitchFamily="34" charset="-120"/>
              </a:rPr>
              <a:t>1</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for</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item</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in</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history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counts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seconds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rolling_query</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times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states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thresholds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p:txBody>
      </p:sp>
      <p:sp>
        <p:nvSpPr>
          <p:cNvPr id="45" name="Text 35"/>
          <p:cNvSpPr/>
          <p:nvPr/>
        </p:nvSpPr>
        <p:spPr>
          <a:xfrm>
            <a:off x="7772400" y="3383280"/>
            <a:ext cx="3840480" cy="2743200"/>
          </a:xfrm>
          <a:prstGeom prst="roundRect">
            <a:avLst>
              <a:gd name="adj" fmla="val 3333"/>
            </a:avLst>
          </a:prstGeom>
          <a:solidFill>
            <a:srgbClr val="F5C518"/>
          </a:solidFill>
          <a:ln/>
        </p:spPr>
        <p:txBody>
          <a:bodyPr wrap="square" lIns="1270" tIns="1270" rIns="1270" bIns="1270" rtlCol="0" anchor="ctr"/>
          <a:lstStyle/>
          <a:p>
            <a:pPr algn="l" indent="0" marL="0">
              <a:buNone/>
            </a:pPr>
            <a:endParaRPr lang="en-US" sz="1600" dirty="0"/>
          </a:p>
        </p:txBody>
      </p:sp>
      <p:sp>
        <p:nvSpPr>
          <p:cNvPr id="46" name="Text 36"/>
          <p:cNvSpPr txBox="1"/>
          <p:nvPr/>
        </p:nvSpPr>
        <p:spPr>
          <a:xfrm>
            <a:off x="7955280" y="3520440"/>
            <a:ext cx="3474720" cy="640080"/>
          </a:xfrm>
          <a:prstGeom prst="rect">
            <a:avLst/>
          </a:prstGeom>
          <a:noFill/>
          <a:ln/>
        </p:spPr>
        <p:txBody>
          <a:bodyPr wrap="square" lIns="0" tIns="0" rIns="0" bIns="0" rtlCol="0" anchor="t"/>
          <a:lstStyle/>
          <a:p>
            <a:pPr indent="0" marL="0">
              <a:buNone/>
            </a:pPr>
            <a:r>
              <a:rPr lang="en-US" sz="1900" b="1" dirty="0">
                <a:solidFill>
                  <a:srgbClr val="1E3A6E"/>
                </a:solidFill>
                <a:latin typeface="Arial" pitchFamily="34" charset="0"/>
                <a:ea typeface="Arial" pitchFamily="34" charset="-122"/>
                <a:cs typeface="Arial" pitchFamily="34" charset="-120"/>
              </a:rPr>
              <a:t>Recorded time, not wall time</a:t>
            </a:r>
            <a:endParaRPr lang="en-US" sz="1900" dirty="0"/>
          </a:p>
        </p:txBody>
      </p:sp>
      <p:sp>
        <p:nvSpPr>
          <p:cNvPr id="47" name="Text 37"/>
          <p:cNvSpPr txBox="1"/>
          <p:nvPr/>
        </p:nvSpPr>
        <p:spPr>
          <a:xfrm>
            <a:off x="7955280" y="4251960"/>
            <a:ext cx="3474720" cy="1097280"/>
          </a:xfrm>
          <a:prstGeom prst="rect">
            <a:avLst/>
          </a:prstGeom>
          <a:noFill/>
          <a:ln/>
        </p:spPr>
        <p:txBody>
          <a:bodyPr wrap="square" lIns="0" tIns="0" rIns="0" bIns="0" rtlCol="0" anchor="t"/>
          <a:lstStyle/>
          <a:p>
            <a:pPr indent="0" marL="0">
              <a:buNone/>
            </a:pPr>
            <a:r>
              <a:rPr lang="en-US" sz="1500" dirty="0">
                <a:solidFill>
                  <a:srgbClr val="1E3A6E"/>
                </a:solidFill>
                <a:latin typeface="Arial" pitchFamily="34" charset="0"/>
                <a:ea typeface="Arial" pitchFamily="34" charset="-122"/>
                <a:cs typeface="Arial" pitchFamily="34" charset="-120"/>
              </a:rPr>
              <a:t>Playing a bag faster should not persuade the heuristic that the robot grew faster arms.</a:t>
            </a:r>
            <a:endParaRPr lang="en-US" sz="1500" dirty="0"/>
          </a:p>
        </p:txBody>
      </p:sp>
      <p:sp>
        <p:nvSpPr>
          <p:cNvPr id="48" name="Text 38"/>
          <p:cNvSpPr txBox="1"/>
          <p:nvPr/>
        </p:nvSpPr>
        <p:spPr>
          <a:xfrm>
            <a:off x="7955280" y="5440680"/>
            <a:ext cx="3474720" cy="548640"/>
          </a:xfrm>
          <a:prstGeom prst="rect">
            <a:avLst/>
          </a:prstGeom>
          <a:noFill/>
          <a:ln/>
        </p:spPr>
        <p:txBody>
          <a:bodyPr wrap="square" lIns="0" tIns="0" rIns="0" bIns="0" rtlCol="0" anchor="t"/>
          <a:lstStyle/>
          <a:p>
            <a:pPr indent="0" marL="0">
              <a:buNone/>
            </a:pPr>
            <a:r>
              <a:rPr lang="en-US" sz="1400" dirty="0">
                <a:solidFill>
                  <a:srgbClr val="1E3A6E"/>
                </a:solidFill>
                <a:latin typeface="Arial" pitchFamily="34" charset="0"/>
                <a:ea typeface="Arial" pitchFamily="34" charset="-122"/>
                <a:cs typeface="Arial" pitchFamily="34" charset="-120"/>
              </a:rPr>
              <a:t>Counts describe the current window.</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Two terminals, same ROS domain</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1E3A6E"/>
            </a:solidFill>
            <a:prstDash val="solid"/>
          </a:ln>
        </p:spPr>
      </p:sp>
      <p:sp>
        <p:nvSpPr>
          <p:cNvPr id="7" name="Shape 4"/>
          <p:cNvSpPr/>
          <p:nvPr/>
        </p:nvSpPr>
        <p:spPr>
          <a:xfrm>
            <a:off x="10469880" y="576072"/>
            <a:ext cx="292608" cy="0"/>
          </a:xfrm>
          <a:prstGeom prst="line">
            <a:avLst/>
          </a:prstGeom>
          <a:noFill/>
          <a:ln w="25400">
            <a:solidFill>
              <a:srgbClr val="B8C2D3"/>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1E3A6E"/>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F5C518"/>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E3E8F0"/>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08760"/>
            <a:ext cx="11064240" cy="990600"/>
          </a:xfrm>
          <a:prstGeom prst="roundRect">
            <a:avLst>
              <a:gd name="adj" fmla="val 9231"/>
            </a:avLst>
          </a:prstGeom>
          <a:solidFill>
            <a:srgbClr val="1E1E2E"/>
          </a:solidFill>
          <a:ln/>
        </p:spPr>
        <p:txBody>
          <a:bodyPr wrap="square" lIns="1270" tIns="1270" rIns="1270" bIns="1270" rtlCol="0" anchor="ctr"/>
          <a:lstStyle/>
          <a:p>
            <a:pPr algn="l" indent="0" marL="0">
              <a:buNone/>
            </a:pPr>
            <a:endParaRPr lang="en-US" sz="1600" dirty="0"/>
          </a:p>
        </p:txBody>
      </p:sp>
      <p:sp>
        <p:nvSpPr>
          <p:cNvPr id="28" name="Text 19"/>
          <p:cNvSpPr/>
          <p:nvPr/>
        </p:nvSpPr>
        <p:spPr>
          <a:xfrm>
            <a:off x="548640" y="1508760"/>
            <a:ext cx="11064240" cy="384048"/>
          </a:xfrm>
          <a:prstGeom prst="roundRect">
            <a:avLst>
              <a:gd name="adj" fmla="val 23810"/>
            </a:avLst>
          </a:prstGeom>
          <a:solidFill>
            <a:srgbClr val="2B2D42"/>
          </a:solidFill>
          <a:ln/>
        </p:spPr>
        <p:txBody>
          <a:bodyPr wrap="square" lIns="1270" tIns="1270" rIns="1270" bIns="1270" rtlCol="0" anchor="ctr"/>
          <a:lstStyle/>
          <a:p>
            <a:pPr algn="l" indent="0" marL="0">
              <a:buNone/>
            </a:pPr>
            <a:endParaRPr lang="en-US" sz="1600" dirty="0"/>
          </a:p>
        </p:txBody>
      </p:sp>
      <p:sp>
        <p:nvSpPr>
          <p:cNvPr id="29" name="Shape 20"/>
          <p:cNvSpPr/>
          <p:nvPr/>
        </p:nvSpPr>
        <p:spPr>
          <a:xfrm>
            <a:off x="557784" y="1737360"/>
            <a:ext cx="11045952" cy="155448"/>
          </a:xfrm>
          <a:prstGeom prst="rect">
            <a:avLst/>
          </a:prstGeom>
          <a:solidFill>
            <a:srgbClr val="2B2D42"/>
          </a:solidFill>
          <a:ln/>
        </p:spPr>
      </p:sp>
      <p:sp>
        <p:nvSpPr>
          <p:cNvPr id="30" name="Shape 21"/>
          <p:cNvSpPr/>
          <p:nvPr/>
        </p:nvSpPr>
        <p:spPr>
          <a:xfrm>
            <a:off x="731520" y="1636776"/>
            <a:ext cx="128016" cy="128016"/>
          </a:xfrm>
          <a:prstGeom prst="ellipse">
            <a:avLst/>
          </a:prstGeom>
          <a:solidFill>
            <a:srgbClr val="FF5F56"/>
          </a:solidFill>
          <a:ln/>
        </p:spPr>
      </p:sp>
      <p:sp>
        <p:nvSpPr>
          <p:cNvPr id="31" name="Shape 22"/>
          <p:cNvSpPr/>
          <p:nvPr/>
        </p:nvSpPr>
        <p:spPr>
          <a:xfrm>
            <a:off x="932688" y="1636776"/>
            <a:ext cx="128016" cy="128016"/>
          </a:xfrm>
          <a:prstGeom prst="ellipse">
            <a:avLst/>
          </a:prstGeom>
          <a:solidFill>
            <a:srgbClr val="FFBD2E"/>
          </a:solidFill>
          <a:ln/>
        </p:spPr>
      </p:sp>
      <p:sp>
        <p:nvSpPr>
          <p:cNvPr id="32" name="Shape 23"/>
          <p:cNvSpPr/>
          <p:nvPr/>
        </p:nvSpPr>
        <p:spPr>
          <a:xfrm>
            <a:off x="1133856" y="1636776"/>
            <a:ext cx="128016" cy="128016"/>
          </a:xfrm>
          <a:prstGeom prst="ellipse">
            <a:avLst/>
          </a:prstGeom>
          <a:solidFill>
            <a:srgbClr val="27C93F"/>
          </a:solidFill>
          <a:ln/>
        </p:spPr>
      </p:sp>
      <p:sp>
        <p:nvSpPr>
          <p:cNvPr id="33" name="Text 24"/>
          <p:cNvSpPr txBox="1"/>
          <p:nvPr/>
        </p:nvSpPr>
        <p:spPr>
          <a:xfrm>
            <a:off x="1463040" y="1600200"/>
            <a:ext cx="9235440" cy="228600"/>
          </a:xfrm>
          <a:prstGeom prst="rect">
            <a:avLst/>
          </a:prstGeom>
          <a:noFill/>
          <a:ln/>
        </p:spPr>
        <p:txBody>
          <a:bodyPr wrap="square" lIns="0" tIns="0" rIns="0" bIns="0" rtlCol="0" anchor="t"/>
          <a:lstStyle/>
          <a:p>
            <a:pPr algn="ctr" indent="0" marL="0">
              <a:buNone/>
            </a:pPr>
            <a:r>
              <a:rPr lang="en-US" sz="1100" dirty="0">
                <a:solidFill>
                  <a:srgbClr val="9AA3B8"/>
                </a:solidFill>
                <a:latin typeface="Courier New" pitchFamily="34" charset="0"/>
                <a:ea typeface="Courier New" pitchFamily="34" charset="-122"/>
                <a:cs typeface="Courier New" pitchFamily="34" charset="-120"/>
              </a:rPr>
              <a:t>terminal 1: the node</a:t>
            </a:r>
            <a:endParaRPr lang="en-US" sz="1100" dirty="0"/>
          </a:p>
        </p:txBody>
      </p:sp>
      <p:sp>
        <p:nvSpPr>
          <p:cNvPr id="34" name="Text 25"/>
          <p:cNvSpPr txBox="1"/>
          <p:nvPr/>
        </p:nvSpPr>
        <p:spPr>
          <a:xfrm>
            <a:off x="822960" y="2011680"/>
            <a:ext cx="10515600" cy="304800"/>
          </a:xfrm>
          <a:prstGeom prst="rect">
            <a:avLst/>
          </a:prstGeom>
          <a:noFill/>
          <a:ln/>
        </p:spPr>
        <p:txBody>
          <a:bodyPr wrap="square" lIns="0" tIns="0" rIns="0" bIns="0" rtlCol="0" anchor="t"/>
          <a:lstStyle/>
          <a:p>
            <a:pPr indent="0" marL="0">
              <a:lnSpc>
                <a:spcPts val="1680"/>
              </a:lnSpc>
              <a:buNone/>
            </a:pPr>
            <a:r>
              <a:rPr lang="en-US" sz="1200" dirty="0">
                <a:solidFill>
                  <a:srgbClr val="50FA7B"/>
                </a:solidFill>
                <a:latin typeface="Courier New" pitchFamily="34" charset="0"/>
                <a:ea typeface="Courier New" pitchFamily="34" charset="-122"/>
                <a:cs typeface="Courier New" pitchFamily="34" charset="-120"/>
              </a:rPr>
              <a:t>$ </a:t>
            </a:r>
            <a:pPr indent="0" marL="0">
              <a:lnSpc>
                <a:spcPts val="1680"/>
              </a:lnSpc>
              <a:buNone/>
            </a:pPr>
            <a:r>
              <a:rPr lang="en-US" sz="1200" dirty="0">
                <a:solidFill>
                  <a:srgbClr val="F1FA8C"/>
                </a:solidFill>
                <a:latin typeface="Courier New" pitchFamily="34" charset="0"/>
                <a:ea typeface="Courier New" pitchFamily="34" charset="-122"/>
                <a:cs typeface="Courier New" pitchFamily="34" charset="-120"/>
              </a:rPr>
              <a:t>ROS_DOMAIN_ID=78 </a:t>
            </a:r>
            <a:pPr indent="0" marL="0">
              <a:lnSpc>
                <a:spcPts val="1680"/>
              </a:lnSpc>
              <a:buNone/>
            </a:pPr>
            <a:r>
              <a:rPr lang="en-US" sz="1200" dirty="0">
                <a:solidFill>
                  <a:srgbClr val="F8F8F2"/>
                </a:solidFill>
                <a:latin typeface="Courier New" pitchFamily="34" charset="0"/>
                <a:ea typeface="Courier New" pitchFamily="34" charset="-122"/>
                <a:cs typeface="Courier New" pitchFamily="34" charset="-120"/>
              </a:rPr>
              <a:t>pixi run -e ros python solutions/ros_native.py</a:t>
            </a:r>
            <a:endParaRPr lang="en-US" sz="1600" dirty="0"/>
          </a:p>
        </p:txBody>
      </p:sp>
      <p:sp>
        <p:nvSpPr>
          <p:cNvPr id="35" name="Text 26"/>
          <p:cNvSpPr/>
          <p:nvPr/>
        </p:nvSpPr>
        <p:spPr>
          <a:xfrm>
            <a:off x="548640" y="2682240"/>
            <a:ext cx="11064240" cy="1203960"/>
          </a:xfrm>
          <a:prstGeom prst="roundRect">
            <a:avLst>
              <a:gd name="adj" fmla="val 7595"/>
            </a:avLst>
          </a:prstGeom>
          <a:solidFill>
            <a:srgbClr val="1E1E2E"/>
          </a:solidFill>
          <a:ln/>
        </p:spPr>
        <p:txBody>
          <a:bodyPr wrap="square" lIns="1270" tIns="1270" rIns="1270" bIns="1270" rtlCol="0" anchor="ctr"/>
          <a:lstStyle/>
          <a:p>
            <a:pPr algn="l" indent="0" marL="0">
              <a:buNone/>
            </a:pPr>
            <a:endParaRPr lang="en-US" sz="1600" dirty="0"/>
          </a:p>
        </p:txBody>
      </p:sp>
      <p:sp>
        <p:nvSpPr>
          <p:cNvPr id="36" name="Text 27"/>
          <p:cNvSpPr/>
          <p:nvPr/>
        </p:nvSpPr>
        <p:spPr>
          <a:xfrm>
            <a:off x="548640" y="2682240"/>
            <a:ext cx="11064240" cy="384048"/>
          </a:xfrm>
          <a:prstGeom prst="roundRect">
            <a:avLst>
              <a:gd name="adj" fmla="val 23810"/>
            </a:avLst>
          </a:prstGeom>
          <a:solidFill>
            <a:srgbClr val="2B2D42"/>
          </a:solidFill>
          <a:ln/>
        </p:spPr>
        <p:txBody>
          <a:bodyPr wrap="square" lIns="1270" tIns="1270" rIns="1270" bIns="1270" rtlCol="0" anchor="ctr"/>
          <a:lstStyle/>
          <a:p>
            <a:pPr algn="l" indent="0" marL="0">
              <a:buNone/>
            </a:pPr>
            <a:endParaRPr lang="en-US" sz="1600" dirty="0"/>
          </a:p>
        </p:txBody>
      </p:sp>
      <p:sp>
        <p:nvSpPr>
          <p:cNvPr id="37" name="Shape 28"/>
          <p:cNvSpPr/>
          <p:nvPr/>
        </p:nvSpPr>
        <p:spPr>
          <a:xfrm>
            <a:off x="557784" y="2910840"/>
            <a:ext cx="11045952" cy="155448"/>
          </a:xfrm>
          <a:prstGeom prst="rect">
            <a:avLst/>
          </a:prstGeom>
          <a:solidFill>
            <a:srgbClr val="2B2D42"/>
          </a:solidFill>
          <a:ln/>
        </p:spPr>
      </p:sp>
      <p:sp>
        <p:nvSpPr>
          <p:cNvPr id="38" name="Shape 29"/>
          <p:cNvSpPr/>
          <p:nvPr/>
        </p:nvSpPr>
        <p:spPr>
          <a:xfrm>
            <a:off x="731520" y="2810256"/>
            <a:ext cx="128016" cy="128016"/>
          </a:xfrm>
          <a:prstGeom prst="ellipse">
            <a:avLst/>
          </a:prstGeom>
          <a:solidFill>
            <a:srgbClr val="FF5F56"/>
          </a:solidFill>
          <a:ln/>
        </p:spPr>
      </p:sp>
      <p:sp>
        <p:nvSpPr>
          <p:cNvPr id="39" name="Shape 30"/>
          <p:cNvSpPr/>
          <p:nvPr/>
        </p:nvSpPr>
        <p:spPr>
          <a:xfrm>
            <a:off x="932688" y="2810256"/>
            <a:ext cx="128016" cy="128016"/>
          </a:xfrm>
          <a:prstGeom prst="ellipse">
            <a:avLst/>
          </a:prstGeom>
          <a:solidFill>
            <a:srgbClr val="FFBD2E"/>
          </a:solidFill>
          <a:ln/>
        </p:spPr>
      </p:sp>
      <p:sp>
        <p:nvSpPr>
          <p:cNvPr id="40" name="Shape 31"/>
          <p:cNvSpPr/>
          <p:nvPr/>
        </p:nvSpPr>
        <p:spPr>
          <a:xfrm>
            <a:off x="1133856" y="2810256"/>
            <a:ext cx="128016" cy="128016"/>
          </a:xfrm>
          <a:prstGeom prst="ellipse">
            <a:avLst/>
          </a:prstGeom>
          <a:solidFill>
            <a:srgbClr val="27C93F"/>
          </a:solidFill>
          <a:ln/>
        </p:spPr>
      </p:sp>
      <p:sp>
        <p:nvSpPr>
          <p:cNvPr id="41" name="Text 32"/>
          <p:cNvSpPr txBox="1"/>
          <p:nvPr/>
        </p:nvSpPr>
        <p:spPr>
          <a:xfrm>
            <a:off x="1463040" y="2773680"/>
            <a:ext cx="9235440" cy="228600"/>
          </a:xfrm>
          <a:prstGeom prst="rect">
            <a:avLst/>
          </a:prstGeom>
          <a:noFill/>
          <a:ln/>
        </p:spPr>
        <p:txBody>
          <a:bodyPr wrap="square" lIns="0" tIns="0" rIns="0" bIns="0" rtlCol="0" anchor="t"/>
          <a:lstStyle/>
          <a:p>
            <a:pPr algn="ctr" indent="0" marL="0">
              <a:buNone/>
            </a:pPr>
            <a:r>
              <a:rPr lang="en-US" sz="1100" dirty="0">
                <a:solidFill>
                  <a:srgbClr val="9AA3B8"/>
                </a:solidFill>
                <a:latin typeface="Courier New" pitchFamily="34" charset="0"/>
                <a:ea typeface="Courier New" pitchFamily="34" charset="-122"/>
                <a:cs typeface="Courier New" pitchFamily="34" charset="-120"/>
              </a:rPr>
              <a:t>terminal 2: the bag</a:t>
            </a:r>
            <a:endParaRPr lang="en-US" sz="1100" dirty="0"/>
          </a:p>
        </p:txBody>
      </p:sp>
      <p:sp>
        <p:nvSpPr>
          <p:cNvPr id="42" name="Text 33"/>
          <p:cNvSpPr txBox="1"/>
          <p:nvPr/>
        </p:nvSpPr>
        <p:spPr>
          <a:xfrm>
            <a:off x="822960" y="3185160"/>
            <a:ext cx="10515600" cy="518160"/>
          </a:xfrm>
          <a:prstGeom prst="rect">
            <a:avLst/>
          </a:prstGeom>
          <a:noFill/>
          <a:ln/>
        </p:spPr>
        <p:txBody>
          <a:bodyPr wrap="square" lIns="0" tIns="0" rIns="0" bIns="0" rtlCol="0" anchor="t"/>
          <a:lstStyle/>
          <a:p>
            <a:pPr indent="0" marL="0">
              <a:lnSpc>
                <a:spcPts val="1680"/>
              </a:lnSpc>
              <a:buNone/>
            </a:pPr>
            <a:r>
              <a:rPr lang="en-US" sz="1200" dirty="0">
                <a:solidFill>
                  <a:srgbClr val="50FA7B"/>
                </a:solidFill>
                <a:latin typeface="Courier New" pitchFamily="34" charset="0"/>
                <a:ea typeface="Courier New" pitchFamily="34" charset="-122"/>
                <a:cs typeface="Courier New" pitchFamily="34" charset="-120"/>
              </a:rPr>
              <a:t>$ </a:t>
            </a:r>
            <a:pPr indent="0" marL="0">
              <a:lnSpc>
                <a:spcPts val="1680"/>
              </a:lnSpc>
              <a:buNone/>
            </a:pPr>
            <a:r>
              <a:rPr lang="en-US" sz="1200" dirty="0">
                <a:solidFill>
                  <a:srgbClr val="F1FA8C"/>
                </a:solidFill>
                <a:latin typeface="Courier New" pitchFamily="34" charset="0"/>
                <a:ea typeface="Courier New" pitchFamily="34" charset="-122"/>
                <a:cs typeface="Courier New" pitchFamily="34" charset="-120"/>
              </a:rPr>
              <a:t>ROS_DOMAIN_ID=78 </a:t>
            </a:r>
            <a:pPr indent="0" marL="0">
              <a:lnSpc>
                <a:spcPts val="1680"/>
              </a:lnSpc>
              <a:buNone/>
            </a:pPr>
            <a:r>
              <a:rPr lang="en-US" sz="1200" dirty="0">
                <a:solidFill>
                  <a:srgbClr val="F8F8F2"/>
                </a:solidFill>
                <a:latin typeface="Courier New" pitchFamily="34" charset="0"/>
                <a:ea typeface="Courier New" pitchFamily="34" charset="-122"/>
                <a:cs typeface="Courier New" pitchFamily="34" charset="-120"/>
              </a:rPr>
              <a:t>pixi run -e ros ros2 bag play -i data/poses_replay.mcap mcap --rate 4 --delay 1 --topics /roscon/poses --disable-keyboard-controls</a:t>
            </a:r>
            <a:endParaRPr lang="en-US" sz="1600" dirty="0"/>
          </a:p>
        </p:txBody>
      </p:sp>
      <p:sp>
        <p:nvSpPr>
          <p:cNvPr id="43" name="Text 34"/>
          <p:cNvSpPr/>
          <p:nvPr/>
        </p:nvSpPr>
        <p:spPr>
          <a:xfrm>
            <a:off x="548640" y="4343400"/>
            <a:ext cx="3566160" cy="1828800"/>
          </a:xfrm>
          <a:prstGeom prst="roundRect">
            <a:avLst>
              <a:gd name="adj" fmla="val 5000"/>
            </a:avLst>
          </a:prstGeom>
          <a:solidFill>
            <a:srgbClr val="F3F5F8"/>
          </a:solidFill>
          <a:ln/>
        </p:spPr>
        <p:txBody>
          <a:bodyPr wrap="square" lIns="1270" tIns="1270" rIns="1270" bIns="1270" rtlCol="0" anchor="ctr"/>
          <a:lstStyle/>
          <a:p>
            <a:pPr algn="l" indent="0" marL="0">
              <a:buNone/>
            </a:pPr>
            <a:endParaRPr lang="en-US" sz="1600" dirty="0"/>
          </a:p>
        </p:txBody>
      </p:sp>
      <p:sp>
        <p:nvSpPr>
          <p:cNvPr id="44" name="Text 35"/>
          <p:cNvSpPr txBox="1"/>
          <p:nvPr/>
        </p:nvSpPr>
        <p:spPr>
          <a:xfrm>
            <a:off x="731520" y="4480560"/>
            <a:ext cx="3200400" cy="914400"/>
          </a:xfrm>
          <a:prstGeom prst="rect">
            <a:avLst/>
          </a:prstGeom>
          <a:noFill/>
          <a:ln/>
        </p:spPr>
        <p:txBody>
          <a:bodyPr wrap="square" lIns="0" tIns="0" rIns="0" bIns="0" rtlCol="0" anchor="ctr"/>
          <a:lstStyle/>
          <a:p>
            <a:pPr indent="0" marL="0">
              <a:buNone/>
            </a:pPr>
            <a:r>
              <a:rPr lang="en-US" sz="3000" b="1" dirty="0">
                <a:solidFill>
                  <a:srgbClr val="1F8A4C"/>
                </a:solidFill>
                <a:latin typeface="Arial" pitchFamily="34" charset="0"/>
                <a:ea typeface="Arial" pitchFamily="34" charset="-122"/>
                <a:cs typeface="Arial" pitchFamily="34" charset="-120"/>
              </a:rPr>
              <a:t>2,735 / 2,735</a:t>
            </a:r>
            <a:endParaRPr lang="en-US" sz="3000" dirty="0"/>
          </a:p>
        </p:txBody>
      </p:sp>
      <p:sp>
        <p:nvSpPr>
          <p:cNvPr id="45" name="Text 36"/>
          <p:cNvSpPr txBox="1"/>
          <p:nvPr/>
        </p:nvSpPr>
        <p:spPr>
          <a:xfrm>
            <a:off x="731520" y="5394960"/>
            <a:ext cx="3200400" cy="68580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messages received in order, matching event counts</a:t>
            </a:r>
            <a:endParaRPr lang="en-US" sz="1400" dirty="0"/>
          </a:p>
        </p:txBody>
      </p:sp>
      <p:sp>
        <p:nvSpPr>
          <p:cNvPr id="46" name="Text 37"/>
          <p:cNvSpPr/>
          <p:nvPr/>
        </p:nvSpPr>
        <p:spPr>
          <a:xfrm>
            <a:off x="4343400" y="4343400"/>
            <a:ext cx="3566160" cy="1828800"/>
          </a:xfrm>
          <a:prstGeom prst="roundRect">
            <a:avLst>
              <a:gd name="adj" fmla="val 5000"/>
            </a:avLst>
          </a:prstGeom>
          <a:solidFill>
            <a:srgbClr val="F3F5F8"/>
          </a:solidFill>
          <a:ln/>
        </p:spPr>
        <p:txBody>
          <a:bodyPr wrap="square" lIns="1270" tIns="1270" rIns="1270" bIns="1270" rtlCol="0" anchor="ctr"/>
          <a:lstStyle/>
          <a:p>
            <a:pPr algn="l" indent="0" marL="0">
              <a:buNone/>
            </a:pPr>
            <a:endParaRPr lang="en-US" sz="1600" dirty="0"/>
          </a:p>
        </p:txBody>
      </p:sp>
      <p:sp>
        <p:nvSpPr>
          <p:cNvPr id="47" name="Text 38"/>
          <p:cNvSpPr txBox="1"/>
          <p:nvPr/>
        </p:nvSpPr>
        <p:spPr>
          <a:xfrm>
            <a:off x="4526280" y="4434840"/>
            <a:ext cx="3200400" cy="274320"/>
          </a:xfrm>
          <a:prstGeom prst="rect">
            <a:avLst/>
          </a:prstGeom>
          <a:noFill/>
          <a:ln/>
        </p:spPr>
        <p:txBody>
          <a:bodyPr wrap="square" lIns="0" tIns="0" rIns="0" bIns="0" rtlCol="0" anchor="t"/>
          <a:lstStyle/>
          <a:p>
            <a:pPr indent="0" marL="0">
              <a:buNone/>
            </a:pPr>
            <a:r>
              <a:rPr lang="en-US" sz="1400" b="1" dirty="0">
                <a:solidFill>
                  <a:srgbClr val="1B2433"/>
                </a:solidFill>
                <a:latin typeface="Arial" pitchFamily="34" charset="0"/>
                <a:ea typeface="Arial" pitchFamily="34" charset="-122"/>
                <a:cs typeface="Arial" pitchFamily="34" charset="-120"/>
              </a:rPr>
              <a:t>Median callback</a:t>
            </a:r>
            <a:endParaRPr lang="en-US" sz="1400" dirty="0"/>
          </a:p>
        </p:txBody>
      </p:sp>
      <p:sp>
        <p:nvSpPr>
          <p:cNvPr id="48" name="Text 39"/>
          <p:cNvSpPr txBox="1"/>
          <p:nvPr/>
        </p:nvSpPr>
        <p:spPr>
          <a:xfrm>
            <a:off x="4389120" y="4754880"/>
            <a:ext cx="-45720" cy="457200"/>
          </a:xfrm>
          <a:prstGeom prst="rect">
            <a:avLst/>
          </a:prstGeom>
          <a:noFill/>
          <a:ln/>
        </p:spPr>
        <p:txBody>
          <a:bodyPr wrap="square" lIns="0" tIns="0" rIns="0" bIns="0" rtlCol="0" anchor="ctr"/>
          <a:lstStyle/>
          <a:p>
            <a:pPr algn="r" indent="0" marL="0">
              <a:buNone/>
            </a:pPr>
            <a:endParaRPr lang="en-US" sz="1400" dirty="0"/>
          </a:p>
        </p:txBody>
      </p:sp>
      <p:sp>
        <p:nvSpPr>
          <p:cNvPr id="49" name="Shape 40"/>
          <p:cNvSpPr/>
          <p:nvPr/>
        </p:nvSpPr>
        <p:spPr>
          <a:xfrm>
            <a:off x="4480560" y="4800600"/>
            <a:ext cx="1920240" cy="365760"/>
          </a:xfrm>
          <a:prstGeom prst="rect">
            <a:avLst/>
          </a:prstGeom>
          <a:solidFill>
            <a:srgbClr val="B8C2D3"/>
          </a:solidFill>
          <a:ln/>
        </p:spPr>
      </p:sp>
      <p:sp>
        <p:nvSpPr>
          <p:cNvPr id="50" name="Text 41"/>
          <p:cNvSpPr txBox="1"/>
          <p:nvPr/>
        </p:nvSpPr>
        <p:spPr>
          <a:xfrm>
            <a:off x="6510528" y="4754880"/>
            <a:ext cx="1371600" cy="45720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2.84 ms</a:t>
            </a:r>
            <a:endParaRPr lang="en-US" sz="1600" dirty="0"/>
          </a:p>
        </p:txBody>
      </p:sp>
      <p:sp>
        <p:nvSpPr>
          <p:cNvPr id="51" name="Text 42"/>
          <p:cNvSpPr txBox="1"/>
          <p:nvPr/>
        </p:nvSpPr>
        <p:spPr>
          <a:xfrm>
            <a:off x="4389120" y="5303520"/>
            <a:ext cx="-45720" cy="457200"/>
          </a:xfrm>
          <a:prstGeom prst="rect">
            <a:avLst/>
          </a:prstGeom>
          <a:noFill/>
          <a:ln/>
        </p:spPr>
        <p:txBody>
          <a:bodyPr wrap="square" lIns="0" tIns="0" rIns="0" bIns="0" rtlCol="0" anchor="ctr"/>
          <a:lstStyle/>
          <a:p>
            <a:pPr algn="r" indent="0" marL="0">
              <a:buNone/>
            </a:pPr>
            <a:endParaRPr lang="en-US" sz="1400" dirty="0"/>
          </a:p>
        </p:txBody>
      </p:sp>
      <p:sp>
        <p:nvSpPr>
          <p:cNvPr id="52" name="Shape 43"/>
          <p:cNvSpPr/>
          <p:nvPr/>
        </p:nvSpPr>
        <p:spPr>
          <a:xfrm>
            <a:off x="4480560" y="5349240"/>
            <a:ext cx="338070" cy="365760"/>
          </a:xfrm>
          <a:prstGeom prst="rect">
            <a:avLst/>
          </a:prstGeom>
          <a:solidFill>
            <a:srgbClr val="1E3A6E"/>
          </a:solidFill>
          <a:ln/>
        </p:spPr>
      </p:sp>
      <p:sp>
        <p:nvSpPr>
          <p:cNvPr id="53" name="Text 44"/>
          <p:cNvSpPr txBox="1"/>
          <p:nvPr/>
        </p:nvSpPr>
        <p:spPr>
          <a:xfrm>
            <a:off x="4928358" y="5303520"/>
            <a:ext cx="1371600" cy="457200"/>
          </a:xfrm>
          <a:prstGeom prst="rect">
            <a:avLst/>
          </a:prstGeom>
          <a:noFill/>
          <a:ln/>
        </p:spPr>
        <p:txBody>
          <a:bodyPr wrap="square" lIns="0" tIns="0" rIns="0" bIns="0" rtlCol="0" anchor="ctr"/>
          <a:lstStyle/>
          <a:p>
            <a:pPr indent="0" marL="0">
              <a:buNone/>
            </a:pPr>
            <a:r>
              <a:rPr lang="en-US" sz="1600" b="1" dirty="0">
                <a:solidFill>
                  <a:srgbClr val="1E3A6E"/>
                </a:solidFill>
                <a:latin typeface="Arial" pitchFamily="34" charset="0"/>
                <a:ea typeface="Arial" pitchFamily="34" charset="-122"/>
                <a:cs typeface="Arial" pitchFamily="34" charset="-120"/>
              </a:rPr>
              <a:t>0.50 ms</a:t>
            </a:r>
            <a:endParaRPr lang="en-US" sz="1600" dirty="0"/>
          </a:p>
        </p:txBody>
      </p:sp>
      <p:sp>
        <p:nvSpPr>
          <p:cNvPr id="54" name="Text 45"/>
          <p:cNvSpPr/>
          <p:nvPr/>
        </p:nvSpPr>
        <p:spPr>
          <a:xfrm>
            <a:off x="8138160" y="4343400"/>
            <a:ext cx="3474720" cy="1828800"/>
          </a:xfrm>
          <a:prstGeom prst="roundRect">
            <a:avLst>
              <a:gd name="adj" fmla="val 5000"/>
            </a:avLst>
          </a:prstGeom>
          <a:solidFill>
            <a:srgbClr val="F5C518"/>
          </a:solidFill>
          <a:ln/>
        </p:spPr>
        <p:txBody>
          <a:bodyPr wrap="square" lIns="2540" tIns="2540" rIns="2540" bIns="2540" rtlCol="0" anchor="ctr"/>
          <a:lstStyle/>
          <a:p>
            <a:pPr algn="l" indent="0" marL="0">
              <a:buNone/>
            </a:pPr>
            <a:r>
              <a:rPr lang="en-US" sz="1500" b="1" dirty="0">
                <a:solidFill>
                  <a:srgbClr val="1E3A6E"/>
                </a:solidFill>
                <a:latin typeface="Arial" pitchFamily="34" charset="0"/>
                <a:ea typeface="Arial" pitchFamily="34" charset="-122"/>
                <a:cs typeface="Arial" pitchFamily="34" charset="-120"/>
              </a:rPr>
              <a:t>Smaller speedup than the bare loop: JSON decoding, checking and window assembly remain.</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822960" y="1600200"/>
            <a:ext cx="10515600" cy="1554480"/>
          </a:xfrm>
          <a:prstGeom prst="rect">
            <a:avLst/>
          </a:prstGeom>
          <a:noFill/>
          <a:ln/>
        </p:spPr>
        <p:txBody>
          <a:bodyPr wrap="square" lIns="0" tIns="0" rIns="0" bIns="0" rtlCol="0" anchor="t"/>
          <a:lstStyle/>
          <a:p>
            <a:pPr algn="l" indent="0" marL="0">
              <a:buNone/>
            </a:pPr>
            <a:r>
              <a:rPr lang="en-US" sz="4400" b="1" dirty="0">
                <a:solidFill>
                  <a:srgbClr val="1E3A6E"/>
                </a:solidFill>
                <a:latin typeface="Arial" pitchFamily="34" charset="0"/>
                <a:ea typeface="Arial" pitchFamily="34" charset="-122"/>
                <a:cs typeface="Arial" pitchFamily="34" charset="-120"/>
              </a:rPr>
              <a:t>5. At this point, someone asks for a controller</a:t>
            </a:r>
            <a:endParaRPr lang="en-US" sz="4400" dirty="0"/>
          </a:p>
        </p:txBody>
      </p:sp>
      <p:sp>
        <p:nvSpPr>
          <p:cNvPr id="4" name="Text 1"/>
          <p:cNvSpPr txBox="1"/>
          <p:nvPr/>
        </p:nvSpPr>
        <p:spPr>
          <a:xfrm>
            <a:off x="822960" y="1097280"/>
            <a:ext cx="10058400" cy="365760"/>
          </a:xfrm>
          <a:prstGeom prst="rect">
            <a:avLst/>
          </a:prstGeom>
          <a:noFill/>
          <a:ln/>
        </p:spPr>
        <p:txBody>
          <a:bodyPr wrap="square" lIns="0" tIns="0" rIns="0" bIns="0" rtlCol="0" anchor="t"/>
          <a:lstStyle/>
          <a:p>
            <a:pPr indent="0" marL="0">
              <a:buNone/>
            </a:pPr>
            <a:r>
              <a:rPr lang="en-US" sz="1800" b="1" dirty="0">
                <a:solidFill>
                  <a:srgbClr val="3776AB"/>
                </a:solidFill>
                <a:latin typeface="Arial" pitchFamily="34" charset="0"/>
                <a:ea typeface="Arial" pitchFamily="34" charset="-122"/>
                <a:cs typeface="Arial" pitchFamily="34" charset="-120"/>
              </a:rPr>
              <a:t>Controller, 7 minutes</a:t>
            </a:r>
            <a:endParaRPr lang="en-US" sz="1800" dirty="0"/>
          </a:p>
        </p:txBody>
      </p:sp>
      <p:sp>
        <p:nvSpPr>
          <p:cNvPr id="5" name="Text 2"/>
          <p:cNvSpPr txBox="1"/>
          <p:nvPr/>
        </p:nvSpPr>
        <p:spPr>
          <a:xfrm>
            <a:off x="822960" y="3246120"/>
            <a:ext cx="10515600" cy="731520"/>
          </a:xfrm>
          <a:prstGeom prst="rect">
            <a:avLst/>
          </a:prstGeom>
          <a:noFill/>
          <a:ln/>
        </p:spPr>
        <p:txBody>
          <a:bodyPr wrap="square" lIns="0" tIns="0" rIns="0" bIns="0" rtlCol="0" anchor="t"/>
          <a:lstStyle/>
          <a:p>
            <a:pPr indent="0" marL="0">
              <a:buNone/>
            </a:pPr>
            <a:r>
              <a:rPr lang="en-US" sz="1800" dirty="0">
                <a:solidFill>
                  <a:srgbClr val="5B6578"/>
                </a:solidFill>
                <a:latin typeface="Arial" pitchFamily="34" charset="0"/>
                <a:ea typeface="Arial" pitchFamily="34" charset="-122"/>
                <a:cs typeface="Arial" pitchFamily="34" charset="-120"/>
              </a:rPr>
              <a:t>Could we write a ros2_control controller in Python? Let's try it.</a:t>
            </a:r>
            <a:endParaRPr lang="en-US" sz="1800" dirty="0"/>
          </a:p>
        </p:txBody>
      </p:sp>
      <p:sp>
        <p:nvSpPr>
          <p:cNvPr id="6" name="Shape 3"/>
          <p:cNvSpPr/>
          <p:nvPr/>
        </p:nvSpPr>
        <p:spPr>
          <a:xfrm>
            <a:off x="1866748" y="4754880"/>
            <a:ext cx="960120" cy="0"/>
          </a:xfrm>
          <a:prstGeom prst="line">
            <a:avLst/>
          </a:prstGeom>
          <a:noFill/>
          <a:ln w="38100">
            <a:solidFill>
              <a:srgbClr val="1E3A6E"/>
            </a:solidFill>
            <a:prstDash val="solid"/>
          </a:ln>
        </p:spPr>
      </p:sp>
      <p:sp>
        <p:nvSpPr>
          <p:cNvPr id="7" name="Shape 4"/>
          <p:cNvSpPr/>
          <p:nvPr/>
        </p:nvSpPr>
        <p:spPr>
          <a:xfrm>
            <a:off x="3741268" y="4754880"/>
            <a:ext cx="960120" cy="0"/>
          </a:xfrm>
          <a:prstGeom prst="line">
            <a:avLst/>
          </a:prstGeom>
          <a:noFill/>
          <a:ln w="38100">
            <a:solidFill>
              <a:srgbClr val="1E3A6E"/>
            </a:solidFill>
            <a:prstDash val="solid"/>
          </a:ln>
        </p:spPr>
      </p:sp>
      <p:sp>
        <p:nvSpPr>
          <p:cNvPr id="8" name="Shape 5"/>
          <p:cNvSpPr/>
          <p:nvPr/>
        </p:nvSpPr>
        <p:spPr>
          <a:xfrm>
            <a:off x="5615788" y="4754880"/>
            <a:ext cx="960120" cy="0"/>
          </a:xfrm>
          <a:prstGeom prst="line">
            <a:avLst/>
          </a:prstGeom>
          <a:noFill/>
          <a:ln w="38100">
            <a:solidFill>
              <a:srgbClr val="1E3A6E"/>
            </a:solidFill>
            <a:prstDash val="solid"/>
          </a:ln>
        </p:spPr>
      </p:sp>
      <p:sp>
        <p:nvSpPr>
          <p:cNvPr id="9" name="Shape 6"/>
          <p:cNvSpPr/>
          <p:nvPr/>
        </p:nvSpPr>
        <p:spPr>
          <a:xfrm>
            <a:off x="7490308" y="4754880"/>
            <a:ext cx="960120" cy="0"/>
          </a:xfrm>
          <a:prstGeom prst="line">
            <a:avLst/>
          </a:prstGeom>
          <a:noFill/>
          <a:ln w="38100">
            <a:solidFill>
              <a:srgbClr val="1E3A6E"/>
            </a:solidFill>
            <a:prstDash val="solid"/>
          </a:ln>
        </p:spPr>
      </p:sp>
      <p:sp>
        <p:nvSpPr>
          <p:cNvPr id="10" name="Shape 7"/>
          <p:cNvSpPr/>
          <p:nvPr/>
        </p:nvSpPr>
        <p:spPr>
          <a:xfrm>
            <a:off x="9364828" y="4754880"/>
            <a:ext cx="960120" cy="0"/>
          </a:xfrm>
          <a:prstGeom prst="line">
            <a:avLst/>
          </a:prstGeom>
          <a:noFill/>
          <a:ln w="38100">
            <a:solidFill>
              <a:srgbClr val="B8C2D3"/>
            </a:solidFill>
            <a:prstDash val="solid"/>
          </a:ln>
        </p:spPr>
      </p:sp>
      <p:sp>
        <p:nvSpPr>
          <p:cNvPr id="11" name="Shape 8"/>
          <p:cNvSpPr/>
          <p:nvPr/>
        </p:nvSpPr>
        <p:spPr>
          <a:xfrm>
            <a:off x="952348" y="4297680"/>
            <a:ext cx="914400" cy="914400"/>
          </a:xfrm>
          <a:prstGeom prst="ellipse">
            <a:avLst/>
          </a:prstGeom>
          <a:solidFill>
            <a:srgbClr val="1E3A6E"/>
          </a:solidFill>
          <a:ln/>
        </p:spPr>
      </p:sp>
      <p:pic>
        <p:nvPicPr>
          <p:cNvPr id="12" name="Image 0" descr="preencoded.png">    </p:cNvPr>
          <p:cNvPicPr>
            <a:picLocks noChangeAspect="1"/>
          </p:cNvPicPr>
          <p:nvPr/>
        </p:nvPicPr>
        <p:blipFill>
          <a:blip r:embed="rId1"/>
          <a:stretch>
            <a:fillRect/>
          </a:stretch>
        </p:blipFill>
        <p:spPr>
          <a:xfrm>
            <a:off x="1180948" y="4526280"/>
            <a:ext cx="457200" cy="457200"/>
          </a:xfrm>
          <a:prstGeom prst="rect">
            <a:avLst/>
          </a:prstGeom>
        </p:spPr>
      </p:pic>
      <p:sp>
        <p:nvSpPr>
          <p:cNvPr id="13" name="Text 9"/>
          <p:cNvSpPr txBox="1"/>
          <p:nvPr/>
        </p:nvSpPr>
        <p:spPr>
          <a:xfrm>
            <a:off x="49514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Python</a:t>
            </a:r>
            <a:endParaRPr lang="en-US" sz="1800" dirty="0"/>
          </a:p>
        </p:txBody>
      </p:sp>
      <p:sp>
        <p:nvSpPr>
          <p:cNvPr id="14" name="Shape 10"/>
          <p:cNvSpPr/>
          <p:nvPr/>
        </p:nvSpPr>
        <p:spPr>
          <a:xfrm>
            <a:off x="2826868" y="4297680"/>
            <a:ext cx="914400" cy="914400"/>
          </a:xfrm>
          <a:prstGeom prst="ellipse">
            <a:avLst/>
          </a:prstGeom>
          <a:solidFill>
            <a:srgbClr val="1E3A6E"/>
          </a:solidFill>
          <a:ln/>
        </p:spPr>
      </p:sp>
      <p:pic>
        <p:nvPicPr>
          <p:cNvPr id="15" name="Image 1" descr="preencoded.png">    </p:cNvPr>
          <p:cNvPicPr>
            <a:picLocks noChangeAspect="1"/>
          </p:cNvPicPr>
          <p:nvPr/>
        </p:nvPicPr>
        <p:blipFill>
          <a:blip r:embed="rId2"/>
          <a:stretch>
            <a:fillRect/>
          </a:stretch>
        </p:blipFill>
        <p:spPr>
          <a:xfrm>
            <a:off x="3055468" y="4526280"/>
            <a:ext cx="457200" cy="457200"/>
          </a:xfrm>
          <a:prstGeom prst="rect">
            <a:avLst/>
          </a:prstGeom>
        </p:spPr>
      </p:pic>
      <p:sp>
        <p:nvSpPr>
          <p:cNvPr id="16" name="Text 11"/>
          <p:cNvSpPr txBox="1"/>
          <p:nvPr/>
        </p:nvSpPr>
        <p:spPr>
          <a:xfrm>
            <a:off x="236966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MCAP</a:t>
            </a:r>
            <a:endParaRPr lang="en-US" sz="1800" dirty="0"/>
          </a:p>
        </p:txBody>
      </p:sp>
      <p:sp>
        <p:nvSpPr>
          <p:cNvPr id="17" name="Shape 12"/>
          <p:cNvSpPr/>
          <p:nvPr/>
        </p:nvSpPr>
        <p:spPr>
          <a:xfrm>
            <a:off x="4701388" y="4297680"/>
            <a:ext cx="914400" cy="914400"/>
          </a:xfrm>
          <a:prstGeom prst="ellipse">
            <a:avLst/>
          </a:prstGeom>
          <a:solidFill>
            <a:srgbClr val="1E3A6E"/>
          </a:solidFill>
          <a:ln/>
        </p:spPr>
      </p:sp>
      <p:pic>
        <p:nvPicPr>
          <p:cNvPr id="18" name="Image 2" descr="preencoded.png">    </p:cNvPr>
          <p:cNvPicPr>
            <a:picLocks noChangeAspect="1"/>
          </p:cNvPicPr>
          <p:nvPr/>
        </p:nvPicPr>
        <p:blipFill>
          <a:blip r:embed="rId3"/>
          <a:stretch>
            <a:fillRect/>
          </a:stretch>
        </p:blipFill>
        <p:spPr>
          <a:xfrm>
            <a:off x="4929988" y="4526280"/>
            <a:ext cx="457200" cy="457200"/>
          </a:xfrm>
          <a:prstGeom prst="rect">
            <a:avLst/>
          </a:prstGeom>
        </p:spPr>
      </p:pic>
      <p:sp>
        <p:nvSpPr>
          <p:cNvPr id="19" name="Text 13"/>
          <p:cNvSpPr txBox="1"/>
          <p:nvPr/>
        </p:nvSpPr>
        <p:spPr>
          <a:xfrm>
            <a:off x="424418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library</a:t>
            </a:r>
            <a:endParaRPr lang="en-US" sz="1800" dirty="0"/>
          </a:p>
        </p:txBody>
      </p:sp>
      <p:sp>
        <p:nvSpPr>
          <p:cNvPr id="20" name="Shape 14"/>
          <p:cNvSpPr/>
          <p:nvPr/>
        </p:nvSpPr>
        <p:spPr>
          <a:xfrm>
            <a:off x="6575908" y="4297680"/>
            <a:ext cx="914400" cy="914400"/>
          </a:xfrm>
          <a:prstGeom prst="ellipse">
            <a:avLst/>
          </a:prstGeom>
          <a:solidFill>
            <a:srgbClr val="1E3A6E"/>
          </a:solidFill>
          <a:ln/>
        </p:spPr>
      </p:sp>
      <p:pic>
        <p:nvPicPr>
          <p:cNvPr id="21" name="Image 3" descr="preencoded.png">    </p:cNvPr>
          <p:cNvPicPr>
            <a:picLocks noChangeAspect="1"/>
          </p:cNvPicPr>
          <p:nvPr/>
        </p:nvPicPr>
        <p:blipFill>
          <a:blip r:embed="rId4"/>
          <a:stretch>
            <a:fillRect/>
          </a:stretch>
        </p:blipFill>
        <p:spPr>
          <a:xfrm>
            <a:off x="6804508" y="4526280"/>
            <a:ext cx="457200" cy="457200"/>
          </a:xfrm>
          <a:prstGeom prst="rect">
            <a:avLst/>
          </a:prstGeom>
        </p:spPr>
      </p:pic>
      <p:sp>
        <p:nvSpPr>
          <p:cNvPr id="22" name="Text 15"/>
          <p:cNvSpPr txBox="1"/>
          <p:nvPr/>
        </p:nvSpPr>
        <p:spPr>
          <a:xfrm>
            <a:off x="611870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ROS</a:t>
            </a:r>
            <a:endParaRPr lang="en-US" sz="1800" dirty="0"/>
          </a:p>
        </p:txBody>
      </p:sp>
      <p:sp>
        <p:nvSpPr>
          <p:cNvPr id="23" name="Shape 16"/>
          <p:cNvSpPr/>
          <p:nvPr/>
        </p:nvSpPr>
        <p:spPr>
          <a:xfrm>
            <a:off x="8450428" y="4297680"/>
            <a:ext cx="914400" cy="914400"/>
          </a:xfrm>
          <a:prstGeom prst="ellipse">
            <a:avLst/>
          </a:prstGeom>
          <a:solidFill>
            <a:srgbClr val="F5C518"/>
          </a:solidFill>
          <a:ln w="38100">
            <a:solidFill>
              <a:srgbClr val="1E3A6E"/>
            </a:solidFill>
            <a:prstDash val="solid"/>
          </a:ln>
        </p:spPr>
      </p:sp>
      <p:pic>
        <p:nvPicPr>
          <p:cNvPr id="24" name="Image 4" descr="preencoded.png">    </p:cNvPr>
          <p:cNvPicPr>
            <a:picLocks noChangeAspect="1"/>
          </p:cNvPicPr>
          <p:nvPr/>
        </p:nvPicPr>
        <p:blipFill>
          <a:blip r:embed="rId5"/>
          <a:stretch>
            <a:fillRect/>
          </a:stretch>
        </p:blipFill>
        <p:spPr>
          <a:xfrm>
            <a:off x="8679028" y="4526280"/>
            <a:ext cx="457200" cy="457200"/>
          </a:xfrm>
          <a:prstGeom prst="rect">
            <a:avLst/>
          </a:prstGeom>
        </p:spPr>
      </p:pic>
      <p:sp>
        <p:nvSpPr>
          <p:cNvPr id="25" name="Text 17"/>
          <p:cNvSpPr txBox="1"/>
          <p:nvPr/>
        </p:nvSpPr>
        <p:spPr>
          <a:xfrm>
            <a:off x="7993228" y="5349240"/>
            <a:ext cx="1828800" cy="320040"/>
          </a:xfrm>
          <a:prstGeom prst="rect">
            <a:avLst/>
          </a:prstGeom>
          <a:noFill/>
          <a:ln/>
        </p:spPr>
        <p:txBody>
          <a:bodyPr wrap="square" lIns="0" tIns="0" rIns="0" bIns="0" rtlCol="0" anchor="t"/>
          <a:lstStyle/>
          <a:p>
            <a:pPr algn="ctr" indent="0" marL="0">
              <a:buNone/>
            </a:pPr>
            <a:r>
              <a:rPr lang="en-US" sz="1800" b="1" dirty="0">
                <a:solidFill>
                  <a:srgbClr val="1E3A6E"/>
                </a:solidFill>
                <a:latin typeface="Arial" pitchFamily="34" charset="0"/>
                <a:ea typeface="Arial" pitchFamily="34" charset="-122"/>
                <a:cs typeface="Arial" pitchFamily="34" charset="-120"/>
              </a:rPr>
              <a:t>controller</a:t>
            </a:r>
            <a:endParaRPr lang="en-US" sz="1800" dirty="0"/>
          </a:p>
        </p:txBody>
      </p:sp>
      <p:sp>
        <p:nvSpPr>
          <p:cNvPr id="26" name="Shape 18"/>
          <p:cNvSpPr/>
          <p:nvPr/>
        </p:nvSpPr>
        <p:spPr>
          <a:xfrm>
            <a:off x="10324948" y="4297680"/>
            <a:ext cx="914400" cy="914400"/>
          </a:xfrm>
          <a:prstGeom prst="ellipse">
            <a:avLst/>
          </a:prstGeom>
          <a:solidFill>
            <a:srgbClr val="E3E8F0"/>
          </a:solidFill>
          <a:ln/>
        </p:spPr>
      </p:sp>
      <p:pic>
        <p:nvPicPr>
          <p:cNvPr id="27" name="Image 5" descr="preencoded.png">    </p:cNvPr>
          <p:cNvPicPr>
            <a:picLocks noChangeAspect="1"/>
          </p:cNvPicPr>
          <p:nvPr/>
        </p:nvPicPr>
        <p:blipFill>
          <a:blip r:embed="rId6"/>
          <a:stretch>
            <a:fillRect/>
          </a:stretch>
        </p:blipFill>
        <p:spPr>
          <a:xfrm>
            <a:off x="10553548" y="4526280"/>
            <a:ext cx="457200" cy="457200"/>
          </a:xfrm>
          <a:prstGeom prst="rect">
            <a:avLst/>
          </a:prstGeom>
        </p:spPr>
      </p:pic>
      <p:sp>
        <p:nvSpPr>
          <p:cNvPr id="28" name="Text 19"/>
          <p:cNvSpPr txBox="1"/>
          <p:nvPr/>
        </p:nvSpPr>
        <p:spPr>
          <a:xfrm>
            <a:off x="986774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webcam</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A ros2_control controller in Python</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1E3A6E"/>
            </a:solidFill>
            <a:prstDash val="solid"/>
          </a:ln>
        </p:spPr>
      </p:sp>
      <p:sp>
        <p:nvSpPr>
          <p:cNvPr id="7" name="Shape 4"/>
          <p:cNvSpPr/>
          <p:nvPr/>
        </p:nvSpPr>
        <p:spPr>
          <a:xfrm>
            <a:off x="10469880" y="576072"/>
            <a:ext cx="292608" cy="0"/>
          </a:xfrm>
          <a:prstGeom prst="line">
            <a:avLst/>
          </a:prstGeom>
          <a:noFill/>
          <a:ln w="25400">
            <a:solidFill>
              <a:srgbClr val="1E3A6E"/>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1E3A6E"/>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1E3A6E"/>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F5C518"/>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08760"/>
            <a:ext cx="3931920" cy="822960"/>
          </a:xfrm>
          <a:prstGeom prst="roundRect">
            <a:avLst>
              <a:gd name="adj" fmla="val 11111"/>
            </a:avLst>
          </a:prstGeom>
          <a:solidFill>
            <a:srgbClr val="F3F5F8"/>
          </a:solidFill>
          <a:ln/>
        </p:spPr>
        <p:txBody>
          <a:bodyPr wrap="square" lIns="1270" tIns="1270" rIns="1270" bIns="1270" rtlCol="0" anchor="ctr"/>
          <a:lstStyle/>
          <a:p>
            <a:pPr algn="ctr" indent="0" marL="0">
              <a:buNone/>
            </a:pPr>
            <a:r>
              <a:rPr lang="en-US" sz="1700" b="1" dirty="0">
                <a:solidFill>
                  <a:srgbClr val="1E3A6E"/>
                </a:solidFill>
                <a:latin typeface="Arial" pitchFamily="34" charset="0"/>
                <a:ea typeface="Arial" pitchFamily="34" charset="-122"/>
                <a:cs typeface="Arial" pitchFamily="34" charset="-120"/>
              </a:rPr>
              <a:t>controller_manager</a:t>
            </a:r>
            <a:endParaRPr lang="en-US" sz="1700" dirty="0"/>
          </a:p>
        </p:txBody>
      </p:sp>
      <p:sp>
        <p:nvSpPr>
          <p:cNvPr id="28" name="Shape 19"/>
          <p:cNvSpPr/>
          <p:nvPr/>
        </p:nvSpPr>
        <p:spPr>
          <a:xfrm>
            <a:off x="2514600" y="2377440"/>
            <a:ext cx="0" cy="411480"/>
          </a:xfrm>
          <a:prstGeom prst="line">
            <a:avLst/>
          </a:prstGeom>
          <a:noFill/>
          <a:ln w="25400">
            <a:solidFill>
              <a:srgbClr val="1E3A6E"/>
            </a:solidFill>
            <a:prstDash val="solid"/>
            <a:tailEnd type="triangle"/>
          </a:ln>
        </p:spPr>
      </p:sp>
      <p:sp>
        <p:nvSpPr>
          <p:cNvPr id="29" name="Text 20"/>
          <p:cNvSpPr txBox="1"/>
          <p:nvPr/>
        </p:nvSpPr>
        <p:spPr>
          <a:xfrm>
            <a:off x="2651760" y="2423160"/>
            <a:ext cx="1828800" cy="274320"/>
          </a:xfrm>
          <a:prstGeom prst="rect">
            <a:avLst/>
          </a:prstGeom>
          <a:noFill/>
          <a:ln/>
        </p:spPr>
        <p:txBody>
          <a:bodyPr wrap="square" lIns="0" tIns="0" rIns="0" bIns="0" rtlCol="0" anchor="t"/>
          <a:lstStyle/>
          <a:p>
            <a:pPr indent="0" marL="0">
              <a:buNone/>
            </a:pPr>
            <a:r>
              <a:rPr lang="en-US" sz="1200" dirty="0">
                <a:solidFill>
                  <a:srgbClr val="5B6578"/>
                </a:solidFill>
                <a:latin typeface="Arial" pitchFamily="34" charset="0"/>
                <a:ea typeface="Arial" pitchFamily="34" charset="-122"/>
                <a:cs typeface="Arial" pitchFamily="34" charset="-120"/>
              </a:rPr>
              <a:t>update(period)</a:t>
            </a:r>
            <a:endParaRPr lang="en-US" sz="1200" dirty="0"/>
          </a:p>
        </p:txBody>
      </p:sp>
      <p:sp>
        <p:nvSpPr>
          <p:cNvPr id="30" name="Text 21"/>
          <p:cNvSpPr/>
          <p:nvPr/>
        </p:nvSpPr>
        <p:spPr>
          <a:xfrm>
            <a:off x="548640" y="2834640"/>
            <a:ext cx="3931920" cy="1005840"/>
          </a:xfrm>
          <a:prstGeom prst="roundRect">
            <a:avLst>
              <a:gd name="adj" fmla="val 9091"/>
            </a:avLst>
          </a:prstGeom>
          <a:solidFill>
            <a:srgbClr val="1E3A6E"/>
          </a:solidFill>
          <a:ln/>
        </p:spPr>
        <p:txBody>
          <a:bodyPr wrap="square" lIns="1270" tIns="1270" rIns="1270" bIns="1270" rtlCol="0" anchor="ctr"/>
          <a:lstStyle/>
          <a:p>
            <a:pPr algn="l" indent="0" marL="0">
              <a:buNone/>
            </a:pPr>
            <a:endParaRPr lang="en-US" sz="1600" dirty="0"/>
          </a:p>
        </p:txBody>
      </p:sp>
      <p:pic>
        <p:nvPicPr>
          <p:cNvPr id="31" name="Image 6" descr="preencoded.png">    </p:cNvPr>
          <p:cNvPicPr>
            <a:picLocks noChangeAspect="1"/>
          </p:cNvPicPr>
          <p:nvPr/>
        </p:nvPicPr>
        <p:blipFill>
          <a:blip r:embed="rId7"/>
          <a:stretch>
            <a:fillRect/>
          </a:stretch>
        </p:blipFill>
        <p:spPr>
          <a:xfrm>
            <a:off x="731520" y="3063240"/>
            <a:ext cx="457200" cy="457200"/>
          </a:xfrm>
          <a:prstGeom prst="rect">
            <a:avLst/>
          </a:prstGeom>
        </p:spPr>
      </p:pic>
      <p:sp>
        <p:nvSpPr>
          <p:cNvPr id="32" name="Text 22"/>
          <p:cNvSpPr txBox="1"/>
          <p:nvPr/>
        </p:nvSpPr>
        <p:spPr>
          <a:xfrm>
            <a:off x="1325880" y="2880360"/>
            <a:ext cx="3108960" cy="9144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TrackingController</a:t>
            </a:r>
            <a:endParaRPr lang="en-US" sz="1600" dirty="0"/>
          </a:p>
          <a:p>
            <a:pPr indent="0" marL="0">
              <a:buNone/>
            </a:pPr>
            <a:r>
              <a:rPr lang="en-US" sz="1200" dirty="0">
                <a:solidFill>
                  <a:srgbClr val="FFFFFF"/>
                </a:solidFill>
                <a:latin typeface="Arial" pitchFamily="34" charset="0"/>
                <a:ea typeface="Arial" pitchFamily="34" charset="-122"/>
                <a:cs typeface="Arial" pitchFamily="34" charset="-120"/>
              </a:rPr>
              <a:t>Python, derives ck.ControllerInterface</a:t>
            </a:r>
            <a:endParaRPr lang="en-US" sz="1600" dirty="0"/>
          </a:p>
        </p:txBody>
      </p:sp>
      <p:sp>
        <p:nvSpPr>
          <p:cNvPr id="33" name="Shape 23"/>
          <p:cNvSpPr/>
          <p:nvPr/>
        </p:nvSpPr>
        <p:spPr>
          <a:xfrm>
            <a:off x="2103120" y="3886200"/>
            <a:ext cx="0" cy="411480"/>
          </a:xfrm>
          <a:prstGeom prst="line">
            <a:avLst/>
          </a:prstGeom>
          <a:noFill/>
          <a:ln w="25400">
            <a:solidFill>
              <a:srgbClr val="1E3A6E"/>
            </a:solidFill>
            <a:prstDash val="solid"/>
            <a:tailEnd type="triangle"/>
          </a:ln>
        </p:spPr>
      </p:sp>
      <p:sp>
        <p:nvSpPr>
          <p:cNvPr id="34" name="Shape 24"/>
          <p:cNvSpPr/>
          <p:nvPr/>
        </p:nvSpPr>
        <p:spPr>
          <a:xfrm flipV="1">
            <a:off x="2926080" y="3886200"/>
            <a:ext cx="0" cy="411480"/>
          </a:xfrm>
          <a:prstGeom prst="line">
            <a:avLst/>
          </a:prstGeom>
          <a:noFill/>
          <a:ln w="25400">
            <a:solidFill>
              <a:srgbClr val="1E3A6E"/>
            </a:solidFill>
            <a:prstDash val="solid"/>
            <a:tailEnd type="triangle"/>
          </a:ln>
        </p:spPr>
      </p:sp>
      <p:sp>
        <p:nvSpPr>
          <p:cNvPr id="35" name="Text 25"/>
          <p:cNvSpPr txBox="1"/>
          <p:nvPr/>
        </p:nvSpPr>
        <p:spPr>
          <a:xfrm>
            <a:off x="1600200" y="3931920"/>
            <a:ext cx="457200" cy="274320"/>
          </a:xfrm>
          <a:prstGeom prst="rect">
            <a:avLst/>
          </a:prstGeom>
          <a:noFill/>
          <a:ln/>
        </p:spPr>
        <p:txBody>
          <a:bodyPr wrap="square" lIns="0" tIns="0" rIns="0" bIns="0" rtlCol="0" anchor="t"/>
          <a:lstStyle/>
          <a:p>
            <a:pPr indent="0" marL="0">
              <a:buNone/>
            </a:pPr>
            <a:r>
              <a:rPr lang="en-US" sz="1200" dirty="0">
                <a:solidFill>
                  <a:srgbClr val="5B6578"/>
                </a:solidFill>
                <a:latin typeface="Arial" pitchFamily="34" charset="0"/>
                <a:ea typeface="Arial" pitchFamily="34" charset="-122"/>
                <a:cs typeface="Arial" pitchFamily="34" charset="-120"/>
              </a:rPr>
              <a:t>read</a:t>
            </a:r>
            <a:endParaRPr lang="en-US" sz="1200" dirty="0"/>
          </a:p>
        </p:txBody>
      </p:sp>
      <p:sp>
        <p:nvSpPr>
          <p:cNvPr id="36" name="Text 26"/>
          <p:cNvSpPr txBox="1"/>
          <p:nvPr/>
        </p:nvSpPr>
        <p:spPr>
          <a:xfrm>
            <a:off x="3017520" y="3931920"/>
            <a:ext cx="548640" cy="274320"/>
          </a:xfrm>
          <a:prstGeom prst="rect">
            <a:avLst/>
          </a:prstGeom>
          <a:noFill/>
          <a:ln/>
        </p:spPr>
        <p:txBody>
          <a:bodyPr wrap="square" lIns="0" tIns="0" rIns="0" bIns="0" rtlCol="0" anchor="t"/>
          <a:lstStyle/>
          <a:p>
            <a:pPr indent="0" marL="0">
              <a:buNone/>
            </a:pPr>
            <a:r>
              <a:rPr lang="en-US" sz="1200" dirty="0">
                <a:solidFill>
                  <a:srgbClr val="5B6578"/>
                </a:solidFill>
                <a:latin typeface="Arial" pitchFamily="34" charset="0"/>
                <a:ea typeface="Arial" pitchFamily="34" charset="-122"/>
                <a:cs typeface="Arial" pitchFamily="34" charset="-120"/>
              </a:rPr>
              <a:t>write</a:t>
            </a:r>
            <a:endParaRPr lang="en-US" sz="1200" dirty="0"/>
          </a:p>
        </p:txBody>
      </p:sp>
      <p:sp>
        <p:nvSpPr>
          <p:cNvPr id="37" name="Text 27"/>
          <p:cNvSpPr/>
          <p:nvPr/>
        </p:nvSpPr>
        <p:spPr>
          <a:xfrm>
            <a:off x="548640" y="4343400"/>
            <a:ext cx="3931920" cy="640080"/>
          </a:xfrm>
          <a:prstGeom prst="roundRect">
            <a:avLst>
              <a:gd name="adj" fmla="val 14286"/>
            </a:avLst>
          </a:prstGeom>
          <a:solidFill>
            <a:srgbClr val="F5C518"/>
          </a:solidFill>
          <a:ln/>
        </p:spPr>
        <p:txBody>
          <a:bodyPr wrap="square" lIns="1270" tIns="1270" rIns="1270" bIns="1270" rtlCol="0" anchor="ctr"/>
          <a:lstStyle/>
          <a:p>
            <a:pPr algn="ctr" indent="0" marL="0">
              <a:buNone/>
            </a:pPr>
            <a:r>
              <a:rPr lang="en-US" sz="1400" b="1" dirty="0">
                <a:solidFill>
                  <a:srgbClr val="1E3A6E"/>
                </a:solidFill>
                <a:latin typeface="Arial" pitchFamily="34" charset="0"/>
                <a:ea typeface="Arial" pitchFamily="34" charset="-122"/>
                <a:cs typeface="Arial" pitchFamily="34" charset="-120"/>
              </a:rPr>
              <a:t>claimed state / command interfaces</a:t>
            </a:r>
            <a:endParaRPr lang="en-US" sz="1400" dirty="0"/>
          </a:p>
        </p:txBody>
      </p:sp>
      <p:sp>
        <p:nvSpPr>
          <p:cNvPr id="38" name="Shape 28"/>
          <p:cNvSpPr/>
          <p:nvPr/>
        </p:nvSpPr>
        <p:spPr>
          <a:xfrm>
            <a:off x="2514600" y="5029200"/>
            <a:ext cx="0" cy="320040"/>
          </a:xfrm>
          <a:prstGeom prst="line">
            <a:avLst/>
          </a:prstGeom>
          <a:noFill/>
          <a:ln w="25400">
            <a:solidFill>
              <a:srgbClr val="1E3A6E"/>
            </a:solidFill>
            <a:prstDash val="solid"/>
            <a:tailEnd type="triangle"/>
          </a:ln>
        </p:spPr>
      </p:sp>
      <p:sp>
        <p:nvSpPr>
          <p:cNvPr id="39" name="Text 29"/>
          <p:cNvSpPr/>
          <p:nvPr/>
        </p:nvSpPr>
        <p:spPr>
          <a:xfrm>
            <a:off x="548640" y="5394960"/>
            <a:ext cx="3931920" cy="777240"/>
          </a:xfrm>
          <a:prstGeom prst="roundRect">
            <a:avLst>
              <a:gd name="adj" fmla="val 11765"/>
            </a:avLst>
          </a:prstGeom>
          <a:solidFill>
            <a:srgbClr val="F3F5F8"/>
          </a:solidFill>
          <a:ln/>
        </p:spPr>
        <p:txBody>
          <a:bodyPr wrap="square" lIns="1270" tIns="1270" rIns="1270" bIns="1270" rtlCol="0" anchor="ctr"/>
          <a:lstStyle/>
          <a:p>
            <a:pPr algn="ctr" indent="0" marL="0">
              <a:buNone/>
            </a:pPr>
            <a:r>
              <a:rPr lang="en-US" sz="1600" b="1" dirty="0">
                <a:solidFill>
                  <a:srgbClr val="1E3A6E"/>
                </a:solidFill>
                <a:latin typeface="Arial" pitchFamily="34" charset="0"/>
                <a:ea typeface="Arial" pitchFamily="34" charset="-122"/>
                <a:cs typeface="Arial" pitchFamily="34" charset="-120"/>
              </a:rPr>
              <a:t>GenericSystem mock hardware</a:t>
            </a:r>
            <a:endParaRPr lang="en-US" sz="1600" dirty="0"/>
          </a:p>
        </p:txBody>
      </p:sp>
      <p:sp>
        <p:nvSpPr>
          <p:cNvPr id="40" name="Text 30"/>
          <p:cNvSpPr/>
          <p:nvPr/>
        </p:nvSpPr>
        <p:spPr>
          <a:xfrm>
            <a:off x="4846320" y="1801368"/>
            <a:ext cx="6766560" cy="2453640"/>
          </a:xfrm>
          <a:prstGeom prst="roundRect">
            <a:avLst>
              <a:gd name="adj" fmla="val 3727"/>
            </a:avLst>
          </a:prstGeom>
          <a:solidFill>
            <a:srgbClr val="F6F8FA"/>
          </a:solidFill>
          <a:ln w="12700">
            <a:solidFill>
              <a:srgbClr val="D0D7DE"/>
            </a:solidFill>
          </a:ln>
        </p:spPr>
        <p:txBody>
          <a:bodyPr wrap="square" lIns="1270" tIns="1270" rIns="1270" bIns="1270" rtlCol="0" anchor="ctr"/>
          <a:lstStyle/>
          <a:p>
            <a:pPr algn="l" indent="0" marL="0">
              <a:buNone/>
            </a:pPr>
            <a:endParaRPr lang="en-US" sz="1600" dirty="0"/>
          </a:p>
        </p:txBody>
      </p:sp>
      <p:sp>
        <p:nvSpPr>
          <p:cNvPr id="41" name="Text 31"/>
          <p:cNvSpPr/>
          <p:nvPr/>
        </p:nvSpPr>
        <p:spPr>
          <a:xfrm>
            <a:off x="5029200" y="1508760"/>
            <a:ext cx="1554480" cy="310896"/>
          </a:xfrm>
          <a:prstGeom prst="roundRect">
            <a:avLst>
              <a:gd name="adj" fmla="val 29412"/>
            </a:avLst>
          </a:prstGeom>
          <a:solidFill>
            <a:srgbClr val="E6EAF0"/>
          </a:solidFill>
          <a:ln w="12700">
            <a:solidFill>
              <a:srgbClr val="D0D7DE"/>
            </a:solidFill>
          </a:ln>
        </p:spPr>
        <p:txBody>
          <a:bodyPr wrap="square" lIns="0" tIns="0" rIns="0" bIns="0" rtlCol="0" anchor="ctr"/>
          <a:lstStyle/>
          <a:p>
            <a:pPr algn="ctr" indent="0" marL="0">
              <a:buNone/>
            </a:pPr>
            <a:r>
              <a:rPr lang="en-US" sz="1200" dirty="0">
                <a:solidFill>
                  <a:srgbClr val="1B2433"/>
                </a:solidFill>
                <a:latin typeface="Courier New" pitchFamily="34" charset="0"/>
                <a:ea typeface="Courier New" pitchFamily="34" charset="-122"/>
                <a:cs typeface="Courier New" pitchFamily="34" charset="-120"/>
              </a:rPr>
              <a:t>controller.py</a:t>
            </a:r>
            <a:endParaRPr lang="en-US" sz="1200" dirty="0"/>
          </a:p>
        </p:txBody>
      </p:sp>
      <p:sp>
        <p:nvSpPr>
          <p:cNvPr id="42" name="Text 32"/>
          <p:cNvSpPr txBox="1"/>
          <p:nvPr/>
        </p:nvSpPr>
        <p:spPr>
          <a:xfrm>
            <a:off x="5029200" y="1938528"/>
            <a:ext cx="6400800" cy="2270760"/>
          </a:xfrm>
          <a:prstGeom prst="rect">
            <a:avLst/>
          </a:prstGeom>
          <a:noFill/>
          <a:ln/>
        </p:spPr>
        <p:txBody>
          <a:bodyPr wrap="square" lIns="0" tIns="0" rIns="0" bIns="0" rtlCol="0" anchor="t"/>
          <a:lstStyle/>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dt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period</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seconds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self</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dt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references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005CC5"/>
                </a:solidFill>
                <a:latin typeface="Courier New" pitchFamily="34" charset="0"/>
                <a:ea typeface="Courier New" pitchFamily="34" charset="-122"/>
                <a:cs typeface="Courier New" pitchFamily="34" charset="-120"/>
              </a:rPr>
              <a:t>0.3</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math</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sin</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self</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005CC5"/>
                </a:solidFill>
                <a:latin typeface="Courier New" pitchFamily="34" charset="0"/>
                <a:ea typeface="Courier New" pitchFamily="34" charset="-122"/>
                <a:cs typeface="Courier New" pitchFamily="34" charset="-120"/>
              </a:rPr>
              <a:t>0.2</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math</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cos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self</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positions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D73A49"/>
                </a:solidFill>
                <a:latin typeface="Courier New" pitchFamily="34" charset="0"/>
                <a:ea typeface="Courier New" pitchFamily="34" charset="-122"/>
                <a:cs typeface="Courier New" pitchFamily="34" charset="-120"/>
              </a:rPr>
              <a:t>for</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i</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D73A49"/>
                </a:solidFill>
                <a:latin typeface="Courier New" pitchFamily="34" charset="0"/>
                <a:ea typeface="Courier New" pitchFamily="34" charset="-122"/>
                <a:cs typeface="Courier New" pitchFamily="34" charset="-120"/>
              </a:rPr>
              <a:t>in</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range</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ck</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n_state_interfaces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self</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position</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ck</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read_state</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self</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i</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command</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position</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dt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005CC5"/>
                </a:solidFill>
                <a:latin typeface="Courier New" pitchFamily="34" charset="0"/>
                <a:ea typeface="Courier New" pitchFamily="34" charset="-122"/>
                <a:cs typeface="Courier New" pitchFamily="34" charset="-120"/>
              </a:rPr>
              <a:t>20.0</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references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i</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position</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ck</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write_command</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self</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i</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command</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positions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append</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position</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self</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samples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append</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self</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references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positions</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560"/>
              </a:lnSpc>
              <a:buNone/>
            </a:pPr>
            <a:r>
              <a:rPr lang="en-US" sz="1200" dirty="0">
                <a:solidFill>
                  <a:srgbClr val="D73A49"/>
                </a:solidFill>
                <a:latin typeface="Courier New" pitchFamily="34" charset="0"/>
                <a:ea typeface="Courier New" pitchFamily="34" charset="-122"/>
                <a:cs typeface="Courier New" pitchFamily="34" charset="-120"/>
              </a:rPr>
              <a:t>return</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 </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ck</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return_type</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a:t>
            </a:r>
            <a:pPr indent="0" marL="0">
              <a:lnSpc>
                <a:spcPts val="1560"/>
              </a:lnSpc>
              <a:buNone/>
            </a:pPr>
            <a:r>
              <a:rPr lang="en-US" sz="1200" dirty="0">
                <a:solidFill>
                  <a:srgbClr val="24292E"/>
                </a:solidFill>
                <a:latin typeface="Courier New" pitchFamily="34" charset="0"/>
                <a:ea typeface="Courier New" pitchFamily="34" charset="-122"/>
                <a:cs typeface="Courier New" pitchFamily="34" charset="-120"/>
              </a:rPr>
              <a:t>OK</a:t>
            </a:r>
            <a:endParaRPr lang="en-US" sz="1600" dirty="0"/>
          </a:p>
        </p:txBody>
      </p:sp>
      <p:sp>
        <p:nvSpPr>
          <p:cNvPr id="43" name="Text 33"/>
          <p:cNvSpPr/>
          <p:nvPr/>
        </p:nvSpPr>
        <p:spPr>
          <a:xfrm>
            <a:off x="4846320" y="5029200"/>
            <a:ext cx="6766560" cy="1143000"/>
          </a:xfrm>
          <a:prstGeom prst="roundRect">
            <a:avLst>
              <a:gd name="adj" fmla="val 8000"/>
            </a:avLst>
          </a:prstGeom>
          <a:solidFill>
            <a:srgbClr val="F5C518"/>
          </a:solidFill>
          <a:ln/>
        </p:spPr>
        <p:txBody>
          <a:bodyPr wrap="square" lIns="2540" tIns="2540" rIns="2540" bIns="2540" rtlCol="0" anchor="ctr"/>
          <a:lstStyle/>
          <a:p>
            <a:pPr algn="l" indent="0" marL="0">
              <a:buNone/>
            </a:pPr>
            <a:r>
              <a:rPr lang="en-US" sz="1600" b="1" dirty="0">
                <a:solidFill>
                  <a:srgbClr val="1E3A6E"/>
                </a:solidFill>
                <a:latin typeface="Arial" pitchFamily="34" charset="0"/>
                <a:ea typeface="Arial" pitchFamily="34" charset="-122"/>
                <a:cs typeface="Arial" pitchFamily="34" charset="-120"/>
              </a:rPr>
              <a:t>Lifecycle methods and interface declarations are supplied. The agent fills in update().</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A thousand updates a second</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1E3A6E"/>
            </a:solidFill>
            <a:prstDash val="solid"/>
          </a:ln>
        </p:spPr>
      </p:sp>
      <p:sp>
        <p:nvSpPr>
          <p:cNvPr id="7" name="Shape 4"/>
          <p:cNvSpPr/>
          <p:nvPr/>
        </p:nvSpPr>
        <p:spPr>
          <a:xfrm>
            <a:off x="10469880" y="576072"/>
            <a:ext cx="292608" cy="0"/>
          </a:xfrm>
          <a:prstGeom prst="line">
            <a:avLst/>
          </a:prstGeom>
          <a:noFill/>
          <a:ln w="25400">
            <a:solidFill>
              <a:srgbClr val="1E3A6E"/>
            </a:solidFill>
            <a:prstDash val="solid"/>
          </a:ln>
        </p:spPr>
      </p:sp>
      <p:sp>
        <p:nvSpPr>
          <p:cNvPr id="8" name="Shape 5"/>
          <p:cNvSpPr/>
          <p:nvPr/>
        </p:nvSpPr>
        <p:spPr>
          <a:xfrm>
            <a:off x="11183112" y="576072"/>
            <a:ext cx="292608" cy="0"/>
          </a:xfrm>
          <a:prstGeom prst="line">
            <a:avLst/>
          </a:prstGeom>
          <a:noFill/>
          <a:ln w="25400">
            <a:solidFill>
              <a:srgbClr val="B8C2D3"/>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1E3A6E"/>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1E3A6E"/>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F5C518"/>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E3E8F0"/>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54480"/>
            <a:ext cx="2057400" cy="173736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28" name="Text 19"/>
          <p:cNvSpPr txBox="1"/>
          <p:nvPr/>
        </p:nvSpPr>
        <p:spPr>
          <a:xfrm>
            <a:off x="731520" y="1691640"/>
            <a:ext cx="1691640" cy="868680"/>
          </a:xfrm>
          <a:prstGeom prst="rect">
            <a:avLst/>
          </a:prstGeom>
          <a:noFill/>
          <a:ln/>
        </p:spPr>
        <p:txBody>
          <a:bodyPr wrap="square" lIns="0" tIns="0" rIns="0" bIns="0" rtlCol="0" anchor="ctr"/>
          <a:lstStyle/>
          <a:p>
            <a:pPr indent="0" marL="0">
              <a:buNone/>
            </a:pPr>
            <a:r>
              <a:rPr lang="en-US" sz="3000" b="1" dirty="0">
                <a:solidFill>
                  <a:srgbClr val="1E3A6E"/>
                </a:solidFill>
                <a:latin typeface="Arial" pitchFamily="34" charset="0"/>
                <a:ea typeface="Arial" pitchFamily="34" charset="-122"/>
                <a:cs typeface="Arial" pitchFamily="34" charset="-120"/>
              </a:rPr>
              <a:t>996 Hz</a:t>
            </a:r>
            <a:endParaRPr lang="en-US" sz="3000" dirty="0"/>
          </a:p>
        </p:txBody>
      </p:sp>
      <p:sp>
        <p:nvSpPr>
          <p:cNvPr id="29" name="Text 20"/>
          <p:cNvSpPr txBox="1"/>
          <p:nvPr/>
        </p:nvSpPr>
        <p:spPr>
          <a:xfrm>
            <a:off x="731520" y="2560320"/>
            <a:ext cx="1691640" cy="64008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agent run, 3 seconds</a:t>
            </a:r>
            <a:endParaRPr lang="en-US" sz="1400" dirty="0"/>
          </a:p>
        </p:txBody>
      </p:sp>
      <p:sp>
        <p:nvSpPr>
          <p:cNvPr id="30" name="Text 21"/>
          <p:cNvSpPr/>
          <p:nvPr/>
        </p:nvSpPr>
        <p:spPr>
          <a:xfrm>
            <a:off x="2788920" y="1554480"/>
            <a:ext cx="2057400" cy="173736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31" name="Text 22"/>
          <p:cNvSpPr txBox="1"/>
          <p:nvPr/>
        </p:nvSpPr>
        <p:spPr>
          <a:xfrm>
            <a:off x="2971800" y="1691640"/>
            <a:ext cx="1691640" cy="868680"/>
          </a:xfrm>
          <a:prstGeom prst="rect">
            <a:avLst/>
          </a:prstGeom>
          <a:noFill/>
          <a:ln/>
        </p:spPr>
        <p:txBody>
          <a:bodyPr wrap="square" lIns="0" tIns="0" rIns="0" bIns="0" rtlCol="0" anchor="ctr"/>
          <a:lstStyle/>
          <a:p>
            <a:pPr indent="0" marL="0">
              <a:buNone/>
            </a:pPr>
            <a:r>
              <a:rPr lang="en-US" sz="3000" b="1" dirty="0">
                <a:solidFill>
                  <a:srgbClr val="1E3A6E"/>
                </a:solidFill>
                <a:latin typeface="Arial" pitchFamily="34" charset="0"/>
                <a:ea typeface="Arial" pitchFamily="34" charset="-122"/>
                <a:cs typeface="Arial" pitchFamily="34" charset="-120"/>
              </a:rPr>
              <a:t>989 Hz</a:t>
            </a:r>
            <a:endParaRPr lang="en-US" sz="3000" dirty="0"/>
          </a:p>
        </p:txBody>
      </p:sp>
      <p:sp>
        <p:nvSpPr>
          <p:cNvPr id="32" name="Text 23"/>
          <p:cNvSpPr txBox="1"/>
          <p:nvPr/>
        </p:nvSpPr>
        <p:spPr>
          <a:xfrm>
            <a:off x="2971800" y="2560320"/>
            <a:ext cx="1691640" cy="64008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independent run</a:t>
            </a:r>
            <a:endParaRPr lang="en-US" sz="1400" dirty="0"/>
          </a:p>
        </p:txBody>
      </p:sp>
      <p:sp>
        <p:nvSpPr>
          <p:cNvPr id="33" name="Text 24"/>
          <p:cNvSpPr/>
          <p:nvPr/>
        </p:nvSpPr>
        <p:spPr>
          <a:xfrm>
            <a:off x="5029200" y="1554480"/>
            <a:ext cx="2057400" cy="1737360"/>
          </a:xfrm>
          <a:prstGeom prst="roundRect">
            <a:avLst>
              <a:gd name="adj" fmla="val 5263"/>
            </a:avLst>
          </a:prstGeom>
          <a:solidFill>
            <a:srgbClr val="F5C518"/>
          </a:solidFill>
          <a:ln/>
        </p:spPr>
        <p:txBody>
          <a:bodyPr wrap="square" lIns="1270" tIns="1270" rIns="1270" bIns="1270" rtlCol="0" anchor="ctr"/>
          <a:lstStyle/>
          <a:p>
            <a:pPr algn="l" indent="0" marL="0">
              <a:buNone/>
            </a:pPr>
            <a:endParaRPr lang="en-US" sz="1600" dirty="0"/>
          </a:p>
        </p:txBody>
      </p:sp>
      <p:sp>
        <p:nvSpPr>
          <p:cNvPr id="34" name="Text 25"/>
          <p:cNvSpPr txBox="1"/>
          <p:nvPr/>
        </p:nvSpPr>
        <p:spPr>
          <a:xfrm>
            <a:off x="5212080" y="1691640"/>
            <a:ext cx="1691640" cy="868680"/>
          </a:xfrm>
          <a:prstGeom prst="rect">
            <a:avLst/>
          </a:prstGeom>
          <a:noFill/>
          <a:ln/>
        </p:spPr>
        <p:txBody>
          <a:bodyPr wrap="square" lIns="0" tIns="0" rIns="0" bIns="0" rtlCol="0" anchor="ctr"/>
          <a:lstStyle/>
          <a:p>
            <a:pPr indent="0" marL="0">
              <a:buNone/>
            </a:pPr>
            <a:r>
              <a:rPr lang="en-US" sz="3000" b="1" dirty="0">
                <a:solidFill>
                  <a:srgbClr val="1E3A6E"/>
                </a:solidFill>
                <a:latin typeface="Arial" pitchFamily="34" charset="0"/>
                <a:ea typeface="Arial" pitchFamily="34" charset="-122"/>
                <a:cs typeface="Arial" pitchFamily="34" charset="-120"/>
              </a:rPr>
              <a:t>3.89 ms</a:t>
            </a:r>
            <a:endParaRPr lang="en-US" sz="3000" dirty="0"/>
          </a:p>
        </p:txBody>
      </p:sp>
      <p:sp>
        <p:nvSpPr>
          <p:cNvPr id="35" name="Text 26"/>
          <p:cNvSpPr txBox="1"/>
          <p:nvPr/>
        </p:nvSpPr>
        <p:spPr>
          <a:xfrm>
            <a:off x="5212080" y="2560320"/>
            <a:ext cx="1691640" cy="64008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p99 interval</a:t>
            </a:r>
            <a:endParaRPr lang="en-US" sz="1400" dirty="0"/>
          </a:p>
        </p:txBody>
      </p:sp>
      <p:sp>
        <p:nvSpPr>
          <p:cNvPr id="36" name="Text 27"/>
          <p:cNvSpPr/>
          <p:nvPr/>
        </p:nvSpPr>
        <p:spPr>
          <a:xfrm>
            <a:off x="7269480" y="1554480"/>
            <a:ext cx="2057400" cy="1737360"/>
          </a:xfrm>
          <a:prstGeom prst="roundRect">
            <a:avLst>
              <a:gd name="adj" fmla="val 5263"/>
            </a:avLst>
          </a:prstGeom>
          <a:solidFill>
            <a:srgbClr val="F5C518"/>
          </a:solidFill>
          <a:ln/>
        </p:spPr>
        <p:txBody>
          <a:bodyPr wrap="square" lIns="1270" tIns="1270" rIns="1270" bIns="1270" rtlCol="0" anchor="ctr"/>
          <a:lstStyle/>
          <a:p>
            <a:pPr algn="l" indent="0" marL="0">
              <a:buNone/>
            </a:pPr>
            <a:endParaRPr lang="en-US" sz="1600" dirty="0"/>
          </a:p>
        </p:txBody>
      </p:sp>
      <p:sp>
        <p:nvSpPr>
          <p:cNvPr id="37" name="Text 28"/>
          <p:cNvSpPr txBox="1"/>
          <p:nvPr/>
        </p:nvSpPr>
        <p:spPr>
          <a:xfrm>
            <a:off x="7452360" y="1691640"/>
            <a:ext cx="1691640" cy="868680"/>
          </a:xfrm>
          <a:prstGeom prst="rect">
            <a:avLst/>
          </a:prstGeom>
          <a:noFill/>
          <a:ln/>
        </p:spPr>
        <p:txBody>
          <a:bodyPr wrap="square" lIns="0" tIns="0" rIns="0" bIns="0" rtlCol="0" anchor="ctr"/>
          <a:lstStyle/>
          <a:p>
            <a:pPr indent="0" marL="0">
              <a:buNone/>
            </a:pPr>
            <a:r>
              <a:rPr lang="en-US" sz="3000" b="1" dirty="0">
                <a:solidFill>
                  <a:srgbClr val="1E3A6E"/>
                </a:solidFill>
                <a:latin typeface="Arial" pitchFamily="34" charset="0"/>
                <a:ea typeface="Arial" pitchFamily="34" charset="-122"/>
                <a:cs typeface="Arial" pitchFamily="34" charset="-120"/>
              </a:rPr>
              <a:t>203</a:t>
            </a:r>
            <a:endParaRPr lang="en-US" sz="3000" dirty="0"/>
          </a:p>
        </p:txBody>
      </p:sp>
      <p:sp>
        <p:nvSpPr>
          <p:cNvPr id="38" name="Text 29"/>
          <p:cNvSpPr txBox="1"/>
          <p:nvPr/>
        </p:nvSpPr>
        <p:spPr>
          <a:xfrm>
            <a:off x="7452360" y="2560320"/>
            <a:ext cx="1691640" cy="64008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intervals above 1.5 ms</a:t>
            </a:r>
            <a:endParaRPr lang="en-US" sz="1400" dirty="0"/>
          </a:p>
        </p:txBody>
      </p:sp>
      <p:sp>
        <p:nvSpPr>
          <p:cNvPr id="39" name="Text 30"/>
          <p:cNvSpPr/>
          <p:nvPr/>
        </p:nvSpPr>
        <p:spPr>
          <a:xfrm>
            <a:off x="9509760" y="1554480"/>
            <a:ext cx="2057400" cy="173736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40" name="Text 31"/>
          <p:cNvSpPr txBox="1"/>
          <p:nvPr/>
        </p:nvSpPr>
        <p:spPr>
          <a:xfrm>
            <a:off x="9692640" y="1691640"/>
            <a:ext cx="1691640" cy="868680"/>
          </a:xfrm>
          <a:prstGeom prst="rect">
            <a:avLst/>
          </a:prstGeom>
          <a:noFill/>
          <a:ln/>
        </p:spPr>
        <p:txBody>
          <a:bodyPr wrap="square" lIns="0" tIns="0" rIns="0" bIns="0" rtlCol="0" anchor="ctr"/>
          <a:lstStyle/>
          <a:p>
            <a:pPr indent="0" marL="0">
              <a:buNone/>
            </a:pPr>
            <a:r>
              <a:rPr lang="en-US" sz="3000" b="1" dirty="0">
                <a:solidFill>
                  <a:srgbClr val="1E3A6E"/>
                </a:solidFill>
                <a:latin typeface="Arial" pitchFamily="34" charset="0"/>
                <a:ea typeface="Arial" pitchFamily="34" charset="-122"/>
                <a:cs typeface="Arial" pitchFamily="34" charset="-120"/>
              </a:rPr>
              <a:t>0.016 rad</a:t>
            </a:r>
            <a:endParaRPr lang="en-US" sz="3000" dirty="0"/>
          </a:p>
        </p:txBody>
      </p:sp>
      <p:sp>
        <p:nvSpPr>
          <p:cNvPr id="41" name="Text 32"/>
          <p:cNvSpPr txBox="1"/>
          <p:nvPr/>
        </p:nvSpPr>
        <p:spPr>
          <a:xfrm>
            <a:off x="9692640" y="2560320"/>
            <a:ext cx="1691640" cy="64008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tracking error, second half</a:t>
            </a:r>
            <a:endParaRPr lang="en-US" sz="1400" dirty="0"/>
          </a:p>
        </p:txBody>
      </p:sp>
      <p:sp>
        <p:nvSpPr>
          <p:cNvPr id="42" name="Text 33"/>
          <p:cNvSpPr/>
          <p:nvPr/>
        </p:nvSpPr>
        <p:spPr>
          <a:xfrm>
            <a:off x="548640" y="3611880"/>
            <a:ext cx="11064240" cy="1371600"/>
          </a:xfrm>
          <a:prstGeom prst="roundRect">
            <a:avLst>
              <a:gd name="adj" fmla="val 6667"/>
            </a:avLst>
          </a:prstGeom>
          <a:solidFill>
            <a:srgbClr val="FFFFFF"/>
          </a:solidFill>
          <a:ln w="12700">
            <a:solidFill>
              <a:srgbClr val="D0D7DE"/>
            </a:solidFill>
          </a:ln>
        </p:spPr>
        <p:txBody>
          <a:bodyPr wrap="square" lIns="1270" tIns="1270" rIns="1270" bIns="1270" rtlCol="0" anchor="ctr"/>
          <a:lstStyle/>
          <a:p>
            <a:pPr algn="l" indent="0" marL="0">
              <a:buNone/>
            </a:pPr>
            <a:endParaRPr lang="en-US" sz="1600" dirty="0"/>
          </a:p>
        </p:txBody>
      </p:sp>
      <p:sp>
        <p:nvSpPr>
          <p:cNvPr id="43" name="Text 34"/>
          <p:cNvSpPr txBox="1"/>
          <p:nvPr/>
        </p:nvSpPr>
        <p:spPr>
          <a:xfrm>
            <a:off x="731520" y="3703320"/>
            <a:ext cx="2743200" cy="274320"/>
          </a:xfrm>
          <a:prstGeom prst="rect">
            <a:avLst/>
          </a:prstGeom>
          <a:noFill/>
          <a:ln/>
        </p:spPr>
        <p:txBody>
          <a:bodyPr wrap="square" lIns="0" tIns="0" rIns="0" bIns="0" rtlCol="0" anchor="t"/>
          <a:lstStyle/>
          <a:p>
            <a:pPr indent="0" marL="0">
              <a:buNone/>
            </a:pPr>
            <a:r>
              <a:rPr lang="en-US" sz="1300" b="1" dirty="0">
                <a:solidFill>
                  <a:srgbClr val="5B6578"/>
                </a:solidFill>
                <a:latin typeface="Arial" pitchFamily="34" charset="0"/>
                <a:ea typeface="Arial" pitchFamily="34" charset="-122"/>
                <a:cs typeface="Arial" pitchFamily="34" charset="-120"/>
              </a:rPr>
              <a:t>Interval scale (ms)</a:t>
            </a:r>
            <a:endParaRPr lang="en-US" sz="1300" dirty="0"/>
          </a:p>
        </p:txBody>
      </p:sp>
      <p:sp>
        <p:nvSpPr>
          <p:cNvPr id="44" name="Shape 35"/>
          <p:cNvSpPr/>
          <p:nvPr/>
        </p:nvSpPr>
        <p:spPr>
          <a:xfrm>
            <a:off x="914400" y="4617720"/>
            <a:ext cx="10241280" cy="0"/>
          </a:xfrm>
          <a:prstGeom prst="line">
            <a:avLst/>
          </a:prstGeom>
          <a:noFill/>
          <a:ln w="25400">
            <a:solidFill>
              <a:srgbClr val="5B6578"/>
            </a:solidFill>
            <a:prstDash val="solid"/>
          </a:ln>
        </p:spPr>
      </p:sp>
      <p:sp>
        <p:nvSpPr>
          <p:cNvPr id="45" name="Shape 36"/>
          <p:cNvSpPr/>
          <p:nvPr/>
        </p:nvSpPr>
        <p:spPr>
          <a:xfrm>
            <a:off x="832104" y="4535424"/>
            <a:ext cx="164592" cy="164592"/>
          </a:xfrm>
          <a:prstGeom prst="ellipse">
            <a:avLst/>
          </a:prstGeom>
          <a:solidFill>
            <a:srgbClr val="1E3A6E"/>
          </a:solidFill>
          <a:ln/>
        </p:spPr>
      </p:sp>
      <p:sp>
        <p:nvSpPr>
          <p:cNvPr id="46" name="Text 37"/>
          <p:cNvSpPr txBox="1"/>
          <p:nvPr/>
        </p:nvSpPr>
        <p:spPr>
          <a:xfrm>
            <a:off x="274320" y="4754880"/>
            <a:ext cx="1280160" cy="228600"/>
          </a:xfrm>
          <a:prstGeom prst="rect">
            <a:avLst/>
          </a:prstGeom>
          <a:noFill/>
          <a:ln/>
        </p:spPr>
        <p:txBody>
          <a:bodyPr wrap="square" lIns="0" tIns="0" rIns="0" bIns="0" rtlCol="0" anchor="t"/>
          <a:lstStyle/>
          <a:p>
            <a:pPr algn="ctr" indent="0" marL="0">
              <a:buNone/>
            </a:pPr>
            <a:r>
              <a:rPr lang="en-US" sz="1200" b="1" dirty="0">
                <a:solidFill>
                  <a:srgbClr val="1B2433"/>
                </a:solidFill>
                <a:latin typeface="Arial" pitchFamily="34" charset="0"/>
                <a:ea typeface="Arial" pitchFamily="34" charset="-122"/>
                <a:cs typeface="Arial" pitchFamily="34" charset="-120"/>
              </a:rPr>
              <a:t>0</a:t>
            </a:r>
            <a:endParaRPr lang="en-US" sz="1200" dirty="0"/>
          </a:p>
        </p:txBody>
      </p:sp>
      <p:sp>
        <p:nvSpPr>
          <p:cNvPr id="47" name="Shape 38"/>
          <p:cNvSpPr/>
          <p:nvPr/>
        </p:nvSpPr>
        <p:spPr>
          <a:xfrm>
            <a:off x="3270504" y="4535424"/>
            <a:ext cx="164592" cy="164592"/>
          </a:xfrm>
          <a:prstGeom prst="ellipse">
            <a:avLst/>
          </a:prstGeom>
          <a:solidFill>
            <a:srgbClr val="1E3A6E"/>
          </a:solidFill>
          <a:ln/>
        </p:spPr>
      </p:sp>
      <p:sp>
        <p:nvSpPr>
          <p:cNvPr id="48" name="Text 39"/>
          <p:cNvSpPr txBox="1"/>
          <p:nvPr/>
        </p:nvSpPr>
        <p:spPr>
          <a:xfrm>
            <a:off x="2712720" y="4754880"/>
            <a:ext cx="1280160" cy="228600"/>
          </a:xfrm>
          <a:prstGeom prst="rect">
            <a:avLst/>
          </a:prstGeom>
          <a:noFill/>
          <a:ln/>
        </p:spPr>
        <p:txBody>
          <a:bodyPr wrap="square" lIns="0" tIns="0" rIns="0" bIns="0" rtlCol="0" anchor="t"/>
          <a:lstStyle/>
          <a:p>
            <a:pPr algn="ctr" indent="0" marL="0">
              <a:buNone/>
            </a:pPr>
            <a:r>
              <a:rPr lang="en-US" sz="1200" b="1" dirty="0">
                <a:solidFill>
                  <a:srgbClr val="1B2433"/>
                </a:solidFill>
                <a:latin typeface="Arial" pitchFamily="34" charset="0"/>
                <a:ea typeface="Arial" pitchFamily="34" charset="-122"/>
                <a:cs typeface="Arial" pitchFamily="34" charset="-120"/>
              </a:rPr>
              <a:t>1.0 target</a:t>
            </a:r>
            <a:endParaRPr lang="en-US" sz="1200" dirty="0"/>
          </a:p>
        </p:txBody>
      </p:sp>
      <p:sp>
        <p:nvSpPr>
          <p:cNvPr id="49" name="Shape 40"/>
          <p:cNvSpPr/>
          <p:nvPr/>
        </p:nvSpPr>
        <p:spPr>
          <a:xfrm>
            <a:off x="4489704" y="4535424"/>
            <a:ext cx="164592" cy="164592"/>
          </a:xfrm>
          <a:prstGeom prst="ellipse">
            <a:avLst/>
          </a:prstGeom>
          <a:solidFill>
            <a:srgbClr val="3776AB"/>
          </a:solidFill>
          <a:ln/>
        </p:spPr>
      </p:sp>
      <p:sp>
        <p:nvSpPr>
          <p:cNvPr id="50" name="Text 41"/>
          <p:cNvSpPr txBox="1"/>
          <p:nvPr/>
        </p:nvSpPr>
        <p:spPr>
          <a:xfrm>
            <a:off x="3931920" y="4754880"/>
            <a:ext cx="1280160" cy="228600"/>
          </a:xfrm>
          <a:prstGeom prst="rect">
            <a:avLst/>
          </a:prstGeom>
          <a:noFill/>
          <a:ln/>
        </p:spPr>
        <p:txBody>
          <a:bodyPr wrap="square" lIns="0" tIns="0" rIns="0" bIns="0" rtlCol="0" anchor="t"/>
          <a:lstStyle/>
          <a:p>
            <a:pPr algn="ctr" indent="0" marL="0">
              <a:buNone/>
            </a:pPr>
            <a:r>
              <a:rPr lang="en-US" sz="1200" b="1" dirty="0">
                <a:solidFill>
                  <a:srgbClr val="1B2433"/>
                </a:solidFill>
                <a:latin typeface="Arial" pitchFamily="34" charset="0"/>
                <a:ea typeface="Arial" pitchFamily="34" charset="-122"/>
                <a:cs typeface="Arial" pitchFamily="34" charset="-120"/>
              </a:rPr>
              <a:t>1.5</a:t>
            </a:r>
            <a:endParaRPr lang="en-US" sz="1200" dirty="0"/>
          </a:p>
        </p:txBody>
      </p:sp>
      <p:sp>
        <p:nvSpPr>
          <p:cNvPr id="51" name="Shape 42"/>
          <p:cNvSpPr/>
          <p:nvPr/>
        </p:nvSpPr>
        <p:spPr>
          <a:xfrm>
            <a:off x="10317480" y="4535424"/>
            <a:ext cx="164592" cy="164592"/>
          </a:xfrm>
          <a:prstGeom prst="ellipse">
            <a:avLst/>
          </a:prstGeom>
          <a:solidFill>
            <a:srgbClr val="C0392B"/>
          </a:solidFill>
          <a:ln/>
        </p:spPr>
      </p:sp>
      <p:sp>
        <p:nvSpPr>
          <p:cNvPr id="52" name="Text 43"/>
          <p:cNvSpPr txBox="1"/>
          <p:nvPr/>
        </p:nvSpPr>
        <p:spPr>
          <a:xfrm>
            <a:off x="9759696" y="4754880"/>
            <a:ext cx="1280160" cy="228600"/>
          </a:xfrm>
          <a:prstGeom prst="rect">
            <a:avLst/>
          </a:prstGeom>
          <a:noFill/>
          <a:ln/>
        </p:spPr>
        <p:txBody>
          <a:bodyPr wrap="square" lIns="0" tIns="0" rIns="0" bIns="0" rtlCol="0" anchor="t"/>
          <a:lstStyle/>
          <a:p>
            <a:pPr algn="ctr" indent="0" marL="0">
              <a:buNone/>
            </a:pPr>
            <a:r>
              <a:rPr lang="en-US" sz="1200" b="1" dirty="0">
                <a:solidFill>
                  <a:srgbClr val="1B2433"/>
                </a:solidFill>
                <a:latin typeface="Arial" pitchFamily="34" charset="0"/>
                <a:ea typeface="Arial" pitchFamily="34" charset="-122"/>
                <a:cs typeface="Arial" pitchFamily="34" charset="-120"/>
              </a:rPr>
              <a:t>3.89 p99</a:t>
            </a:r>
            <a:endParaRPr lang="en-US" sz="1200" dirty="0"/>
          </a:p>
        </p:txBody>
      </p:sp>
      <p:sp>
        <p:nvSpPr>
          <p:cNvPr id="53" name="Text 44"/>
          <p:cNvSpPr txBox="1"/>
          <p:nvPr/>
        </p:nvSpPr>
        <p:spPr>
          <a:xfrm>
            <a:off x="4754880" y="4114800"/>
            <a:ext cx="3657600" cy="274320"/>
          </a:xfrm>
          <a:prstGeom prst="rect">
            <a:avLst/>
          </a:prstGeom>
          <a:noFill/>
          <a:ln/>
        </p:spPr>
        <p:txBody>
          <a:bodyPr wrap="square" lIns="0" tIns="0" rIns="0" bIns="0" rtlCol="0" anchor="t"/>
          <a:lstStyle/>
          <a:p>
            <a:pPr indent="0" marL="0">
              <a:buNone/>
            </a:pPr>
            <a:r>
              <a:rPr lang="en-US" sz="1200" b="1" dirty="0">
                <a:solidFill>
                  <a:srgbClr val="3776AB"/>
                </a:solidFill>
                <a:latin typeface="Arial" pitchFamily="34" charset="0"/>
                <a:ea typeface="Arial" pitchFamily="34" charset="-122"/>
                <a:cs typeface="Arial" pitchFamily="34" charset="-120"/>
              </a:rPr>
              <a:t>late intervals above 1.5 ms</a:t>
            </a:r>
            <a:endParaRPr lang="en-US" sz="1200" dirty="0"/>
          </a:p>
        </p:txBody>
      </p:sp>
      <p:sp>
        <p:nvSpPr>
          <p:cNvPr id="54" name="Text 45"/>
          <p:cNvSpPr/>
          <p:nvPr/>
        </p:nvSpPr>
        <p:spPr>
          <a:xfrm>
            <a:off x="548640" y="5257800"/>
            <a:ext cx="11064240" cy="960120"/>
          </a:xfrm>
          <a:prstGeom prst="roundRect">
            <a:avLst>
              <a:gd name="adj" fmla="val 9524"/>
            </a:avLst>
          </a:prstGeom>
          <a:solidFill>
            <a:srgbClr val="F5C518"/>
          </a:solidFill>
          <a:ln/>
        </p:spPr>
        <p:txBody>
          <a:bodyPr wrap="square" lIns="3810" tIns="3810" rIns="3810" bIns="3810" rtlCol="0" anchor="ctr"/>
          <a:lstStyle/>
          <a:p>
            <a:pPr algn="l" indent="0" marL="0">
              <a:buNone/>
            </a:pPr>
            <a:r>
              <a:rPr lang="en-US" sz="2000" b="1" dirty="0">
                <a:solidFill>
                  <a:srgbClr val="1E3A6E"/>
                </a:solidFill>
                <a:latin typeface="Arial" pitchFamily="34" charset="0"/>
                <a:ea typeface="Arial" pitchFamily="34" charset="-122"/>
                <a:cs typeface="Arial" pitchFamily="34" charset="-120"/>
              </a:rPr>
              <a:t>The average rate is only part of the story. Look at the timing distribution too.</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822960" y="1600200"/>
            <a:ext cx="10515600" cy="1554480"/>
          </a:xfrm>
          <a:prstGeom prst="rect">
            <a:avLst/>
          </a:prstGeom>
          <a:noFill/>
          <a:ln/>
        </p:spPr>
        <p:txBody>
          <a:bodyPr wrap="square" lIns="0" tIns="0" rIns="0" bIns="0" rtlCol="0" anchor="t"/>
          <a:lstStyle/>
          <a:p>
            <a:pPr algn="l" indent="0" marL="0">
              <a:buNone/>
            </a:pPr>
            <a:r>
              <a:rPr lang="en-US" sz="4400" b="1" dirty="0">
                <a:solidFill>
                  <a:srgbClr val="1E3A6E"/>
                </a:solidFill>
                <a:latin typeface="Arial" pitchFamily="34" charset="0"/>
                <a:ea typeface="Arial" pitchFamily="34" charset="-122"/>
                <a:cs typeface="Arial" pitchFamily="34" charset="-120"/>
              </a:rPr>
              <a:t>6. Can we make it follow this?</a:t>
            </a:r>
            <a:endParaRPr lang="en-US" sz="4400" dirty="0"/>
          </a:p>
        </p:txBody>
      </p:sp>
      <p:sp>
        <p:nvSpPr>
          <p:cNvPr id="4" name="Text 1"/>
          <p:cNvSpPr txBox="1"/>
          <p:nvPr/>
        </p:nvSpPr>
        <p:spPr>
          <a:xfrm>
            <a:off x="822960" y="1097280"/>
            <a:ext cx="10058400" cy="365760"/>
          </a:xfrm>
          <a:prstGeom prst="rect">
            <a:avLst/>
          </a:prstGeom>
          <a:noFill/>
          <a:ln/>
        </p:spPr>
        <p:txBody>
          <a:bodyPr wrap="square" lIns="0" tIns="0" rIns="0" bIns="0" rtlCol="0" anchor="t"/>
          <a:lstStyle/>
          <a:p>
            <a:pPr indent="0" marL="0">
              <a:buNone/>
            </a:pPr>
            <a:r>
              <a:rPr lang="en-US" sz="1800" b="1" dirty="0">
                <a:solidFill>
                  <a:srgbClr val="3776AB"/>
                </a:solidFill>
                <a:latin typeface="Arial" pitchFamily="34" charset="0"/>
                <a:ea typeface="Arial" pitchFamily="34" charset="-122"/>
                <a:cs typeface="Arial" pitchFamily="34" charset="-120"/>
              </a:rPr>
              <a:t>Webcam, 5 minutes</a:t>
            </a:r>
            <a:endParaRPr lang="en-US" sz="1800" dirty="0"/>
          </a:p>
        </p:txBody>
      </p:sp>
      <p:sp>
        <p:nvSpPr>
          <p:cNvPr id="5" name="Text 2"/>
          <p:cNvSpPr txBox="1"/>
          <p:nvPr/>
        </p:nvSpPr>
        <p:spPr>
          <a:xfrm>
            <a:off x="822960" y="3246120"/>
            <a:ext cx="10515600" cy="731520"/>
          </a:xfrm>
          <a:prstGeom prst="rect">
            <a:avLst/>
          </a:prstGeom>
          <a:noFill/>
          <a:ln/>
        </p:spPr>
        <p:txBody>
          <a:bodyPr wrap="square" lIns="0" tIns="0" rIns="0" bIns="0" rtlCol="0" anchor="t"/>
          <a:lstStyle/>
          <a:p>
            <a:pPr indent="0" marL="0">
              <a:buNone/>
            </a:pPr>
            <a:r>
              <a:rPr lang="en-US" sz="1800" dirty="0">
                <a:solidFill>
                  <a:srgbClr val="5B6578"/>
                </a:solidFill>
                <a:latin typeface="Arial" pitchFamily="34" charset="0"/>
                <a:ea typeface="Arial" pitchFamily="34" charset="-122"/>
                <a:cs typeface="Arial" pitchFamily="34" charset="-120"/>
              </a:rPr>
              <a:t>Click on a little patch and follow it as I move it around.</a:t>
            </a:r>
            <a:endParaRPr lang="en-US" sz="1800" dirty="0"/>
          </a:p>
        </p:txBody>
      </p:sp>
      <p:sp>
        <p:nvSpPr>
          <p:cNvPr id="6" name="Shape 3"/>
          <p:cNvSpPr/>
          <p:nvPr/>
        </p:nvSpPr>
        <p:spPr>
          <a:xfrm>
            <a:off x="1866748" y="4754880"/>
            <a:ext cx="960120" cy="0"/>
          </a:xfrm>
          <a:prstGeom prst="line">
            <a:avLst/>
          </a:prstGeom>
          <a:noFill/>
          <a:ln w="38100">
            <a:solidFill>
              <a:srgbClr val="1E3A6E"/>
            </a:solidFill>
            <a:prstDash val="solid"/>
          </a:ln>
        </p:spPr>
      </p:sp>
      <p:sp>
        <p:nvSpPr>
          <p:cNvPr id="7" name="Shape 4"/>
          <p:cNvSpPr/>
          <p:nvPr/>
        </p:nvSpPr>
        <p:spPr>
          <a:xfrm>
            <a:off x="3741268" y="4754880"/>
            <a:ext cx="960120" cy="0"/>
          </a:xfrm>
          <a:prstGeom prst="line">
            <a:avLst/>
          </a:prstGeom>
          <a:noFill/>
          <a:ln w="38100">
            <a:solidFill>
              <a:srgbClr val="1E3A6E"/>
            </a:solidFill>
            <a:prstDash val="solid"/>
          </a:ln>
        </p:spPr>
      </p:sp>
      <p:sp>
        <p:nvSpPr>
          <p:cNvPr id="8" name="Shape 5"/>
          <p:cNvSpPr/>
          <p:nvPr/>
        </p:nvSpPr>
        <p:spPr>
          <a:xfrm>
            <a:off x="5615788" y="4754880"/>
            <a:ext cx="960120" cy="0"/>
          </a:xfrm>
          <a:prstGeom prst="line">
            <a:avLst/>
          </a:prstGeom>
          <a:noFill/>
          <a:ln w="38100">
            <a:solidFill>
              <a:srgbClr val="1E3A6E"/>
            </a:solidFill>
            <a:prstDash val="solid"/>
          </a:ln>
        </p:spPr>
      </p:sp>
      <p:sp>
        <p:nvSpPr>
          <p:cNvPr id="9" name="Shape 6"/>
          <p:cNvSpPr/>
          <p:nvPr/>
        </p:nvSpPr>
        <p:spPr>
          <a:xfrm>
            <a:off x="7490308" y="4754880"/>
            <a:ext cx="960120" cy="0"/>
          </a:xfrm>
          <a:prstGeom prst="line">
            <a:avLst/>
          </a:prstGeom>
          <a:noFill/>
          <a:ln w="38100">
            <a:solidFill>
              <a:srgbClr val="1E3A6E"/>
            </a:solidFill>
            <a:prstDash val="solid"/>
          </a:ln>
        </p:spPr>
      </p:sp>
      <p:sp>
        <p:nvSpPr>
          <p:cNvPr id="10" name="Shape 7"/>
          <p:cNvSpPr/>
          <p:nvPr/>
        </p:nvSpPr>
        <p:spPr>
          <a:xfrm>
            <a:off x="9364828" y="4754880"/>
            <a:ext cx="960120" cy="0"/>
          </a:xfrm>
          <a:prstGeom prst="line">
            <a:avLst/>
          </a:prstGeom>
          <a:noFill/>
          <a:ln w="38100">
            <a:solidFill>
              <a:srgbClr val="1E3A6E"/>
            </a:solidFill>
            <a:prstDash val="solid"/>
          </a:ln>
        </p:spPr>
      </p:sp>
      <p:sp>
        <p:nvSpPr>
          <p:cNvPr id="11" name="Shape 8"/>
          <p:cNvSpPr/>
          <p:nvPr/>
        </p:nvSpPr>
        <p:spPr>
          <a:xfrm>
            <a:off x="952348" y="4297680"/>
            <a:ext cx="914400" cy="914400"/>
          </a:xfrm>
          <a:prstGeom prst="ellipse">
            <a:avLst/>
          </a:prstGeom>
          <a:solidFill>
            <a:srgbClr val="1E3A6E"/>
          </a:solidFill>
          <a:ln/>
        </p:spPr>
      </p:sp>
      <p:pic>
        <p:nvPicPr>
          <p:cNvPr id="12" name="Image 0" descr="preencoded.png">    </p:cNvPr>
          <p:cNvPicPr>
            <a:picLocks noChangeAspect="1"/>
          </p:cNvPicPr>
          <p:nvPr/>
        </p:nvPicPr>
        <p:blipFill>
          <a:blip r:embed="rId1"/>
          <a:stretch>
            <a:fillRect/>
          </a:stretch>
        </p:blipFill>
        <p:spPr>
          <a:xfrm>
            <a:off x="1180948" y="4526280"/>
            <a:ext cx="457200" cy="457200"/>
          </a:xfrm>
          <a:prstGeom prst="rect">
            <a:avLst/>
          </a:prstGeom>
        </p:spPr>
      </p:pic>
      <p:sp>
        <p:nvSpPr>
          <p:cNvPr id="13" name="Text 9"/>
          <p:cNvSpPr txBox="1"/>
          <p:nvPr/>
        </p:nvSpPr>
        <p:spPr>
          <a:xfrm>
            <a:off x="49514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Python</a:t>
            </a:r>
            <a:endParaRPr lang="en-US" sz="1800" dirty="0"/>
          </a:p>
        </p:txBody>
      </p:sp>
      <p:sp>
        <p:nvSpPr>
          <p:cNvPr id="14" name="Shape 10"/>
          <p:cNvSpPr/>
          <p:nvPr/>
        </p:nvSpPr>
        <p:spPr>
          <a:xfrm>
            <a:off x="2826868" y="4297680"/>
            <a:ext cx="914400" cy="914400"/>
          </a:xfrm>
          <a:prstGeom prst="ellipse">
            <a:avLst/>
          </a:prstGeom>
          <a:solidFill>
            <a:srgbClr val="1E3A6E"/>
          </a:solidFill>
          <a:ln/>
        </p:spPr>
      </p:sp>
      <p:pic>
        <p:nvPicPr>
          <p:cNvPr id="15" name="Image 1" descr="preencoded.png">    </p:cNvPr>
          <p:cNvPicPr>
            <a:picLocks noChangeAspect="1"/>
          </p:cNvPicPr>
          <p:nvPr/>
        </p:nvPicPr>
        <p:blipFill>
          <a:blip r:embed="rId2"/>
          <a:stretch>
            <a:fillRect/>
          </a:stretch>
        </p:blipFill>
        <p:spPr>
          <a:xfrm>
            <a:off x="3055468" y="4526280"/>
            <a:ext cx="457200" cy="457200"/>
          </a:xfrm>
          <a:prstGeom prst="rect">
            <a:avLst/>
          </a:prstGeom>
        </p:spPr>
      </p:pic>
      <p:sp>
        <p:nvSpPr>
          <p:cNvPr id="16" name="Text 11"/>
          <p:cNvSpPr txBox="1"/>
          <p:nvPr/>
        </p:nvSpPr>
        <p:spPr>
          <a:xfrm>
            <a:off x="236966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MCAP</a:t>
            </a:r>
            <a:endParaRPr lang="en-US" sz="1800" dirty="0"/>
          </a:p>
        </p:txBody>
      </p:sp>
      <p:sp>
        <p:nvSpPr>
          <p:cNvPr id="17" name="Shape 12"/>
          <p:cNvSpPr/>
          <p:nvPr/>
        </p:nvSpPr>
        <p:spPr>
          <a:xfrm>
            <a:off x="4701388" y="4297680"/>
            <a:ext cx="914400" cy="914400"/>
          </a:xfrm>
          <a:prstGeom prst="ellipse">
            <a:avLst/>
          </a:prstGeom>
          <a:solidFill>
            <a:srgbClr val="1E3A6E"/>
          </a:solidFill>
          <a:ln/>
        </p:spPr>
      </p:sp>
      <p:pic>
        <p:nvPicPr>
          <p:cNvPr id="18" name="Image 2" descr="preencoded.png">    </p:cNvPr>
          <p:cNvPicPr>
            <a:picLocks noChangeAspect="1"/>
          </p:cNvPicPr>
          <p:nvPr/>
        </p:nvPicPr>
        <p:blipFill>
          <a:blip r:embed="rId3"/>
          <a:stretch>
            <a:fillRect/>
          </a:stretch>
        </p:blipFill>
        <p:spPr>
          <a:xfrm>
            <a:off x="4929988" y="4526280"/>
            <a:ext cx="457200" cy="457200"/>
          </a:xfrm>
          <a:prstGeom prst="rect">
            <a:avLst/>
          </a:prstGeom>
        </p:spPr>
      </p:pic>
      <p:sp>
        <p:nvSpPr>
          <p:cNvPr id="19" name="Text 13"/>
          <p:cNvSpPr txBox="1"/>
          <p:nvPr/>
        </p:nvSpPr>
        <p:spPr>
          <a:xfrm>
            <a:off x="424418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library</a:t>
            </a:r>
            <a:endParaRPr lang="en-US" sz="1800" dirty="0"/>
          </a:p>
        </p:txBody>
      </p:sp>
      <p:sp>
        <p:nvSpPr>
          <p:cNvPr id="20" name="Shape 14"/>
          <p:cNvSpPr/>
          <p:nvPr/>
        </p:nvSpPr>
        <p:spPr>
          <a:xfrm>
            <a:off x="6575908" y="4297680"/>
            <a:ext cx="914400" cy="914400"/>
          </a:xfrm>
          <a:prstGeom prst="ellipse">
            <a:avLst/>
          </a:prstGeom>
          <a:solidFill>
            <a:srgbClr val="1E3A6E"/>
          </a:solidFill>
          <a:ln/>
        </p:spPr>
      </p:sp>
      <p:pic>
        <p:nvPicPr>
          <p:cNvPr id="21" name="Image 3" descr="preencoded.png">    </p:cNvPr>
          <p:cNvPicPr>
            <a:picLocks noChangeAspect="1"/>
          </p:cNvPicPr>
          <p:nvPr/>
        </p:nvPicPr>
        <p:blipFill>
          <a:blip r:embed="rId4"/>
          <a:stretch>
            <a:fillRect/>
          </a:stretch>
        </p:blipFill>
        <p:spPr>
          <a:xfrm>
            <a:off x="6804508" y="4526280"/>
            <a:ext cx="457200" cy="457200"/>
          </a:xfrm>
          <a:prstGeom prst="rect">
            <a:avLst/>
          </a:prstGeom>
        </p:spPr>
      </p:pic>
      <p:sp>
        <p:nvSpPr>
          <p:cNvPr id="22" name="Text 15"/>
          <p:cNvSpPr txBox="1"/>
          <p:nvPr/>
        </p:nvSpPr>
        <p:spPr>
          <a:xfrm>
            <a:off x="611870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ROS</a:t>
            </a:r>
            <a:endParaRPr lang="en-US" sz="1800" dirty="0"/>
          </a:p>
        </p:txBody>
      </p:sp>
      <p:sp>
        <p:nvSpPr>
          <p:cNvPr id="23" name="Shape 16"/>
          <p:cNvSpPr/>
          <p:nvPr/>
        </p:nvSpPr>
        <p:spPr>
          <a:xfrm>
            <a:off x="8450428" y="4297680"/>
            <a:ext cx="914400" cy="914400"/>
          </a:xfrm>
          <a:prstGeom prst="ellipse">
            <a:avLst/>
          </a:prstGeom>
          <a:solidFill>
            <a:srgbClr val="1E3A6E"/>
          </a:solidFill>
          <a:ln/>
        </p:spPr>
      </p:sp>
      <p:pic>
        <p:nvPicPr>
          <p:cNvPr id="24" name="Image 4" descr="preencoded.png">    </p:cNvPr>
          <p:cNvPicPr>
            <a:picLocks noChangeAspect="1"/>
          </p:cNvPicPr>
          <p:nvPr/>
        </p:nvPicPr>
        <p:blipFill>
          <a:blip r:embed="rId5"/>
          <a:stretch>
            <a:fillRect/>
          </a:stretch>
        </p:blipFill>
        <p:spPr>
          <a:xfrm>
            <a:off x="8679028" y="4526280"/>
            <a:ext cx="457200" cy="457200"/>
          </a:xfrm>
          <a:prstGeom prst="rect">
            <a:avLst/>
          </a:prstGeom>
        </p:spPr>
      </p:pic>
      <p:sp>
        <p:nvSpPr>
          <p:cNvPr id="25" name="Text 17"/>
          <p:cNvSpPr txBox="1"/>
          <p:nvPr/>
        </p:nvSpPr>
        <p:spPr>
          <a:xfrm>
            <a:off x="7993228" y="5349240"/>
            <a:ext cx="1828800" cy="320040"/>
          </a:xfrm>
          <a:prstGeom prst="rect">
            <a:avLst/>
          </a:prstGeom>
          <a:noFill/>
          <a:ln/>
        </p:spPr>
        <p:txBody>
          <a:bodyPr wrap="square" lIns="0" tIns="0" rIns="0" bIns="0" rtlCol="0" anchor="t"/>
          <a:lstStyle/>
          <a:p>
            <a:pPr algn="ctr" indent="0" marL="0">
              <a:buNone/>
            </a:pPr>
            <a:r>
              <a:rPr lang="en-US" sz="1800" dirty="0">
                <a:solidFill>
                  <a:srgbClr val="5B6578"/>
                </a:solidFill>
                <a:latin typeface="Arial" pitchFamily="34" charset="0"/>
                <a:ea typeface="Arial" pitchFamily="34" charset="-122"/>
                <a:cs typeface="Arial" pitchFamily="34" charset="-120"/>
              </a:rPr>
              <a:t>controller</a:t>
            </a:r>
            <a:endParaRPr lang="en-US" sz="1800" dirty="0"/>
          </a:p>
        </p:txBody>
      </p:sp>
      <p:sp>
        <p:nvSpPr>
          <p:cNvPr id="26" name="Shape 18"/>
          <p:cNvSpPr/>
          <p:nvPr/>
        </p:nvSpPr>
        <p:spPr>
          <a:xfrm>
            <a:off x="10324948" y="4297680"/>
            <a:ext cx="914400" cy="914400"/>
          </a:xfrm>
          <a:prstGeom prst="ellipse">
            <a:avLst/>
          </a:prstGeom>
          <a:solidFill>
            <a:srgbClr val="F5C518"/>
          </a:solidFill>
          <a:ln w="38100">
            <a:solidFill>
              <a:srgbClr val="1E3A6E"/>
            </a:solidFill>
            <a:prstDash val="solid"/>
          </a:ln>
        </p:spPr>
      </p:sp>
      <p:pic>
        <p:nvPicPr>
          <p:cNvPr id="27" name="Image 5" descr="preencoded.png">    </p:cNvPr>
          <p:cNvPicPr>
            <a:picLocks noChangeAspect="1"/>
          </p:cNvPicPr>
          <p:nvPr/>
        </p:nvPicPr>
        <p:blipFill>
          <a:blip r:embed="rId6"/>
          <a:stretch>
            <a:fillRect/>
          </a:stretch>
        </p:blipFill>
        <p:spPr>
          <a:xfrm>
            <a:off x="10553548" y="4526280"/>
            <a:ext cx="457200" cy="457200"/>
          </a:xfrm>
          <a:prstGeom prst="rect">
            <a:avLst/>
          </a:prstGeom>
        </p:spPr>
      </p:pic>
      <p:sp>
        <p:nvSpPr>
          <p:cNvPr id="28" name="Text 19"/>
          <p:cNvSpPr txBox="1"/>
          <p:nvPr/>
        </p:nvSpPr>
        <p:spPr>
          <a:xfrm>
            <a:off x="9867748" y="5349240"/>
            <a:ext cx="1828800" cy="320040"/>
          </a:xfrm>
          <a:prstGeom prst="rect">
            <a:avLst/>
          </a:prstGeom>
          <a:noFill/>
          <a:ln/>
        </p:spPr>
        <p:txBody>
          <a:bodyPr wrap="square" lIns="0" tIns="0" rIns="0" bIns="0" rtlCol="0" anchor="t"/>
          <a:lstStyle/>
          <a:p>
            <a:pPr algn="ctr" indent="0" marL="0">
              <a:buNone/>
            </a:pPr>
            <a:r>
              <a:rPr lang="en-US" sz="1800" b="1" dirty="0">
                <a:solidFill>
                  <a:srgbClr val="1E3A6E"/>
                </a:solidFill>
                <a:latin typeface="Arial" pitchFamily="34" charset="0"/>
                <a:ea typeface="Arial" pitchFamily="34" charset="-122"/>
                <a:cs typeface="Arial" pitchFamily="34" charset="-120"/>
              </a:rPr>
              <a:t>webcam</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Find the most similar patch</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1E3A6E"/>
            </a:solidFill>
            <a:prstDash val="solid"/>
          </a:ln>
        </p:spPr>
      </p:sp>
      <p:sp>
        <p:nvSpPr>
          <p:cNvPr id="7" name="Shape 4"/>
          <p:cNvSpPr/>
          <p:nvPr/>
        </p:nvSpPr>
        <p:spPr>
          <a:xfrm>
            <a:off x="10469880" y="576072"/>
            <a:ext cx="292608" cy="0"/>
          </a:xfrm>
          <a:prstGeom prst="line">
            <a:avLst/>
          </a:prstGeom>
          <a:noFill/>
          <a:ln w="25400">
            <a:solidFill>
              <a:srgbClr val="1E3A6E"/>
            </a:solidFill>
            <a:prstDash val="solid"/>
          </a:ln>
        </p:spPr>
      </p:sp>
      <p:sp>
        <p:nvSpPr>
          <p:cNvPr id="8" name="Shape 5"/>
          <p:cNvSpPr/>
          <p:nvPr/>
        </p:nvSpPr>
        <p:spPr>
          <a:xfrm>
            <a:off x="11183112" y="576072"/>
            <a:ext cx="292608" cy="0"/>
          </a:xfrm>
          <a:prstGeom prst="line">
            <a:avLst/>
          </a:prstGeom>
          <a:noFill/>
          <a:ln w="25400">
            <a:solidFill>
              <a:srgbClr val="1E3A6E"/>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1E3A6E"/>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1E3A6E"/>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1E3A6E"/>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F5C518"/>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webcam</a:t>
            </a:r>
            <a:endParaRPr lang="en-US" sz="1000" dirty="0"/>
          </a:p>
        </p:txBody>
      </p:sp>
      <p:sp>
        <p:nvSpPr>
          <p:cNvPr id="27" name="Text 18"/>
          <p:cNvSpPr txBox="1"/>
          <p:nvPr/>
        </p:nvSpPr>
        <p:spPr>
          <a:xfrm>
            <a:off x="548640" y="1463040"/>
            <a:ext cx="2743200" cy="274320"/>
          </a:xfrm>
          <a:prstGeom prst="rect">
            <a:avLst/>
          </a:prstGeom>
          <a:noFill/>
          <a:ln/>
        </p:spPr>
        <p:txBody>
          <a:bodyPr wrap="square" lIns="0" tIns="0" rIns="0" bIns="0" rtlCol="0" anchor="t"/>
          <a:lstStyle/>
          <a:p>
            <a:pPr indent="0" marL="0">
              <a:buNone/>
            </a:pPr>
            <a:r>
              <a:rPr lang="en-US" sz="1400" b="1" dirty="0">
                <a:solidFill>
                  <a:srgbClr val="1E3A6E"/>
                </a:solidFill>
                <a:latin typeface="Arial" pitchFamily="34" charset="0"/>
                <a:ea typeface="Arial" pitchFamily="34" charset="-122"/>
                <a:cs typeface="Arial" pitchFamily="34" charset="-120"/>
              </a:rPr>
              <a:t>template: 11 x 11 px</a:t>
            </a:r>
            <a:endParaRPr lang="en-US" sz="1400" dirty="0"/>
          </a:p>
        </p:txBody>
      </p:sp>
      <p:sp>
        <p:nvSpPr>
          <p:cNvPr id="28" name="Shape 19"/>
          <p:cNvSpPr/>
          <p:nvPr/>
        </p:nvSpPr>
        <p:spPr>
          <a:xfrm>
            <a:off x="548640" y="1783080"/>
            <a:ext cx="2011680" cy="2011680"/>
          </a:xfrm>
          <a:prstGeom prst="rect">
            <a:avLst/>
          </a:prstGeom>
          <a:solidFill>
            <a:srgbClr val="F5C518"/>
          </a:solidFill>
          <a:ln w="19050">
            <a:solidFill>
              <a:srgbClr val="1E3A6E"/>
            </a:solidFill>
            <a:prstDash val="solid"/>
          </a:ln>
        </p:spPr>
      </p:sp>
      <p:sp>
        <p:nvSpPr>
          <p:cNvPr id="29" name="Shape 20"/>
          <p:cNvSpPr/>
          <p:nvPr/>
        </p:nvSpPr>
        <p:spPr>
          <a:xfrm>
            <a:off x="731520" y="1783080"/>
            <a:ext cx="0" cy="2011680"/>
          </a:xfrm>
          <a:prstGeom prst="line">
            <a:avLst/>
          </a:prstGeom>
          <a:noFill/>
          <a:ln w="6350">
            <a:solidFill>
              <a:srgbClr val="1E3A6E"/>
            </a:solidFill>
            <a:prstDash val="solid"/>
          </a:ln>
        </p:spPr>
      </p:sp>
      <p:sp>
        <p:nvSpPr>
          <p:cNvPr id="30" name="Shape 21"/>
          <p:cNvSpPr/>
          <p:nvPr/>
        </p:nvSpPr>
        <p:spPr>
          <a:xfrm>
            <a:off x="548640" y="1965960"/>
            <a:ext cx="2011680" cy="0"/>
          </a:xfrm>
          <a:prstGeom prst="line">
            <a:avLst/>
          </a:prstGeom>
          <a:noFill/>
          <a:ln w="6350">
            <a:solidFill>
              <a:srgbClr val="1E3A6E"/>
            </a:solidFill>
            <a:prstDash val="solid"/>
          </a:ln>
        </p:spPr>
      </p:sp>
      <p:sp>
        <p:nvSpPr>
          <p:cNvPr id="31" name="Shape 22"/>
          <p:cNvSpPr/>
          <p:nvPr/>
        </p:nvSpPr>
        <p:spPr>
          <a:xfrm>
            <a:off x="914400" y="1783080"/>
            <a:ext cx="0" cy="2011680"/>
          </a:xfrm>
          <a:prstGeom prst="line">
            <a:avLst/>
          </a:prstGeom>
          <a:noFill/>
          <a:ln w="6350">
            <a:solidFill>
              <a:srgbClr val="1E3A6E"/>
            </a:solidFill>
            <a:prstDash val="solid"/>
          </a:ln>
        </p:spPr>
      </p:sp>
      <p:sp>
        <p:nvSpPr>
          <p:cNvPr id="32" name="Shape 23"/>
          <p:cNvSpPr/>
          <p:nvPr/>
        </p:nvSpPr>
        <p:spPr>
          <a:xfrm>
            <a:off x="548640" y="2148840"/>
            <a:ext cx="2011680" cy="0"/>
          </a:xfrm>
          <a:prstGeom prst="line">
            <a:avLst/>
          </a:prstGeom>
          <a:noFill/>
          <a:ln w="6350">
            <a:solidFill>
              <a:srgbClr val="1E3A6E"/>
            </a:solidFill>
            <a:prstDash val="solid"/>
          </a:ln>
        </p:spPr>
      </p:sp>
      <p:sp>
        <p:nvSpPr>
          <p:cNvPr id="33" name="Shape 24"/>
          <p:cNvSpPr/>
          <p:nvPr/>
        </p:nvSpPr>
        <p:spPr>
          <a:xfrm>
            <a:off x="1097280" y="1783080"/>
            <a:ext cx="0" cy="2011680"/>
          </a:xfrm>
          <a:prstGeom prst="line">
            <a:avLst/>
          </a:prstGeom>
          <a:noFill/>
          <a:ln w="6350">
            <a:solidFill>
              <a:srgbClr val="1E3A6E"/>
            </a:solidFill>
            <a:prstDash val="solid"/>
          </a:ln>
        </p:spPr>
      </p:sp>
      <p:sp>
        <p:nvSpPr>
          <p:cNvPr id="34" name="Shape 25"/>
          <p:cNvSpPr/>
          <p:nvPr/>
        </p:nvSpPr>
        <p:spPr>
          <a:xfrm>
            <a:off x="548640" y="2331720"/>
            <a:ext cx="2011680" cy="0"/>
          </a:xfrm>
          <a:prstGeom prst="line">
            <a:avLst/>
          </a:prstGeom>
          <a:noFill/>
          <a:ln w="6350">
            <a:solidFill>
              <a:srgbClr val="1E3A6E"/>
            </a:solidFill>
            <a:prstDash val="solid"/>
          </a:ln>
        </p:spPr>
      </p:sp>
      <p:sp>
        <p:nvSpPr>
          <p:cNvPr id="35" name="Shape 26"/>
          <p:cNvSpPr/>
          <p:nvPr/>
        </p:nvSpPr>
        <p:spPr>
          <a:xfrm>
            <a:off x="1280160" y="1783080"/>
            <a:ext cx="0" cy="2011680"/>
          </a:xfrm>
          <a:prstGeom prst="line">
            <a:avLst/>
          </a:prstGeom>
          <a:noFill/>
          <a:ln w="6350">
            <a:solidFill>
              <a:srgbClr val="1E3A6E"/>
            </a:solidFill>
            <a:prstDash val="solid"/>
          </a:ln>
        </p:spPr>
      </p:sp>
      <p:sp>
        <p:nvSpPr>
          <p:cNvPr id="36" name="Shape 27"/>
          <p:cNvSpPr/>
          <p:nvPr/>
        </p:nvSpPr>
        <p:spPr>
          <a:xfrm>
            <a:off x="548640" y="2514600"/>
            <a:ext cx="2011680" cy="0"/>
          </a:xfrm>
          <a:prstGeom prst="line">
            <a:avLst/>
          </a:prstGeom>
          <a:noFill/>
          <a:ln w="6350">
            <a:solidFill>
              <a:srgbClr val="1E3A6E"/>
            </a:solidFill>
            <a:prstDash val="solid"/>
          </a:ln>
        </p:spPr>
      </p:sp>
      <p:sp>
        <p:nvSpPr>
          <p:cNvPr id="37" name="Shape 28"/>
          <p:cNvSpPr/>
          <p:nvPr/>
        </p:nvSpPr>
        <p:spPr>
          <a:xfrm>
            <a:off x="1463040" y="1783080"/>
            <a:ext cx="0" cy="2011680"/>
          </a:xfrm>
          <a:prstGeom prst="line">
            <a:avLst/>
          </a:prstGeom>
          <a:noFill/>
          <a:ln w="6350">
            <a:solidFill>
              <a:srgbClr val="1E3A6E"/>
            </a:solidFill>
            <a:prstDash val="solid"/>
          </a:ln>
        </p:spPr>
      </p:sp>
      <p:sp>
        <p:nvSpPr>
          <p:cNvPr id="38" name="Shape 29"/>
          <p:cNvSpPr/>
          <p:nvPr/>
        </p:nvSpPr>
        <p:spPr>
          <a:xfrm>
            <a:off x="548640" y="2697480"/>
            <a:ext cx="2011680" cy="0"/>
          </a:xfrm>
          <a:prstGeom prst="line">
            <a:avLst/>
          </a:prstGeom>
          <a:noFill/>
          <a:ln w="6350">
            <a:solidFill>
              <a:srgbClr val="1E3A6E"/>
            </a:solidFill>
            <a:prstDash val="solid"/>
          </a:ln>
        </p:spPr>
      </p:sp>
      <p:sp>
        <p:nvSpPr>
          <p:cNvPr id="39" name="Shape 30"/>
          <p:cNvSpPr/>
          <p:nvPr/>
        </p:nvSpPr>
        <p:spPr>
          <a:xfrm>
            <a:off x="1645920" y="1783080"/>
            <a:ext cx="0" cy="2011680"/>
          </a:xfrm>
          <a:prstGeom prst="line">
            <a:avLst/>
          </a:prstGeom>
          <a:noFill/>
          <a:ln w="6350">
            <a:solidFill>
              <a:srgbClr val="1E3A6E"/>
            </a:solidFill>
            <a:prstDash val="solid"/>
          </a:ln>
        </p:spPr>
      </p:sp>
      <p:sp>
        <p:nvSpPr>
          <p:cNvPr id="40" name="Shape 31"/>
          <p:cNvSpPr/>
          <p:nvPr/>
        </p:nvSpPr>
        <p:spPr>
          <a:xfrm>
            <a:off x="548640" y="2880360"/>
            <a:ext cx="2011680" cy="0"/>
          </a:xfrm>
          <a:prstGeom prst="line">
            <a:avLst/>
          </a:prstGeom>
          <a:noFill/>
          <a:ln w="6350">
            <a:solidFill>
              <a:srgbClr val="1E3A6E"/>
            </a:solidFill>
            <a:prstDash val="solid"/>
          </a:ln>
        </p:spPr>
      </p:sp>
      <p:sp>
        <p:nvSpPr>
          <p:cNvPr id="41" name="Shape 32"/>
          <p:cNvSpPr/>
          <p:nvPr/>
        </p:nvSpPr>
        <p:spPr>
          <a:xfrm>
            <a:off x="1828800" y="1783080"/>
            <a:ext cx="0" cy="2011680"/>
          </a:xfrm>
          <a:prstGeom prst="line">
            <a:avLst/>
          </a:prstGeom>
          <a:noFill/>
          <a:ln w="6350">
            <a:solidFill>
              <a:srgbClr val="1E3A6E"/>
            </a:solidFill>
            <a:prstDash val="solid"/>
          </a:ln>
        </p:spPr>
      </p:sp>
      <p:sp>
        <p:nvSpPr>
          <p:cNvPr id="42" name="Shape 33"/>
          <p:cNvSpPr/>
          <p:nvPr/>
        </p:nvSpPr>
        <p:spPr>
          <a:xfrm>
            <a:off x="548640" y="3063240"/>
            <a:ext cx="2011680" cy="0"/>
          </a:xfrm>
          <a:prstGeom prst="line">
            <a:avLst/>
          </a:prstGeom>
          <a:noFill/>
          <a:ln w="6350">
            <a:solidFill>
              <a:srgbClr val="1E3A6E"/>
            </a:solidFill>
            <a:prstDash val="solid"/>
          </a:ln>
        </p:spPr>
      </p:sp>
      <p:sp>
        <p:nvSpPr>
          <p:cNvPr id="43" name="Shape 34"/>
          <p:cNvSpPr/>
          <p:nvPr/>
        </p:nvSpPr>
        <p:spPr>
          <a:xfrm>
            <a:off x="2011680" y="1783080"/>
            <a:ext cx="0" cy="2011680"/>
          </a:xfrm>
          <a:prstGeom prst="line">
            <a:avLst/>
          </a:prstGeom>
          <a:noFill/>
          <a:ln w="6350">
            <a:solidFill>
              <a:srgbClr val="1E3A6E"/>
            </a:solidFill>
            <a:prstDash val="solid"/>
          </a:ln>
        </p:spPr>
      </p:sp>
      <p:sp>
        <p:nvSpPr>
          <p:cNvPr id="44" name="Shape 35"/>
          <p:cNvSpPr/>
          <p:nvPr/>
        </p:nvSpPr>
        <p:spPr>
          <a:xfrm>
            <a:off x="548640" y="3246120"/>
            <a:ext cx="2011680" cy="0"/>
          </a:xfrm>
          <a:prstGeom prst="line">
            <a:avLst/>
          </a:prstGeom>
          <a:noFill/>
          <a:ln w="6350">
            <a:solidFill>
              <a:srgbClr val="1E3A6E"/>
            </a:solidFill>
            <a:prstDash val="solid"/>
          </a:ln>
        </p:spPr>
      </p:sp>
      <p:sp>
        <p:nvSpPr>
          <p:cNvPr id="45" name="Shape 36"/>
          <p:cNvSpPr/>
          <p:nvPr/>
        </p:nvSpPr>
        <p:spPr>
          <a:xfrm>
            <a:off x="2194560" y="1783080"/>
            <a:ext cx="0" cy="2011680"/>
          </a:xfrm>
          <a:prstGeom prst="line">
            <a:avLst/>
          </a:prstGeom>
          <a:noFill/>
          <a:ln w="6350">
            <a:solidFill>
              <a:srgbClr val="1E3A6E"/>
            </a:solidFill>
            <a:prstDash val="solid"/>
          </a:ln>
        </p:spPr>
      </p:sp>
      <p:sp>
        <p:nvSpPr>
          <p:cNvPr id="46" name="Shape 37"/>
          <p:cNvSpPr/>
          <p:nvPr/>
        </p:nvSpPr>
        <p:spPr>
          <a:xfrm>
            <a:off x="548640" y="3429000"/>
            <a:ext cx="2011680" cy="0"/>
          </a:xfrm>
          <a:prstGeom prst="line">
            <a:avLst/>
          </a:prstGeom>
          <a:noFill/>
          <a:ln w="6350">
            <a:solidFill>
              <a:srgbClr val="1E3A6E"/>
            </a:solidFill>
            <a:prstDash val="solid"/>
          </a:ln>
        </p:spPr>
      </p:sp>
      <p:sp>
        <p:nvSpPr>
          <p:cNvPr id="47" name="Shape 38"/>
          <p:cNvSpPr/>
          <p:nvPr/>
        </p:nvSpPr>
        <p:spPr>
          <a:xfrm>
            <a:off x="2377440" y="1783080"/>
            <a:ext cx="0" cy="2011680"/>
          </a:xfrm>
          <a:prstGeom prst="line">
            <a:avLst/>
          </a:prstGeom>
          <a:noFill/>
          <a:ln w="6350">
            <a:solidFill>
              <a:srgbClr val="1E3A6E"/>
            </a:solidFill>
            <a:prstDash val="solid"/>
          </a:ln>
        </p:spPr>
      </p:sp>
      <p:sp>
        <p:nvSpPr>
          <p:cNvPr id="48" name="Shape 39"/>
          <p:cNvSpPr/>
          <p:nvPr/>
        </p:nvSpPr>
        <p:spPr>
          <a:xfrm>
            <a:off x="548640" y="3611880"/>
            <a:ext cx="2011680" cy="0"/>
          </a:xfrm>
          <a:prstGeom prst="line">
            <a:avLst/>
          </a:prstGeom>
          <a:noFill/>
          <a:ln w="6350">
            <a:solidFill>
              <a:srgbClr val="1E3A6E"/>
            </a:solidFill>
            <a:prstDash val="solid"/>
          </a:ln>
        </p:spPr>
      </p:sp>
      <p:sp>
        <p:nvSpPr>
          <p:cNvPr id="49" name="Text 40"/>
          <p:cNvSpPr txBox="1"/>
          <p:nvPr/>
        </p:nvSpPr>
        <p:spPr>
          <a:xfrm>
            <a:off x="3291840" y="1463040"/>
            <a:ext cx="3200400" cy="274320"/>
          </a:xfrm>
          <a:prstGeom prst="rect">
            <a:avLst/>
          </a:prstGeom>
          <a:noFill/>
          <a:ln/>
        </p:spPr>
        <p:txBody>
          <a:bodyPr wrap="square" lIns="0" tIns="0" rIns="0" bIns="0" rtlCol="0" anchor="t"/>
          <a:lstStyle/>
          <a:p>
            <a:pPr indent="0" marL="0">
              <a:buNone/>
            </a:pPr>
            <a:r>
              <a:rPr lang="en-US" sz="1400" b="1" dirty="0">
                <a:solidFill>
                  <a:srgbClr val="1E3A6E"/>
                </a:solidFill>
                <a:latin typeface="Arial" pitchFamily="34" charset="0"/>
                <a:ea typeface="Arial" pitchFamily="34" charset="-122"/>
                <a:cs typeface="Arial" pitchFamily="34" charset="-120"/>
              </a:rPr>
              <a:t>search window: +/- 8 px</a:t>
            </a:r>
            <a:endParaRPr lang="en-US" sz="1400" dirty="0"/>
          </a:p>
        </p:txBody>
      </p:sp>
      <p:sp>
        <p:nvSpPr>
          <p:cNvPr id="50" name="Shape 41"/>
          <p:cNvSpPr/>
          <p:nvPr/>
        </p:nvSpPr>
        <p:spPr>
          <a:xfrm>
            <a:off x="3291840" y="1783080"/>
            <a:ext cx="2839212" cy="2839212"/>
          </a:xfrm>
          <a:prstGeom prst="rect">
            <a:avLst/>
          </a:prstGeom>
          <a:solidFill>
            <a:srgbClr val="F3F5F8"/>
          </a:solidFill>
          <a:ln w="19050">
            <a:solidFill>
              <a:srgbClr val="1E3A6E"/>
            </a:solidFill>
            <a:prstDash val="solid"/>
          </a:ln>
        </p:spPr>
      </p:sp>
      <p:sp>
        <p:nvSpPr>
          <p:cNvPr id="51" name="Shape 42"/>
          <p:cNvSpPr/>
          <p:nvPr/>
        </p:nvSpPr>
        <p:spPr>
          <a:xfrm>
            <a:off x="3396996" y="1783080"/>
            <a:ext cx="0" cy="2839212"/>
          </a:xfrm>
          <a:prstGeom prst="line">
            <a:avLst/>
          </a:prstGeom>
          <a:noFill/>
          <a:ln w="5080">
            <a:solidFill>
              <a:srgbClr val="B8C2D3"/>
            </a:solidFill>
            <a:prstDash val="solid"/>
          </a:ln>
        </p:spPr>
      </p:sp>
      <p:sp>
        <p:nvSpPr>
          <p:cNvPr id="52" name="Shape 43"/>
          <p:cNvSpPr/>
          <p:nvPr/>
        </p:nvSpPr>
        <p:spPr>
          <a:xfrm>
            <a:off x="3291840" y="1888236"/>
            <a:ext cx="2839212" cy="0"/>
          </a:xfrm>
          <a:prstGeom prst="line">
            <a:avLst/>
          </a:prstGeom>
          <a:noFill/>
          <a:ln w="5080">
            <a:solidFill>
              <a:srgbClr val="B8C2D3"/>
            </a:solidFill>
            <a:prstDash val="solid"/>
          </a:ln>
        </p:spPr>
      </p:sp>
      <p:sp>
        <p:nvSpPr>
          <p:cNvPr id="53" name="Shape 44"/>
          <p:cNvSpPr/>
          <p:nvPr/>
        </p:nvSpPr>
        <p:spPr>
          <a:xfrm>
            <a:off x="3502152" y="1783080"/>
            <a:ext cx="0" cy="2839212"/>
          </a:xfrm>
          <a:prstGeom prst="line">
            <a:avLst/>
          </a:prstGeom>
          <a:noFill/>
          <a:ln w="5080">
            <a:solidFill>
              <a:srgbClr val="B8C2D3"/>
            </a:solidFill>
            <a:prstDash val="solid"/>
          </a:ln>
        </p:spPr>
      </p:sp>
      <p:sp>
        <p:nvSpPr>
          <p:cNvPr id="54" name="Shape 45"/>
          <p:cNvSpPr/>
          <p:nvPr/>
        </p:nvSpPr>
        <p:spPr>
          <a:xfrm>
            <a:off x="3291840" y="1993392"/>
            <a:ext cx="2839212" cy="0"/>
          </a:xfrm>
          <a:prstGeom prst="line">
            <a:avLst/>
          </a:prstGeom>
          <a:noFill/>
          <a:ln w="5080">
            <a:solidFill>
              <a:srgbClr val="B8C2D3"/>
            </a:solidFill>
            <a:prstDash val="solid"/>
          </a:ln>
        </p:spPr>
      </p:sp>
      <p:sp>
        <p:nvSpPr>
          <p:cNvPr id="55" name="Shape 46"/>
          <p:cNvSpPr/>
          <p:nvPr/>
        </p:nvSpPr>
        <p:spPr>
          <a:xfrm>
            <a:off x="3607308" y="1783080"/>
            <a:ext cx="0" cy="2839212"/>
          </a:xfrm>
          <a:prstGeom prst="line">
            <a:avLst/>
          </a:prstGeom>
          <a:noFill/>
          <a:ln w="5080">
            <a:solidFill>
              <a:srgbClr val="B8C2D3"/>
            </a:solidFill>
            <a:prstDash val="solid"/>
          </a:ln>
        </p:spPr>
      </p:sp>
      <p:sp>
        <p:nvSpPr>
          <p:cNvPr id="56" name="Shape 47"/>
          <p:cNvSpPr/>
          <p:nvPr/>
        </p:nvSpPr>
        <p:spPr>
          <a:xfrm>
            <a:off x="3291840" y="2098548"/>
            <a:ext cx="2839212" cy="0"/>
          </a:xfrm>
          <a:prstGeom prst="line">
            <a:avLst/>
          </a:prstGeom>
          <a:noFill/>
          <a:ln w="5080">
            <a:solidFill>
              <a:srgbClr val="B8C2D3"/>
            </a:solidFill>
            <a:prstDash val="solid"/>
          </a:ln>
        </p:spPr>
      </p:sp>
      <p:sp>
        <p:nvSpPr>
          <p:cNvPr id="57" name="Shape 48"/>
          <p:cNvSpPr/>
          <p:nvPr/>
        </p:nvSpPr>
        <p:spPr>
          <a:xfrm>
            <a:off x="3712464" y="1783080"/>
            <a:ext cx="0" cy="2839212"/>
          </a:xfrm>
          <a:prstGeom prst="line">
            <a:avLst/>
          </a:prstGeom>
          <a:noFill/>
          <a:ln w="5080">
            <a:solidFill>
              <a:srgbClr val="B8C2D3"/>
            </a:solidFill>
            <a:prstDash val="solid"/>
          </a:ln>
        </p:spPr>
      </p:sp>
      <p:sp>
        <p:nvSpPr>
          <p:cNvPr id="58" name="Shape 49"/>
          <p:cNvSpPr/>
          <p:nvPr/>
        </p:nvSpPr>
        <p:spPr>
          <a:xfrm>
            <a:off x="3291840" y="2203704"/>
            <a:ext cx="2839212" cy="0"/>
          </a:xfrm>
          <a:prstGeom prst="line">
            <a:avLst/>
          </a:prstGeom>
          <a:noFill/>
          <a:ln w="5080">
            <a:solidFill>
              <a:srgbClr val="B8C2D3"/>
            </a:solidFill>
            <a:prstDash val="solid"/>
          </a:ln>
        </p:spPr>
      </p:sp>
      <p:sp>
        <p:nvSpPr>
          <p:cNvPr id="59" name="Shape 50"/>
          <p:cNvSpPr/>
          <p:nvPr/>
        </p:nvSpPr>
        <p:spPr>
          <a:xfrm>
            <a:off x="3817620" y="1783080"/>
            <a:ext cx="0" cy="2839212"/>
          </a:xfrm>
          <a:prstGeom prst="line">
            <a:avLst/>
          </a:prstGeom>
          <a:noFill/>
          <a:ln w="5080">
            <a:solidFill>
              <a:srgbClr val="B8C2D3"/>
            </a:solidFill>
            <a:prstDash val="solid"/>
          </a:ln>
        </p:spPr>
      </p:sp>
      <p:sp>
        <p:nvSpPr>
          <p:cNvPr id="60" name="Shape 51"/>
          <p:cNvSpPr/>
          <p:nvPr/>
        </p:nvSpPr>
        <p:spPr>
          <a:xfrm>
            <a:off x="3291840" y="2308860"/>
            <a:ext cx="2839212" cy="0"/>
          </a:xfrm>
          <a:prstGeom prst="line">
            <a:avLst/>
          </a:prstGeom>
          <a:noFill/>
          <a:ln w="5080">
            <a:solidFill>
              <a:srgbClr val="B8C2D3"/>
            </a:solidFill>
            <a:prstDash val="solid"/>
          </a:ln>
        </p:spPr>
      </p:sp>
      <p:sp>
        <p:nvSpPr>
          <p:cNvPr id="61" name="Shape 52"/>
          <p:cNvSpPr/>
          <p:nvPr/>
        </p:nvSpPr>
        <p:spPr>
          <a:xfrm>
            <a:off x="3922776" y="1783080"/>
            <a:ext cx="0" cy="2839212"/>
          </a:xfrm>
          <a:prstGeom prst="line">
            <a:avLst/>
          </a:prstGeom>
          <a:noFill/>
          <a:ln w="5080">
            <a:solidFill>
              <a:srgbClr val="B8C2D3"/>
            </a:solidFill>
            <a:prstDash val="solid"/>
          </a:ln>
        </p:spPr>
      </p:sp>
      <p:sp>
        <p:nvSpPr>
          <p:cNvPr id="62" name="Shape 53"/>
          <p:cNvSpPr/>
          <p:nvPr/>
        </p:nvSpPr>
        <p:spPr>
          <a:xfrm>
            <a:off x="3291840" y="2414016"/>
            <a:ext cx="2839212" cy="0"/>
          </a:xfrm>
          <a:prstGeom prst="line">
            <a:avLst/>
          </a:prstGeom>
          <a:noFill/>
          <a:ln w="5080">
            <a:solidFill>
              <a:srgbClr val="B8C2D3"/>
            </a:solidFill>
            <a:prstDash val="solid"/>
          </a:ln>
        </p:spPr>
      </p:sp>
      <p:sp>
        <p:nvSpPr>
          <p:cNvPr id="63" name="Shape 54"/>
          <p:cNvSpPr/>
          <p:nvPr/>
        </p:nvSpPr>
        <p:spPr>
          <a:xfrm>
            <a:off x="4027932" y="1783080"/>
            <a:ext cx="0" cy="2839212"/>
          </a:xfrm>
          <a:prstGeom prst="line">
            <a:avLst/>
          </a:prstGeom>
          <a:noFill/>
          <a:ln w="5080">
            <a:solidFill>
              <a:srgbClr val="B8C2D3"/>
            </a:solidFill>
            <a:prstDash val="solid"/>
          </a:ln>
        </p:spPr>
      </p:sp>
      <p:sp>
        <p:nvSpPr>
          <p:cNvPr id="64" name="Shape 55"/>
          <p:cNvSpPr/>
          <p:nvPr/>
        </p:nvSpPr>
        <p:spPr>
          <a:xfrm>
            <a:off x="3291840" y="2519172"/>
            <a:ext cx="2839212" cy="0"/>
          </a:xfrm>
          <a:prstGeom prst="line">
            <a:avLst/>
          </a:prstGeom>
          <a:noFill/>
          <a:ln w="5080">
            <a:solidFill>
              <a:srgbClr val="B8C2D3"/>
            </a:solidFill>
            <a:prstDash val="solid"/>
          </a:ln>
        </p:spPr>
      </p:sp>
      <p:sp>
        <p:nvSpPr>
          <p:cNvPr id="65" name="Shape 56"/>
          <p:cNvSpPr/>
          <p:nvPr/>
        </p:nvSpPr>
        <p:spPr>
          <a:xfrm>
            <a:off x="4133088" y="1783080"/>
            <a:ext cx="0" cy="2839212"/>
          </a:xfrm>
          <a:prstGeom prst="line">
            <a:avLst/>
          </a:prstGeom>
          <a:noFill/>
          <a:ln w="5080">
            <a:solidFill>
              <a:srgbClr val="B8C2D3"/>
            </a:solidFill>
            <a:prstDash val="solid"/>
          </a:ln>
        </p:spPr>
      </p:sp>
      <p:sp>
        <p:nvSpPr>
          <p:cNvPr id="66" name="Shape 57"/>
          <p:cNvSpPr/>
          <p:nvPr/>
        </p:nvSpPr>
        <p:spPr>
          <a:xfrm>
            <a:off x="3291840" y="2624328"/>
            <a:ext cx="2839212" cy="0"/>
          </a:xfrm>
          <a:prstGeom prst="line">
            <a:avLst/>
          </a:prstGeom>
          <a:noFill/>
          <a:ln w="5080">
            <a:solidFill>
              <a:srgbClr val="B8C2D3"/>
            </a:solidFill>
            <a:prstDash val="solid"/>
          </a:ln>
        </p:spPr>
      </p:sp>
      <p:sp>
        <p:nvSpPr>
          <p:cNvPr id="67" name="Shape 58"/>
          <p:cNvSpPr/>
          <p:nvPr/>
        </p:nvSpPr>
        <p:spPr>
          <a:xfrm>
            <a:off x="4238244" y="1783080"/>
            <a:ext cx="0" cy="2839212"/>
          </a:xfrm>
          <a:prstGeom prst="line">
            <a:avLst/>
          </a:prstGeom>
          <a:noFill/>
          <a:ln w="5080">
            <a:solidFill>
              <a:srgbClr val="B8C2D3"/>
            </a:solidFill>
            <a:prstDash val="solid"/>
          </a:ln>
        </p:spPr>
      </p:sp>
      <p:sp>
        <p:nvSpPr>
          <p:cNvPr id="68" name="Shape 59"/>
          <p:cNvSpPr/>
          <p:nvPr/>
        </p:nvSpPr>
        <p:spPr>
          <a:xfrm>
            <a:off x="3291840" y="2729484"/>
            <a:ext cx="2839212" cy="0"/>
          </a:xfrm>
          <a:prstGeom prst="line">
            <a:avLst/>
          </a:prstGeom>
          <a:noFill/>
          <a:ln w="5080">
            <a:solidFill>
              <a:srgbClr val="B8C2D3"/>
            </a:solidFill>
            <a:prstDash val="solid"/>
          </a:ln>
        </p:spPr>
      </p:sp>
      <p:sp>
        <p:nvSpPr>
          <p:cNvPr id="69" name="Shape 60"/>
          <p:cNvSpPr/>
          <p:nvPr/>
        </p:nvSpPr>
        <p:spPr>
          <a:xfrm>
            <a:off x="4343400" y="1783080"/>
            <a:ext cx="0" cy="2839212"/>
          </a:xfrm>
          <a:prstGeom prst="line">
            <a:avLst/>
          </a:prstGeom>
          <a:noFill/>
          <a:ln w="5080">
            <a:solidFill>
              <a:srgbClr val="B8C2D3"/>
            </a:solidFill>
            <a:prstDash val="solid"/>
          </a:ln>
        </p:spPr>
      </p:sp>
      <p:sp>
        <p:nvSpPr>
          <p:cNvPr id="70" name="Shape 61"/>
          <p:cNvSpPr/>
          <p:nvPr/>
        </p:nvSpPr>
        <p:spPr>
          <a:xfrm>
            <a:off x="3291840" y="2834640"/>
            <a:ext cx="2839212" cy="0"/>
          </a:xfrm>
          <a:prstGeom prst="line">
            <a:avLst/>
          </a:prstGeom>
          <a:noFill/>
          <a:ln w="5080">
            <a:solidFill>
              <a:srgbClr val="B8C2D3"/>
            </a:solidFill>
            <a:prstDash val="solid"/>
          </a:ln>
        </p:spPr>
      </p:sp>
      <p:sp>
        <p:nvSpPr>
          <p:cNvPr id="71" name="Shape 62"/>
          <p:cNvSpPr/>
          <p:nvPr/>
        </p:nvSpPr>
        <p:spPr>
          <a:xfrm>
            <a:off x="4448556" y="1783080"/>
            <a:ext cx="0" cy="2839212"/>
          </a:xfrm>
          <a:prstGeom prst="line">
            <a:avLst/>
          </a:prstGeom>
          <a:noFill/>
          <a:ln w="5080">
            <a:solidFill>
              <a:srgbClr val="B8C2D3"/>
            </a:solidFill>
            <a:prstDash val="solid"/>
          </a:ln>
        </p:spPr>
      </p:sp>
      <p:sp>
        <p:nvSpPr>
          <p:cNvPr id="72" name="Shape 63"/>
          <p:cNvSpPr/>
          <p:nvPr/>
        </p:nvSpPr>
        <p:spPr>
          <a:xfrm>
            <a:off x="3291840" y="2939796"/>
            <a:ext cx="2839212" cy="0"/>
          </a:xfrm>
          <a:prstGeom prst="line">
            <a:avLst/>
          </a:prstGeom>
          <a:noFill/>
          <a:ln w="5080">
            <a:solidFill>
              <a:srgbClr val="B8C2D3"/>
            </a:solidFill>
            <a:prstDash val="solid"/>
          </a:ln>
        </p:spPr>
      </p:sp>
      <p:sp>
        <p:nvSpPr>
          <p:cNvPr id="73" name="Shape 64"/>
          <p:cNvSpPr/>
          <p:nvPr/>
        </p:nvSpPr>
        <p:spPr>
          <a:xfrm>
            <a:off x="4553712" y="1783080"/>
            <a:ext cx="0" cy="2839212"/>
          </a:xfrm>
          <a:prstGeom prst="line">
            <a:avLst/>
          </a:prstGeom>
          <a:noFill/>
          <a:ln w="5080">
            <a:solidFill>
              <a:srgbClr val="B8C2D3"/>
            </a:solidFill>
            <a:prstDash val="solid"/>
          </a:ln>
        </p:spPr>
      </p:sp>
      <p:sp>
        <p:nvSpPr>
          <p:cNvPr id="74" name="Shape 65"/>
          <p:cNvSpPr/>
          <p:nvPr/>
        </p:nvSpPr>
        <p:spPr>
          <a:xfrm>
            <a:off x="3291840" y="3044952"/>
            <a:ext cx="2839212" cy="0"/>
          </a:xfrm>
          <a:prstGeom prst="line">
            <a:avLst/>
          </a:prstGeom>
          <a:noFill/>
          <a:ln w="5080">
            <a:solidFill>
              <a:srgbClr val="B8C2D3"/>
            </a:solidFill>
            <a:prstDash val="solid"/>
          </a:ln>
        </p:spPr>
      </p:sp>
      <p:sp>
        <p:nvSpPr>
          <p:cNvPr id="75" name="Shape 66"/>
          <p:cNvSpPr/>
          <p:nvPr/>
        </p:nvSpPr>
        <p:spPr>
          <a:xfrm>
            <a:off x="4658868" y="1783080"/>
            <a:ext cx="0" cy="2839212"/>
          </a:xfrm>
          <a:prstGeom prst="line">
            <a:avLst/>
          </a:prstGeom>
          <a:noFill/>
          <a:ln w="5080">
            <a:solidFill>
              <a:srgbClr val="B8C2D3"/>
            </a:solidFill>
            <a:prstDash val="solid"/>
          </a:ln>
        </p:spPr>
      </p:sp>
      <p:sp>
        <p:nvSpPr>
          <p:cNvPr id="76" name="Shape 67"/>
          <p:cNvSpPr/>
          <p:nvPr/>
        </p:nvSpPr>
        <p:spPr>
          <a:xfrm>
            <a:off x="3291840" y="3150108"/>
            <a:ext cx="2839212" cy="0"/>
          </a:xfrm>
          <a:prstGeom prst="line">
            <a:avLst/>
          </a:prstGeom>
          <a:noFill/>
          <a:ln w="5080">
            <a:solidFill>
              <a:srgbClr val="B8C2D3"/>
            </a:solidFill>
            <a:prstDash val="solid"/>
          </a:ln>
        </p:spPr>
      </p:sp>
      <p:sp>
        <p:nvSpPr>
          <p:cNvPr id="77" name="Shape 68"/>
          <p:cNvSpPr/>
          <p:nvPr/>
        </p:nvSpPr>
        <p:spPr>
          <a:xfrm>
            <a:off x="4764024" y="1783080"/>
            <a:ext cx="0" cy="2839212"/>
          </a:xfrm>
          <a:prstGeom prst="line">
            <a:avLst/>
          </a:prstGeom>
          <a:noFill/>
          <a:ln w="5080">
            <a:solidFill>
              <a:srgbClr val="B8C2D3"/>
            </a:solidFill>
            <a:prstDash val="solid"/>
          </a:ln>
        </p:spPr>
      </p:sp>
      <p:sp>
        <p:nvSpPr>
          <p:cNvPr id="78" name="Shape 69"/>
          <p:cNvSpPr/>
          <p:nvPr/>
        </p:nvSpPr>
        <p:spPr>
          <a:xfrm>
            <a:off x="3291840" y="3255264"/>
            <a:ext cx="2839212" cy="0"/>
          </a:xfrm>
          <a:prstGeom prst="line">
            <a:avLst/>
          </a:prstGeom>
          <a:noFill/>
          <a:ln w="5080">
            <a:solidFill>
              <a:srgbClr val="B8C2D3"/>
            </a:solidFill>
            <a:prstDash val="solid"/>
          </a:ln>
        </p:spPr>
      </p:sp>
      <p:sp>
        <p:nvSpPr>
          <p:cNvPr id="79" name="Shape 70"/>
          <p:cNvSpPr/>
          <p:nvPr/>
        </p:nvSpPr>
        <p:spPr>
          <a:xfrm>
            <a:off x="4869180" y="1783080"/>
            <a:ext cx="0" cy="2839212"/>
          </a:xfrm>
          <a:prstGeom prst="line">
            <a:avLst/>
          </a:prstGeom>
          <a:noFill/>
          <a:ln w="5080">
            <a:solidFill>
              <a:srgbClr val="B8C2D3"/>
            </a:solidFill>
            <a:prstDash val="solid"/>
          </a:ln>
        </p:spPr>
      </p:sp>
      <p:sp>
        <p:nvSpPr>
          <p:cNvPr id="80" name="Shape 71"/>
          <p:cNvSpPr/>
          <p:nvPr/>
        </p:nvSpPr>
        <p:spPr>
          <a:xfrm>
            <a:off x="3291840" y="3360420"/>
            <a:ext cx="2839212" cy="0"/>
          </a:xfrm>
          <a:prstGeom prst="line">
            <a:avLst/>
          </a:prstGeom>
          <a:noFill/>
          <a:ln w="5080">
            <a:solidFill>
              <a:srgbClr val="B8C2D3"/>
            </a:solidFill>
            <a:prstDash val="solid"/>
          </a:ln>
        </p:spPr>
      </p:sp>
      <p:sp>
        <p:nvSpPr>
          <p:cNvPr id="81" name="Shape 72"/>
          <p:cNvSpPr/>
          <p:nvPr/>
        </p:nvSpPr>
        <p:spPr>
          <a:xfrm>
            <a:off x="4974336" y="1783080"/>
            <a:ext cx="0" cy="2839212"/>
          </a:xfrm>
          <a:prstGeom prst="line">
            <a:avLst/>
          </a:prstGeom>
          <a:noFill/>
          <a:ln w="5080">
            <a:solidFill>
              <a:srgbClr val="B8C2D3"/>
            </a:solidFill>
            <a:prstDash val="solid"/>
          </a:ln>
        </p:spPr>
      </p:sp>
      <p:sp>
        <p:nvSpPr>
          <p:cNvPr id="82" name="Shape 73"/>
          <p:cNvSpPr/>
          <p:nvPr/>
        </p:nvSpPr>
        <p:spPr>
          <a:xfrm>
            <a:off x="3291840" y="3465576"/>
            <a:ext cx="2839212" cy="0"/>
          </a:xfrm>
          <a:prstGeom prst="line">
            <a:avLst/>
          </a:prstGeom>
          <a:noFill/>
          <a:ln w="5080">
            <a:solidFill>
              <a:srgbClr val="B8C2D3"/>
            </a:solidFill>
            <a:prstDash val="solid"/>
          </a:ln>
        </p:spPr>
      </p:sp>
      <p:sp>
        <p:nvSpPr>
          <p:cNvPr id="83" name="Shape 74"/>
          <p:cNvSpPr/>
          <p:nvPr/>
        </p:nvSpPr>
        <p:spPr>
          <a:xfrm>
            <a:off x="5079492" y="1783080"/>
            <a:ext cx="0" cy="2839212"/>
          </a:xfrm>
          <a:prstGeom prst="line">
            <a:avLst/>
          </a:prstGeom>
          <a:noFill/>
          <a:ln w="5080">
            <a:solidFill>
              <a:srgbClr val="B8C2D3"/>
            </a:solidFill>
            <a:prstDash val="solid"/>
          </a:ln>
        </p:spPr>
      </p:sp>
      <p:sp>
        <p:nvSpPr>
          <p:cNvPr id="84" name="Shape 75"/>
          <p:cNvSpPr/>
          <p:nvPr/>
        </p:nvSpPr>
        <p:spPr>
          <a:xfrm>
            <a:off x="3291840" y="3570732"/>
            <a:ext cx="2839212" cy="0"/>
          </a:xfrm>
          <a:prstGeom prst="line">
            <a:avLst/>
          </a:prstGeom>
          <a:noFill/>
          <a:ln w="5080">
            <a:solidFill>
              <a:srgbClr val="B8C2D3"/>
            </a:solidFill>
            <a:prstDash val="solid"/>
          </a:ln>
        </p:spPr>
      </p:sp>
      <p:sp>
        <p:nvSpPr>
          <p:cNvPr id="85" name="Shape 76"/>
          <p:cNvSpPr/>
          <p:nvPr/>
        </p:nvSpPr>
        <p:spPr>
          <a:xfrm>
            <a:off x="5184648" y="1783080"/>
            <a:ext cx="0" cy="2839212"/>
          </a:xfrm>
          <a:prstGeom prst="line">
            <a:avLst/>
          </a:prstGeom>
          <a:noFill/>
          <a:ln w="5080">
            <a:solidFill>
              <a:srgbClr val="B8C2D3"/>
            </a:solidFill>
            <a:prstDash val="solid"/>
          </a:ln>
        </p:spPr>
      </p:sp>
      <p:sp>
        <p:nvSpPr>
          <p:cNvPr id="86" name="Shape 77"/>
          <p:cNvSpPr/>
          <p:nvPr/>
        </p:nvSpPr>
        <p:spPr>
          <a:xfrm>
            <a:off x="3291840" y="3675888"/>
            <a:ext cx="2839212" cy="0"/>
          </a:xfrm>
          <a:prstGeom prst="line">
            <a:avLst/>
          </a:prstGeom>
          <a:noFill/>
          <a:ln w="5080">
            <a:solidFill>
              <a:srgbClr val="B8C2D3"/>
            </a:solidFill>
            <a:prstDash val="solid"/>
          </a:ln>
        </p:spPr>
      </p:sp>
      <p:sp>
        <p:nvSpPr>
          <p:cNvPr id="87" name="Shape 78"/>
          <p:cNvSpPr/>
          <p:nvPr/>
        </p:nvSpPr>
        <p:spPr>
          <a:xfrm>
            <a:off x="5289804" y="1783080"/>
            <a:ext cx="0" cy="2839212"/>
          </a:xfrm>
          <a:prstGeom prst="line">
            <a:avLst/>
          </a:prstGeom>
          <a:noFill/>
          <a:ln w="5080">
            <a:solidFill>
              <a:srgbClr val="B8C2D3"/>
            </a:solidFill>
            <a:prstDash val="solid"/>
          </a:ln>
        </p:spPr>
      </p:sp>
      <p:sp>
        <p:nvSpPr>
          <p:cNvPr id="88" name="Shape 79"/>
          <p:cNvSpPr/>
          <p:nvPr/>
        </p:nvSpPr>
        <p:spPr>
          <a:xfrm>
            <a:off x="3291840" y="3781044"/>
            <a:ext cx="2839212" cy="0"/>
          </a:xfrm>
          <a:prstGeom prst="line">
            <a:avLst/>
          </a:prstGeom>
          <a:noFill/>
          <a:ln w="5080">
            <a:solidFill>
              <a:srgbClr val="B8C2D3"/>
            </a:solidFill>
            <a:prstDash val="solid"/>
          </a:ln>
        </p:spPr>
      </p:sp>
      <p:sp>
        <p:nvSpPr>
          <p:cNvPr id="89" name="Shape 80"/>
          <p:cNvSpPr/>
          <p:nvPr/>
        </p:nvSpPr>
        <p:spPr>
          <a:xfrm>
            <a:off x="5394960" y="1783080"/>
            <a:ext cx="0" cy="2839212"/>
          </a:xfrm>
          <a:prstGeom prst="line">
            <a:avLst/>
          </a:prstGeom>
          <a:noFill/>
          <a:ln w="5080">
            <a:solidFill>
              <a:srgbClr val="B8C2D3"/>
            </a:solidFill>
            <a:prstDash val="solid"/>
          </a:ln>
        </p:spPr>
      </p:sp>
      <p:sp>
        <p:nvSpPr>
          <p:cNvPr id="90" name="Shape 81"/>
          <p:cNvSpPr/>
          <p:nvPr/>
        </p:nvSpPr>
        <p:spPr>
          <a:xfrm>
            <a:off x="3291840" y="3886200"/>
            <a:ext cx="2839212" cy="0"/>
          </a:xfrm>
          <a:prstGeom prst="line">
            <a:avLst/>
          </a:prstGeom>
          <a:noFill/>
          <a:ln w="5080">
            <a:solidFill>
              <a:srgbClr val="B8C2D3"/>
            </a:solidFill>
            <a:prstDash val="solid"/>
          </a:ln>
        </p:spPr>
      </p:sp>
      <p:sp>
        <p:nvSpPr>
          <p:cNvPr id="91" name="Shape 82"/>
          <p:cNvSpPr/>
          <p:nvPr/>
        </p:nvSpPr>
        <p:spPr>
          <a:xfrm>
            <a:off x="5500116" y="1783080"/>
            <a:ext cx="0" cy="2839212"/>
          </a:xfrm>
          <a:prstGeom prst="line">
            <a:avLst/>
          </a:prstGeom>
          <a:noFill/>
          <a:ln w="5080">
            <a:solidFill>
              <a:srgbClr val="B8C2D3"/>
            </a:solidFill>
            <a:prstDash val="solid"/>
          </a:ln>
        </p:spPr>
      </p:sp>
      <p:sp>
        <p:nvSpPr>
          <p:cNvPr id="92" name="Shape 83"/>
          <p:cNvSpPr/>
          <p:nvPr/>
        </p:nvSpPr>
        <p:spPr>
          <a:xfrm>
            <a:off x="3291840" y="3991356"/>
            <a:ext cx="2839212" cy="0"/>
          </a:xfrm>
          <a:prstGeom prst="line">
            <a:avLst/>
          </a:prstGeom>
          <a:noFill/>
          <a:ln w="5080">
            <a:solidFill>
              <a:srgbClr val="B8C2D3"/>
            </a:solidFill>
            <a:prstDash val="solid"/>
          </a:ln>
        </p:spPr>
      </p:sp>
      <p:sp>
        <p:nvSpPr>
          <p:cNvPr id="93" name="Shape 84"/>
          <p:cNvSpPr/>
          <p:nvPr/>
        </p:nvSpPr>
        <p:spPr>
          <a:xfrm>
            <a:off x="5605272" y="1783080"/>
            <a:ext cx="0" cy="2839212"/>
          </a:xfrm>
          <a:prstGeom prst="line">
            <a:avLst/>
          </a:prstGeom>
          <a:noFill/>
          <a:ln w="5080">
            <a:solidFill>
              <a:srgbClr val="B8C2D3"/>
            </a:solidFill>
            <a:prstDash val="solid"/>
          </a:ln>
        </p:spPr>
      </p:sp>
      <p:sp>
        <p:nvSpPr>
          <p:cNvPr id="94" name="Shape 85"/>
          <p:cNvSpPr/>
          <p:nvPr/>
        </p:nvSpPr>
        <p:spPr>
          <a:xfrm>
            <a:off x="3291840" y="4096512"/>
            <a:ext cx="2839212" cy="0"/>
          </a:xfrm>
          <a:prstGeom prst="line">
            <a:avLst/>
          </a:prstGeom>
          <a:noFill/>
          <a:ln w="5080">
            <a:solidFill>
              <a:srgbClr val="B8C2D3"/>
            </a:solidFill>
            <a:prstDash val="solid"/>
          </a:ln>
        </p:spPr>
      </p:sp>
      <p:sp>
        <p:nvSpPr>
          <p:cNvPr id="95" name="Shape 86"/>
          <p:cNvSpPr/>
          <p:nvPr/>
        </p:nvSpPr>
        <p:spPr>
          <a:xfrm>
            <a:off x="5710428" y="1783080"/>
            <a:ext cx="0" cy="2839212"/>
          </a:xfrm>
          <a:prstGeom prst="line">
            <a:avLst/>
          </a:prstGeom>
          <a:noFill/>
          <a:ln w="5080">
            <a:solidFill>
              <a:srgbClr val="B8C2D3"/>
            </a:solidFill>
            <a:prstDash val="solid"/>
          </a:ln>
        </p:spPr>
      </p:sp>
      <p:sp>
        <p:nvSpPr>
          <p:cNvPr id="96" name="Shape 87"/>
          <p:cNvSpPr/>
          <p:nvPr/>
        </p:nvSpPr>
        <p:spPr>
          <a:xfrm>
            <a:off x="3291840" y="4201668"/>
            <a:ext cx="2839212" cy="0"/>
          </a:xfrm>
          <a:prstGeom prst="line">
            <a:avLst/>
          </a:prstGeom>
          <a:noFill/>
          <a:ln w="5080">
            <a:solidFill>
              <a:srgbClr val="B8C2D3"/>
            </a:solidFill>
            <a:prstDash val="solid"/>
          </a:ln>
        </p:spPr>
      </p:sp>
      <p:sp>
        <p:nvSpPr>
          <p:cNvPr id="97" name="Shape 88"/>
          <p:cNvSpPr/>
          <p:nvPr/>
        </p:nvSpPr>
        <p:spPr>
          <a:xfrm>
            <a:off x="5815584" y="1783080"/>
            <a:ext cx="0" cy="2839212"/>
          </a:xfrm>
          <a:prstGeom prst="line">
            <a:avLst/>
          </a:prstGeom>
          <a:noFill/>
          <a:ln w="5080">
            <a:solidFill>
              <a:srgbClr val="B8C2D3"/>
            </a:solidFill>
            <a:prstDash val="solid"/>
          </a:ln>
        </p:spPr>
      </p:sp>
      <p:sp>
        <p:nvSpPr>
          <p:cNvPr id="98" name="Shape 89"/>
          <p:cNvSpPr/>
          <p:nvPr/>
        </p:nvSpPr>
        <p:spPr>
          <a:xfrm>
            <a:off x="3291840" y="4306824"/>
            <a:ext cx="2839212" cy="0"/>
          </a:xfrm>
          <a:prstGeom prst="line">
            <a:avLst/>
          </a:prstGeom>
          <a:noFill/>
          <a:ln w="5080">
            <a:solidFill>
              <a:srgbClr val="B8C2D3"/>
            </a:solidFill>
            <a:prstDash val="solid"/>
          </a:ln>
        </p:spPr>
      </p:sp>
      <p:sp>
        <p:nvSpPr>
          <p:cNvPr id="99" name="Shape 90"/>
          <p:cNvSpPr/>
          <p:nvPr/>
        </p:nvSpPr>
        <p:spPr>
          <a:xfrm>
            <a:off x="5920740" y="1783080"/>
            <a:ext cx="0" cy="2839212"/>
          </a:xfrm>
          <a:prstGeom prst="line">
            <a:avLst/>
          </a:prstGeom>
          <a:noFill/>
          <a:ln w="5080">
            <a:solidFill>
              <a:srgbClr val="B8C2D3"/>
            </a:solidFill>
            <a:prstDash val="solid"/>
          </a:ln>
        </p:spPr>
      </p:sp>
      <p:sp>
        <p:nvSpPr>
          <p:cNvPr id="100" name="Shape 91"/>
          <p:cNvSpPr/>
          <p:nvPr/>
        </p:nvSpPr>
        <p:spPr>
          <a:xfrm>
            <a:off x="3291840" y="4411980"/>
            <a:ext cx="2839212" cy="0"/>
          </a:xfrm>
          <a:prstGeom prst="line">
            <a:avLst/>
          </a:prstGeom>
          <a:noFill/>
          <a:ln w="5080">
            <a:solidFill>
              <a:srgbClr val="B8C2D3"/>
            </a:solidFill>
            <a:prstDash val="solid"/>
          </a:ln>
        </p:spPr>
      </p:sp>
      <p:sp>
        <p:nvSpPr>
          <p:cNvPr id="101" name="Shape 92"/>
          <p:cNvSpPr/>
          <p:nvPr/>
        </p:nvSpPr>
        <p:spPr>
          <a:xfrm>
            <a:off x="6025896" y="1783080"/>
            <a:ext cx="0" cy="2839212"/>
          </a:xfrm>
          <a:prstGeom prst="line">
            <a:avLst/>
          </a:prstGeom>
          <a:noFill/>
          <a:ln w="5080">
            <a:solidFill>
              <a:srgbClr val="B8C2D3"/>
            </a:solidFill>
            <a:prstDash val="solid"/>
          </a:ln>
        </p:spPr>
      </p:sp>
      <p:sp>
        <p:nvSpPr>
          <p:cNvPr id="102" name="Shape 93"/>
          <p:cNvSpPr/>
          <p:nvPr/>
        </p:nvSpPr>
        <p:spPr>
          <a:xfrm>
            <a:off x="3291840" y="4517136"/>
            <a:ext cx="2839212" cy="0"/>
          </a:xfrm>
          <a:prstGeom prst="line">
            <a:avLst/>
          </a:prstGeom>
          <a:noFill/>
          <a:ln w="5080">
            <a:solidFill>
              <a:srgbClr val="B8C2D3"/>
            </a:solidFill>
            <a:prstDash val="solid"/>
          </a:ln>
        </p:spPr>
      </p:sp>
      <p:sp>
        <p:nvSpPr>
          <p:cNvPr id="103" name="Shape 94"/>
          <p:cNvSpPr/>
          <p:nvPr/>
        </p:nvSpPr>
        <p:spPr>
          <a:xfrm>
            <a:off x="4133088" y="2624328"/>
            <a:ext cx="1156716" cy="1156716"/>
          </a:xfrm>
          <a:prstGeom prst="rect">
            <a:avLst/>
          </a:prstGeom>
          <a:solidFill>
            <a:srgbClr val="F5C518"/>
          </a:solidFill>
          <a:ln w="25400">
            <a:solidFill>
              <a:srgbClr val="1E3A6E"/>
            </a:solidFill>
            <a:prstDash val="solid"/>
          </a:ln>
        </p:spPr>
      </p:sp>
      <p:sp>
        <p:nvSpPr>
          <p:cNvPr id="104" name="Shape 95"/>
          <p:cNvSpPr/>
          <p:nvPr/>
        </p:nvSpPr>
        <p:spPr>
          <a:xfrm>
            <a:off x="4658868" y="2203704"/>
            <a:ext cx="1156716" cy="1156716"/>
          </a:xfrm>
          <a:prstGeom prst="rect">
            <a:avLst/>
          </a:prstGeom>
          <a:ln w="25400">
            <a:solidFill>
              <a:srgbClr val="C0392B"/>
            </a:solidFill>
            <a:prstDash val="dash"/>
          </a:ln>
        </p:spPr>
      </p:sp>
      <p:sp>
        <p:nvSpPr>
          <p:cNvPr id="105" name="Text 96"/>
          <p:cNvSpPr txBox="1"/>
          <p:nvPr/>
        </p:nvSpPr>
        <p:spPr>
          <a:xfrm>
            <a:off x="548640" y="3977640"/>
            <a:ext cx="2560320" cy="822960"/>
          </a:xfrm>
          <a:prstGeom prst="rect">
            <a:avLst/>
          </a:prstGeom>
          <a:noFill/>
          <a:ln/>
        </p:spPr>
        <p:txBody>
          <a:bodyPr wrap="square" lIns="0" tIns="0" rIns="0" bIns="0" rtlCol="0" anchor="t"/>
          <a:lstStyle/>
          <a:p>
            <a:pPr indent="0" marL="0">
              <a:buNone/>
            </a:pPr>
            <a:r>
              <a:rPr lang="en-US" sz="1200" dirty="0">
                <a:solidFill>
                  <a:srgbClr val="5B6578"/>
                </a:solidFill>
                <a:latin typeface="Arial" pitchFamily="34" charset="0"/>
                <a:ea typeface="Arial" pitchFamily="34" charset="-122"/>
                <a:cs typeface="Arial" pitchFamily="34" charset="-120"/>
              </a:rPr>
              <a:t>candidate position, scored by sum of squared differences</a:t>
            </a:r>
            <a:endParaRPr lang="en-US" sz="1200" dirty="0"/>
          </a:p>
        </p:txBody>
      </p:sp>
      <p:sp>
        <p:nvSpPr>
          <p:cNvPr id="106" name="Text 97"/>
          <p:cNvSpPr/>
          <p:nvPr/>
        </p:nvSpPr>
        <p:spPr>
          <a:xfrm>
            <a:off x="6766560" y="1554480"/>
            <a:ext cx="4846320" cy="731520"/>
          </a:xfrm>
          <a:prstGeom prst="roundRect">
            <a:avLst>
              <a:gd name="adj" fmla="val 12500"/>
            </a:avLst>
          </a:prstGeom>
          <a:solidFill>
            <a:srgbClr val="F3F5F8"/>
          </a:solidFill>
          <a:ln/>
        </p:spPr>
        <p:txBody>
          <a:bodyPr wrap="square" lIns="1270" tIns="1270" rIns="1270" bIns="1270" rtlCol="0" anchor="ctr"/>
          <a:lstStyle/>
          <a:p>
            <a:pPr algn="l" indent="0" marL="0">
              <a:buNone/>
            </a:pPr>
            <a:endParaRPr lang="en-US" sz="1600" dirty="0"/>
          </a:p>
        </p:txBody>
      </p:sp>
      <p:sp>
        <p:nvSpPr>
          <p:cNvPr id="107" name="Text 98"/>
          <p:cNvSpPr/>
          <p:nvPr/>
        </p:nvSpPr>
        <p:spPr>
          <a:xfrm>
            <a:off x="6903720" y="1773936"/>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1</a:t>
            </a:r>
            <a:endParaRPr lang="en-US" sz="1300" dirty="0"/>
          </a:p>
        </p:txBody>
      </p:sp>
      <p:sp>
        <p:nvSpPr>
          <p:cNvPr id="108" name="Text 99"/>
          <p:cNvSpPr txBox="1"/>
          <p:nvPr/>
        </p:nvSpPr>
        <p:spPr>
          <a:xfrm>
            <a:off x="7360920" y="1554480"/>
            <a:ext cx="4114800" cy="731520"/>
          </a:xfrm>
          <a:prstGeom prst="rect">
            <a:avLst/>
          </a:prstGeom>
          <a:noFill/>
          <a:ln/>
        </p:spPr>
        <p:txBody>
          <a:bodyPr wrap="square" lIns="0" tIns="0" rIns="0" bIns="0" rtlCol="0" anchor="ctr"/>
          <a:lstStyle/>
          <a:p>
            <a:pPr indent="0" marL="0">
              <a:buNone/>
            </a:pPr>
            <a:r>
              <a:rPr lang="en-US" sz="1500" dirty="0">
                <a:solidFill>
                  <a:srgbClr val="1B2433"/>
                </a:solidFill>
                <a:latin typeface="Arial" pitchFamily="34" charset="0"/>
                <a:ea typeface="Arial" pitchFamily="34" charset="-122"/>
                <a:cs typeface="Arial" pitchFamily="34" charset="-120"/>
              </a:rPr>
              <a:t>Cast to int before subtracting</a:t>
            </a:r>
            <a:endParaRPr lang="en-US" sz="1500" dirty="0"/>
          </a:p>
        </p:txBody>
      </p:sp>
      <p:sp>
        <p:nvSpPr>
          <p:cNvPr id="109" name="Text 100"/>
          <p:cNvSpPr/>
          <p:nvPr/>
        </p:nvSpPr>
        <p:spPr>
          <a:xfrm>
            <a:off x="6766560" y="2423160"/>
            <a:ext cx="4846320" cy="731520"/>
          </a:xfrm>
          <a:prstGeom prst="roundRect">
            <a:avLst>
              <a:gd name="adj" fmla="val 12500"/>
            </a:avLst>
          </a:prstGeom>
          <a:solidFill>
            <a:srgbClr val="F3F5F8"/>
          </a:solidFill>
          <a:ln/>
        </p:spPr>
        <p:txBody>
          <a:bodyPr wrap="square" lIns="1270" tIns="1270" rIns="1270" bIns="1270" rtlCol="0" anchor="ctr"/>
          <a:lstStyle/>
          <a:p>
            <a:pPr algn="l" indent="0" marL="0">
              <a:buNone/>
            </a:pPr>
            <a:endParaRPr lang="en-US" sz="1600" dirty="0"/>
          </a:p>
        </p:txBody>
      </p:sp>
      <p:sp>
        <p:nvSpPr>
          <p:cNvPr id="110" name="Text 101"/>
          <p:cNvSpPr/>
          <p:nvPr/>
        </p:nvSpPr>
        <p:spPr>
          <a:xfrm>
            <a:off x="6903720" y="2642616"/>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2</a:t>
            </a:r>
            <a:endParaRPr lang="en-US" sz="1300" dirty="0"/>
          </a:p>
        </p:txBody>
      </p:sp>
      <p:sp>
        <p:nvSpPr>
          <p:cNvPr id="111" name="Text 102"/>
          <p:cNvSpPr txBox="1"/>
          <p:nvPr/>
        </p:nvSpPr>
        <p:spPr>
          <a:xfrm>
            <a:off x="7360920" y="2423160"/>
            <a:ext cx="4114800" cy="731520"/>
          </a:xfrm>
          <a:prstGeom prst="rect">
            <a:avLst/>
          </a:prstGeom>
          <a:noFill/>
          <a:ln/>
        </p:spPr>
        <p:txBody>
          <a:bodyPr wrap="square" lIns="0" tIns="0" rIns="0" bIns="0" rtlCol="0" anchor="ctr"/>
          <a:lstStyle/>
          <a:p>
            <a:pPr indent="0" marL="0">
              <a:buNone/>
            </a:pPr>
            <a:r>
              <a:rPr lang="en-US" sz="1500" dirty="0">
                <a:solidFill>
                  <a:srgbClr val="1B2433"/>
                </a:solidFill>
                <a:latin typeface="Arial" pitchFamily="34" charset="0"/>
                <a:ea typeface="Arial" pitchFamily="34" charset="-122"/>
                <a:cs typeface="Arial" pitchFamily="34" charset="-120"/>
              </a:rPr>
              <a:t>Use a wide accumulator</a:t>
            </a:r>
            <a:endParaRPr lang="en-US" sz="1500" dirty="0"/>
          </a:p>
        </p:txBody>
      </p:sp>
      <p:sp>
        <p:nvSpPr>
          <p:cNvPr id="112" name="Text 103"/>
          <p:cNvSpPr/>
          <p:nvPr/>
        </p:nvSpPr>
        <p:spPr>
          <a:xfrm>
            <a:off x="6766560" y="3291840"/>
            <a:ext cx="4846320" cy="731520"/>
          </a:xfrm>
          <a:prstGeom prst="roundRect">
            <a:avLst>
              <a:gd name="adj" fmla="val 12500"/>
            </a:avLst>
          </a:prstGeom>
          <a:solidFill>
            <a:srgbClr val="F3F5F8"/>
          </a:solidFill>
          <a:ln/>
        </p:spPr>
        <p:txBody>
          <a:bodyPr wrap="square" lIns="1270" tIns="1270" rIns="1270" bIns="1270" rtlCol="0" anchor="ctr"/>
          <a:lstStyle/>
          <a:p>
            <a:pPr algn="l" indent="0" marL="0">
              <a:buNone/>
            </a:pPr>
            <a:endParaRPr lang="en-US" sz="1600" dirty="0"/>
          </a:p>
        </p:txBody>
      </p:sp>
      <p:sp>
        <p:nvSpPr>
          <p:cNvPr id="113" name="Text 104"/>
          <p:cNvSpPr/>
          <p:nvPr/>
        </p:nvSpPr>
        <p:spPr>
          <a:xfrm>
            <a:off x="6903720" y="3511296"/>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3</a:t>
            </a:r>
            <a:endParaRPr lang="en-US" sz="1300" dirty="0"/>
          </a:p>
        </p:txBody>
      </p:sp>
      <p:sp>
        <p:nvSpPr>
          <p:cNvPr id="114" name="Text 105"/>
          <p:cNvSpPr txBox="1"/>
          <p:nvPr/>
        </p:nvSpPr>
        <p:spPr>
          <a:xfrm>
            <a:off x="7360920" y="3291840"/>
            <a:ext cx="4114800" cy="731520"/>
          </a:xfrm>
          <a:prstGeom prst="rect">
            <a:avLst/>
          </a:prstGeom>
          <a:noFill/>
          <a:ln/>
        </p:spPr>
        <p:txBody>
          <a:bodyPr wrap="square" lIns="0" tIns="0" rIns="0" bIns="0" rtlCol="0" anchor="ctr"/>
          <a:lstStyle/>
          <a:p>
            <a:pPr indent="0" marL="0">
              <a:buNone/>
            </a:pPr>
            <a:r>
              <a:rPr lang="en-US" sz="1500" dirty="0">
                <a:solidFill>
                  <a:srgbClr val="1B2433"/>
                </a:solidFill>
                <a:latin typeface="Arial" pitchFamily="34" charset="0"/>
                <a:ea typeface="Arial" pitchFamily="34" charset="-122"/>
                <a:cs typeface="Arial" pitchFamily="34" charset="-120"/>
              </a:rPr>
              <a:t>Exact integer scoring, row-major tie breaking, clipping</a:t>
            </a:r>
            <a:endParaRPr lang="en-US" sz="1500" dirty="0"/>
          </a:p>
        </p:txBody>
      </p:sp>
      <p:sp>
        <p:nvSpPr>
          <p:cNvPr id="115" name="Text 106"/>
          <p:cNvSpPr/>
          <p:nvPr/>
        </p:nvSpPr>
        <p:spPr>
          <a:xfrm>
            <a:off x="548640" y="5230368"/>
            <a:ext cx="8046720" cy="918210"/>
          </a:xfrm>
          <a:prstGeom prst="roundRect">
            <a:avLst>
              <a:gd name="adj" fmla="val 9959"/>
            </a:avLst>
          </a:prstGeom>
          <a:solidFill>
            <a:srgbClr val="F6F8FA"/>
          </a:solidFill>
          <a:ln w="12700">
            <a:solidFill>
              <a:srgbClr val="D0D7DE"/>
            </a:solidFill>
          </a:ln>
        </p:spPr>
        <p:txBody>
          <a:bodyPr wrap="square" lIns="1270" tIns="1270" rIns="1270" bIns="1270" rtlCol="0" anchor="ctr"/>
          <a:lstStyle/>
          <a:p>
            <a:pPr algn="l" indent="0" marL="0">
              <a:buNone/>
            </a:pPr>
            <a:endParaRPr lang="en-US" sz="1600" dirty="0"/>
          </a:p>
        </p:txBody>
      </p:sp>
      <p:sp>
        <p:nvSpPr>
          <p:cNvPr id="116" name="Text 107"/>
          <p:cNvSpPr/>
          <p:nvPr/>
        </p:nvSpPr>
        <p:spPr>
          <a:xfrm>
            <a:off x="731520" y="4937760"/>
            <a:ext cx="1371600" cy="310896"/>
          </a:xfrm>
          <a:prstGeom prst="roundRect">
            <a:avLst>
              <a:gd name="adj" fmla="val 29412"/>
            </a:avLst>
          </a:prstGeom>
          <a:solidFill>
            <a:srgbClr val="E6EAF0"/>
          </a:solidFill>
          <a:ln w="12700">
            <a:solidFill>
              <a:srgbClr val="D0D7DE"/>
            </a:solidFill>
          </a:ln>
        </p:spPr>
        <p:txBody>
          <a:bodyPr wrap="square" lIns="0" tIns="0" rIns="0" bIns="0" rtlCol="0" anchor="ctr"/>
          <a:lstStyle/>
          <a:p>
            <a:pPr algn="ctr" indent="0" marL="0">
              <a:buNone/>
            </a:pPr>
            <a:r>
              <a:rPr lang="en-US" sz="1200" dirty="0">
                <a:solidFill>
                  <a:srgbClr val="1B2433"/>
                </a:solidFill>
                <a:latin typeface="Courier New" pitchFamily="34" charset="0"/>
                <a:ea typeface="Courier New" pitchFamily="34" charset="-122"/>
                <a:cs typeface="Courier New" pitchFamily="34" charset="-120"/>
              </a:rPr>
              <a:t>tracker.cpp</a:t>
            </a:r>
            <a:endParaRPr lang="en-US" sz="1200" dirty="0"/>
          </a:p>
        </p:txBody>
      </p:sp>
      <p:sp>
        <p:nvSpPr>
          <p:cNvPr id="117" name="Text 108"/>
          <p:cNvSpPr txBox="1"/>
          <p:nvPr/>
        </p:nvSpPr>
        <p:spPr>
          <a:xfrm>
            <a:off x="1143000" y="5367528"/>
            <a:ext cx="7269480" cy="735330"/>
          </a:xfrm>
          <a:prstGeom prst="rect">
            <a:avLst/>
          </a:prstGeom>
          <a:noFill/>
          <a:ln/>
        </p:spPr>
        <p:txBody>
          <a:bodyPr wrap="square" lIns="0" tIns="0" rIns="0" bIns="0" rtlCol="0" anchor="t"/>
          <a:lstStyle/>
          <a:p>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const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int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difference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static_cast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&lt;</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int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&gt;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previous</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previous_row</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x</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dx</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static_cast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&lt;</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int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&gt;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current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current_row</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cx</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dx</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a:p>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score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static_cast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&lt;</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unsigned</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long</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D73A49"/>
                </a:solidFill>
                <a:latin typeface="Courier New" pitchFamily="34" charset="0"/>
                <a:ea typeface="Courier New" pitchFamily="34" charset="-122"/>
                <a:cs typeface="Courier New" pitchFamily="34" charset="-120"/>
              </a:rPr>
              <a:t>long</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&gt;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difference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 </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difference</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pPr indent="0" marL="0">
              <a:lnSpc>
                <a:spcPts val="1690"/>
              </a:lnSpc>
              <a:buNone/>
            </a:pPr>
            <a:r>
              <a:rPr lang="en-US" sz="1300" dirty="0">
                <a:solidFill>
                  <a:srgbClr val="24292E"/>
                </a:solidFill>
                <a:latin typeface="Courier New" pitchFamily="34" charset="0"/>
                <a:ea typeface="Courier New" pitchFamily="34" charset="-122"/>
                <a:cs typeface="Courier New" pitchFamily="34" charset="-120"/>
              </a:rPr>
              <a:t>;</a:t>
            </a:r>
            <a:endParaRPr lang="en-US" sz="1600" dirty="0"/>
          </a:p>
        </p:txBody>
      </p:sp>
      <p:sp>
        <p:nvSpPr>
          <p:cNvPr id="118" name="Text 109"/>
          <p:cNvSpPr/>
          <p:nvPr/>
        </p:nvSpPr>
        <p:spPr>
          <a:xfrm>
            <a:off x="685800" y="5328539"/>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1</a:t>
            </a:r>
            <a:endParaRPr lang="en-US" sz="1300" dirty="0"/>
          </a:p>
        </p:txBody>
      </p:sp>
      <p:sp>
        <p:nvSpPr>
          <p:cNvPr id="119" name="Text 110"/>
          <p:cNvSpPr/>
          <p:nvPr/>
        </p:nvSpPr>
        <p:spPr>
          <a:xfrm>
            <a:off x="685800" y="5757799"/>
            <a:ext cx="292608" cy="292608"/>
          </a:xfrm>
          <a:prstGeom prst="ellipse">
            <a:avLst>
              <a:gd name="adj" fmla="val 31250"/>
            </a:avLst>
          </a:prstGeom>
          <a:solidFill>
            <a:srgbClr val="F5C518"/>
          </a:solidFill>
          <a:ln/>
        </p:spPr>
        <p:txBody>
          <a:bodyPr wrap="square" lIns="0" tIns="0" rIns="0" bIns="0" rtlCol="0" anchor="ctr"/>
          <a:lstStyle/>
          <a:p>
            <a:pPr algn="ctr" indent="0" marL="0">
              <a:buNone/>
            </a:pPr>
            <a:r>
              <a:rPr lang="en-US" sz="1300" b="1" dirty="0">
                <a:solidFill>
                  <a:srgbClr val="1E3A6E"/>
                </a:solidFill>
                <a:latin typeface="Arial" pitchFamily="34" charset="0"/>
                <a:ea typeface="Arial" pitchFamily="34" charset="-122"/>
                <a:cs typeface="Arial" pitchFamily="34" charset="-120"/>
              </a:rPr>
              <a:t>2</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From synthetic to live frames</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1E3A6E"/>
            </a:solidFill>
            <a:prstDash val="solid"/>
          </a:ln>
        </p:spPr>
      </p:sp>
      <p:sp>
        <p:nvSpPr>
          <p:cNvPr id="7" name="Shape 4"/>
          <p:cNvSpPr/>
          <p:nvPr/>
        </p:nvSpPr>
        <p:spPr>
          <a:xfrm>
            <a:off x="10469880" y="576072"/>
            <a:ext cx="292608" cy="0"/>
          </a:xfrm>
          <a:prstGeom prst="line">
            <a:avLst/>
          </a:prstGeom>
          <a:noFill/>
          <a:ln w="25400">
            <a:solidFill>
              <a:srgbClr val="1E3A6E"/>
            </a:solidFill>
            <a:prstDash val="solid"/>
          </a:ln>
        </p:spPr>
      </p:sp>
      <p:sp>
        <p:nvSpPr>
          <p:cNvPr id="8" name="Shape 5"/>
          <p:cNvSpPr/>
          <p:nvPr/>
        </p:nvSpPr>
        <p:spPr>
          <a:xfrm>
            <a:off x="11183112" y="576072"/>
            <a:ext cx="292608" cy="0"/>
          </a:xfrm>
          <a:prstGeom prst="line">
            <a:avLst/>
          </a:prstGeom>
          <a:noFill/>
          <a:ln w="25400">
            <a:solidFill>
              <a:srgbClr val="1E3A6E"/>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1E3A6E"/>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1E3A6E"/>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1E3A6E"/>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F5C518"/>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b="1" dirty="0">
                <a:solidFill>
                  <a:srgbClr val="1E3A6E"/>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54480"/>
            <a:ext cx="3566160" cy="173736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28" name="Text 19"/>
          <p:cNvSpPr txBox="1"/>
          <p:nvPr/>
        </p:nvSpPr>
        <p:spPr>
          <a:xfrm>
            <a:off x="731520" y="1691640"/>
            <a:ext cx="3200400" cy="868680"/>
          </a:xfrm>
          <a:prstGeom prst="rect">
            <a:avLst/>
          </a:prstGeom>
          <a:noFill/>
          <a:ln/>
        </p:spPr>
        <p:txBody>
          <a:bodyPr wrap="square" lIns="0" tIns="0" rIns="0" bIns="0" rtlCol="0" anchor="ctr"/>
          <a:lstStyle/>
          <a:p>
            <a:pPr indent="0" marL="0">
              <a:buNone/>
            </a:pPr>
            <a:r>
              <a:rPr lang="en-US" sz="4000" b="1" dirty="0">
                <a:solidFill>
                  <a:srgbClr val="1E3A6E"/>
                </a:solidFill>
                <a:latin typeface="Arial" pitchFamily="34" charset="0"/>
                <a:ea typeface="Arial" pitchFamily="34" charset="-122"/>
                <a:cs typeface="Arial" pitchFamily="34" charset="-120"/>
              </a:rPr>
              <a:t>0.026 ms</a:t>
            </a:r>
            <a:endParaRPr lang="en-US" sz="4000" dirty="0"/>
          </a:p>
        </p:txBody>
      </p:sp>
      <p:sp>
        <p:nvSpPr>
          <p:cNvPr id="29" name="Text 20"/>
          <p:cNvSpPr txBox="1"/>
          <p:nvPr/>
        </p:nvSpPr>
        <p:spPr>
          <a:xfrm>
            <a:off x="731520" y="2560320"/>
            <a:ext cx="3200400" cy="64008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warm search, synthetic</a:t>
            </a:r>
            <a:endParaRPr lang="en-US" sz="1400" dirty="0"/>
          </a:p>
        </p:txBody>
      </p:sp>
      <p:sp>
        <p:nvSpPr>
          <p:cNvPr id="30" name="Text 21"/>
          <p:cNvSpPr/>
          <p:nvPr/>
        </p:nvSpPr>
        <p:spPr>
          <a:xfrm>
            <a:off x="4343400" y="1554480"/>
            <a:ext cx="3566160" cy="173736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31" name="Text 22"/>
          <p:cNvSpPr txBox="1"/>
          <p:nvPr/>
        </p:nvSpPr>
        <p:spPr>
          <a:xfrm>
            <a:off x="4526280" y="1691640"/>
            <a:ext cx="3200400" cy="868680"/>
          </a:xfrm>
          <a:prstGeom prst="rect">
            <a:avLst/>
          </a:prstGeom>
          <a:noFill/>
          <a:ln/>
        </p:spPr>
        <p:txBody>
          <a:bodyPr wrap="square" lIns="0" tIns="0" rIns="0" bIns="0" rtlCol="0" anchor="ctr"/>
          <a:lstStyle/>
          <a:p>
            <a:pPr indent="0" marL="0">
              <a:buNone/>
            </a:pPr>
            <a:r>
              <a:rPr lang="en-US" sz="4000" b="1" dirty="0">
                <a:solidFill>
                  <a:srgbClr val="1E3A6E"/>
                </a:solidFill>
                <a:latin typeface="Arial" pitchFamily="34" charset="0"/>
                <a:ea typeface="Arial" pitchFamily="34" charset="-122"/>
                <a:cs typeface="Arial" pitchFamily="34" charset="-120"/>
              </a:rPr>
              <a:t>546 ms</a:t>
            </a:r>
            <a:endParaRPr lang="en-US" sz="4000" dirty="0"/>
          </a:p>
        </p:txBody>
      </p:sp>
      <p:sp>
        <p:nvSpPr>
          <p:cNvPr id="32" name="Text 23"/>
          <p:cNvSpPr txBox="1"/>
          <p:nvPr/>
        </p:nvSpPr>
        <p:spPr>
          <a:xfrm>
            <a:off x="4526280" y="2560320"/>
            <a:ext cx="3200400" cy="64008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kernel build</a:t>
            </a:r>
            <a:endParaRPr lang="en-US" sz="1400" dirty="0"/>
          </a:p>
        </p:txBody>
      </p:sp>
      <p:sp>
        <p:nvSpPr>
          <p:cNvPr id="33" name="Text 24"/>
          <p:cNvSpPr/>
          <p:nvPr/>
        </p:nvSpPr>
        <p:spPr>
          <a:xfrm>
            <a:off x="8138160" y="1554480"/>
            <a:ext cx="3474720" cy="1737360"/>
          </a:xfrm>
          <a:prstGeom prst="roundRect">
            <a:avLst>
              <a:gd name="adj" fmla="val 5263"/>
            </a:avLst>
          </a:prstGeom>
          <a:solidFill>
            <a:srgbClr val="F5C518"/>
          </a:solidFill>
          <a:ln/>
        </p:spPr>
        <p:txBody>
          <a:bodyPr wrap="square" lIns="1270" tIns="1270" rIns="1270" bIns="1270" rtlCol="0" anchor="ctr"/>
          <a:lstStyle/>
          <a:p>
            <a:pPr algn="l" indent="0" marL="0">
              <a:buNone/>
            </a:pPr>
            <a:endParaRPr lang="en-US" sz="1600" dirty="0"/>
          </a:p>
        </p:txBody>
      </p:sp>
      <p:sp>
        <p:nvSpPr>
          <p:cNvPr id="34" name="Text 25"/>
          <p:cNvSpPr txBox="1"/>
          <p:nvPr/>
        </p:nvSpPr>
        <p:spPr>
          <a:xfrm>
            <a:off x="8321040" y="1691640"/>
            <a:ext cx="3108960" cy="868680"/>
          </a:xfrm>
          <a:prstGeom prst="rect">
            <a:avLst/>
          </a:prstGeom>
          <a:noFill/>
          <a:ln/>
        </p:spPr>
        <p:txBody>
          <a:bodyPr wrap="square" lIns="0" tIns="0" rIns="0" bIns="0" rtlCol="0" anchor="ctr"/>
          <a:lstStyle/>
          <a:p>
            <a:pPr indent="0" marL="0">
              <a:buNone/>
            </a:pPr>
            <a:r>
              <a:rPr lang="en-US" sz="4000" b="1" dirty="0">
                <a:solidFill>
                  <a:srgbClr val="1E3A6E"/>
                </a:solidFill>
                <a:latin typeface="Arial" pitchFamily="34" charset="0"/>
                <a:ea typeface="Arial" pitchFamily="34" charset="-122"/>
                <a:cs typeface="Arial" pitchFamily="34" charset="-120"/>
              </a:rPr>
              <a:t>0.20 ms</a:t>
            </a:r>
            <a:endParaRPr lang="en-US" sz="4000" dirty="0"/>
          </a:p>
        </p:txBody>
      </p:sp>
      <p:sp>
        <p:nvSpPr>
          <p:cNvPr id="35" name="Text 26"/>
          <p:cNvSpPr txBox="1"/>
          <p:nvPr/>
        </p:nvSpPr>
        <p:spPr>
          <a:xfrm>
            <a:off x="8321040" y="2560320"/>
            <a:ext cx="3108960" cy="640080"/>
          </a:xfrm>
          <a:prstGeom prst="rect">
            <a:avLst/>
          </a:prstGeom>
          <a:noFill/>
          <a:ln/>
        </p:spPr>
        <p:txBody>
          <a:bodyPr wrap="square" lIns="0" tIns="0" rIns="0" bIns="0" rtlCol="0" anchor="t"/>
          <a:lstStyle/>
          <a:p>
            <a:pPr indent="0" marL="0">
              <a:buNone/>
            </a:pPr>
            <a:r>
              <a:rPr lang="en-US" sz="1400" dirty="0">
                <a:solidFill>
                  <a:srgbClr val="1B2433"/>
                </a:solidFill>
                <a:latin typeface="Arial" pitchFamily="34" charset="0"/>
                <a:ea typeface="Arial" pitchFamily="34" charset="-122"/>
                <a:cs typeface="Arial" pitchFamily="34" charset="-120"/>
              </a:rPr>
              <a:t>per search, 30 live frames</a:t>
            </a:r>
            <a:endParaRPr lang="en-US" sz="1400" dirty="0"/>
          </a:p>
        </p:txBody>
      </p:sp>
      <p:sp>
        <p:nvSpPr>
          <p:cNvPr id="36" name="Text 27"/>
          <p:cNvSpPr/>
          <p:nvPr/>
        </p:nvSpPr>
        <p:spPr>
          <a:xfrm>
            <a:off x="548640" y="3611880"/>
            <a:ext cx="5394960" cy="2560320"/>
          </a:xfrm>
          <a:prstGeom prst="roundRect">
            <a:avLst>
              <a:gd name="adj" fmla="val 3571"/>
            </a:avLst>
          </a:prstGeom>
          <a:solidFill>
            <a:srgbClr val="F3F5F8"/>
          </a:solidFill>
          <a:ln/>
        </p:spPr>
        <p:txBody>
          <a:bodyPr wrap="square" lIns="1270" tIns="1270" rIns="1270" bIns="1270" rtlCol="0" anchor="ctr"/>
          <a:lstStyle/>
          <a:p>
            <a:pPr algn="l" indent="0" marL="0">
              <a:buNone/>
            </a:pPr>
            <a:endParaRPr lang="en-US" sz="1600" dirty="0"/>
          </a:p>
        </p:txBody>
      </p:sp>
      <p:sp>
        <p:nvSpPr>
          <p:cNvPr id="37" name="Text 28"/>
          <p:cNvSpPr txBox="1"/>
          <p:nvPr/>
        </p:nvSpPr>
        <p:spPr>
          <a:xfrm>
            <a:off x="777240" y="3749040"/>
            <a:ext cx="4937760" cy="365760"/>
          </a:xfrm>
          <a:prstGeom prst="rect">
            <a:avLst/>
          </a:prstGeom>
          <a:noFill/>
          <a:ln/>
        </p:spPr>
        <p:txBody>
          <a:bodyPr wrap="square" lIns="0" tIns="0" rIns="0" bIns="0" rtlCol="0" anchor="t"/>
          <a:lstStyle/>
          <a:p>
            <a:pPr indent="0" marL="0">
              <a:buNone/>
            </a:pPr>
            <a:r>
              <a:rPr lang="en-US" sz="1900" b="1" dirty="0">
                <a:solidFill>
                  <a:srgbClr val="1E3A6E"/>
                </a:solidFill>
                <a:latin typeface="Arial" pitchFamily="34" charset="0"/>
                <a:ea typeface="Arial" pitchFamily="34" charset="-122"/>
                <a:cs typeface="Arial" pitchFamily="34" charset="-120"/>
              </a:rPr>
              <a:t>Where it stops helping</a:t>
            </a:r>
            <a:endParaRPr lang="en-US" sz="1900" dirty="0"/>
          </a:p>
        </p:txBody>
      </p:sp>
      <p:pic>
        <p:nvPicPr>
          <p:cNvPr id="38" name="Image 6" descr="preencoded.png">    </p:cNvPr>
          <p:cNvPicPr>
            <a:picLocks noChangeAspect="1"/>
          </p:cNvPicPr>
          <p:nvPr/>
        </p:nvPicPr>
        <p:blipFill>
          <a:blip r:embed="rId7"/>
          <a:stretch>
            <a:fillRect/>
          </a:stretch>
        </p:blipFill>
        <p:spPr>
          <a:xfrm>
            <a:off x="822960" y="4297680"/>
            <a:ext cx="320040" cy="320040"/>
          </a:xfrm>
          <a:prstGeom prst="rect">
            <a:avLst/>
          </a:prstGeom>
        </p:spPr>
      </p:pic>
      <p:sp>
        <p:nvSpPr>
          <p:cNvPr id="39" name="Text 29"/>
          <p:cNvSpPr txBox="1"/>
          <p:nvPr/>
        </p:nvSpPr>
        <p:spPr>
          <a:xfrm>
            <a:off x="1325880" y="4279392"/>
            <a:ext cx="4389120" cy="365760"/>
          </a:xfrm>
          <a:prstGeom prst="rect">
            <a:avLst/>
          </a:prstGeom>
          <a:noFill/>
          <a:ln/>
        </p:spPr>
        <p:txBody>
          <a:bodyPr wrap="square" lIns="0" tIns="0" rIns="0" bIns="0" rtlCol="0" anchor="t"/>
          <a:lstStyle/>
          <a:p>
            <a:pPr indent="0" marL="0">
              <a:buNone/>
            </a:pPr>
            <a:r>
              <a:rPr lang="en-US" sz="1800" dirty="0">
                <a:solidFill>
                  <a:srgbClr val="1B2433"/>
                </a:solidFill>
                <a:latin typeface="Arial" pitchFamily="34" charset="0"/>
                <a:ea typeface="Arial" pitchFamily="34" charset="-122"/>
                <a:cs typeface="Arial" pitchFamily="34" charset="-120"/>
              </a:rPr>
              <a:t>Big jumps</a:t>
            </a:r>
            <a:endParaRPr lang="en-US" sz="1800" dirty="0"/>
          </a:p>
        </p:txBody>
      </p:sp>
      <p:pic>
        <p:nvPicPr>
          <p:cNvPr id="40" name="Image 7" descr="preencoded.png">    </p:cNvPr>
          <p:cNvPicPr>
            <a:picLocks noChangeAspect="1"/>
          </p:cNvPicPr>
          <p:nvPr/>
        </p:nvPicPr>
        <p:blipFill>
          <a:blip r:embed="rId8"/>
          <a:stretch>
            <a:fillRect/>
          </a:stretch>
        </p:blipFill>
        <p:spPr>
          <a:xfrm>
            <a:off x="822960" y="4846320"/>
            <a:ext cx="320040" cy="320040"/>
          </a:xfrm>
          <a:prstGeom prst="rect">
            <a:avLst/>
          </a:prstGeom>
        </p:spPr>
      </p:pic>
      <p:sp>
        <p:nvSpPr>
          <p:cNvPr id="41" name="Text 30"/>
          <p:cNvSpPr txBox="1"/>
          <p:nvPr/>
        </p:nvSpPr>
        <p:spPr>
          <a:xfrm>
            <a:off x="1325880" y="4828032"/>
            <a:ext cx="4389120" cy="365760"/>
          </a:xfrm>
          <a:prstGeom prst="rect">
            <a:avLst/>
          </a:prstGeom>
          <a:noFill/>
          <a:ln/>
        </p:spPr>
        <p:txBody>
          <a:bodyPr wrap="square" lIns="0" tIns="0" rIns="0" bIns="0" rtlCol="0" anchor="t"/>
          <a:lstStyle/>
          <a:p>
            <a:pPr indent="0" marL="0">
              <a:buNone/>
            </a:pPr>
            <a:r>
              <a:rPr lang="en-US" sz="1800" dirty="0">
                <a:solidFill>
                  <a:srgbClr val="1B2433"/>
                </a:solidFill>
                <a:latin typeface="Arial" pitchFamily="34" charset="0"/>
                <a:ea typeface="Arial" pitchFamily="34" charset="-122"/>
                <a:cs typeface="Arial" pitchFamily="34" charset="-120"/>
              </a:rPr>
              <a:t>Occlusion</a:t>
            </a:r>
            <a:endParaRPr lang="en-US" sz="1800" dirty="0"/>
          </a:p>
        </p:txBody>
      </p:sp>
      <p:pic>
        <p:nvPicPr>
          <p:cNvPr id="42" name="Image 8" descr="preencoded.png">    </p:cNvPr>
          <p:cNvPicPr>
            <a:picLocks noChangeAspect="1"/>
          </p:cNvPicPr>
          <p:nvPr/>
        </p:nvPicPr>
        <p:blipFill>
          <a:blip r:embed="rId9"/>
          <a:stretch>
            <a:fillRect/>
          </a:stretch>
        </p:blipFill>
        <p:spPr>
          <a:xfrm>
            <a:off x="822960" y="5394960"/>
            <a:ext cx="320040" cy="320040"/>
          </a:xfrm>
          <a:prstGeom prst="rect">
            <a:avLst/>
          </a:prstGeom>
        </p:spPr>
      </p:pic>
      <p:sp>
        <p:nvSpPr>
          <p:cNvPr id="43" name="Text 31"/>
          <p:cNvSpPr txBox="1"/>
          <p:nvPr/>
        </p:nvSpPr>
        <p:spPr>
          <a:xfrm>
            <a:off x="1325880" y="5376672"/>
            <a:ext cx="4389120" cy="365760"/>
          </a:xfrm>
          <a:prstGeom prst="rect">
            <a:avLst/>
          </a:prstGeom>
          <a:noFill/>
          <a:ln/>
        </p:spPr>
        <p:txBody>
          <a:bodyPr wrap="square" lIns="0" tIns="0" rIns="0" bIns="0" rtlCol="0" anchor="t"/>
          <a:lstStyle/>
          <a:p>
            <a:pPr indent="0" marL="0">
              <a:buNone/>
            </a:pPr>
            <a:r>
              <a:rPr lang="en-US" sz="1800" dirty="0">
                <a:solidFill>
                  <a:srgbClr val="1B2433"/>
                </a:solidFill>
                <a:latin typeface="Arial" pitchFamily="34" charset="0"/>
                <a:ea typeface="Arial" pitchFamily="34" charset="-122"/>
                <a:cs typeface="Arial" pitchFamily="34" charset="-120"/>
              </a:rPr>
              <a:t>Drift</a:t>
            </a:r>
            <a:endParaRPr lang="en-US" sz="1800" dirty="0"/>
          </a:p>
        </p:txBody>
      </p:sp>
      <p:sp>
        <p:nvSpPr>
          <p:cNvPr id="44" name="Text 32"/>
          <p:cNvSpPr/>
          <p:nvPr/>
        </p:nvSpPr>
        <p:spPr>
          <a:xfrm>
            <a:off x="6217920" y="3611880"/>
            <a:ext cx="5394960" cy="2560320"/>
          </a:xfrm>
          <a:prstGeom prst="roundRect">
            <a:avLst>
              <a:gd name="adj" fmla="val 3571"/>
            </a:avLst>
          </a:prstGeom>
          <a:solidFill>
            <a:srgbClr val="1E3A6E"/>
          </a:solidFill>
          <a:ln/>
        </p:spPr>
        <p:txBody>
          <a:bodyPr wrap="square" lIns="1270" tIns="1270" rIns="1270" bIns="1270" rtlCol="0" anchor="ctr"/>
          <a:lstStyle/>
          <a:p>
            <a:pPr algn="l" indent="0" marL="0">
              <a:buNone/>
            </a:pPr>
            <a:endParaRPr lang="en-US" sz="1600" dirty="0"/>
          </a:p>
        </p:txBody>
      </p:sp>
      <p:pic>
        <p:nvPicPr>
          <p:cNvPr id="45" name="Image 9" descr="preencoded.png">    </p:cNvPr>
          <p:cNvPicPr>
            <a:picLocks noChangeAspect="1"/>
          </p:cNvPicPr>
          <p:nvPr/>
        </p:nvPicPr>
        <p:blipFill>
          <a:blip r:embed="rId10"/>
          <a:stretch>
            <a:fillRect/>
          </a:stretch>
        </p:blipFill>
        <p:spPr>
          <a:xfrm>
            <a:off x="6446520" y="3794760"/>
            <a:ext cx="548640" cy="548640"/>
          </a:xfrm>
          <a:prstGeom prst="rect">
            <a:avLst/>
          </a:prstGeom>
        </p:spPr>
      </p:pic>
      <p:sp>
        <p:nvSpPr>
          <p:cNvPr id="46" name="Text 33"/>
          <p:cNvSpPr txBox="1"/>
          <p:nvPr/>
        </p:nvSpPr>
        <p:spPr>
          <a:xfrm>
            <a:off x="7178040" y="3840480"/>
            <a:ext cx="4114800" cy="457200"/>
          </a:xfrm>
          <a:prstGeom prst="rect">
            <a:avLst/>
          </a:prstGeom>
          <a:noFill/>
          <a:ln/>
        </p:spPr>
        <p:txBody>
          <a:bodyPr wrap="square" lIns="0" tIns="0" rIns="0" bIns="0" rtlCol="0" anchor="t"/>
          <a:lstStyle/>
          <a:p>
            <a:pPr indent="0" marL="0">
              <a:buNone/>
            </a:pPr>
            <a:r>
              <a:rPr lang="en-US" sz="2600" b="1" dirty="0">
                <a:solidFill>
                  <a:srgbClr val="F5C518"/>
                </a:solidFill>
                <a:latin typeface="Arial" pitchFamily="34" charset="0"/>
                <a:ea typeface="Arial" pitchFamily="34" charset="-122"/>
                <a:cs typeface="Arial" pitchFamily="34" charset="-120"/>
              </a:rPr>
              <a:t>LIVE DEMO</a:t>
            </a:r>
            <a:endParaRPr lang="en-US" sz="2600" dirty="0"/>
          </a:p>
        </p:txBody>
      </p:sp>
      <p:sp>
        <p:nvSpPr>
          <p:cNvPr id="47" name="Text 34"/>
          <p:cNvSpPr txBox="1"/>
          <p:nvPr/>
        </p:nvSpPr>
        <p:spPr>
          <a:xfrm>
            <a:off x="6446520" y="4572000"/>
            <a:ext cx="4937760" cy="137160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Click a textured patch and move it slowly. Then show what happens when it loses the patch.</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A script with responsibilities</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1E3A6E"/>
            </a:solidFill>
            <a:prstDash val="solid"/>
          </a:ln>
        </p:spPr>
      </p:sp>
      <p:sp>
        <p:nvSpPr>
          <p:cNvPr id="7" name="Shape 4"/>
          <p:cNvSpPr/>
          <p:nvPr/>
        </p:nvSpPr>
        <p:spPr>
          <a:xfrm>
            <a:off x="10469880" y="576072"/>
            <a:ext cx="292608" cy="0"/>
          </a:xfrm>
          <a:prstGeom prst="line">
            <a:avLst/>
          </a:prstGeom>
          <a:noFill/>
          <a:ln w="25400">
            <a:solidFill>
              <a:srgbClr val="1E3A6E"/>
            </a:solidFill>
            <a:prstDash val="solid"/>
          </a:ln>
        </p:spPr>
      </p:sp>
      <p:sp>
        <p:nvSpPr>
          <p:cNvPr id="8" name="Shape 5"/>
          <p:cNvSpPr/>
          <p:nvPr/>
        </p:nvSpPr>
        <p:spPr>
          <a:xfrm>
            <a:off x="11183112" y="576072"/>
            <a:ext cx="292608" cy="0"/>
          </a:xfrm>
          <a:prstGeom prst="line">
            <a:avLst/>
          </a:prstGeom>
          <a:noFill/>
          <a:ln w="25400">
            <a:solidFill>
              <a:srgbClr val="1E3A6E"/>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1E3A6E"/>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1E3A6E"/>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1E3A6E"/>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1E3A6E"/>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4754880"/>
            <a:ext cx="1737360" cy="1371600"/>
          </a:xfrm>
          <a:prstGeom prst="roundRect">
            <a:avLst>
              <a:gd name="adj" fmla="val 6667"/>
            </a:avLst>
          </a:prstGeom>
          <a:solidFill>
            <a:srgbClr val="E3E8F0"/>
          </a:solidFill>
          <a:ln/>
        </p:spPr>
        <p:txBody>
          <a:bodyPr wrap="square" lIns="1270" tIns="1270" rIns="1270" bIns="1270" rtlCol="0" anchor="ctr"/>
          <a:lstStyle/>
          <a:p>
            <a:pPr algn="l" indent="0" marL="0">
              <a:buNone/>
            </a:pPr>
            <a:endParaRPr lang="en-US" sz="1600" dirty="0"/>
          </a:p>
        </p:txBody>
      </p:sp>
      <p:sp>
        <p:nvSpPr>
          <p:cNvPr id="28" name="Shape 19"/>
          <p:cNvSpPr/>
          <p:nvPr/>
        </p:nvSpPr>
        <p:spPr>
          <a:xfrm>
            <a:off x="1097280" y="4937760"/>
            <a:ext cx="640080" cy="640080"/>
          </a:xfrm>
          <a:prstGeom prst="ellipse">
            <a:avLst/>
          </a:prstGeom>
          <a:solidFill>
            <a:srgbClr val="1E3A6E"/>
          </a:solidFill>
          <a:ln/>
        </p:spPr>
      </p:sp>
      <p:pic>
        <p:nvPicPr>
          <p:cNvPr id="29" name="Image 6" descr="preencoded.png">    </p:cNvPr>
          <p:cNvPicPr>
            <a:picLocks noChangeAspect="1"/>
          </p:cNvPicPr>
          <p:nvPr/>
        </p:nvPicPr>
        <p:blipFill>
          <a:blip r:embed="rId7"/>
          <a:stretch>
            <a:fillRect/>
          </a:stretch>
        </p:blipFill>
        <p:spPr>
          <a:xfrm>
            <a:off x="1234440" y="5074920"/>
            <a:ext cx="365760" cy="365760"/>
          </a:xfrm>
          <a:prstGeom prst="rect">
            <a:avLst/>
          </a:prstGeom>
        </p:spPr>
      </p:pic>
      <p:sp>
        <p:nvSpPr>
          <p:cNvPr id="30" name="Text 20"/>
          <p:cNvSpPr txBox="1"/>
          <p:nvPr/>
        </p:nvSpPr>
        <p:spPr>
          <a:xfrm>
            <a:off x="640080" y="5669280"/>
            <a:ext cx="1554480" cy="365760"/>
          </a:xfrm>
          <a:prstGeom prst="rect">
            <a:avLst/>
          </a:prstGeom>
          <a:noFill/>
          <a:ln/>
        </p:spPr>
        <p:txBody>
          <a:bodyPr wrap="square" lIns="0" tIns="0" rIns="0" bIns="0" rtlCol="0" anchor="t"/>
          <a:lstStyle/>
          <a:p>
            <a:pPr algn="ctr" indent="0" marL="0">
              <a:buNone/>
            </a:pPr>
            <a:r>
              <a:rPr lang="en-US" sz="1500" b="1" dirty="0">
                <a:solidFill>
                  <a:srgbClr val="1E3A6E"/>
                </a:solidFill>
                <a:latin typeface="Arial" pitchFamily="34" charset="0"/>
                <a:ea typeface="Arial" pitchFamily="34" charset="-122"/>
                <a:cs typeface="Arial" pitchFamily="34" charset="-120"/>
              </a:rPr>
              <a:t>loop</a:t>
            </a:r>
            <a:endParaRPr lang="en-US" sz="1500" dirty="0"/>
          </a:p>
        </p:txBody>
      </p:sp>
      <p:sp>
        <p:nvSpPr>
          <p:cNvPr id="31" name="Shape 21"/>
          <p:cNvSpPr/>
          <p:nvPr/>
        </p:nvSpPr>
        <p:spPr>
          <a:xfrm>
            <a:off x="2304288" y="5486400"/>
            <a:ext cx="100584" cy="0"/>
          </a:xfrm>
          <a:prstGeom prst="line">
            <a:avLst/>
          </a:prstGeom>
          <a:noFill/>
          <a:ln w="25400">
            <a:solidFill>
              <a:srgbClr val="5B6578"/>
            </a:solidFill>
            <a:prstDash val="solid"/>
            <a:tailEnd type="triangle"/>
          </a:ln>
        </p:spPr>
      </p:sp>
      <p:sp>
        <p:nvSpPr>
          <p:cNvPr id="32" name="Text 22"/>
          <p:cNvSpPr/>
          <p:nvPr/>
        </p:nvSpPr>
        <p:spPr>
          <a:xfrm>
            <a:off x="2423160" y="4206240"/>
            <a:ext cx="1737360" cy="192024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33" name="Shape 23"/>
          <p:cNvSpPr/>
          <p:nvPr/>
        </p:nvSpPr>
        <p:spPr>
          <a:xfrm>
            <a:off x="2971800" y="4389120"/>
            <a:ext cx="640080" cy="640080"/>
          </a:xfrm>
          <a:prstGeom prst="ellipse">
            <a:avLst/>
          </a:prstGeom>
          <a:solidFill>
            <a:srgbClr val="1E3A6E"/>
          </a:solidFill>
          <a:ln/>
        </p:spPr>
      </p:sp>
      <p:pic>
        <p:nvPicPr>
          <p:cNvPr id="34" name="Image 7" descr="preencoded.png">    </p:cNvPr>
          <p:cNvPicPr>
            <a:picLocks noChangeAspect="1"/>
          </p:cNvPicPr>
          <p:nvPr/>
        </p:nvPicPr>
        <p:blipFill>
          <a:blip r:embed="rId8"/>
          <a:stretch>
            <a:fillRect/>
          </a:stretch>
        </p:blipFill>
        <p:spPr>
          <a:xfrm>
            <a:off x="3108960" y="4526280"/>
            <a:ext cx="365760" cy="365760"/>
          </a:xfrm>
          <a:prstGeom prst="rect">
            <a:avLst/>
          </a:prstGeom>
        </p:spPr>
      </p:pic>
      <p:sp>
        <p:nvSpPr>
          <p:cNvPr id="35" name="Text 24"/>
          <p:cNvSpPr txBox="1"/>
          <p:nvPr/>
        </p:nvSpPr>
        <p:spPr>
          <a:xfrm>
            <a:off x="2514600" y="5120640"/>
            <a:ext cx="1554480" cy="365760"/>
          </a:xfrm>
          <a:prstGeom prst="rect">
            <a:avLst/>
          </a:prstGeom>
          <a:noFill/>
          <a:ln/>
        </p:spPr>
        <p:txBody>
          <a:bodyPr wrap="square" lIns="0" tIns="0" rIns="0" bIns="0" rtlCol="0" anchor="t"/>
          <a:lstStyle/>
          <a:p>
            <a:pPr algn="ctr" indent="0" marL="0">
              <a:buNone/>
            </a:pPr>
            <a:r>
              <a:rPr lang="en-US" sz="1500" b="1" dirty="0">
                <a:solidFill>
                  <a:srgbClr val="1E3A6E"/>
                </a:solidFill>
                <a:latin typeface="Arial" pitchFamily="34" charset="0"/>
                <a:ea typeface="Arial" pitchFamily="34" charset="-122"/>
                <a:cs typeface="Arial" pitchFamily="34" charset="-120"/>
              </a:rPr>
              <a:t>dataset tool</a:t>
            </a:r>
            <a:endParaRPr lang="en-US" sz="1500" dirty="0"/>
          </a:p>
        </p:txBody>
      </p:sp>
      <p:sp>
        <p:nvSpPr>
          <p:cNvPr id="36" name="Shape 25"/>
          <p:cNvSpPr/>
          <p:nvPr/>
        </p:nvSpPr>
        <p:spPr>
          <a:xfrm>
            <a:off x="4178808" y="5212080"/>
            <a:ext cx="100584" cy="0"/>
          </a:xfrm>
          <a:prstGeom prst="line">
            <a:avLst/>
          </a:prstGeom>
          <a:noFill/>
          <a:ln w="25400">
            <a:solidFill>
              <a:srgbClr val="5B6578"/>
            </a:solidFill>
            <a:prstDash val="solid"/>
            <a:tailEnd type="triangle"/>
          </a:ln>
        </p:spPr>
      </p:sp>
      <p:sp>
        <p:nvSpPr>
          <p:cNvPr id="37" name="Text 26"/>
          <p:cNvSpPr/>
          <p:nvPr/>
        </p:nvSpPr>
        <p:spPr>
          <a:xfrm>
            <a:off x="4297680" y="3657600"/>
            <a:ext cx="1737360" cy="2468880"/>
          </a:xfrm>
          <a:prstGeom prst="roundRect">
            <a:avLst>
              <a:gd name="adj" fmla="val 5263"/>
            </a:avLst>
          </a:prstGeom>
          <a:solidFill>
            <a:srgbClr val="E3E8F0"/>
          </a:solidFill>
          <a:ln/>
        </p:spPr>
        <p:txBody>
          <a:bodyPr wrap="square" lIns="1270" tIns="1270" rIns="1270" bIns="1270" rtlCol="0" anchor="ctr"/>
          <a:lstStyle/>
          <a:p>
            <a:pPr algn="l" indent="0" marL="0">
              <a:buNone/>
            </a:pPr>
            <a:endParaRPr lang="en-US" sz="1600" dirty="0"/>
          </a:p>
        </p:txBody>
      </p:sp>
      <p:sp>
        <p:nvSpPr>
          <p:cNvPr id="38" name="Shape 27"/>
          <p:cNvSpPr/>
          <p:nvPr/>
        </p:nvSpPr>
        <p:spPr>
          <a:xfrm>
            <a:off x="4846320" y="3840480"/>
            <a:ext cx="640080" cy="640080"/>
          </a:xfrm>
          <a:prstGeom prst="ellipse">
            <a:avLst/>
          </a:prstGeom>
          <a:solidFill>
            <a:srgbClr val="1E3A6E"/>
          </a:solidFill>
          <a:ln/>
        </p:spPr>
      </p:sp>
      <p:pic>
        <p:nvPicPr>
          <p:cNvPr id="39" name="Image 8" descr="preencoded.png">    </p:cNvPr>
          <p:cNvPicPr>
            <a:picLocks noChangeAspect="1"/>
          </p:cNvPicPr>
          <p:nvPr/>
        </p:nvPicPr>
        <p:blipFill>
          <a:blip r:embed="rId9"/>
          <a:stretch>
            <a:fillRect/>
          </a:stretch>
        </p:blipFill>
        <p:spPr>
          <a:xfrm>
            <a:off x="4983480" y="3977640"/>
            <a:ext cx="365760" cy="365760"/>
          </a:xfrm>
          <a:prstGeom prst="rect">
            <a:avLst/>
          </a:prstGeom>
        </p:spPr>
      </p:pic>
      <p:sp>
        <p:nvSpPr>
          <p:cNvPr id="40" name="Text 28"/>
          <p:cNvSpPr txBox="1"/>
          <p:nvPr/>
        </p:nvSpPr>
        <p:spPr>
          <a:xfrm>
            <a:off x="4389120" y="4572000"/>
            <a:ext cx="1554480" cy="365760"/>
          </a:xfrm>
          <a:prstGeom prst="rect">
            <a:avLst/>
          </a:prstGeom>
          <a:noFill/>
          <a:ln/>
        </p:spPr>
        <p:txBody>
          <a:bodyPr wrap="square" lIns="0" tIns="0" rIns="0" bIns="0" rtlCol="0" anchor="t"/>
          <a:lstStyle/>
          <a:p>
            <a:pPr algn="ctr" indent="0" marL="0">
              <a:buNone/>
            </a:pPr>
            <a:r>
              <a:rPr lang="en-US" sz="1500" b="1" dirty="0">
                <a:solidFill>
                  <a:srgbClr val="1E3A6E"/>
                </a:solidFill>
                <a:latin typeface="Arial" pitchFamily="34" charset="0"/>
                <a:ea typeface="Arial" pitchFamily="34" charset="-122"/>
                <a:cs typeface="Arial" pitchFamily="34" charset="-120"/>
              </a:rPr>
              <a:t>+ C++ library</a:t>
            </a:r>
            <a:endParaRPr lang="en-US" sz="1500" dirty="0"/>
          </a:p>
        </p:txBody>
      </p:sp>
      <p:sp>
        <p:nvSpPr>
          <p:cNvPr id="41" name="Shape 29"/>
          <p:cNvSpPr/>
          <p:nvPr/>
        </p:nvSpPr>
        <p:spPr>
          <a:xfrm>
            <a:off x="6053328" y="4937760"/>
            <a:ext cx="100584" cy="0"/>
          </a:xfrm>
          <a:prstGeom prst="line">
            <a:avLst/>
          </a:prstGeom>
          <a:noFill/>
          <a:ln w="25400">
            <a:solidFill>
              <a:srgbClr val="5B6578"/>
            </a:solidFill>
            <a:prstDash val="solid"/>
            <a:tailEnd type="triangle"/>
          </a:ln>
        </p:spPr>
      </p:sp>
      <p:sp>
        <p:nvSpPr>
          <p:cNvPr id="42" name="Text 30"/>
          <p:cNvSpPr/>
          <p:nvPr/>
        </p:nvSpPr>
        <p:spPr>
          <a:xfrm>
            <a:off x="6172200" y="3108960"/>
            <a:ext cx="1737360" cy="3017520"/>
          </a:xfrm>
          <a:prstGeom prst="roundRect">
            <a:avLst>
              <a:gd name="adj" fmla="val 5263"/>
            </a:avLst>
          </a:prstGeom>
          <a:solidFill>
            <a:srgbClr val="F3F5F8"/>
          </a:solidFill>
          <a:ln/>
        </p:spPr>
        <p:txBody>
          <a:bodyPr wrap="square" lIns="1270" tIns="1270" rIns="1270" bIns="1270" rtlCol="0" anchor="ctr"/>
          <a:lstStyle/>
          <a:p>
            <a:pPr algn="l" indent="0" marL="0">
              <a:buNone/>
            </a:pPr>
            <a:endParaRPr lang="en-US" sz="1600" dirty="0"/>
          </a:p>
        </p:txBody>
      </p:sp>
      <p:sp>
        <p:nvSpPr>
          <p:cNvPr id="43" name="Shape 31"/>
          <p:cNvSpPr/>
          <p:nvPr/>
        </p:nvSpPr>
        <p:spPr>
          <a:xfrm>
            <a:off x="6720840" y="3291840"/>
            <a:ext cx="640080" cy="640080"/>
          </a:xfrm>
          <a:prstGeom prst="ellipse">
            <a:avLst/>
          </a:prstGeom>
          <a:solidFill>
            <a:srgbClr val="1E3A6E"/>
          </a:solidFill>
          <a:ln/>
        </p:spPr>
      </p:sp>
      <p:pic>
        <p:nvPicPr>
          <p:cNvPr id="44" name="Image 9" descr="preencoded.png">    </p:cNvPr>
          <p:cNvPicPr>
            <a:picLocks noChangeAspect="1"/>
          </p:cNvPicPr>
          <p:nvPr/>
        </p:nvPicPr>
        <p:blipFill>
          <a:blip r:embed="rId10"/>
          <a:stretch>
            <a:fillRect/>
          </a:stretch>
        </p:blipFill>
        <p:spPr>
          <a:xfrm>
            <a:off x="6858000" y="3429000"/>
            <a:ext cx="365760" cy="365760"/>
          </a:xfrm>
          <a:prstGeom prst="rect">
            <a:avLst/>
          </a:prstGeom>
        </p:spPr>
      </p:pic>
      <p:sp>
        <p:nvSpPr>
          <p:cNvPr id="45" name="Text 32"/>
          <p:cNvSpPr txBox="1"/>
          <p:nvPr/>
        </p:nvSpPr>
        <p:spPr>
          <a:xfrm>
            <a:off x="6263640" y="4023360"/>
            <a:ext cx="1554480" cy="365760"/>
          </a:xfrm>
          <a:prstGeom prst="rect">
            <a:avLst/>
          </a:prstGeom>
          <a:noFill/>
          <a:ln/>
        </p:spPr>
        <p:txBody>
          <a:bodyPr wrap="square" lIns="0" tIns="0" rIns="0" bIns="0" rtlCol="0" anchor="t"/>
          <a:lstStyle/>
          <a:p>
            <a:pPr algn="ctr" indent="0" marL="0">
              <a:buNone/>
            </a:pPr>
            <a:r>
              <a:rPr lang="en-US" sz="1500" b="1" dirty="0">
                <a:solidFill>
                  <a:srgbClr val="1E3A6E"/>
                </a:solidFill>
                <a:latin typeface="Arial" pitchFamily="34" charset="0"/>
                <a:ea typeface="Arial" pitchFamily="34" charset="-122"/>
                <a:cs typeface="Arial" pitchFamily="34" charset="-120"/>
              </a:rPr>
              <a:t>ROS callback</a:t>
            </a:r>
            <a:endParaRPr lang="en-US" sz="1500" dirty="0"/>
          </a:p>
        </p:txBody>
      </p:sp>
      <p:sp>
        <p:nvSpPr>
          <p:cNvPr id="46" name="Shape 33"/>
          <p:cNvSpPr/>
          <p:nvPr/>
        </p:nvSpPr>
        <p:spPr>
          <a:xfrm>
            <a:off x="7927848" y="4663440"/>
            <a:ext cx="100584" cy="0"/>
          </a:xfrm>
          <a:prstGeom prst="line">
            <a:avLst/>
          </a:prstGeom>
          <a:noFill/>
          <a:ln w="25400">
            <a:solidFill>
              <a:srgbClr val="5B6578"/>
            </a:solidFill>
            <a:prstDash val="solid"/>
            <a:tailEnd type="triangle"/>
          </a:ln>
        </p:spPr>
      </p:sp>
      <p:sp>
        <p:nvSpPr>
          <p:cNvPr id="47" name="Text 34"/>
          <p:cNvSpPr/>
          <p:nvPr/>
        </p:nvSpPr>
        <p:spPr>
          <a:xfrm>
            <a:off x="8046720" y="2560320"/>
            <a:ext cx="1737360" cy="3566160"/>
          </a:xfrm>
          <a:prstGeom prst="roundRect">
            <a:avLst>
              <a:gd name="adj" fmla="val 5263"/>
            </a:avLst>
          </a:prstGeom>
          <a:solidFill>
            <a:srgbClr val="E3E8F0"/>
          </a:solidFill>
          <a:ln/>
        </p:spPr>
        <p:txBody>
          <a:bodyPr wrap="square" lIns="1270" tIns="1270" rIns="1270" bIns="1270" rtlCol="0" anchor="ctr"/>
          <a:lstStyle/>
          <a:p>
            <a:pPr algn="l" indent="0" marL="0">
              <a:buNone/>
            </a:pPr>
            <a:endParaRPr lang="en-US" sz="1600" dirty="0"/>
          </a:p>
        </p:txBody>
      </p:sp>
      <p:sp>
        <p:nvSpPr>
          <p:cNvPr id="48" name="Shape 35"/>
          <p:cNvSpPr/>
          <p:nvPr/>
        </p:nvSpPr>
        <p:spPr>
          <a:xfrm>
            <a:off x="8595360" y="2743200"/>
            <a:ext cx="640080" cy="640080"/>
          </a:xfrm>
          <a:prstGeom prst="ellipse">
            <a:avLst/>
          </a:prstGeom>
          <a:solidFill>
            <a:srgbClr val="1E3A6E"/>
          </a:solidFill>
          <a:ln/>
        </p:spPr>
      </p:sp>
      <p:pic>
        <p:nvPicPr>
          <p:cNvPr id="49" name="Image 10" descr="preencoded.png">    </p:cNvPr>
          <p:cNvPicPr>
            <a:picLocks noChangeAspect="1"/>
          </p:cNvPicPr>
          <p:nvPr/>
        </p:nvPicPr>
        <p:blipFill>
          <a:blip r:embed="rId11"/>
          <a:stretch>
            <a:fillRect/>
          </a:stretch>
        </p:blipFill>
        <p:spPr>
          <a:xfrm>
            <a:off x="8732520" y="2880360"/>
            <a:ext cx="365760" cy="365760"/>
          </a:xfrm>
          <a:prstGeom prst="rect">
            <a:avLst/>
          </a:prstGeom>
        </p:spPr>
      </p:pic>
      <p:sp>
        <p:nvSpPr>
          <p:cNvPr id="50" name="Text 36"/>
          <p:cNvSpPr txBox="1"/>
          <p:nvPr/>
        </p:nvSpPr>
        <p:spPr>
          <a:xfrm>
            <a:off x="8138160" y="3474720"/>
            <a:ext cx="1554480" cy="365760"/>
          </a:xfrm>
          <a:prstGeom prst="rect">
            <a:avLst/>
          </a:prstGeom>
          <a:noFill/>
          <a:ln/>
        </p:spPr>
        <p:txBody>
          <a:bodyPr wrap="square" lIns="0" tIns="0" rIns="0" bIns="0" rtlCol="0" anchor="t"/>
          <a:lstStyle/>
          <a:p>
            <a:pPr algn="ctr" indent="0" marL="0">
              <a:buNone/>
            </a:pPr>
            <a:r>
              <a:rPr lang="en-US" sz="1500" b="1" dirty="0">
                <a:solidFill>
                  <a:srgbClr val="1E3A6E"/>
                </a:solidFill>
                <a:latin typeface="Arial" pitchFamily="34" charset="0"/>
                <a:ea typeface="Arial" pitchFamily="34" charset="-122"/>
                <a:cs typeface="Arial" pitchFamily="34" charset="-120"/>
              </a:rPr>
              <a:t>controller</a:t>
            </a:r>
            <a:endParaRPr lang="en-US" sz="1500" dirty="0"/>
          </a:p>
        </p:txBody>
      </p:sp>
      <p:sp>
        <p:nvSpPr>
          <p:cNvPr id="51" name="Shape 37"/>
          <p:cNvSpPr/>
          <p:nvPr/>
        </p:nvSpPr>
        <p:spPr>
          <a:xfrm>
            <a:off x="9802368" y="4389120"/>
            <a:ext cx="100584" cy="0"/>
          </a:xfrm>
          <a:prstGeom prst="line">
            <a:avLst/>
          </a:prstGeom>
          <a:noFill/>
          <a:ln w="25400">
            <a:solidFill>
              <a:srgbClr val="5B6578"/>
            </a:solidFill>
            <a:prstDash val="solid"/>
            <a:tailEnd type="triangle"/>
          </a:ln>
        </p:spPr>
      </p:sp>
      <p:sp>
        <p:nvSpPr>
          <p:cNvPr id="52" name="Text 38"/>
          <p:cNvSpPr/>
          <p:nvPr/>
        </p:nvSpPr>
        <p:spPr>
          <a:xfrm>
            <a:off x="9921240" y="2011680"/>
            <a:ext cx="1737360" cy="4114800"/>
          </a:xfrm>
          <a:prstGeom prst="roundRect">
            <a:avLst>
              <a:gd name="adj" fmla="val 5263"/>
            </a:avLst>
          </a:prstGeom>
          <a:solidFill>
            <a:srgbClr val="F5C518"/>
          </a:solidFill>
          <a:ln/>
        </p:spPr>
        <p:txBody>
          <a:bodyPr wrap="square" lIns="1270" tIns="1270" rIns="1270" bIns="1270" rtlCol="0" anchor="ctr"/>
          <a:lstStyle/>
          <a:p>
            <a:pPr algn="l" indent="0" marL="0">
              <a:buNone/>
            </a:pPr>
            <a:endParaRPr lang="en-US" sz="1600" dirty="0"/>
          </a:p>
        </p:txBody>
      </p:sp>
      <p:sp>
        <p:nvSpPr>
          <p:cNvPr id="53" name="Shape 39"/>
          <p:cNvSpPr/>
          <p:nvPr/>
        </p:nvSpPr>
        <p:spPr>
          <a:xfrm>
            <a:off x="10469880" y="2194560"/>
            <a:ext cx="640080" cy="640080"/>
          </a:xfrm>
          <a:prstGeom prst="ellipse">
            <a:avLst/>
          </a:prstGeom>
          <a:solidFill>
            <a:srgbClr val="1E3A6E"/>
          </a:solidFill>
          <a:ln/>
        </p:spPr>
      </p:sp>
      <p:pic>
        <p:nvPicPr>
          <p:cNvPr id="54" name="Image 11" descr="preencoded.png">    </p:cNvPr>
          <p:cNvPicPr>
            <a:picLocks noChangeAspect="1"/>
          </p:cNvPicPr>
          <p:nvPr/>
        </p:nvPicPr>
        <p:blipFill>
          <a:blip r:embed="rId12"/>
          <a:stretch>
            <a:fillRect/>
          </a:stretch>
        </p:blipFill>
        <p:spPr>
          <a:xfrm>
            <a:off x="10607040" y="2331720"/>
            <a:ext cx="365760" cy="365760"/>
          </a:xfrm>
          <a:prstGeom prst="rect">
            <a:avLst/>
          </a:prstGeom>
        </p:spPr>
      </p:pic>
      <p:sp>
        <p:nvSpPr>
          <p:cNvPr id="55" name="Text 40"/>
          <p:cNvSpPr txBox="1"/>
          <p:nvPr/>
        </p:nvSpPr>
        <p:spPr>
          <a:xfrm>
            <a:off x="10012680" y="2926080"/>
            <a:ext cx="1554480" cy="365760"/>
          </a:xfrm>
          <a:prstGeom prst="rect">
            <a:avLst/>
          </a:prstGeom>
          <a:noFill/>
          <a:ln/>
        </p:spPr>
        <p:txBody>
          <a:bodyPr wrap="square" lIns="0" tIns="0" rIns="0" bIns="0" rtlCol="0" anchor="t"/>
          <a:lstStyle/>
          <a:p>
            <a:pPr algn="ctr" indent="0" marL="0">
              <a:buNone/>
            </a:pPr>
            <a:r>
              <a:rPr lang="en-US" sz="1500" b="1" dirty="0">
                <a:solidFill>
                  <a:srgbClr val="1E3A6E"/>
                </a:solidFill>
                <a:latin typeface="Arial" pitchFamily="34" charset="0"/>
                <a:ea typeface="Arial" pitchFamily="34" charset="-122"/>
                <a:cs typeface="Arial" pitchFamily="34" charset="-120"/>
              </a:rPr>
              <a:t>live tracker</a:t>
            </a:r>
            <a:endParaRPr lang="en-US" sz="1500" dirty="0"/>
          </a:p>
        </p:txBody>
      </p:sp>
      <p:sp>
        <p:nvSpPr>
          <p:cNvPr id="56" name="Text 41"/>
          <p:cNvSpPr txBox="1"/>
          <p:nvPr/>
        </p:nvSpPr>
        <p:spPr>
          <a:xfrm>
            <a:off x="548640" y="1554480"/>
            <a:ext cx="7315200" cy="365760"/>
          </a:xfrm>
          <a:prstGeom prst="rect">
            <a:avLst/>
          </a:prstGeom>
          <a:noFill/>
          <a:ln/>
        </p:spPr>
        <p:txBody>
          <a:bodyPr wrap="square" lIns="0" tIns="0" rIns="0" bIns="0" rtlCol="0" anchor="t"/>
          <a:lstStyle/>
          <a:p>
            <a:pPr indent="0" marL="0">
              <a:buNone/>
            </a:pPr>
            <a:r>
              <a:rPr lang="en-US" sz="2000" i="1" dirty="0">
                <a:solidFill>
                  <a:srgbClr val="5B6578"/>
                </a:solidFill>
                <a:latin typeface="Arial" pitchFamily="34" charset="0"/>
                <a:ea typeface="Arial" pitchFamily="34" charset="-122"/>
                <a:cs typeface="Arial" pitchFamily="34" charset="-120"/>
              </a:rPr>
              <a:t>Our small script acquired a few responsibilities.</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Why cppyy?</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1E3A6E"/>
            </a:solidFill>
            <a:prstDash val="solid"/>
          </a:ln>
        </p:spPr>
      </p:sp>
      <p:sp>
        <p:nvSpPr>
          <p:cNvPr id="7" name="Shape 4"/>
          <p:cNvSpPr/>
          <p:nvPr/>
        </p:nvSpPr>
        <p:spPr>
          <a:xfrm>
            <a:off x="10469880" y="576072"/>
            <a:ext cx="292608" cy="0"/>
          </a:xfrm>
          <a:prstGeom prst="line">
            <a:avLst/>
          </a:prstGeom>
          <a:noFill/>
          <a:ln w="25400">
            <a:solidFill>
              <a:srgbClr val="1E3A6E"/>
            </a:solidFill>
            <a:prstDash val="solid"/>
          </a:ln>
        </p:spPr>
      </p:sp>
      <p:sp>
        <p:nvSpPr>
          <p:cNvPr id="8" name="Shape 5"/>
          <p:cNvSpPr/>
          <p:nvPr/>
        </p:nvSpPr>
        <p:spPr>
          <a:xfrm>
            <a:off x="11183112" y="576072"/>
            <a:ext cx="292608" cy="0"/>
          </a:xfrm>
          <a:prstGeom prst="line">
            <a:avLst/>
          </a:prstGeom>
          <a:noFill/>
          <a:ln w="25400">
            <a:solidFill>
              <a:srgbClr val="1E3A6E"/>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1E3A6E"/>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1E3A6E"/>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1E3A6E"/>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1E3A6E"/>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554480"/>
            <a:ext cx="5212080" cy="3291840"/>
          </a:xfrm>
          <a:prstGeom prst="roundRect">
            <a:avLst>
              <a:gd name="adj" fmla="val 2778"/>
            </a:avLst>
          </a:prstGeom>
          <a:solidFill>
            <a:srgbClr val="F3F5F8"/>
          </a:solidFill>
          <a:ln/>
        </p:spPr>
        <p:txBody>
          <a:bodyPr wrap="square" lIns="1270" tIns="1270" rIns="1270" bIns="1270" rtlCol="0" anchor="ctr"/>
          <a:lstStyle/>
          <a:p>
            <a:pPr algn="l" indent="0" marL="0">
              <a:buNone/>
            </a:pPr>
            <a:endParaRPr lang="en-US" sz="1600" dirty="0"/>
          </a:p>
        </p:txBody>
      </p:sp>
      <p:sp>
        <p:nvSpPr>
          <p:cNvPr id="28" name="Text 19"/>
          <p:cNvSpPr txBox="1"/>
          <p:nvPr/>
        </p:nvSpPr>
        <p:spPr>
          <a:xfrm>
            <a:off x="777240" y="1691640"/>
            <a:ext cx="4754880" cy="365760"/>
          </a:xfrm>
          <a:prstGeom prst="rect">
            <a:avLst/>
          </a:prstGeom>
          <a:noFill/>
          <a:ln/>
        </p:spPr>
        <p:txBody>
          <a:bodyPr wrap="square" lIns="0" tIns="0" rIns="0" bIns="0" rtlCol="0" anchor="t"/>
          <a:lstStyle/>
          <a:p>
            <a:pPr indent="0" marL="0">
              <a:buNone/>
            </a:pPr>
            <a:r>
              <a:rPr lang="en-US" sz="2200" b="1" dirty="0">
                <a:solidFill>
                  <a:srgbClr val="5B6578"/>
                </a:solidFill>
                <a:latin typeface="Arial" pitchFamily="34" charset="0"/>
                <a:ea typeface="Arial" pitchFamily="34" charset="-122"/>
                <a:cs typeface="Arial" pitchFamily="34" charset="-120"/>
              </a:rPr>
              <a:t>Speed up one loop</a:t>
            </a:r>
            <a:endParaRPr lang="en-US" sz="2200" dirty="0"/>
          </a:p>
        </p:txBody>
      </p:sp>
      <p:sp>
        <p:nvSpPr>
          <p:cNvPr id="29" name="Text 20"/>
          <p:cNvSpPr txBox="1"/>
          <p:nvPr/>
        </p:nvSpPr>
        <p:spPr>
          <a:xfrm>
            <a:off x="777240" y="2148840"/>
            <a:ext cx="4754880" cy="365760"/>
          </a:xfrm>
          <a:prstGeom prst="rect">
            <a:avLst/>
          </a:prstGeom>
          <a:noFill/>
          <a:ln/>
        </p:spPr>
        <p:txBody>
          <a:bodyPr wrap="square" lIns="0" tIns="0" rIns="0" bIns="0" rtlCol="0" anchor="t"/>
          <a:lstStyle/>
          <a:p>
            <a:pPr indent="0" marL="0">
              <a:buNone/>
            </a:pPr>
            <a:r>
              <a:rPr lang="en-US" sz="1800" dirty="0">
                <a:solidFill>
                  <a:srgbClr val="1B2433"/>
                </a:solidFill>
                <a:latin typeface="Arial" pitchFamily="34" charset="0"/>
                <a:ea typeface="Arial" pitchFamily="34" charset="-122"/>
                <a:cs typeface="Arial" pitchFamily="34" charset="-120"/>
              </a:rPr>
              <a:t>Many tools</a:t>
            </a:r>
            <a:endParaRPr lang="en-US" sz="1800" dirty="0"/>
          </a:p>
        </p:txBody>
      </p:sp>
      <p:sp>
        <p:nvSpPr>
          <p:cNvPr id="30" name="Text 21"/>
          <p:cNvSpPr/>
          <p:nvPr/>
        </p:nvSpPr>
        <p:spPr>
          <a:xfrm>
            <a:off x="777240" y="2697480"/>
            <a:ext cx="1493520" cy="640080"/>
          </a:xfrm>
          <a:prstGeom prst="roundRect">
            <a:avLst>
              <a:gd name="adj" fmla="val 14286"/>
            </a:avLst>
          </a:prstGeom>
          <a:solidFill>
            <a:srgbClr val="F3F5F8"/>
          </a:solidFill>
          <a:ln w="12700">
            <a:solidFill>
              <a:srgbClr val="D0D7DE"/>
            </a:solidFill>
          </a:ln>
        </p:spPr>
        <p:txBody>
          <a:bodyPr wrap="square" lIns="1270" tIns="1270" rIns="1270" bIns="1270" rtlCol="0" anchor="ctr"/>
          <a:lstStyle/>
          <a:p>
            <a:pPr algn="ctr" indent="0" marL="0">
              <a:buNone/>
            </a:pPr>
            <a:r>
              <a:rPr lang="en-US" sz="1500" b="1" dirty="0">
                <a:solidFill>
                  <a:srgbClr val="1E3A6E"/>
                </a:solidFill>
                <a:latin typeface="Arial" pitchFamily="34" charset="0"/>
                <a:ea typeface="Arial" pitchFamily="34" charset="-122"/>
                <a:cs typeface="Arial" pitchFamily="34" charset="-120"/>
              </a:rPr>
              <a:t>Numba</a:t>
            </a:r>
            <a:endParaRPr lang="en-US" sz="1500" dirty="0"/>
          </a:p>
        </p:txBody>
      </p:sp>
      <p:sp>
        <p:nvSpPr>
          <p:cNvPr id="31" name="Text 22"/>
          <p:cNvSpPr/>
          <p:nvPr/>
        </p:nvSpPr>
        <p:spPr>
          <a:xfrm>
            <a:off x="2407920" y="2697480"/>
            <a:ext cx="1493520" cy="640080"/>
          </a:xfrm>
          <a:prstGeom prst="roundRect">
            <a:avLst>
              <a:gd name="adj" fmla="val 14286"/>
            </a:avLst>
          </a:prstGeom>
          <a:solidFill>
            <a:srgbClr val="F3F5F8"/>
          </a:solidFill>
          <a:ln w="12700">
            <a:solidFill>
              <a:srgbClr val="D0D7DE"/>
            </a:solidFill>
          </a:ln>
        </p:spPr>
        <p:txBody>
          <a:bodyPr wrap="square" lIns="1270" tIns="1270" rIns="1270" bIns="1270" rtlCol="0" anchor="ctr"/>
          <a:lstStyle/>
          <a:p>
            <a:pPr algn="ctr" indent="0" marL="0">
              <a:buNone/>
            </a:pPr>
            <a:r>
              <a:rPr lang="en-US" sz="1500" b="1" dirty="0">
                <a:solidFill>
                  <a:srgbClr val="1E3A6E"/>
                </a:solidFill>
                <a:latin typeface="Arial" pitchFamily="34" charset="0"/>
                <a:ea typeface="Arial" pitchFamily="34" charset="-122"/>
                <a:cs typeface="Arial" pitchFamily="34" charset="-120"/>
              </a:rPr>
              <a:t>Cython</a:t>
            </a:r>
            <a:endParaRPr lang="en-US" sz="1500" dirty="0"/>
          </a:p>
        </p:txBody>
      </p:sp>
      <p:sp>
        <p:nvSpPr>
          <p:cNvPr id="32" name="Text 23"/>
          <p:cNvSpPr/>
          <p:nvPr/>
        </p:nvSpPr>
        <p:spPr>
          <a:xfrm>
            <a:off x="4038600" y="2697480"/>
            <a:ext cx="1493520" cy="640080"/>
          </a:xfrm>
          <a:prstGeom prst="roundRect">
            <a:avLst>
              <a:gd name="adj" fmla="val 14286"/>
            </a:avLst>
          </a:prstGeom>
          <a:solidFill>
            <a:srgbClr val="F3F5F8"/>
          </a:solidFill>
          <a:ln w="12700">
            <a:solidFill>
              <a:srgbClr val="D0D7DE"/>
            </a:solidFill>
          </a:ln>
        </p:spPr>
        <p:txBody>
          <a:bodyPr wrap="square" lIns="1270" tIns="1270" rIns="1270" bIns="1270" rtlCol="0" anchor="ctr"/>
          <a:lstStyle/>
          <a:p>
            <a:pPr algn="ctr" indent="0" marL="0">
              <a:buNone/>
            </a:pPr>
            <a:r>
              <a:rPr lang="en-US" sz="1500" b="1" dirty="0">
                <a:solidFill>
                  <a:srgbClr val="1E3A6E"/>
                </a:solidFill>
                <a:latin typeface="Arial" pitchFamily="34" charset="0"/>
                <a:ea typeface="Arial" pitchFamily="34" charset="-122"/>
                <a:cs typeface="Arial" pitchFamily="34" charset="-120"/>
              </a:rPr>
              <a:t>pybind11</a:t>
            </a:r>
            <a:endParaRPr lang="en-US" sz="1500" dirty="0"/>
          </a:p>
        </p:txBody>
      </p:sp>
      <p:sp>
        <p:nvSpPr>
          <p:cNvPr id="33" name="Text 24"/>
          <p:cNvSpPr/>
          <p:nvPr/>
        </p:nvSpPr>
        <p:spPr>
          <a:xfrm>
            <a:off x="6400800" y="1554480"/>
            <a:ext cx="5212080" cy="3291840"/>
          </a:xfrm>
          <a:prstGeom prst="roundRect">
            <a:avLst>
              <a:gd name="adj" fmla="val 2778"/>
            </a:avLst>
          </a:prstGeom>
          <a:solidFill>
            <a:srgbClr val="F5C518"/>
          </a:solidFill>
          <a:ln/>
        </p:spPr>
        <p:txBody>
          <a:bodyPr wrap="square" lIns="1270" tIns="1270" rIns="1270" bIns="1270" rtlCol="0" anchor="ctr"/>
          <a:lstStyle/>
          <a:p>
            <a:pPr algn="l" indent="0" marL="0">
              <a:buNone/>
            </a:pPr>
            <a:endParaRPr lang="en-US" sz="1600" dirty="0"/>
          </a:p>
        </p:txBody>
      </p:sp>
      <p:sp>
        <p:nvSpPr>
          <p:cNvPr id="34" name="Text 25"/>
          <p:cNvSpPr txBox="1"/>
          <p:nvPr/>
        </p:nvSpPr>
        <p:spPr>
          <a:xfrm>
            <a:off x="6629400" y="1691640"/>
            <a:ext cx="4754880" cy="365760"/>
          </a:xfrm>
          <a:prstGeom prst="rect">
            <a:avLst/>
          </a:prstGeom>
          <a:noFill/>
          <a:ln/>
        </p:spPr>
        <p:txBody>
          <a:bodyPr wrap="square" lIns="0" tIns="0" rIns="0" bIns="0" rtlCol="0" anchor="t"/>
          <a:lstStyle/>
          <a:p>
            <a:pPr indent="0" marL="0">
              <a:buNone/>
            </a:pPr>
            <a:r>
              <a:rPr lang="en-US" sz="2200" b="1" dirty="0">
                <a:solidFill>
                  <a:srgbClr val="1E3A6E"/>
                </a:solidFill>
                <a:latin typeface="Arial" pitchFamily="34" charset="0"/>
                <a:ea typeface="Arial" pitchFamily="34" charset="-122"/>
                <a:cs typeface="Arial" pitchFamily="34" charset="-120"/>
              </a:rPr>
              <a:t>Keep adding things</a:t>
            </a:r>
            <a:endParaRPr lang="en-US" sz="2200" dirty="0"/>
          </a:p>
        </p:txBody>
      </p:sp>
      <p:sp>
        <p:nvSpPr>
          <p:cNvPr id="35" name="Text 26"/>
          <p:cNvSpPr txBox="1"/>
          <p:nvPr/>
        </p:nvSpPr>
        <p:spPr>
          <a:xfrm>
            <a:off x="6629400" y="2286000"/>
            <a:ext cx="4754880" cy="1463040"/>
          </a:xfrm>
          <a:prstGeom prst="rect">
            <a:avLst/>
          </a:prstGeom>
          <a:noFill/>
          <a:ln/>
        </p:spPr>
        <p:txBody>
          <a:bodyPr wrap="square" lIns="0" tIns="0" rIns="0" bIns="0" rtlCol="0" anchor="t"/>
          <a:lstStyle/>
          <a:p>
            <a:pPr indent="0" marL="0">
              <a:buNone/>
            </a:pPr>
            <a:r>
              <a:rPr lang="en-US" sz="1800" dirty="0">
                <a:solidFill>
                  <a:srgbClr val="1E3A6E"/>
                </a:solidFill>
                <a:latin typeface="Arial" pitchFamily="34" charset="0"/>
                <a:ea typeface="Arial" pitchFamily="34" charset="-122"/>
                <a:cs typeface="Arial" pitchFamily="34" charset="-120"/>
              </a:rPr>
              <a:t>C++ libraries already doing useful work</a:t>
            </a:r>
            <a:endParaRPr lang="en-US" sz="1800" dirty="0"/>
          </a:p>
          <a:p>
            <a:pPr indent="0" marL="0">
              <a:buNone/>
            </a:pPr>
            <a:r>
              <a:rPr lang="en-US" sz="1800" dirty="0">
                <a:solidFill>
                  <a:srgbClr val="1E3A6E"/>
                </a:solidFill>
                <a:latin typeface="Arial" pitchFamily="34" charset="0"/>
                <a:ea typeface="Arial" pitchFamily="34" charset="-122"/>
                <a:cs typeface="Arial" pitchFamily="34" charset="-120"/>
              </a:rPr>
              <a:t>Native ROS APIs</a:t>
            </a:r>
            <a:endParaRPr lang="en-US" sz="1800" dirty="0"/>
          </a:p>
          <a:p>
            <a:pPr indent="0" marL="0">
              <a:buNone/>
            </a:pPr>
            <a:r>
              <a:rPr lang="en-US" sz="1800" dirty="0">
                <a:solidFill>
                  <a:srgbClr val="1E3A6E"/>
                </a:solidFill>
                <a:latin typeface="Arial" pitchFamily="34" charset="0"/>
                <a:ea typeface="Arial" pitchFamily="34" charset="-122"/>
                <a:cs typeface="Arial" pitchFamily="34" charset="-120"/>
              </a:rPr>
              <a:t>Controller interfaces to try from Python</a:t>
            </a:r>
            <a:endParaRPr lang="en-US" sz="1800" dirty="0"/>
          </a:p>
        </p:txBody>
      </p:sp>
      <p:sp>
        <p:nvSpPr>
          <p:cNvPr id="36" name="Text 27"/>
          <p:cNvSpPr txBox="1"/>
          <p:nvPr/>
        </p:nvSpPr>
        <p:spPr>
          <a:xfrm>
            <a:off x="6629400" y="3840480"/>
            <a:ext cx="4754880" cy="822960"/>
          </a:xfrm>
          <a:prstGeom prst="rect">
            <a:avLst/>
          </a:prstGeom>
          <a:noFill/>
          <a:ln/>
        </p:spPr>
        <p:txBody>
          <a:bodyPr wrap="square" lIns="0" tIns="0" rIns="0" bIns="0" rtlCol="0" anchor="t"/>
          <a:lstStyle/>
          <a:p>
            <a:pPr indent="0" marL="0">
              <a:buNone/>
            </a:pPr>
            <a:r>
              <a:rPr lang="en-US" sz="1600" b="1" dirty="0">
                <a:solidFill>
                  <a:srgbClr val="1E3A6E"/>
                </a:solidFill>
                <a:latin typeface="Arial" pitchFamily="34" charset="0"/>
                <a:ea typeface="Arial" pitchFamily="34" charset="-122"/>
                <a:cs typeface="Arial" pitchFamily="34" charset="-120"/>
              </a:rPr>
              <a:t>cppyy_kit: cached kernels, kit setup, explicit guidance for the agent</a:t>
            </a:r>
            <a:endParaRPr lang="en-US" sz="1600" dirty="0"/>
          </a:p>
        </p:txBody>
      </p:sp>
      <p:sp>
        <p:nvSpPr>
          <p:cNvPr id="37" name="Shape 28"/>
          <p:cNvSpPr/>
          <p:nvPr/>
        </p:nvSpPr>
        <p:spPr>
          <a:xfrm>
            <a:off x="5806440" y="3200400"/>
            <a:ext cx="548640" cy="0"/>
          </a:xfrm>
          <a:prstGeom prst="line">
            <a:avLst/>
          </a:prstGeom>
          <a:noFill/>
          <a:ln w="38100">
            <a:solidFill>
              <a:srgbClr val="1E3A6E"/>
            </a:solidFill>
            <a:prstDash val="solid"/>
            <a:tailEnd type="triangle"/>
          </a:ln>
        </p:spPr>
      </p:sp>
      <p:sp>
        <p:nvSpPr>
          <p:cNvPr id="38" name="Text 29"/>
          <p:cNvSpPr/>
          <p:nvPr/>
        </p:nvSpPr>
        <p:spPr>
          <a:xfrm>
            <a:off x="548640" y="5166360"/>
            <a:ext cx="11064240" cy="1005840"/>
          </a:xfrm>
          <a:prstGeom prst="roundRect">
            <a:avLst>
              <a:gd name="adj" fmla="val 9091"/>
            </a:avLst>
          </a:prstGeom>
          <a:solidFill>
            <a:srgbClr val="FFFFFF"/>
          </a:solidFill>
          <a:ln w="19050">
            <a:solidFill>
              <a:srgbClr val="1E3A6E"/>
            </a:solidFill>
          </a:ln>
        </p:spPr>
        <p:txBody>
          <a:bodyPr wrap="square" lIns="3810" tIns="3810" rIns="3810" bIns="3810" rtlCol="0" anchor="ctr"/>
          <a:lstStyle/>
          <a:p>
            <a:pPr algn="l" indent="0" marL="0">
              <a:buNone/>
            </a:pPr>
            <a:r>
              <a:rPr lang="en-US" sz="1800" b="1" dirty="0">
                <a:solidFill>
                  <a:srgbClr val="1E3A6E"/>
                </a:solidFill>
                <a:latin typeface="Arial" pitchFamily="34" charset="0"/>
                <a:ea typeface="Arial" pitchFamily="34" charset="-122"/>
                <a:cs typeface="Arial" pitchFamily="34" charset="-120"/>
              </a:rPr>
              <a:t>Successful agent runs took roughly 42 to 220 seconds across the five stages.</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Try it</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1E3A6E"/>
            </a:solidFill>
            <a:prstDash val="solid"/>
          </a:ln>
        </p:spPr>
      </p:sp>
      <p:sp>
        <p:nvSpPr>
          <p:cNvPr id="7" name="Shape 4"/>
          <p:cNvSpPr/>
          <p:nvPr/>
        </p:nvSpPr>
        <p:spPr>
          <a:xfrm>
            <a:off x="10469880" y="576072"/>
            <a:ext cx="292608" cy="0"/>
          </a:xfrm>
          <a:prstGeom prst="line">
            <a:avLst/>
          </a:prstGeom>
          <a:noFill/>
          <a:ln w="25400">
            <a:solidFill>
              <a:srgbClr val="1E3A6E"/>
            </a:solidFill>
            <a:prstDash val="solid"/>
          </a:ln>
        </p:spPr>
      </p:sp>
      <p:sp>
        <p:nvSpPr>
          <p:cNvPr id="8" name="Shape 5"/>
          <p:cNvSpPr/>
          <p:nvPr/>
        </p:nvSpPr>
        <p:spPr>
          <a:xfrm>
            <a:off x="11183112" y="576072"/>
            <a:ext cx="292608" cy="0"/>
          </a:xfrm>
          <a:prstGeom prst="line">
            <a:avLst/>
          </a:prstGeom>
          <a:noFill/>
          <a:ln w="25400">
            <a:solidFill>
              <a:srgbClr val="1E3A6E"/>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1E3A6E"/>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1E3A6E"/>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1E3A6E"/>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1E3A6E"/>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sp>
        <p:nvSpPr>
          <p:cNvPr id="27" name="Text 18"/>
          <p:cNvSpPr/>
          <p:nvPr/>
        </p:nvSpPr>
        <p:spPr>
          <a:xfrm>
            <a:off x="548640" y="1463040"/>
            <a:ext cx="11064240" cy="2484120"/>
          </a:xfrm>
          <a:prstGeom prst="roundRect">
            <a:avLst>
              <a:gd name="adj" fmla="val 3681"/>
            </a:avLst>
          </a:prstGeom>
          <a:solidFill>
            <a:srgbClr val="1E1E2E"/>
          </a:solidFill>
          <a:ln/>
        </p:spPr>
        <p:txBody>
          <a:bodyPr wrap="square" lIns="1270" tIns="1270" rIns="1270" bIns="1270" rtlCol="0" anchor="ctr"/>
          <a:lstStyle/>
          <a:p>
            <a:pPr algn="l" indent="0" marL="0">
              <a:buNone/>
            </a:pPr>
            <a:endParaRPr lang="en-US" sz="1600" dirty="0"/>
          </a:p>
        </p:txBody>
      </p:sp>
      <p:sp>
        <p:nvSpPr>
          <p:cNvPr id="28" name="Text 19"/>
          <p:cNvSpPr/>
          <p:nvPr/>
        </p:nvSpPr>
        <p:spPr>
          <a:xfrm>
            <a:off x="548640" y="1463040"/>
            <a:ext cx="11064240" cy="384048"/>
          </a:xfrm>
          <a:prstGeom prst="roundRect">
            <a:avLst>
              <a:gd name="adj" fmla="val 23810"/>
            </a:avLst>
          </a:prstGeom>
          <a:solidFill>
            <a:srgbClr val="2B2D42"/>
          </a:solidFill>
          <a:ln/>
        </p:spPr>
        <p:txBody>
          <a:bodyPr wrap="square" lIns="1270" tIns="1270" rIns="1270" bIns="1270" rtlCol="0" anchor="ctr"/>
          <a:lstStyle/>
          <a:p>
            <a:pPr algn="l" indent="0" marL="0">
              <a:buNone/>
            </a:pPr>
            <a:endParaRPr lang="en-US" sz="1600" dirty="0"/>
          </a:p>
        </p:txBody>
      </p:sp>
      <p:sp>
        <p:nvSpPr>
          <p:cNvPr id="29" name="Shape 20"/>
          <p:cNvSpPr/>
          <p:nvPr/>
        </p:nvSpPr>
        <p:spPr>
          <a:xfrm>
            <a:off x="557784" y="1691640"/>
            <a:ext cx="11045952" cy="155448"/>
          </a:xfrm>
          <a:prstGeom prst="rect">
            <a:avLst/>
          </a:prstGeom>
          <a:solidFill>
            <a:srgbClr val="2B2D42"/>
          </a:solidFill>
          <a:ln/>
        </p:spPr>
      </p:sp>
      <p:sp>
        <p:nvSpPr>
          <p:cNvPr id="30" name="Shape 21"/>
          <p:cNvSpPr/>
          <p:nvPr/>
        </p:nvSpPr>
        <p:spPr>
          <a:xfrm>
            <a:off x="731520" y="1591056"/>
            <a:ext cx="128016" cy="128016"/>
          </a:xfrm>
          <a:prstGeom prst="ellipse">
            <a:avLst/>
          </a:prstGeom>
          <a:solidFill>
            <a:srgbClr val="FF5F56"/>
          </a:solidFill>
          <a:ln/>
        </p:spPr>
      </p:sp>
      <p:sp>
        <p:nvSpPr>
          <p:cNvPr id="31" name="Shape 22"/>
          <p:cNvSpPr/>
          <p:nvPr/>
        </p:nvSpPr>
        <p:spPr>
          <a:xfrm>
            <a:off x="932688" y="1591056"/>
            <a:ext cx="128016" cy="128016"/>
          </a:xfrm>
          <a:prstGeom prst="ellipse">
            <a:avLst/>
          </a:prstGeom>
          <a:solidFill>
            <a:srgbClr val="FFBD2E"/>
          </a:solidFill>
          <a:ln/>
        </p:spPr>
      </p:sp>
      <p:sp>
        <p:nvSpPr>
          <p:cNvPr id="32" name="Shape 23"/>
          <p:cNvSpPr/>
          <p:nvPr/>
        </p:nvSpPr>
        <p:spPr>
          <a:xfrm>
            <a:off x="1133856" y="1591056"/>
            <a:ext cx="128016" cy="128016"/>
          </a:xfrm>
          <a:prstGeom prst="ellipse">
            <a:avLst/>
          </a:prstGeom>
          <a:solidFill>
            <a:srgbClr val="27C93F"/>
          </a:solidFill>
          <a:ln/>
        </p:spPr>
      </p:sp>
      <p:sp>
        <p:nvSpPr>
          <p:cNvPr id="33" name="Text 24"/>
          <p:cNvSpPr txBox="1"/>
          <p:nvPr/>
        </p:nvSpPr>
        <p:spPr>
          <a:xfrm>
            <a:off x="1463040" y="1554480"/>
            <a:ext cx="9235440" cy="228600"/>
          </a:xfrm>
          <a:prstGeom prst="rect">
            <a:avLst/>
          </a:prstGeom>
          <a:noFill/>
          <a:ln/>
        </p:spPr>
        <p:txBody>
          <a:bodyPr wrap="square" lIns="0" tIns="0" rIns="0" bIns="0" rtlCol="0" anchor="t"/>
          <a:lstStyle/>
          <a:p>
            <a:pPr algn="ctr" indent="0" marL="0">
              <a:buNone/>
            </a:pPr>
            <a:r>
              <a:rPr lang="en-US" sz="1100" dirty="0">
                <a:solidFill>
                  <a:srgbClr val="9AA3B8"/>
                </a:solidFill>
                <a:latin typeface="Courier New" pitchFamily="34" charset="0"/>
                <a:ea typeface="Courier New" pitchFamily="34" charset="-122"/>
                <a:cs typeface="Courier New" pitchFamily="34" charset="-120"/>
              </a:rPr>
              <a:t>install and guides</a:t>
            </a:r>
            <a:endParaRPr lang="en-US" sz="1100" dirty="0"/>
          </a:p>
        </p:txBody>
      </p:sp>
      <p:sp>
        <p:nvSpPr>
          <p:cNvPr id="34" name="Text 25"/>
          <p:cNvSpPr txBox="1"/>
          <p:nvPr/>
        </p:nvSpPr>
        <p:spPr>
          <a:xfrm>
            <a:off x="822960" y="1965960"/>
            <a:ext cx="10515600" cy="1798320"/>
          </a:xfrm>
          <a:prstGeom prst="rect">
            <a:avLst/>
          </a:prstGeom>
          <a:noFill/>
          <a:ln/>
        </p:spPr>
        <p:txBody>
          <a:bodyPr wrap="square" lIns="0" tIns="0" rIns="0" bIns="0" rtlCol="0" anchor="t"/>
          <a:lstStyle/>
          <a:p>
            <a:pPr indent="0" marL="0">
              <a:lnSpc>
                <a:spcPts val="1680"/>
              </a:lnSpc>
              <a:buNone/>
            </a:pPr>
            <a:r>
              <a:rPr lang="en-US" sz="1200" dirty="0">
                <a:solidFill>
                  <a:srgbClr val="9AA3B8"/>
                </a:solidFill>
                <a:latin typeface="Courier New" pitchFamily="34" charset="0"/>
                <a:ea typeface="Courier New" pitchFamily="34" charset="-122"/>
                <a:cs typeface="Courier New" pitchFamily="34" charset="-120"/>
              </a:rPr>
              <a:t># install Pixi first, then:</a:t>
            </a:r>
            <a:endParaRPr lang="en-US" sz="1600" dirty="0"/>
          </a:p>
          <a:p>
            <a:pPr indent="0" marL="0">
              <a:lnSpc>
                <a:spcPts val="1680"/>
              </a:lnSpc>
              <a:buNone/>
            </a:pPr>
            <a:r>
              <a:rPr lang="en-US" sz="1200" dirty="0">
                <a:solidFill>
                  <a:srgbClr val="50FA7B"/>
                </a:solidFill>
                <a:latin typeface="Courier New" pitchFamily="34" charset="0"/>
                <a:ea typeface="Courier New" pitchFamily="34" charset="-122"/>
                <a:cs typeface="Courier New" pitchFamily="34" charset="-120"/>
              </a:rPr>
              <a:t>$ </a:t>
            </a:r>
            <a:pPr indent="0" marL="0">
              <a:lnSpc>
                <a:spcPts val="1680"/>
              </a:lnSpc>
              <a:buNone/>
            </a:pPr>
            <a:r>
              <a:rPr lang="en-US" sz="1200" dirty="0">
                <a:solidFill>
                  <a:srgbClr val="F8F8F2"/>
                </a:solidFill>
                <a:latin typeface="Courier New" pitchFamily="34" charset="0"/>
                <a:ea typeface="Courier New" pitchFamily="34" charset="-122"/>
                <a:cs typeface="Courier New" pitchFamily="34" charset="-120"/>
              </a:rPr>
              <a:t>pixi init cppyy-example -c https://prefix.dev/awesomebytes -c robostack-jazzy -c conda-forge</a:t>
            </a:r>
            <a:endParaRPr lang="en-US" sz="1600" dirty="0"/>
          </a:p>
          <a:p>
            <a:pPr indent="0" marL="0">
              <a:lnSpc>
                <a:spcPts val="1680"/>
              </a:lnSpc>
              <a:buNone/>
            </a:pPr>
            <a:r>
              <a:rPr lang="en-US" sz="1200" dirty="0">
                <a:solidFill>
                  <a:srgbClr val="50FA7B"/>
                </a:solidFill>
                <a:latin typeface="Courier New" pitchFamily="34" charset="0"/>
                <a:ea typeface="Courier New" pitchFamily="34" charset="-122"/>
                <a:cs typeface="Courier New" pitchFamily="34" charset="-120"/>
              </a:rPr>
              <a:t>$ </a:t>
            </a:r>
            <a:pPr indent="0" marL="0">
              <a:lnSpc>
                <a:spcPts val="1680"/>
              </a:lnSpc>
              <a:buNone/>
            </a:pPr>
            <a:r>
              <a:rPr lang="en-US" sz="1200" dirty="0">
                <a:solidFill>
                  <a:srgbClr val="F8F8F2"/>
                </a:solidFill>
                <a:latin typeface="Courier New" pitchFamily="34" charset="0"/>
                <a:ea typeface="Courier New" pitchFamily="34" charset="-122"/>
                <a:cs typeface="Courier New" pitchFamily="34" charset="-120"/>
              </a:rPr>
              <a:t>cd cppyy-example</a:t>
            </a:r>
            <a:endParaRPr lang="en-US" sz="1600" dirty="0"/>
          </a:p>
          <a:p>
            <a:pPr indent="0" marL="0">
              <a:lnSpc>
                <a:spcPts val="1680"/>
              </a:lnSpc>
              <a:buNone/>
            </a:pPr>
            <a:r>
              <a:rPr lang="en-US" sz="1200" dirty="0">
                <a:solidFill>
                  <a:srgbClr val="50FA7B"/>
                </a:solidFill>
                <a:latin typeface="Courier New" pitchFamily="34" charset="0"/>
                <a:ea typeface="Courier New" pitchFamily="34" charset="-122"/>
                <a:cs typeface="Courier New" pitchFamily="34" charset="-120"/>
              </a:rPr>
              <a:t>$ </a:t>
            </a:r>
            <a:pPr indent="0" marL="0">
              <a:lnSpc>
                <a:spcPts val="1680"/>
              </a:lnSpc>
              <a:buNone/>
            </a:pPr>
            <a:r>
              <a:rPr lang="en-US" sz="1200" dirty="0">
                <a:solidFill>
                  <a:srgbClr val="F8F8F2"/>
                </a:solidFill>
                <a:latin typeface="Courier New" pitchFamily="34" charset="0"/>
                <a:ea typeface="Courier New" pitchFamily="34" charset="-122"/>
                <a:cs typeface="Courier New" pitchFamily="34" charset="-120"/>
              </a:rPr>
              <a:t>pixi add "cppyy-kit&gt;=0.4.1" ros-jazzy-bt-kit numpy</a:t>
            </a:r>
            <a:endParaRPr lang="en-US" sz="1600" dirty="0"/>
          </a:p>
          <a:p>
            <a:pPr indent="0" marL="0">
              <a:lnSpc>
                <a:spcPts val="1680"/>
              </a:lnSpc>
              <a:buNone/>
            </a:pPr>
            <a:r>
              <a:rPr lang="en-US" sz="1200" dirty="0">
                <a:solidFill>
                  <a:srgbClr val="9AA3B8"/>
                </a:solidFill>
                <a:latin typeface="Courier New" pitchFamily="34" charset="0"/>
                <a:ea typeface="Courier New" pitchFamily="34" charset="-122"/>
                <a:cs typeface="Courier New" pitchFamily="34" charset="-120"/>
              </a:rPr>
              <a:t># guides for your agent</a:t>
            </a:r>
            <a:endParaRPr lang="en-US" sz="1600" dirty="0"/>
          </a:p>
          <a:p>
            <a:pPr indent="0" marL="0">
              <a:lnSpc>
                <a:spcPts val="1680"/>
              </a:lnSpc>
              <a:buNone/>
            </a:pPr>
            <a:r>
              <a:rPr lang="en-US" sz="1200" dirty="0">
                <a:solidFill>
                  <a:srgbClr val="50FA7B"/>
                </a:solidFill>
                <a:latin typeface="Courier New" pitchFamily="34" charset="0"/>
                <a:ea typeface="Courier New" pitchFamily="34" charset="-122"/>
                <a:cs typeface="Courier New" pitchFamily="34" charset="-120"/>
              </a:rPr>
              <a:t>$ </a:t>
            </a:r>
            <a:pPr indent="0" marL="0">
              <a:lnSpc>
                <a:spcPts val="1680"/>
              </a:lnSpc>
              <a:buNone/>
            </a:pPr>
            <a:r>
              <a:rPr lang="en-US" sz="1200" dirty="0">
                <a:solidFill>
                  <a:srgbClr val="F8F8F2"/>
                </a:solidFill>
                <a:latin typeface="Courier New" pitchFamily="34" charset="0"/>
                <a:ea typeface="Courier New" pitchFamily="34" charset="-122"/>
                <a:cs typeface="Courier New" pitchFamily="34" charset="-120"/>
              </a:rPr>
              <a:t>pixi run python -m cppyy_kit guide accelerate</a:t>
            </a:r>
            <a:endParaRPr lang="en-US" sz="1600" dirty="0"/>
          </a:p>
          <a:p>
            <a:pPr indent="0" marL="0">
              <a:lnSpc>
                <a:spcPts val="1680"/>
              </a:lnSpc>
              <a:buNone/>
            </a:pPr>
            <a:r>
              <a:rPr lang="en-US" sz="1200" dirty="0">
                <a:solidFill>
                  <a:srgbClr val="50FA7B"/>
                </a:solidFill>
                <a:latin typeface="Courier New" pitchFamily="34" charset="0"/>
                <a:ea typeface="Courier New" pitchFamily="34" charset="-122"/>
                <a:cs typeface="Courier New" pitchFamily="34" charset="-120"/>
              </a:rPr>
              <a:t>$ </a:t>
            </a:r>
            <a:pPr indent="0" marL="0">
              <a:lnSpc>
                <a:spcPts val="1680"/>
              </a:lnSpc>
              <a:buNone/>
            </a:pPr>
            <a:r>
              <a:rPr lang="en-US" sz="1200" dirty="0">
                <a:solidFill>
                  <a:srgbClr val="F8F8F2"/>
                </a:solidFill>
                <a:latin typeface="Courier New" pitchFamily="34" charset="0"/>
                <a:ea typeface="Courier New" pitchFamily="34" charset="-122"/>
                <a:cs typeface="Courier New" pitchFamily="34" charset="-120"/>
              </a:rPr>
              <a:t>pixi run python -m cppyy_kit guide bring-library</a:t>
            </a:r>
            <a:endParaRPr lang="en-US" sz="1600" dirty="0"/>
          </a:p>
          <a:p>
            <a:pPr indent="0" marL="0">
              <a:lnSpc>
                <a:spcPts val="1680"/>
              </a:lnSpc>
              <a:buNone/>
            </a:pPr>
            <a:r>
              <a:rPr lang="en-US" sz="1200" dirty="0">
                <a:solidFill>
                  <a:srgbClr val="50FA7B"/>
                </a:solidFill>
                <a:latin typeface="Courier New" pitchFamily="34" charset="0"/>
                <a:ea typeface="Courier New" pitchFamily="34" charset="-122"/>
                <a:cs typeface="Courier New" pitchFamily="34" charset="-120"/>
              </a:rPr>
              <a:t>$ </a:t>
            </a:r>
            <a:pPr indent="0" marL="0">
              <a:lnSpc>
                <a:spcPts val="1680"/>
              </a:lnSpc>
              <a:buNone/>
            </a:pPr>
            <a:r>
              <a:rPr lang="en-US" sz="1200" dirty="0">
                <a:solidFill>
                  <a:srgbClr val="F8F8F2"/>
                </a:solidFill>
                <a:latin typeface="Courier New" pitchFamily="34" charset="0"/>
                <a:ea typeface="Courier New" pitchFamily="34" charset="-122"/>
                <a:cs typeface="Courier New" pitchFamily="34" charset="-120"/>
              </a:rPr>
              <a:t>pixi run python -m cppyy_kit guide existing-cpp</a:t>
            </a:r>
            <a:endParaRPr lang="en-US" sz="1600" dirty="0"/>
          </a:p>
        </p:txBody>
      </p:sp>
      <p:sp>
        <p:nvSpPr>
          <p:cNvPr id="35" name="Text 26"/>
          <p:cNvSpPr/>
          <p:nvPr/>
        </p:nvSpPr>
        <p:spPr>
          <a:xfrm>
            <a:off x="548640" y="4572000"/>
            <a:ext cx="11064240" cy="731520"/>
          </a:xfrm>
          <a:prstGeom prst="roundRect">
            <a:avLst>
              <a:gd name="adj" fmla="val 12500"/>
            </a:avLst>
          </a:prstGeom>
          <a:solidFill>
            <a:srgbClr val="F5C518"/>
          </a:solidFill>
          <a:ln/>
        </p:spPr>
        <p:txBody>
          <a:bodyPr wrap="square" lIns="3175" tIns="3175" rIns="3175" bIns="3175" rtlCol="0" anchor="ctr"/>
          <a:lstStyle/>
          <a:p>
            <a:pPr algn="l" indent="0" marL="0">
              <a:buNone/>
            </a:pPr>
            <a:r>
              <a:rPr lang="en-US" sz="1600" b="1" dirty="0">
                <a:solidFill>
                  <a:srgbClr val="1E3A6E"/>
                </a:solidFill>
                <a:latin typeface="Arial" pitchFamily="34" charset="0"/>
                <a:ea typeface="Arial" pitchFamily="34" charset="-122"/>
                <a:cs typeface="Arial" pitchFamily="34" charset="-120"/>
              </a:rPr>
              <a:t>Take a bit of Python you wish was quicker. Ask your agent to implement it, test it, measure it. Then move the busy part into one native call.</a:t>
            </a:r>
            <a:endParaRPr lang="en-US" sz="1600" dirty="0"/>
          </a:p>
        </p:txBody>
      </p:sp>
      <p:sp>
        <p:nvSpPr>
          <p:cNvPr id="36" name="Text 27"/>
          <p:cNvSpPr/>
          <p:nvPr/>
        </p:nvSpPr>
        <p:spPr>
          <a:xfrm>
            <a:off x="548640" y="5486400"/>
            <a:ext cx="3566160" cy="777240"/>
          </a:xfrm>
          <a:prstGeom prst="roundRect">
            <a:avLst>
              <a:gd name="adj" fmla="val 11765"/>
            </a:avLst>
          </a:prstGeom>
          <a:solidFill>
            <a:srgbClr val="F3F5F8"/>
          </a:solidFill>
          <a:ln/>
        </p:spPr>
        <p:txBody>
          <a:bodyPr wrap="square" lIns="1270" tIns="1270" rIns="1270" bIns="1270" rtlCol="0" anchor="ctr"/>
          <a:lstStyle/>
          <a:p>
            <a:pPr algn="l" indent="0" marL="0">
              <a:buNone/>
            </a:pPr>
            <a:endParaRPr lang="en-US" sz="1600" dirty="0"/>
          </a:p>
        </p:txBody>
      </p:sp>
      <p:pic>
        <p:nvPicPr>
          <p:cNvPr id="37" name="Image 6" descr="preencoded.png">    </p:cNvPr>
          <p:cNvPicPr>
            <a:picLocks noChangeAspect="1"/>
          </p:cNvPicPr>
          <p:nvPr/>
        </p:nvPicPr>
        <p:blipFill>
          <a:blip r:embed="rId7"/>
          <a:stretch>
            <a:fillRect/>
          </a:stretch>
        </p:blipFill>
        <p:spPr>
          <a:xfrm>
            <a:off x="685800" y="5669280"/>
            <a:ext cx="365760" cy="365760"/>
          </a:xfrm>
          <a:prstGeom prst="rect">
            <a:avLst/>
          </a:prstGeom>
        </p:spPr>
      </p:pic>
      <p:sp>
        <p:nvSpPr>
          <p:cNvPr id="38" name="Text 28"/>
          <p:cNvSpPr txBox="1"/>
          <p:nvPr/>
        </p:nvSpPr>
        <p:spPr>
          <a:xfrm>
            <a:off x="1188720" y="5532120"/>
            <a:ext cx="2377440" cy="685800"/>
          </a:xfrm>
          <a:prstGeom prst="rect">
            <a:avLst/>
          </a:prstGeom>
          <a:noFill/>
          <a:ln/>
        </p:spPr>
        <p:txBody>
          <a:bodyPr wrap="square" lIns="0" tIns="0" rIns="0" bIns="0" rtlCol="0" anchor="ctr"/>
          <a:lstStyle/>
          <a:p>
            <a:pPr indent="0" marL="0">
              <a:buNone/>
            </a:pPr>
            <a:r>
              <a:rPr lang="en-US" sz="1400" b="1" dirty="0">
                <a:solidFill>
                  <a:srgbClr val="1E3A6E"/>
                </a:solidFill>
                <a:latin typeface="Arial" pitchFamily="34" charset="0"/>
                <a:ea typeface="Arial" pitchFamily="34" charset="-122"/>
                <a:cs typeface="Arial" pitchFamily="34" charset="-120"/>
              </a:rPr>
              <a:t>GitHub repo and README</a:t>
            </a:r>
            <a:endParaRPr lang="en-US" sz="1400" dirty="0"/>
          </a:p>
          <a:p>
            <a:pPr indent="0" marL="0">
              <a:buNone/>
            </a:pPr>
            <a:r>
              <a:rPr lang="en-US" sz="1200" dirty="0">
                <a:solidFill>
                  <a:srgbClr val="3776AB"/>
                </a:solidFill>
                <a:latin typeface="Arial" pitchFamily="34" charset="0"/>
                <a:ea typeface="Arial" pitchFamily="34" charset="-122"/>
                <a:cs typeface="Arial" pitchFamily="34" charset="-120"/>
              </a:rPr>
              <a:t>github.com/awesomebytes/cppyy_kit</a:t>
            </a:r>
            <a:endParaRPr lang="en-US" sz="1400" dirty="0"/>
          </a:p>
        </p:txBody>
      </p:sp>
      <p:sp>
        <p:nvSpPr>
          <p:cNvPr id="39" name="Text 29"/>
          <p:cNvSpPr/>
          <p:nvPr/>
        </p:nvSpPr>
        <p:spPr>
          <a:xfrm>
            <a:off x="4297680" y="5486400"/>
            <a:ext cx="3566160" cy="777240"/>
          </a:xfrm>
          <a:prstGeom prst="roundRect">
            <a:avLst>
              <a:gd name="adj" fmla="val 11765"/>
            </a:avLst>
          </a:prstGeom>
          <a:solidFill>
            <a:srgbClr val="F3F5F8"/>
          </a:solidFill>
          <a:ln/>
        </p:spPr>
        <p:txBody>
          <a:bodyPr wrap="square" lIns="1270" tIns="1270" rIns="1270" bIns="1270" rtlCol="0" anchor="ctr"/>
          <a:lstStyle/>
          <a:p>
            <a:pPr algn="l" indent="0" marL="0">
              <a:buNone/>
            </a:pPr>
            <a:endParaRPr lang="en-US" sz="1600" dirty="0"/>
          </a:p>
        </p:txBody>
      </p:sp>
      <p:pic>
        <p:nvPicPr>
          <p:cNvPr id="40" name="Image 7" descr="preencoded.png">    </p:cNvPr>
          <p:cNvPicPr>
            <a:picLocks noChangeAspect="1"/>
          </p:cNvPicPr>
          <p:nvPr/>
        </p:nvPicPr>
        <p:blipFill>
          <a:blip r:embed="rId8"/>
          <a:stretch>
            <a:fillRect/>
          </a:stretch>
        </p:blipFill>
        <p:spPr>
          <a:xfrm>
            <a:off x="4434840" y="5669280"/>
            <a:ext cx="365760" cy="365760"/>
          </a:xfrm>
          <a:prstGeom prst="rect">
            <a:avLst/>
          </a:prstGeom>
        </p:spPr>
      </p:pic>
      <p:sp>
        <p:nvSpPr>
          <p:cNvPr id="41" name="Text 30"/>
          <p:cNvSpPr txBox="1"/>
          <p:nvPr/>
        </p:nvSpPr>
        <p:spPr>
          <a:xfrm>
            <a:off x="4937760" y="5532120"/>
            <a:ext cx="2377440" cy="685800"/>
          </a:xfrm>
          <a:prstGeom prst="rect">
            <a:avLst/>
          </a:prstGeom>
          <a:noFill/>
          <a:ln/>
        </p:spPr>
        <p:txBody>
          <a:bodyPr wrap="square" lIns="0" tIns="0" rIns="0" bIns="0" rtlCol="0" anchor="ctr"/>
          <a:lstStyle/>
          <a:p>
            <a:pPr indent="0" marL="0">
              <a:buNone/>
            </a:pPr>
            <a:r>
              <a:rPr lang="en-US" sz="1400" b="1" dirty="0">
                <a:solidFill>
                  <a:srgbClr val="1E3A6E"/>
                </a:solidFill>
                <a:latin typeface="Arial" pitchFamily="34" charset="0"/>
                <a:ea typeface="Arial" pitchFamily="34" charset="-122"/>
                <a:cs typeface="Arial" pitchFamily="34" charset="-120"/>
              </a:rPr>
              <a:t>Native-component tutorial</a:t>
            </a:r>
            <a:endParaRPr lang="en-US" sz="1400" dirty="0"/>
          </a:p>
          <a:p>
            <a:pPr indent="0" marL="0">
              <a:buNone/>
            </a:pPr>
            <a:r>
              <a:rPr lang="en-US" sz="1200" dirty="0">
                <a:solidFill>
                  <a:srgbClr val="3776AB"/>
                </a:solidFill>
                <a:latin typeface="Arial" pitchFamily="34" charset="0"/>
                <a:ea typeface="Arial" pitchFamily="34" charset="-122"/>
                <a:cs typeface="Arial" pitchFamily="34" charset="-120"/>
              </a:rPr>
              <a:t>docs/tutorials/native_component.md</a:t>
            </a:r>
            <a:endParaRPr lang="en-US" sz="1400" dirty="0"/>
          </a:p>
        </p:txBody>
      </p:sp>
      <p:sp>
        <p:nvSpPr>
          <p:cNvPr id="42" name="Text 31"/>
          <p:cNvSpPr/>
          <p:nvPr/>
        </p:nvSpPr>
        <p:spPr>
          <a:xfrm>
            <a:off x="8046720" y="5486400"/>
            <a:ext cx="3566160" cy="777240"/>
          </a:xfrm>
          <a:prstGeom prst="roundRect">
            <a:avLst>
              <a:gd name="adj" fmla="val 11765"/>
            </a:avLst>
          </a:prstGeom>
          <a:solidFill>
            <a:srgbClr val="F3F5F8"/>
          </a:solidFill>
          <a:ln/>
        </p:spPr>
        <p:txBody>
          <a:bodyPr wrap="square" lIns="1270" tIns="1270" rIns="1270" bIns="1270" rtlCol="0" anchor="ctr"/>
          <a:lstStyle/>
          <a:p>
            <a:pPr algn="l" indent="0" marL="0">
              <a:buNone/>
            </a:pPr>
            <a:endParaRPr lang="en-US" sz="1600" dirty="0"/>
          </a:p>
        </p:txBody>
      </p:sp>
      <p:pic>
        <p:nvPicPr>
          <p:cNvPr id="43" name="Image 8" descr="preencoded.png">    </p:cNvPr>
          <p:cNvPicPr>
            <a:picLocks noChangeAspect="1"/>
          </p:cNvPicPr>
          <p:nvPr/>
        </p:nvPicPr>
        <p:blipFill>
          <a:blip r:embed="rId9"/>
          <a:stretch>
            <a:fillRect/>
          </a:stretch>
        </p:blipFill>
        <p:spPr>
          <a:xfrm>
            <a:off x="8183880" y="5669280"/>
            <a:ext cx="365760" cy="365760"/>
          </a:xfrm>
          <a:prstGeom prst="rect">
            <a:avLst/>
          </a:prstGeom>
        </p:spPr>
      </p:pic>
      <p:sp>
        <p:nvSpPr>
          <p:cNvPr id="44" name="Text 32"/>
          <p:cNvSpPr txBox="1"/>
          <p:nvPr/>
        </p:nvSpPr>
        <p:spPr>
          <a:xfrm>
            <a:off x="8686800" y="5532120"/>
            <a:ext cx="2377440" cy="685800"/>
          </a:xfrm>
          <a:prstGeom prst="rect">
            <a:avLst/>
          </a:prstGeom>
          <a:noFill/>
          <a:ln/>
        </p:spPr>
        <p:txBody>
          <a:bodyPr wrap="square" lIns="0" tIns="0" rIns="0" bIns="0" rtlCol="0" anchor="ctr"/>
          <a:lstStyle/>
          <a:p>
            <a:pPr indent="0" marL="0">
              <a:buNone/>
            </a:pPr>
            <a:r>
              <a:rPr lang="en-US" sz="1400" b="1" dirty="0">
                <a:solidFill>
                  <a:srgbClr val="1E3A6E"/>
                </a:solidFill>
                <a:latin typeface="Arial" pitchFamily="34" charset="0"/>
                <a:ea typeface="Arial" pitchFamily="34" charset="-122"/>
                <a:cs typeface="Arial" pitchFamily="34" charset="-120"/>
              </a:rPr>
              <a:t>Getting started</a:t>
            </a:r>
            <a:endParaRPr lang="en-US" sz="1400" dirty="0"/>
          </a:p>
          <a:p>
            <a:pPr indent="0" marL="0">
              <a:buNone/>
            </a:pPr>
            <a:r>
              <a:rPr lang="en-US" sz="1200" dirty="0">
                <a:solidFill>
                  <a:srgbClr val="3776AB"/>
                </a:solidFill>
                <a:latin typeface="Arial" pitchFamily="34" charset="0"/>
                <a:ea typeface="Arial" pitchFamily="34" charset="-122"/>
                <a:cs typeface="Arial" pitchFamily="34" charset="-120"/>
              </a:rPr>
              <a:t>awesomebytes.github.io/cppyy_kit/getting-started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223760" cy="1005840"/>
          </a:xfrm>
          <a:prstGeom prst="rect">
            <a:avLst/>
          </a:prstGeom>
          <a:noFill/>
          <a:ln/>
        </p:spPr>
        <p:txBody>
          <a:bodyPr wrap="square" lIns="0" tIns="0" rIns="0" bIns="0" rtlCol="0" anchor="ctr"/>
          <a:lstStyle/>
          <a:p>
            <a:pPr algn="l" indent="0" marL="0">
              <a:buNone/>
            </a:pPr>
            <a:r>
              <a:rPr lang="en-US" sz="3200" b="1" dirty="0">
                <a:solidFill>
                  <a:srgbClr val="1E3A6E"/>
                </a:solidFill>
                <a:latin typeface="Arial" pitchFamily="34" charset="0"/>
                <a:ea typeface="Arial" pitchFamily="34" charset="-122"/>
                <a:cs typeface="Arial" pitchFamily="34" charset="-120"/>
              </a:rPr>
              <a:t>Thanks, questions?</a:t>
            </a:r>
            <a:endParaRPr lang="en-US" sz="3200" dirty="0"/>
          </a:p>
        </p:txBody>
      </p:sp>
      <p:sp>
        <p:nvSpPr>
          <p:cNvPr id="4" name="Shape 1"/>
          <p:cNvSpPr/>
          <p:nvPr/>
        </p:nvSpPr>
        <p:spPr>
          <a:xfrm>
            <a:off x="8330184" y="576072"/>
            <a:ext cx="292608" cy="0"/>
          </a:xfrm>
          <a:prstGeom prst="line">
            <a:avLst/>
          </a:prstGeom>
          <a:noFill/>
          <a:ln w="25400">
            <a:solidFill>
              <a:srgbClr val="1E3A6E"/>
            </a:solidFill>
            <a:prstDash val="solid"/>
          </a:ln>
        </p:spPr>
      </p:sp>
      <p:sp>
        <p:nvSpPr>
          <p:cNvPr id="5" name="Shape 2"/>
          <p:cNvSpPr/>
          <p:nvPr/>
        </p:nvSpPr>
        <p:spPr>
          <a:xfrm>
            <a:off x="9043416" y="576072"/>
            <a:ext cx="292608" cy="0"/>
          </a:xfrm>
          <a:prstGeom prst="line">
            <a:avLst/>
          </a:prstGeom>
          <a:noFill/>
          <a:ln w="25400">
            <a:solidFill>
              <a:srgbClr val="1E3A6E"/>
            </a:solidFill>
            <a:prstDash val="solid"/>
          </a:ln>
        </p:spPr>
      </p:sp>
      <p:sp>
        <p:nvSpPr>
          <p:cNvPr id="6" name="Shape 3"/>
          <p:cNvSpPr/>
          <p:nvPr/>
        </p:nvSpPr>
        <p:spPr>
          <a:xfrm>
            <a:off x="9756648" y="576072"/>
            <a:ext cx="292608" cy="0"/>
          </a:xfrm>
          <a:prstGeom prst="line">
            <a:avLst/>
          </a:prstGeom>
          <a:noFill/>
          <a:ln w="25400">
            <a:solidFill>
              <a:srgbClr val="1E3A6E"/>
            </a:solidFill>
            <a:prstDash val="solid"/>
          </a:ln>
        </p:spPr>
      </p:sp>
      <p:sp>
        <p:nvSpPr>
          <p:cNvPr id="7" name="Shape 4"/>
          <p:cNvSpPr/>
          <p:nvPr/>
        </p:nvSpPr>
        <p:spPr>
          <a:xfrm>
            <a:off x="10469880" y="576072"/>
            <a:ext cx="292608" cy="0"/>
          </a:xfrm>
          <a:prstGeom prst="line">
            <a:avLst/>
          </a:prstGeom>
          <a:noFill/>
          <a:ln w="25400">
            <a:solidFill>
              <a:srgbClr val="1E3A6E"/>
            </a:solidFill>
            <a:prstDash val="solid"/>
          </a:ln>
        </p:spPr>
      </p:sp>
      <p:sp>
        <p:nvSpPr>
          <p:cNvPr id="8" name="Shape 5"/>
          <p:cNvSpPr/>
          <p:nvPr/>
        </p:nvSpPr>
        <p:spPr>
          <a:xfrm>
            <a:off x="11183112" y="576072"/>
            <a:ext cx="292608" cy="0"/>
          </a:xfrm>
          <a:prstGeom prst="line">
            <a:avLst/>
          </a:prstGeom>
          <a:noFill/>
          <a:ln w="25400">
            <a:solidFill>
              <a:srgbClr val="1E3A6E"/>
            </a:solidFill>
            <a:prstDash val="solid"/>
          </a:ln>
        </p:spPr>
      </p:sp>
      <p:sp>
        <p:nvSpPr>
          <p:cNvPr id="9" name="Shape 6"/>
          <p:cNvSpPr/>
          <p:nvPr/>
        </p:nvSpPr>
        <p:spPr>
          <a:xfrm>
            <a:off x="7909560" y="365760"/>
            <a:ext cx="420624" cy="420624"/>
          </a:xfrm>
          <a:prstGeom prst="ellipse">
            <a:avLst/>
          </a:prstGeom>
          <a:solidFill>
            <a:srgbClr val="1E3A6E"/>
          </a:solidFill>
          <a:ln/>
        </p:spPr>
      </p:sp>
      <p:pic>
        <p:nvPicPr>
          <p:cNvPr id="10" name="Image 0" descr="preencoded.png">    </p:cNvPr>
          <p:cNvPicPr>
            <a:picLocks noChangeAspect="1"/>
          </p:cNvPicPr>
          <p:nvPr/>
        </p:nvPicPr>
        <p:blipFill>
          <a:blip r:embed="rId1"/>
          <a:stretch>
            <a:fillRect/>
          </a:stretch>
        </p:blipFill>
        <p:spPr>
          <a:xfrm>
            <a:off x="8014716" y="470916"/>
            <a:ext cx="210312" cy="210312"/>
          </a:xfrm>
          <a:prstGeom prst="rect">
            <a:avLst/>
          </a:prstGeom>
        </p:spPr>
      </p:pic>
      <p:sp>
        <p:nvSpPr>
          <p:cNvPr id="11" name="Text 7"/>
          <p:cNvSpPr txBox="1"/>
          <p:nvPr/>
        </p:nvSpPr>
        <p:spPr>
          <a:xfrm>
            <a:off x="776325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Python</a:t>
            </a:r>
            <a:endParaRPr lang="en-US" sz="1000" dirty="0"/>
          </a:p>
        </p:txBody>
      </p:sp>
      <p:sp>
        <p:nvSpPr>
          <p:cNvPr id="12" name="Shape 8"/>
          <p:cNvSpPr/>
          <p:nvPr/>
        </p:nvSpPr>
        <p:spPr>
          <a:xfrm>
            <a:off x="8622792" y="365760"/>
            <a:ext cx="420624" cy="420624"/>
          </a:xfrm>
          <a:prstGeom prst="ellipse">
            <a:avLst/>
          </a:prstGeom>
          <a:solidFill>
            <a:srgbClr val="1E3A6E"/>
          </a:solidFill>
          <a:ln/>
        </p:spPr>
      </p:sp>
      <p:pic>
        <p:nvPicPr>
          <p:cNvPr id="13" name="Image 1" descr="preencoded.png">    </p:cNvPr>
          <p:cNvPicPr>
            <a:picLocks noChangeAspect="1"/>
          </p:cNvPicPr>
          <p:nvPr/>
        </p:nvPicPr>
        <p:blipFill>
          <a:blip r:embed="rId2"/>
          <a:stretch>
            <a:fillRect/>
          </a:stretch>
        </p:blipFill>
        <p:spPr>
          <a:xfrm>
            <a:off x="8727948" y="470916"/>
            <a:ext cx="210312" cy="210312"/>
          </a:xfrm>
          <a:prstGeom prst="rect">
            <a:avLst/>
          </a:prstGeom>
        </p:spPr>
      </p:pic>
      <p:sp>
        <p:nvSpPr>
          <p:cNvPr id="14" name="Text 9"/>
          <p:cNvSpPr txBox="1"/>
          <p:nvPr/>
        </p:nvSpPr>
        <p:spPr>
          <a:xfrm>
            <a:off x="8476488"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MCAP</a:t>
            </a:r>
            <a:endParaRPr lang="en-US" sz="1000" dirty="0"/>
          </a:p>
        </p:txBody>
      </p:sp>
      <p:sp>
        <p:nvSpPr>
          <p:cNvPr id="15" name="Shape 10"/>
          <p:cNvSpPr/>
          <p:nvPr/>
        </p:nvSpPr>
        <p:spPr>
          <a:xfrm>
            <a:off x="9336024" y="365760"/>
            <a:ext cx="420624" cy="420624"/>
          </a:xfrm>
          <a:prstGeom prst="ellipse">
            <a:avLst/>
          </a:prstGeom>
          <a:solidFill>
            <a:srgbClr val="1E3A6E"/>
          </a:solidFill>
          <a:ln/>
        </p:spPr>
      </p:sp>
      <p:pic>
        <p:nvPicPr>
          <p:cNvPr id="16" name="Image 2" descr="preencoded.png">    </p:cNvPr>
          <p:cNvPicPr>
            <a:picLocks noChangeAspect="1"/>
          </p:cNvPicPr>
          <p:nvPr/>
        </p:nvPicPr>
        <p:blipFill>
          <a:blip r:embed="rId3"/>
          <a:stretch>
            <a:fillRect/>
          </a:stretch>
        </p:blipFill>
        <p:spPr>
          <a:xfrm>
            <a:off x="9441180" y="470916"/>
            <a:ext cx="210312" cy="210312"/>
          </a:xfrm>
          <a:prstGeom prst="rect">
            <a:avLst/>
          </a:prstGeom>
        </p:spPr>
      </p:pic>
      <p:sp>
        <p:nvSpPr>
          <p:cNvPr id="17" name="Text 11"/>
          <p:cNvSpPr txBox="1"/>
          <p:nvPr/>
        </p:nvSpPr>
        <p:spPr>
          <a:xfrm>
            <a:off x="9189720"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library</a:t>
            </a:r>
            <a:endParaRPr lang="en-US" sz="1000" dirty="0"/>
          </a:p>
        </p:txBody>
      </p:sp>
      <p:sp>
        <p:nvSpPr>
          <p:cNvPr id="18" name="Shape 12"/>
          <p:cNvSpPr/>
          <p:nvPr/>
        </p:nvSpPr>
        <p:spPr>
          <a:xfrm>
            <a:off x="10049256" y="365760"/>
            <a:ext cx="420624" cy="420624"/>
          </a:xfrm>
          <a:prstGeom prst="ellipse">
            <a:avLst/>
          </a:prstGeom>
          <a:solidFill>
            <a:srgbClr val="1E3A6E"/>
          </a:solidFill>
          <a:ln/>
        </p:spPr>
      </p:sp>
      <p:pic>
        <p:nvPicPr>
          <p:cNvPr id="19" name="Image 3" descr="preencoded.png">    </p:cNvPr>
          <p:cNvPicPr>
            <a:picLocks noChangeAspect="1"/>
          </p:cNvPicPr>
          <p:nvPr/>
        </p:nvPicPr>
        <p:blipFill>
          <a:blip r:embed="rId4"/>
          <a:stretch>
            <a:fillRect/>
          </a:stretch>
        </p:blipFill>
        <p:spPr>
          <a:xfrm>
            <a:off x="10154412" y="470916"/>
            <a:ext cx="210312" cy="210312"/>
          </a:xfrm>
          <a:prstGeom prst="rect">
            <a:avLst/>
          </a:prstGeom>
        </p:spPr>
      </p:pic>
      <p:sp>
        <p:nvSpPr>
          <p:cNvPr id="20" name="Text 13"/>
          <p:cNvSpPr txBox="1"/>
          <p:nvPr/>
        </p:nvSpPr>
        <p:spPr>
          <a:xfrm>
            <a:off x="9902952"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ROS</a:t>
            </a:r>
            <a:endParaRPr lang="en-US" sz="1000" dirty="0"/>
          </a:p>
        </p:txBody>
      </p:sp>
      <p:sp>
        <p:nvSpPr>
          <p:cNvPr id="21" name="Shape 14"/>
          <p:cNvSpPr/>
          <p:nvPr/>
        </p:nvSpPr>
        <p:spPr>
          <a:xfrm>
            <a:off x="10762488" y="365760"/>
            <a:ext cx="420624" cy="420624"/>
          </a:xfrm>
          <a:prstGeom prst="ellipse">
            <a:avLst/>
          </a:prstGeom>
          <a:solidFill>
            <a:srgbClr val="1E3A6E"/>
          </a:solidFill>
          <a:ln/>
        </p:spPr>
      </p:sp>
      <p:pic>
        <p:nvPicPr>
          <p:cNvPr id="22" name="Image 4" descr="preencoded.png">    </p:cNvPr>
          <p:cNvPicPr>
            <a:picLocks noChangeAspect="1"/>
          </p:cNvPicPr>
          <p:nvPr/>
        </p:nvPicPr>
        <p:blipFill>
          <a:blip r:embed="rId5"/>
          <a:stretch>
            <a:fillRect/>
          </a:stretch>
        </p:blipFill>
        <p:spPr>
          <a:xfrm>
            <a:off x="10867644" y="470916"/>
            <a:ext cx="210312" cy="210312"/>
          </a:xfrm>
          <a:prstGeom prst="rect">
            <a:avLst/>
          </a:prstGeom>
        </p:spPr>
      </p:pic>
      <p:sp>
        <p:nvSpPr>
          <p:cNvPr id="23" name="Text 15"/>
          <p:cNvSpPr txBox="1"/>
          <p:nvPr/>
        </p:nvSpPr>
        <p:spPr>
          <a:xfrm>
            <a:off x="10616184"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controller</a:t>
            </a:r>
            <a:endParaRPr lang="en-US" sz="1000" dirty="0"/>
          </a:p>
        </p:txBody>
      </p:sp>
      <p:sp>
        <p:nvSpPr>
          <p:cNvPr id="24" name="Shape 16"/>
          <p:cNvSpPr/>
          <p:nvPr/>
        </p:nvSpPr>
        <p:spPr>
          <a:xfrm>
            <a:off x="11475720" y="365760"/>
            <a:ext cx="420624" cy="420624"/>
          </a:xfrm>
          <a:prstGeom prst="ellipse">
            <a:avLst/>
          </a:prstGeom>
          <a:solidFill>
            <a:srgbClr val="1E3A6E"/>
          </a:solidFill>
          <a:ln/>
        </p:spPr>
      </p:sp>
      <p:pic>
        <p:nvPicPr>
          <p:cNvPr id="25" name="Image 5" descr="preencoded.png">    </p:cNvPr>
          <p:cNvPicPr>
            <a:picLocks noChangeAspect="1"/>
          </p:cNvPicPr>
          <p:nvPr/>
        </p:nvPicPr>
        <p:blipFill>
          <a:blip r:embed="rId6"/>
          <a:stretch>
            <a:fillRect/>
          </a:stretch>
        </p:blipFill>
        <p:spPr>
          <a:xfrm>
            <a:off x="11580876" y="470916"/>
            <a:ext cx="210312" cy="210312"/>
          </a:xfrm>
          <a:prstGeom prst="rect">
            <a:avLst/>
          </a:prstGeom>
        </p:spPr>
      </p:pic>
      <p:sp>
        <p:nvSpPr>
          <p:cNvPr id="26" name="Text 17"/>
          <p:cNvSpPr txBox="1"/>
          <p:nvPr/>
        </p:nvSpPr>
        <p:spPr>
          <a:xfrm>
            <a:off x="11329416" y="832104"/>
            <a:ext cx="713232" cy="182880"/>
          </a:xfrm>
          <a:prstGeom prst="rect">
            <a:avLst/>
          </a:prstGeom>
          <a:noFill/>
          <a:ln/>
        </p:spPr>
        <p:txBody>
          <a:bodyPr wrap="square" lIns="0" tIns="0" rIns="0" bIns="0" rtlCol="0" anchor="t"/>
          <a:lstStyle/>
          <a:p>
            <a:pPr algn="ctr" indent="0" marL="0">
              <a:buNone/>
            </a:pPr>
            <a:r>
              <a:rPr lang="en-US" sz="1000" dirty="0">
                <a:solidFill>
                  <a:srgbClr val="5B6578"/>
                </a:solidFill>
                <a:latin typeface="Arial" pitchFamily="34" charset="0"/>
                <a:ea typeface="Arial" pitchFamily="34" charset="-122"/>
                <a:cs typeface="Arial" pitchFamily="34" charset="-120"/>
              </a:rPr>
              <a:t>webcam</a:t>
            </a:r>
            <a:endParaRPr lang="en-US" sz="1000" dirty="0"/>
          </a:p>
        </p:txBody>
      </p:sp>
      <p:pic>
        <p:nvPicPr>
          <p:cNvPr id="27" name="Image 6" descr="/home/sapf/playground/ros_project/cppyy_kit/docs/media/cppyy_kit_logo.jpg">    </p:cNvPr>
          <p:cNvPicPr>
            <a:picLocks noChangeAspect="1"/>
          </p:cNvPicPr>
          <p:nvPr/>
        </p:nvPicPr>
        <p:blipFill>
          <a:blip r:embed="rId7"/>
          <a:stretch>
            <a:fillRect/>
          </a:stretch>
        </p:blipFill>
        <p:spPr>
          <a:xfrm>
            <a:off x="731520" y="1463040"/>
            <a:ext cx="4206240" cy="4206240"/>
          </a:xfrm>
          <a:prstGeom prst="rect">
            <a:avLst/>
          </a:prstGeom>
        </p:spPr>
      </p:pic>
      <p:sp>
        <p:nvSpPr>
          <p:cNvPr id="28" name="Text 18"/>
          <p:cNvSpPr/>
          <p:nvPr/>
        </p:nvSpPr>
        <p:spPr>
          <a:xfrm>
            <a:off x="5669280" y="1737360"/>
            <a:ext cx="5943600" cy="1280160"/>
          </a:xfrm>
          <a:prstGeom prst="roundRect">
            <a:avLst>
              <a:gd name="adj" fmla="val 7143"/>
            </a:avLst>
          </a:prstGeom>
          <a:solidFill>
            <a:srgbClr val="1E3A6E"/>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github.com/awesomebytes/cppyy_kit</a:t>
            </a:r>
            <a:endParaRPr lang="en-US" sz="2400" dirty="0"/>
          </a:p>
        </p:txBody>
      </p:sp>
      <p:sp>
        <p:nvSpPr>
          <p:cNvPr id="29" name="Text 19"/>
          <p:cNvSpPr/>
          <p:nvPr/>
        </p:nvSpPr>
        <p:spPr>
          <a:xfrm>
            <a:off x="5669280" y="3291840"/>
            <a:ext cx="5943600" cy="1280160"/>
          </a:xfrm>
          <a:prstGeom prst="roundRect">
            <a:avLst>
              <a:gd name="adj" fmla="val 7143"/>
            </a:avLst>
          </a:prstGeom>
          <a:solidFill>
            <a:srgbClr val="F3F5F8"/>
          </a:solidFill>
          <a:ln/>
        </p:spPr>
        <p:txBody>
          <a:bodyPr wrap="square" lIns="3810" tIns="3810" rIns="3810" bIns="3810" rtlCol="0" anchor="ctr"/>
          <a:lstStyle/>
          <a:p>
            <a:pPr algn="l" indent="0" marL="0">
              <a:buNone/>
            </a:pPr>
            <a:r>
              <a:rPr lang="en-US" sz="1800" b="1" dirty="0">
                <a:solidFill>
                  <a:srgbClr val="1E3A6E"/>
                </a:solidFill>
                <a:latin typeface="Arial" pitchFamily="34" charset="0"/>
                <a:ea typeface="Arial" pitchFamily="34" charset="-122"/>
                <a:cs typeface="Arial" pitchFamily="34" charset="-120"/>
              </a:rPr>
              <a:t>Dataset: HIW-500 G1 pillow episode, by BitRobot, Unitree and Hugging Face</a:t>
            </a:r>
            <a:endParaRPr lang="en-US" sz="1800" dirty="0"/>
          </a:p>
        </p:txBody>
      </p:sp>
      <p:sp>
        <p:nvSpPr>
          <p:cNvPr id="30" name="Text 20"/>
          <p:cNvSpPr/>
          <p:nvPr/>
        </p:nvSpPr>
        <p:spPr>
          <a:xfrm>
            <a:off x="5669280" y="4846320"/>
            <a:ext cx="5943600" cy="822960"/>
          </a:xfrm>
          <a:prstGeom prst="roundRect">
            <a:avLst>
              <a:gd name="adj" fmla="val 11111"/>
            </a:avLst>
          </a:prstGeom>
          <a:solidFill>
            <a:srgbClr val="F5C518"/>
          </a:solidFill>
          <a:ln/>
        </p:spPr>
        <p:txBody>
          <a:bodyPr wrap="square" lIns="1270" tIns="1270" rIns="1270" bIns="1270" rtlCol="0" anchor="ctr"/>
          <a:lstStyle/>
          <a:p>
            <a:pPr algn="ctr" indent="0" marL="0">
              <a:buNone/>
            </a:pPr>
            <a:r>
              <a:rPr lang="en-US" sz="2200" b="1" dirty="0">
                <a:solidFill>
                  <a:srgbClr val="1E3A6E"/>
                </a:solidFill>
                <a:latin typeface="Arial" pitchFamily="34" charset="0"/>
                <a:ea typeface="Arial" pitchFamily="34" charset="-122"/>
                <a:cs typeface="Arial" pitchFamily="34" charset="-120"/>
              </a:rPr>
              <a:t>ROSCon UK 2026</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cppyy_kit">
  <a:themeElements>
    <a:clrScheme name="cppyy_kit">
      <a:dk1>
        <a:srgbClr val="1B2433"/>
      </a:dk1>
      <a:lt1>
        <a:srgbClr val="FFFFFF"/>
      </a:lt1>
      <a:dk2>
        <a:srgbClr val="1E3A6E"/>
      </a:dk2>
      <a:lt2>
        <a:srgbClr val="F3F5F8"/>
      </a:lt2>
      <a:accent1>
        <a:srgbClr val="1E3A6E"/>
      </a:accent1>
      <a:accent2>
        <a:srgbClr val="F5C518"/>
      </a:accent2>
      <a:accent3>
        <a:srgbClr val="3776AB"/>
      </a:accent3>
      <a:accent4>
        <a:srgbClr val="1F8A4C"/>
      </a:accent4>
      <a:accent5>
        <a:srgbClr val="C0392B"/>
      </a:accent5>
      <a:accent6>
        <a:srgbClr val="5B6578"/>
      </a:accent6>
      <a:hlink>
        <a:srgbClr val="3776AB"/>
      </a:hlink>
      <a:folHlink>
        <a:srgbClr val="5B6578"/>
      </a:folHlink>
    </a:clrScheme>
    <a:fontScheme name="cppyy_ki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2026-10-14T15:57:15Z</dcterms:created>
  <dcterms:modified xsi:type="dcterms:W3CDTF">2026-10-14T15:57:15Z</dcterms:modified>
</cp:coreProperties>
</file>